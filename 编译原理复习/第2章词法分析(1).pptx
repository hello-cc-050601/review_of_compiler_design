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3" r:id="rId1"/>
  </p:sldMasterIdLst>
  <p:notesMasterIdLst>
    <p:notesMasterId r:id="rId64"/>
  </p:notesMasterIdLst>
  <p:sldIdLst>
    <p:sldId id="256" r:id="rId2"/>
    <p:sldId id="445" r:id="rId3"/>
    <p:sldId id="351" r:id="rId4"/>
    <p:sldId id="684" r:id="rId5"/>
    <p:sldId id="452" r:id="rId6"/>
    <p:sldId id="688" r:id="rId7"/>
    <p:sldId id="670" r:id="rId8"/>
    <p:sldId id="330" r:id="rId9"/>
    <p:sldId id="299" r:id="rId10"/>
    <p:sldId id="262" r:id="rId11"/>
    <p:sldId id="300" r:id="rId12"/>
    <p:sldId id="302" r:id="rId13"/>
    <p:sldId id="301" r:id="rId14"/>
    <p:sldId id="685" r:id="rId15"/>
    <p:sldId id="331" r:id="rId16"/>
    <p:sldId id="680" r:id="rId17"/>
    <p:sldId id="348" r:id="rId18"/>
    <p:sldId id="305" r:id="rId19"/>
    <p:sldId id="671" r:id="rId20"/>
    <p:sldId id="342" r:id="rId21"/>
    <p:sldId id="343" r:id="rId22"/>
    <p:sldId id="352" r:id="rId23"/>
    <p:sldId id="365" r:id="rId24"/>
    <p:sldId id="353" r:id="rId25"/>
    <p:sldId id="673" r:id="rId26"/>
    <p:sldId id="354" r:id="rId27"/>
    <p:sldId id="674" r:id="rId28"/>
    <p:sldId id="675" r:id="rId29"/>
    <p:sldId id="355" r:id="rId30"/>
    <p:sldId id="677" r:id="rId31"/>
    <p:sldId id="678" r:id="rId32"/>
    <p:sldId id="679" r:id="rId33"/>
    <p:sldId id="676" r:id="rId34"/>
    <p:sldId id="682" r:id="rId35"/>
    <p:sldId id="357" r:id="rId36"/>
    <p:sldId id="358" r:id="rId37"/>
    <p:sldId id="359" r:id="rId38"/>
    <p:sldId id="360" r:id="rId39"/>
    <p:sldId id="691" r:id="rId40"/>
    <p:sldId id="692" r:id="rId41"/>
    <p:sldId id="361" r:id="rId42"/>
    <p:sldId id="362" r:id="rId43"/>
    <p:sldId id="368" r:id="rId44"/>
    <p:sldId id="369" r:id="rId45"/>
    <p:sldId id="370" r:id="rId46"/>
    <p:sldId id="371" r:id="rId47"/>
    <p:sldId id="372" r:id="rId48"/>
    <p:sldId id="373" r:id="rId49"/>
    <p:sldId id="374" r:id="rId50"/>
    <p:sldId id="375" r:id="rId51"/>
    <p:sldId id="376" r:id="rId52"/>
    <p:sldId id="377" r:id="rId53"/>
    <p:sldId id="378" r:id="rId54"/>
    <p:sldId id="379" r:id="rId55"/>
    <p:sldId id="380" r:id="rId56"/>
    <p:sldId id="381" r:id="rId57"/>
    <p:sldId id="382" r:id="rId58"/>
    <p:sldId id="386" r:id="rId59"/>
    <p:sldId id="683" r:id="rId60"/>
    <p:sldId id="686" r:id="rId61"/>
    <p:sldId id="294" r:id="rId62"/>
    <p:sldId id="689" r:id="rId63"/>
  </p:sldIdLst>
  <p:sldSz cx="9144000" cy="6858000" type="screen4x3"/>
  <p:notesSz cx="6797675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0455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9A05069-729D-4ADF-AEE1-2DF414E33946}" v="375" dt="2026-03-11T03:59:01.69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47" autoAdjust="0"/>
    <p:restoredTop sz="81530" autoAdjust="0"/>
  </p:normalViewPr>
  <p:slideViewPr>
    <p:cSldViewPr snapToGrid="0">
      <p:cViewPr>
        <p:scale>
          <a:sx n="75" d="100"/>
          <a:sy n="75" d="100"/>
        </p:scale>
        <p:origin x="2133" y="4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notesMaster" Target="notesMasters/notesMaster1.xml"/><Relationship Id="rId69" Type="http://schemas.microsoft.com/office/2016/11/relationships/changesInfo" Target="changesInfos/changesInfo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欣捷 王" userId="b965477fa0aef5e6" providerId="LiveId" clId="{2F857495-2BB0-4053-B57D-AD2A648DCC80}"/>
    <pc:docChg chg="undo custSel addSld delSld modSld">
      <pc:chgData name="欣捷 王" userId="b965477fa0aef5e6" providerId="LiveId" clId="{2F857495-2BB0-4053-B57D-AD2A648DCC80}" dt="2026-03-11T04:00:40.527" v="914" actId="47"/>
      <pc:docMkLst>
        <pc:docMk/>
      </pc:docMkLst>
      <pc:sldChg chg="delSp modSp del mod delAnim">
        <pc:chgData name="欣捷 王" userId="b965477fa0aef5e6" providerId="LiveId" clId="{2F857495-2BB0-4053-B57D-AD2A648DCC80}" dt="2026-03-11T03:39:51.708" v="329" actId="47"/>
        <pc:sldMkLst>
          <pc:docMk/>
          <pc:sldMk cId="1071069725" sldId="363"/>
        </pc:sldMkLst>
        <pc:spChg chg="del">
          <ac:chgData name="欣捷 王" userId="b965477fa0aef5e6" providerId="LiveId" clId="{2F857495-2BB0-4053-B57D-AD2A648DCC80}" dt="2026-03-11T03:39:23.256" v="1" actId="478"/>
          <ac:spMkLst>
            <pc:docMk/>
            <pc:sldMk cId="1071069725" sldId="363"/>
            <ac:spMk id="4" creationId="{5521C681-99CD-4B9A-96BC-ED6B8FD8189E}"/>
          </ac:spMkLst>
        </pc:spChg>
        <pc:spChg chg="mod">
          <ac:chgData name="欣捷 王" userId="b965477fa0aef5e6" providerId="LiveId" clId="{2F857495-2BB0-4053-B57D-AD2A648DCC80}" dt="2026-03-11T03:39:25.577" v="2" actId="20577"/>
          <ac:spMkLst>
            <pc:docMk/>
            <pc:sldMk cId="1071069725" sldId="363"/>
            <ac:spMk id="49155" creationId="{6B4CD33C-302C-4015-A7F3-CF129B06C851}"/>
          </ac:spMkLst>
        </pc:spChg>
      </pc:sldChg>
      <pc:sldChg chg="add del">
        <pc:chgData name="欣捷 王" userId="b965477fa0aef5e6" providerId="LiveId" clId="{2F857495-2BB0-4053-B57D-AD2A648DCC80}" dt="2026-03-11T04:00:40.527" v="914" actId="47"/>
        <pc:sldMkLst>
          <pc:docMk/>
          <pc:sldMk cId="155983194" sldId="690"/>
        </pc:sldMkLst>
      </pc:sldChg>
      <pc:sldChg chg="addSp delSp modSp add mod">
        <pc:chgData name="欣捷 王" userId="b965477fa0aef5e6" providerId="LiveId" clId="{2F857495-2BB0-4053-B57D-AD2A648DCC80}" dt="2026-03-11T03:56:12.131" v="683"/>
        <pc:sldMkLst>
          <pc:docMk/>
          <pc:sldMk cId="1525715659" sldId="691"/>
        </pc:sldMkLst>
        <pc:spChg chg="del mod">
          <ac:chgData name="欣捷 王" userId="b965477fa0aef5e6" providerId="LiveId" clId="{2F857495-2BB0-4053-B57D-AD2A648DCC80}" dt="2026-03-11T03:39:28.043" v="4"/>
          <ac:spMkLst>
            <pc:docMk/>
            <pc:sldMk cId="1525715659" sldId="691"/>
            <ac:spMk id="2" creationId="{9AB4B89B-417A-BBF7-960F-5E2776B682BC}"/>
          </ac:spMkLst>
        </pc:spChg>
        <pc:spChg chg="del mod">
          <ac:chgData name="欣捷 王" userId="b965477fa0aef5e6" providerId="LiveId" clId="{2F857495-2BB0-4053-B57D-AD2A648DCC80}" dt="2026-03-11T03:39:28.043" v="4"/>
          <ac:spMkLst>
            <pc:docMk/>
            <pc:sldMk cId="1525715659" sldId="691"/>
            <ac:spMk id="3" creationId="{24CCD11C-3D76-98F0-82A0-611543379668}"/>
          </ac:spMkLst>
        </pc:spChg>
        <pc:spChg chg="mod">
          <ac:chgData name="欣捷 王" userId="b965477fa0aef5e6" providerId="LiveId" clId="{2F857495-2BB0-4053-B57D-AD2A648DCC80}" dt="2026-03-11T03:39:28.043" v="4"/>
          <ac:spMkLst>
            <pc:docMk/>
            <pc:sldMk cId="1525715659" sldId="691"/>
            <ac:spMk id="4" creationId="{B75AC822-0F59-57FC-1553-0FBA872AD08F}"/>
          </ac:spMkLst>
        </pc:spChg>
        <pc:spChg chg="mod">
          <ac:chgData name="欣捷 王" userId="b965477fa0aef5e6" providerId="LiveId" clId="{2F857495-2BB0-4053-B57D-AD2A648DCC80}" dt="2026-03-11T03:39:28.043" v="4"/>
          <ac:spMkLst>
            <pc:docMk/>
            <pc:sldMk cId="1525715659" sldId="691"/>
            <ac:spMk id="5" creationId="{2F5A2AB9-6FBB-6334-346A-D5B02AAE37EE}"/>
          </ac:spMkLst>
        </pc:spChg>
        <pc:spChg chg="mod">
          <ac:chgData name="欣捷 王" userId="b965477fa0aef5e6" providerId="LiveId" clId="{2F857495-2BB0-4053-B57D-AD2A648DCC80}" dt="2026-03-11T03:39:28.043" v="4"/>
          <ac:spMkLst>
            <pc:docMk/>
            <pc:sldMk cId="1525715659" sldId="691"/>
            <ac:spMk id="6" creationId="{FF0C57E7-9EE4-0161-A4AA-13B9B94765F3}"/>
          </ac:spMkLst>
        </pc:spChg>
        <pc:spChg chg="add mod">
          <ac:chgData name="欣捷 王" userId="b965477fa0aef5e6" providerId="LiveId" clId="{2F857495-2BB0-4053-B57D-AD2A648DCC80}" dt="2026-03-11T03:40:09.263" v="462"/>
          <ac:spMkLst>
            <pc:docMk/>
            <pc:sldMk cId="1525715659" sldId="691"/>
            <ac:spMk id="9" creationId="{768478F9-EC3D-5912-0AAA-02BA8F6B90C7}"/>
          </ac:spMkLst>
        </pc:spChg>
        <pc:spChg chg="add mod">
          <ac:chgData name="欣捷 王" userId="b965477fa0aef5e6" providerId="LiveId" clId="{2F857495-2BB0-4053-B57D-AD2A648DCC80}" dt="2026-03-11T03:40:14.118" v="480" actId="21"/>
          <ac:spMkLst>
            <pc:docMk/>
            <pc:sldMk cId="1525715659" sldId="691"/>
            <ac:spMk id="10" creationId="{152B7B8D-1034-3C28-629C-FC31C889F23B}"/>
          </ac:spMkLst>
        </pc:spChg>
        <pc:spChg chg="add mod">
          <ac:chgData name="欣捷 王" userId="b965477fa0aef5e6" providerId="LiveId" clId="{2F857495-2BB0-4053-B57D-AD2A648DCC80}" dt="2026-03-11T03:41:56.476" v="637"/>
          <ac:spMkLst>
            <pc:docMk/>
            <pc:sldMk cId="1525715659" sldId="691"/>
            <ac:spMk id="11" creationId="{39F118BD-0B1D-0761-6036-4711B4FD655E}"/>
          </ac:spMkLst>
        </pc:spChg>
        <pc:spChg chg="add mod">
          <ac:chgData name="欣捷 王" userId="b965477fa0aef5e6" providerId="LiveId" clId="{2F857495-2BB0-4053-B57D-AD2A648DCC80}" dt="2026-03-11T03:40:45.410" v="553" actId="403"/>
          <ac:spMkLst>
            <pc:docMk/>
            <pc:sldMk cId="1525715659" sldId="691"/>
            <ac:spMk id="12" creationId="{309D4719-01A1-24E3-04F4-C1CA79448885}"/>
          </ac:spMkLst>
        </pc:spChg>
        <pc:spChg chg="add mod">
          <ac:chgData name="欣捷 王" userId="b965477fa0aef5e6" providerId="LiveId" clId="{2F857495-2BB0-4053-B57D-AD2A648DCC80}" dt="2026-03-11T03:56:05.901" v="671"/>
          <ac:spMkLst>
            <pc:docMk/>
            <pc:sldMk cId="1525715659" sldId="691"/>
            <ac:spMk id="13" creationId="{559FA668-64F1-6338-EC39-C74D1A532B4A}"/>
          </ac:spMkLst>
        </pc:spChg>
        <pc:spChg chg="add mod">
          <ac:chgData name="欣捷 王" userId="b965477fa0aef5e6" providerId="LiveId" clId="{2F857495-2BB0-4053-B57D-AD2A648DCC80}" dt="2026-03-11T03:40:52.902" v="565" actId="207"/>
          <ac:spMkLst>
            <pc:docMk/>
            <pc:sldMk cId="1525715659" sldId="691"/>
            <ac:spMk id="14" creationId="{6EA6C263-B565-12B4-53CA-6769D806D6CC}"/>
          </ac:spMkLst>
        </pc:spChg>
        <pc:spChg chg="add mod">
          <ac:chgData name="欣捷 王" userId="b965477fa0aef5e6" providerId="LiveId" clId="{2F857495-2BB0-4053-B57D-AD2A648DCC80}" dt="2026-03-11T03:40:04.476" v="376"/>
          <ac:spMkLst>
            <pc:docMk/>
            <pc:sldMk cId="1525715659" sldId="691"/>
            <ac:spMk id="15" creationId="{549D15E3-95C8-4881-DD72-341E13631F53}"/>
          </ac:spMkLst>
        </pc:spChg>
        <pc:spChg chg="add mod">
          <ac:chgData name="欣捷 王" userId="b965477fa0aef5e6" providerId="LiveId" clId="{2F857495-2BB0-4053-B57D-AD2A648DCC80}" dt="2026-03-11T03:40:53.478" v="577" actId="207"/>
          <ac:spMkLst>
            <pc:docMk/>
            <pc:sldMk cId="1525715659" sldId="691"/>
            <ac:spMk id="16" creationId="{3917057C-2BE0-3790-681B-827007F41DB4}"/>
          </ac:spMkLst>
        </pc:spChg>
        <pc:spChg chg="add mod">
          <ac:chgData name="欣捷 王" userId="b965477fa0aef5e6" providerId="LiveId" clId="{2F857495-2BB0-4053-B57D-AD2A648DCC80}" dt="2026-03-11T03:40:04.478" v="378"/>
          <ac:spMkLst>
            <pc:docMk/>
            <pc:sldMk cId="1525715659" sldId="691"/>
            <ac:spMk id="17" creationId="{6196EE4B-B190-CD8D-2DBC-4D40D1E87E4F}"/>
          </ac:spMkLst>
        </pc:spChg>
        <pc:spChg chg="add mod">
          <ac:chgData name="欣捷 王" userId="b965477fa0aef5e6" providerId="LiveId" clId="{2F857495-2BB0-4053-B57D-AD2A648DCC80}" dt="2026-03-11T03:39:28.209" v="188" actId="948"/>
          <ac:spMkLst>
            <pc:docMk/>
            <pc:sldMk cId="1525715659" sldId="691"/>
            <ac:spMk id="18" creationId="{F7C6C7D0-F13D-EA52-51B2-C9DDAF34EC93}"/>
          </ac:spMkLst>
        </pc:spChg>
        <pc:spChg chg="add mod topLvl">
          <ac:chgData name="欣捷 王" userId="b965477fa0aef5e6" providerId="LiveId" clId="{2F857495-2BB0-4053-B57D-AD2A648DCC80}" dt="2026-03-11T03:56:12.131" v="680"/>
          <ac:spMkLst>
            <pc:docMk/>
            <pc:sldMk cId="1525715659" sldId="691"/>
            <ac:spMk id="19" creationId="{4656D122-F221-11E4-9267-189CBC395939}"/>
          </ac:spMkLst>
        </pc:spChg>
        <pc:spChg chg="add mod topLvl">
          <ac:chgData name="欣捷 王" userId="b965477fa0aef5e6" providerId="LiveId" clId="{2F857495-2BB0-4053-B57D-AD2A648DCC80}" dt="2026-03-11T03:56:12.130" v="679"/>
          <ac:spMkLst>
            <pc:docMk/>
            <pc:sldMk cId="1525715659" sldId="691"/>
            <ac:spMk id="20" creationId="{2CF8B9FA-AC95-1B6E-D463-264B0C5B0ED1}"/>
          </ac:spMkLst>
        </pc:spChg>
        <pc:spChg chg="add mod topLvl">
          <ac:chgData name="欣捷 王" userId="b965477fa0aef5e6" providerId="LiveId" clId="{2F857495-2BB0-4053-B57D-AD2A648DCC80}" dt="2026-03-11T03:56:12.130" v="679"/>
          <ac:spMkLst>
            <pc:docMk/>
            <pc:sldMk cId="1525715659" sldId="691"/>
            <ac:spMk id="21" creationId="{CD438CBE-D242-1EC3-C4D5-206D068B2B73}"/>
          </ac:spMkLst>
        </pc:spChg>
        <pc:spChg chg="add del mod">
          <ac:chgData name="欣捷 王" userId="b965477fa0aef5e6" providerId="LiveId" clId="{2F857495-2BB0-4053-B57D-AD2A648DCC80}" dt="2026-03-11T03:40:04.471" v="372"/>
          <ac:spMkLst>
            <pc:docMk/>
            <pc:sldMk cId="1525715659" sldId="691"/>
            <ac:spMk id="22" creationId="{E658FBD6-64E4-EC6B-687A-C2FE8746B68D}"/>
          </ac:spMkLst>
        </pc:spChg>
        <pc:spChg chg="add del mod ord">
          <ac:chgData name="欣捷 王" userId="b965477fa0aef5e6" providerId="LiveId" clId="{2F857495-2BB0-4053-B57D-AD2A648DCC80}" dt="2026-03-11T03:40:04.471" v="374"/>
          <ac:spMkLst>
            <pc:docMk/>
            <pc:sldMk cId="1525715659" sldId="691"/>
            <ac:spMk id="24" creationId="{5DEF5D80-8B3E-0B5B-596B-0C826AE8AE0A}"/>
          </ac:spMkLst>
        </pc:spChg>
        <pc:spChg chg="add del mod ord">
          <ac:chgData name="欣捷 王" userId="b965477fa0aef5e6" providerId="LiveId" clId="{2F857495-2BB0-4053-B57D-AD2A648DCC80}" dt="2026-03-11T03:40:52.904" v="567"/>
          <ac:spMkLst>
            <pc:docMk/>
            <pc:sldMk cId="1525715659" sldId="691"/>
            <ac:spMk id="25" creationId="{D9E93DFA-8741-500F-6388-53F62F2DCFAE}"/>
          </ac:spMkLst>
        </pc:spChg>
        <pc:spChg chg="add mod ord">
          <ac:chgData name="欣捷 王" userId="b965477fa0aef5e6" providerId="LiveId" clId="{2F857495-2BB0-4053-B57D-AD2A648DCC80}" dt="2026-03-11T03:56:12.130" v="679"/>
          <ac:spMkLst>
            <pc:docMk/>
            <pc:sldMk cId="1525715659" sldId="691"/>
            <ac:spMk id="26" creationId="{93772822-B686-9815-8504-F23F7CB4F952}"/>
          </ac:spMkLst>
        </pc:spChg>
        <pc:grpChg chg="add del mod">
          <ac:chgData name="欣捷 王" userId="b965477fa0aef5e6" providerId="LiveId" clId="{2F857495-2BB0-4053-B57D-AD2A648DCC80}" dt="2026-03-11T03:40:05.602" v="439"/>
          <ac:grpSpMkLst>
            <pc:docMk/>
            <pc:sldMk cId="1525715659" sldId="691"/>
            <ac:grpSpMk id="23" creationId="{092BE7D9-1E7C-1A55-3322-BD550F85780B}"/>
          </ac:grpSpMkLst>
        </pc:grpChg>
        <pc:grpChg chg="add mod">
          <ac:chgData name="欣捷 王" userId="b965477fa0aef5e6" providerId="LiveId" clId="{2F857495-2BB0-4053-B57D-AD2A648DCC80}" dt="2026-03-11T03:56:12.131" v="681"/>
          <ac:grpSpMkLst>
            <pc:docMk/>
            <pc:sldMk cId="1525715659" sldId="691"/>
            <ac:grpSpMk id="27" creationId="{63E125CF-AB44-E8C2-0C28-F1D18DEE1E4D}"/>
          </ac:grpSpMkLst>
        </pc:grpChg>
        <pc:picChg chg="add mod ord">
          <ac:chgData name="欣捷 王" userId="b965477fa0aef5e6" providerId="LiveId" clId="{2F857495-2BB0-4053-B57D-AD2A648DCC80}" dt="2026-03-11T03:56:12.131" v="683"/>
          <ac:picMkLst>
            <pc:docMk/>
            <pc:sldMk cId="1525715659" sldId="691"/>
            <ac:picMk id="8" creationId="{E7ED155D-FAC8-A9F3-4DBC-BF2215694B51}"/>
          </ac:picMkLst>
        </pc:picChg>
      </pc:sldChg>
      <pc:sldChg chg="addSp delSp modSp add mod">
        <pc:chgData name="欣捷 王" userId="b965477fa0aef5e6" providerId="LiveId" clId="{2F857495-2BB0-4053-B57D-AD2A648DCC80}" dt="2026-03-11T03:59:01.696" v="913"/>
        <pc:sldMkLst>
          <pc:docMk/>
          <pc:sldMk cId="2925990271" sldId="692"/>
        </pc:sldMkLst>
        <pc:spChg chg="add del mod ord">
          <ac:chgData name="欣捷 王" userId="b965477fa0aef5e6" providerId="LiveId" clId="{2F857495-2BB0-4053-B57D-AD2A648DCC80}" dt="2026-03-11T03:57:56.059" v="810"/>
          <ac:spMkLst>
            <pc:docMk/>
            <pc:sldMk cId="2925990271" sldId="692"/>
            <ac:spMk id="2" creationId="{556070CE-0F7A-8F63-4123-88BB3377F987}"/>
          </ac:spMkLst>
        </pc:spChg>
        <pc:spChg chg="add mod ord">
          <ac:chgData name="欣捷 王" userId="b965477fa0aef5e6" providerId="LiveId" clId="{2F857495-2BB0-4053-B57D-AD2A648DCC80}" dt="2026-03-11T03:59:01.695" v="909"/>
          <ac:spMkLst>
            <pc:docMk/>
            <pc:sldMk cId="2925990271" sldId="692"/>
            <ac:spMk id="3" creationId="{3084D371-1F63-4D7A-83FC-AD58AC104509}"/>
          </ac:spMkLst>
        </pc:spChg>
        <pc:spChg chg="mod">
          <ac:chgData name="欣捷 王" userId="b965477fa0aef5e6" providerId="LiveId" clId="{2F857495-2BB0-4053-B57D-AD2A648DCC80}" dt="2026-03-11T03:58:02.654" v="860"/>
          <ac:spMkLst>
            <pc:docMk/>
            <pc:sldMk cId="2925990271" sldId="692"/>
            <ac:spMk id="9" creationId="{20EF9EB1-0F69-362E-FBD2-BA5963569D9B}"/>
          </ac:spMkLst>
        </pc:spChg>
        <pc:spChg chg="mod">
          <ac:chgData name="欣捷 王" userId="b965477fa0aef5e6" providerId="LiveId" clId="{2F857495-2BB0-4053-B57D-AD2A648DCC80}" dt="2026-03-11T03:58:19.321" v="870" actId="20577"/>
          <ac:spMkLst>
            <pc:docMk/>
            <pc:sldMk cId="2925990271" sldId="692"/>
            <ac:spMk id="10" creationId="{1F7A889B-A73D-0385-BA4E-476E47B9E3F2}"/>
          </ac:spMkLst>
        </pc:spChg>
        <pc:spChg chg="mod">
          <ac:chgData name="欣捷 王" userId="b965477fa0aef5e6" providerId="LiveId" clId="{2F857495-2BB0-4053-B57D-AD2A648DCC80}" dt="2026-03-11T03:56:32.373" v="730"/>
          <ac:spMkLst>
            <pc:docMk/>
            <pc:sldMk cId="2925990271" sldId="692"/>
            <ac:spMk id="11" creationId="{117CE88A-894B-705C-D7E7-A304C92CC47D}"/>
          </ac:spMkLst>
        </pc:spChg>
        <pc:spChg chg="mod">
          <ac:chgData name="欣捷 王" userId="b965477fa0aef5e6" providerId="LiveId" clId="{2F857495-2BB0-4053-B57D-AD2A648DCC80}" dt="2026-03-11T03:58:38.828" v="889" actId="20577"/>
          <ac:spMkLst>
            <pc:docMk/>
            <pc:sldMk cId="2925990271" sldId="692"/>
            <ac:spMk id="12" creationId="{2C918119-67F0-1A24-3881-37D1B1AC463B}"/>
          </ac:spMkLst>
        </pc:spChg>
        <pc:spChg chg="mod">
          <ac:chgData name="欣捷 王" userId="b965477fa0aef5e6" providerId="LiveId" clId="{2F857495-2BB0-4053-B57D-AD2A648DCC80}" dt="2026-03-11T03:57:59.794" v="820"/>
          <ac:spMkLst>
            <pc:docMk/>
            <pc:sldMk cId="2925990271" sldId="692"/>
            <ac:spMk id="14" creationId="{C095A6AE-67DA-65E5-8FBE-1815CCB0DC8B}"/>
          </ac:spMkLst>
        </pc:spChg>
        <pc:spChg chg="mod">
          <ac:chgData name="欣捷 王" userId="b965477fa0aef5e6" providerId="LiveId" clId="{2F857495-2BB0-4053-B57D-AD2A648DCC80}" dt="2026-03-11T03:57:59.795" v="821"/>
          <ac:spMkLst>
            <pc:docMk/>
            <pc:sldMk cId="2925990271" sldId="692"/>
            <ac:spMk id="15" creationId="{90596EA4-BD29-3F14-D20E-660649A43009}"/>
          </ac:spMkLst>
        </pc:spChg>
        <pc:spChg chg="mod">
          <ac:chgData name="欣捷 王" userId="b965477fa0aef5e6" providerId="LiveId" clId="{2F857495-2BB0-4053-B57D-AD2A648DCC80}" dt="2026-03-11T03:57:59.796" v="822"/>
          <ac:spMkLst>
            <pc:docMk/>
            <pc:sldMk cId="2925990271" sldId="692"/>
            <ac:spMk id="16" creationId="{62A82429-B854-59E1-2009-2BF1025EEE6C}"/>
          </ac:spMkLst>
        </pc:spChg>
        <pc:spChg chg="mod">
          <ac:chgData name="欣捷 王" userId="b965477fa0aef5e6" providerId="LiveId" clId="{2F857495-2BB0-4053-B57D-AD2A648DCC80}" dt="2026-03-11T03:57:59.796" v="823"/>
          <ac:spMkLst>
            <pc:docMk/>
            <pc:sldMk cId="2925990271" sldId="692"/>
            <ac:spMk id="17" creationId="{909A0DE0-8B4F-7C75-4F9A-AFB40F104C01}"/>
          </ac:spMkLst>
        </pc:spChg>
        <pc:spChg chg="mod topLvl">
          <ac:chgData name="欣捷 王" userId="b965477fa0aef5e6" providerId="LiveId" clId="{2F857495-2BB0-4053-B57D-AD2A648DCC80}" dt="2026-03-11T03:59:01.696" v="910"/>
          <ac:spMkLst>
            <pc:docMk/>
            <pc:sldMk cId="2925990271" sldId="692"/>
            <ac:spMk id="19" creationId="{EB70DF58-9713-939B-0316-031734FF65B5}"/>
          </ac:spMkLst>
        </pc:spChg>
        <pc:spChg chg="mod topLvl">
          <ac:chgData name="欣捷 王" userId="b965477fa0aef5e6" providerId="LiveId" clId="{2F857495-2BB0-4053-B57D-AD2A648DCC80}" dt="2026-03-11T03:59:01.695" v="909"/>
          <ac:spMkLst>
            <pc:docMk/>
            <pc:sldMk cId="2925990271" sldId="692"/>
            <ac:spMk id="20" creationId="{C5DA38A8-D7C4-772F-4103-25F83315FDA2}"/>
          </ac:spMkLst>
        </pc:spChg>
        <pc:spChg chg="mod topLvl">
          <ac:chgData name="欣捷 王" userId="b965477fa0aef5e6" providerId="LiveId" clId="{2F857495-2BB0-4053-B57D-AD2A648DCC80}" dt="2026-03-11T03:59:01.695" v="909"/>
          <ac:spMkLst>
            <pc:docMk/>
            <pc:sldMk cId="2925990271" sldId="692"/>
            <ac:spMk id="21" creationId="{9CB49596-B2EE-0A68-0EAC-1245DF420205}"/>
          </ac:spMkLst>
        </pc:spChg>
        <pc:spChg chg="del mod">
          <ac:chgData name="欣捷 王" userId="b965477fa0aef5e6" providerId="LiveId" clId="{2F857495-2BB0-4053-B57D-AD2A648DCC80}" dt="2026-03-11T03:57:59.793" v="819"/>
          <ac:spMkLst>
            <pc:docMk/>
            <pc:sldMk cId="2925990271" sldId="692"/>
            <ac:spMk id="26" creationId="{BB0B57FA-B938-26C5-802F-3ECD6D1DC15E}"/>
          </ac:spMkLst>
        </pc:spChg>
        <pc:grpChg chg="add mod">
          <ac:chgData name="欣捷 王" userId="b965477fa0aef5e6" providerId="LiveId" clId="{2F857495-2BB0-4053-B57D-AD2A648DCC80}" dt="2026-03-11T03:59:01.696" v="911"/>
          <ac:grpSpMkLst>
            <pc:docMk/>
            <pc:sldMk cId="2925990271" sldId="692"/>
            <ac:grpSpMk id="7" creationId="{D3EF9235-DC16-F61C-96DA-D5DF57DD8C02}"/>
          </ac:grpSpMkLst>
        </pc:grpChg>
        <pc:grpChg chg="del mod">
          <ac:chgData name="欣捷 王" userId="b965477fa0aef5e6" providerId="LiveId" clId="{2F857495-2BB0-4053-B57D-AD2A648DCC80}" dt="2026-03-11T03:58:00.615" v="848"/>
          <ac:grpSpMkLst>
            <pc:docMk/>
            <pc:sldMk cId="2925990271" sldId="692"/>
            <ac:grpSpMk id="27" creationId="{58F0F920-BEDF-38FD-8A47-326BFB35B677}"/>
          </ac:grpSpMkLst>
        </pc:grpChg>
        <pc:picChg chg="mod ord">
          <ac:chgData name="欣捷 王" userId="b965477fa0aef5e6" providerId="LiveId" clId="{2F857495-2BB0-4053-B57D-AD2A648DCC80}" dt="2026-03-11T03:59:01.696" v="913"/>
          <ac:picMkLst>
            <pc:docMk/>
            <pc:sldMk cId="2925990271" sldId="692"/>
            <ac:picMk id="8" creationId="{B1DFB24A-B12A-4E51-FFB4-C80F8EDC9686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96F474-3F77-4C96-AA90-4EF0466282D8}" type="datetimeFigureOut">
              <a:rPr lang="zh-CN" altLang="en-US" smtClean="0"/>
              <a:t>2026/3/11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66813" y="1241425"/>
            <a:ext cx="4464050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3E0CB0-7C81-4F13-BB43-6685CB01EB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91465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>
            <a:extLst>
              <a:ext uri="{FF2B5EF4-FFF2-40B4-BE49-F238E27FC236}">
                <a16:creationId xmlns:a16="http://schemas.microsoft.com/office/drawing/2014/main" id="{CDC27A61-9B31-482C-A6C0-9D875861D6F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6275F2F8-9A8B-4C48-9FB4-E675D0F90CDA}" type="slidenum">
              <a:rPr lang="en-US" altLang="zh-CN"/>
              <a:pPr>
                <a:spcBef>
                  <a:spcPct val="0"/>
                </a:spcBef>
              </a:pPr>
              <a:t>8</a:t>
            </a:fld>
            <a:endParaRPr lang="en-US" altLang="zh-CN"/>
          </a:p>
        </p:txBody>
      </p:sp>
      <p:sp>
        <p:nvSpPr>
          <p:cNvPr id="15363" name="Rectangle 2">
            <a:extLst>
              <a:ext uri="{FF2B5EF4-FFF2-40B4-BE49-F238E27FC236}">
                <a16:creationId xmlns:a16="http://schemas.microsoft.com/office/drawing/2014/main" id="{D93EF984-0E53-4441-AE18-581200AC51E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>
            <a:extLst>
              <a:ext uri="{FF2B5EF4-FFF2-40B4-BE49-F238E27FC236}">
                <a16:creationId xmlns:a16="http://schemas.microsoft.com/office/drawing/2014/main" id="{46A1E5AB-3E8B-47A4-874D-7F2CCC28DE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 dirty="0">
                <a:latin typeface="Arial" panose="020B0604020202020204" pitchFamily="34" charset="0"/>
              </a:rPr>
              <a:t>词法分析功能：找出源程序字符流中有意义的单词（</a:t>
            </a:r>
            <a:r>
              <a:rPr lang="en-US" altLang="zh-CN" dirty="0">
                <a:latin typeface="Arial" panose="020B0604020202020204" pitchFamily="34" charset="0"/>
              </a:rPr>
              <a:t>lexemes</a:t>
            </a:r>
            <a:r>
              <a:rPr lang="zh-CN" altLang="en-US" dirty="0">
                <a:latin typeface="Arial" panose="020B0604020202020204" pitchFamily="34" charset="0"/>
              </a:rPr>
              <a:t>），并为每一个单词生成记号（</a:t>
            </a:r>
            <a:r>
              <a:rPr lang="en-US" altLang="zh-CN" dirty="0">
                <a:latin typeface="Arial" panose="020B0604020202020204" pitchFamily="34" charset="0"/>
              </a:rPr>
              <a:t>token</a:t>
            </a:r>
            <a:r>
              <a:rPr lang="zh-CN" altLang="en-US" dirty="0">
                <a:latin typeface="Arial" panose="020B0604020202020204" pitchFamily="34" charset="0"/>
              </a:rPr>
              <a:t>）输出。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幻灯片图像占位符 1">
            <a:extLst>
              <a:ext uri="{FF2B5EF4-FFF2-40B4-BE49-F238E27FC236}">
                <a16:creationId xmlns:a16="http://schemas.microsoft.com/office/drawing/2014/main" id="{7EE9ED14-B788-4752-960F-12B3A3DFFC2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5603" name="备注占位符 2">
            <a:extLst>
              <a:ext uri="{FF2B5EF4-FFF2-40B4-BE49-F238E27FC236}">
                <a16:creationId xmlns:a16="http://schemas.microsoft.com/office/drawing/2014/main" id="{F763A3B0-5A81-4967-A938-0C6CCCE910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5604" name="灯片编号占位符 3">
            <a:extLst>
              <a:ext uri="{FF2B5EF4-FFF2-40B4-BE49-F238E27FC236}">
                <a16:creationId xmlns:a16="http://schemas.microsoft.com/office/drawing/2014/main" id="{4CE744EC-E6F9-48BB-B1A6-A1425C138A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4D2B135D-B1D7-471C-BF6F-41DFD6E679E6}" type="slidenum">
              <a:rPr lang="en-US" altLang="zh-CN">
                <a:latin typeface="Arial" panose="020B0604020202020204" pitchFamily="34" charset="0"/>
              </a:rPr>
              <a:pPr/>
              <a:t>16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51790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C3482-A6A0-4CF0-A287-4BD4EF082C88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94760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幻灯片图像占位符 1">
            <a:extLst>
              <a:ext uri="{FF2B5EF4-FFF2-40B4-BE49-F238E27FC236}">
                <a16:creationId xmlns:a16="http://schemas.microsoft.com/office/drawing/2014/main" id="{E64B7E06-DA80-4C45-9111-7EB69F9E6E7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5299" name="备注占位符 2">
            <a:extLst>
              <a:ext uri="{FF2B5EF4-FFF2-40B4-BE49-F238E27FC236}">
                <a16:creationId xmlns:a16="http://schemas.microsoft.com/office/drawing/2014/main" id="{76CBBE73-4A0A-4E05-B4F2-814E745BE4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>
                <a:latin typeface="Arial" panose="020B0604020202020204" pitchFamily="34" charset="0"/>
              </a:rPr>
              <a:t>efgijk</a:t>
            </a:r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55300" name="灯片编号占位符 3">
            <a:extLst>
              <a:ext uri="{FF2B5EF4-FFF2-40B4-BE49-F238E27FC236}">
                <a16:creationId xmlns:a16="http://schemas.microsoft.com/office/drawing/2014/main" id="{5BF7543F-998D-4475-B90E-1662606683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1CDD6BC2-6FC9-4BF8-93D8-AB1C8064C48D}" type="slidenum">
              <a:rPr lang="en-US" altLang="zh-CN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46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幻灯片图像占位符 1">
            <a:extLst>
              <a:ext uri="{FF2B5EF4-FFF2-40B4-BE49-F238E27FC236}">
                <a16:creationId xmlns:a16="http://schemas.microsoft.com/office/drawing/2014/main" id="{FBFA36A1-ADA0-4394-8493-33955D74CE8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0419" name="备注占位符 2">
            <a:extLst>
              <a:ext uri="{FF2B5EF4-FFF2-40B4-BE49-F238E27FC236}">
                <a16:creationId xmlns:a16="http://schemas.microsoft.com/office/drawing/2014/main" id="{338F1925-13FB-4510-9E46-273E35E911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>
                <a:latin typeface="Arial" panose="020B0604020202020204" pitchFamily="34" charset="0"/>
              </a:rPr>
              <a:t>某语言</a:t>
            </a:r>
            <a:r>
              <a:rPr lang="en-US" altLang="zh-CN">
                <a:latin typeface="Arial" panose="020B0604020202020204" pitchFamily="34" charset="0"/>
              </a:rPr>
              <a:t>while</a:t>
            </a:r>
            <a:r>
              <a:rPr lang="zh-CN" altLang="en-US">
                <a:latin typeface="Arial" panose="020B0604020202020204" pitchFamily="34" charset="0"/>
              </a:rPr>
              <a:t>语句中可能出现的部分记号的描述</a:t>
            </a:r>
          </a:p>
        </p:txBody>
      </p:sp>
      <p:sp>
        <p:nvSpPr>
          <p:cNvPr id="60420" name="灯片编号占位符 3">
            <a:extLst>
              <a:ext uri="{FF2B5EF4-FFF2-40B4-BE49-F238E27FC236}">
                <a16:creationId xmlns:a16="http://schemas.microsoft.com/office/drawing/2014/main" id="{1EAC9D7D-CC0C-4E1E-8D40-558D31BBEA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67A04326-2B77-4DD6-AAC8-40E5868EAFF5}" type="slidenum">
              <a:rPr lang="en-US" altLang="zh-CN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50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>
            <a:extLst>
              <a:ext uri="{FF2B5EF4-FFF2-40B4-BE49-F238E27FC236}">
                <a16:creationId xmlns:a16="http://schemas.microsoft.com/office/drawing/2014/main" id="{3776E921-B4C0-4B5D-A367-0775412BCFA7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50443" y="9428583"/>
            <a:ext cx="2945659" cy="496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C43A10E-C52F-49D0-9513-9D7A0462ECBF}" type="slidenum">
              <a:rPr lang="en-US" altLang="zh-CN">
                <a:solidFill>
                  <a:srgbClr val="000000"/>
                </a:solidFill>
              </a:rPr>
              <a:pPr algn="r" eaLnBrk="1" hangingPunct="1">
                <a:spcBef>
                  <a:spcPct val="0"/>
                </a:spcBef>
              </a:pPr>
              <a:t>53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4515" name="Rectangle 2">
            <a:extLst>
              <a:ext uri="{FF2B5EF4-FFF2-40B4-BE49-F238E27FC236}">
                <a16:creationId xmlns:a16="http://schemas.microsoft.com/office/drawing/2014/main" id="{08C5481A-6295-436C-A19F-5C6FF7AD389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6" name="Rectangle 3">
            <a:extLst>
              <a:ext uri="{FF2B5EF4-FFF2-40B4-BE49-F238E27FC236}">
                <a16:creationId xmlns:a16="http://schemas.microsoft.com/office/drawing/2014/main" id="{AF6572CD-07E6-421A-B7AC-7070658CD5A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 dirty="0">
                <a:latin typeface="Arial" panose="020B0604020202020204" pitchFamily="34" charset="0"/>
              </a:rPr>
              <a:t>区分标识符和关键字的方法可以用构造并查阅关键字表的方式。</a:t>
            </a:r>
          </a:p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  <a:p>
            <a:pPr eaLnBrk="1" hangingPunct="1"/>
            <a:r>
              <a:rPr lang="zh-CN" altLang="en-US" dirty="0">
                <a:latin typeface="Arial" panose="020B0604020202020204" pitchFamily="34" charset="0"/>
              </a:rPr>
              <a:t>很多编译器在语法分析阶段才将标识符填入标识符表，这时</a:t>
            </a:r>
            <a:r>
              <a:rPr lang="en-US" altLang="zh-CN" dirty="0">
                <a:latin typeface="Arial" panose="020B0604020202020204" pitchFamily="34" charset="0"/>
              </a:rPr>
              <a:t>id</a:t>
            </a:r>
            <a:r>
              <a:rPr lang="zh-CN" altLang="en-US" dirty="0">
                <a:latin typeface="Arial" panose="020B0604020202020204" pitchFamily="34" charset="0"/>
              </a:rPr>
              <a:t>的属性是它的拼写。</a:t>
            </a:r>
          </a:p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  <a:p>
            <a:pPr eaLnBrk="1" hangingPunct="1"/>
            <a:r>
              <a:rPr lang="zh-CN" altLang="en-US" dirty="0">
                <a:latin typeface="Arial" panose="020B0604020202020204" pitchFamily="34" charset="0"/>
              </a:rPr>
              <a:t>为关键字单独构造转换图是可能的，但会使词法分析器的状态转换图明显增加。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幻灯片图像占位符 1">
            <a:extLst>
              <a:ext uri="{FF2B5EF4-FFF2-40B4-BE49-F238E27FC236}">
                <a16:creationId xmlns:a16="http://schemas.microsoft.com/office/drawing/2014/main" id="{DA27BDB7-90FF-4A8E-8818-AC6A9B97A49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9635" name="备注占位符 2">
            <a:extLst>
              <a:ext uri="{FF2B5EF4-FFF2-40B4-BE49-F238E27FC236}">
                <a16:creationId xmlns:a16="http://schemas.microsoft.com/office/drawing/2014/main" id="{8349CF12-FEBC-4112-9864-EDB183E9B5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9636" name="灯片编号占位符 3">
            <a:extLst>
              <a:ext uri="{FF2B5EF4-FFF2-40B4-BE49-F238E27FC236}">
                <a16:creationId xmlns:a16="http://schemas.microsoft.com/office/drawing/2014/main" id="{CCF7BC0B-8C20-4CE0-BC9D-44381A7F13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ED64C7D1-C202-4C39-BFA1-C2D41F92016E}" type="slidenum">
              <a:rPr lang="en-US" altLang="zh-CN">
                <a:solidFill>
                  <a:srgbClr val="000000"/>
                </a:solidFill>
                <a:latin typeface="Arial" panose="020B0604020202020204" pitchFamily="34" charset="0"/>
              </a:rPr>
              <a:pPr/>
              <a:t>57</a:t>
            </a:fld>
            <a:endParaRPr lang="en-US" altLang="zh-CN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幻灯片图像占位符 1">
            <a:extLst>
              <a:ext uri="{FF2B5EF4-FFF2-40B4-BE49-F238E27FC236}">
                <a16:creationId xmlns:a16="http://schemas.microsoft.com/office/drawing/2014/main" id="{96ECE5EB-8739-4BE3-A176-59821880C4B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0179" name="备注占位符 2">
            <a:extLst>
              <a:ext uri="{FF2B5EF4-FFF2-40B4-BE49-F238E27FC236}">
                <a16:creationId xmlns:a16="http://schemas.microsoft.com/office/drawing/2014/main" id="{42E06E75-F8EA-4ACD-B286-7CDCB58855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 dirty="0">
                <a:latin typeface="Arial" panose="020B0604020202020204" pitchFamily="34" charset="0"/>
              </a:rPr>
              <a:t>1.[(1|2|…|9)(0|1|…|9)*(0|2|4|6|8)]|0|2|4|6|8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2.(0|1)*0</a:t>
            </a:r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50180" name="灯片编号占位符 3">
            <a:extLst>
              <a:ext uri="{FF2B5EF4-FFF2-40B4-BE49-F238E27FC236}">
                <a16:creationId xmlns:a16="http://schemas.microsoft.com/office/drawing/2014/main" id="{ADF9C4F5-7E75-42A6-8B55-19FBD9FB1674}"/>
              </a:ext>
            </a:extLst>
          </p:cNvPr>
          <p:cNvSpPr txBox="1">
            <a:spLocks noGrp="1"/>
          </p:cNvSpPr>
          <p:nvPr/>
        </p:nvSpPr>
        <p:spPr bwMode="auto">
          <a:xfrm>
            <a:off x="3850443" y="9428583"/>
            <a:ext cx="2945659" cy="496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6A6B171-D9D1-49FF-9FC4-643479C30228}" type="slidenum">
              <a:rPr lang="en-US" altLang="zh-CN"/>
              <a:pPr algn="r" eaLnBrk="1" hangingPunct="1">
                <a:spcBef>
                  <a:spcPct val="0"/>
                </a:spcBef>
              </a:pPr>
              <a:t>60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032400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2045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6B629830-5336-4949-A8B2-948D6B2F12A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56" r="10656"/>
          <a:stretch/>
        </p:blipFill>
        <p:spPr>
          <a:xfrm>
            <a:off x="0" y="0"/>
            <a:ext cx="9144000" cy="293448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541494"/>
            <a:ext cx="7772400" cy="2192151"/>
          </a:xfr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4966310"/>
            <a:ext cx="6858000" cy="936951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7E01A93-E996-4DF8-B9CC-4F6E64C77D6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2934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17693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lnSpc>
                <a:spcPct val="100000"/>
              </a:lnSpc>
              <a:defRPr sz="3200"/>
            </a:lvl1pPr>
            <a:lvl2pPr>
              <a:lnSpc>
                <a:spcPct val="100000"/>
              </a:lnSpc>
              <a:defRPr sz="2800"/>
            </a:lvl2pPr>
            <a:lvl3pPr>
              <a:lnSpc>
                <a:spcPct val="100000"/>
              </a:lnSpc>
              <a:defRPr sz="2400"/>
            </a:lvl3pPr>
            <a:lvl4pPr>
              <a:lnSpc>
                <a:spcPct val="100000"/>
              </a:lnSpc>
              <a:defRPr sz="2000"/>
            </a:lvl4pPr>
            <a:lvl5pPr>
              <a:lnSpc>
                <a:spcPct val="100000"/>
              </a:lnSpc>
              <a:defRPr sz="20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FD20E6C-FB89-68E9-164A-0E504C4D3F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2F6E0A-8AD4-47EB-8BA8-99175B083CAA}" type="datetime2">
              <a:rPr lang="zh-CN" altLang="en-US" smtClean="0"/>
              <a:t>2026年3月11日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96A6C13-CFA3-3AF6-23F4-C8246972D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</a:t>
            </a:r>
            <a:r>
              <a:rPr lang="en-US" altLang="zh-CN"/>
              <a:t>2</a:t>
            </a:r>
            <a:r>
              <a:rPr lang="zh-CN" altLang="en-US"/>
              <a:t>章 词法分析</a:t>
            </a:r>
            <a:r>
              <a:rPr lang="en-US" altLang="zh-CN"/>
              <a:t>(1)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1E45253-17F5-89F1-7504-AB07B9F23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6608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41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6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AB14192-683D-1581-6D26-BAED78CAF6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0A43C-F3F7-4AFA-A558-A6593BF73ECB}" type="datetime2">
              <a:rPr lang="zh-CN" altLang="en-US" smtClean="0"/>
              <a:t>2026年3月11日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907685F-6B1C-E4EB-B539-2D58EFF01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</a:t>
            </a:r>
            <a:r>
              <a:rPr lang="en-US" altLang="zh-CN"/>
              <a:t>2</a:t>
            </a:r>
            <a:r>
              <a:rPr lang="zh-CN" altLang="en-US"/>
              <a:t>章 词法分析</a:t>
            </a:r>
            <a:r>
              <a:rPr lang="en-US" altLang="zh-CN"/>
              <a:t>(1)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4AF35F3-E92D-A082-789F-7BFB914AD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20779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277471"/>
            <a:ext cx="3886200" cy="4899492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3200"/>
            </a:lvl1pPr>
            <a:lvl2pPr>
              <a:lnSpc>
                <a:spcPct val="100000"/>
              </a:lnSpc>
              <a:defRPr sz="2800"/>
            </a:lvl2pPr>
            <a:lvl3pPr>
              <a:lnSpc>
                <a:spcPct val="100000"/>
              </a:lnSpc>
              <a:defRPr sz="2400"/>
            </a:lvl3pPr>
            <a:lvl4pPr>
              <a:lnSpc>
                <a:spcPct val="100000"/>
              </a:lnSpc>
              <a:defRPr sz="2000"/>
            </a:lvl4pPr>
            <a:lvl5pPr>
              <a:lnSpc>
                <a:spcPct val="100000"/>
              </a:lnSpc>
              <a:defRPr sz="20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277471"/>
            <a:ext cx="3886200" cy="4899492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3200"/>
            </a:lvl1pPr>
            <a:lvl2pPr>
              <a:lnSpc>
                <a:spcPct val="100000"/>
              </a:lnSpc>
              <a:defRPr sz="2800"/>
            </a:lvl2pPr>
            <a:lvl3pPr>
              <a:lnSpc>
                <a:spcPct val="100000"/>
              </a:lnSpc>
              <a:defRPr sz="2400"/>
            </a:lvl3pPr>
            <a:lvl4pPr>
              <a:lnSpc>
                <a:spcPct val="100000"/>
              </a:lnSpc>
              <a:defRPr sz="2000"/>
            </a:lvl4pPr>
            <a:lvl5pPr>
              <a:lnSpc>
                <a:spcPct val="100000"/>
              </a:lnSpc>
              <a:defRPr sz="20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9252170-69DA-2D72-F115-2777ADB948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517C-E35D-45A9-98B5-A01C55D67C8B}" type="datetime2">
              <a:rPr lang="zh-CN" altLang="en-US" smtClean="0"/>
              <a:t>2026年3月11日</a:t>
            </a:fld>
            <a:endParaRPr lang="zh-CN" altLang="en-US" dirty="0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139A1DA-BFBC-7BCA-8F9F-E931CA464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</a:t>
            </a:r>
            <a:r>
              <a:rPr lang="en-US" altLang="zh-CN"/>
              <a:t>2</a:t>
            </a:r>
            <a:r>
              <a:rPr lang="zh-CN" altLang="en-US"/>
              <a:t>章 词法分析</a:t>
            </a:r>
            <a:r>
              <a:rPr lang="en-US" altLang="zh-CN"/>
              <a:t>(1)</a:t>
            </a:r>
            <a:endParaRPr lang="zh-CN" altLang="en-US" dirty="0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228024E-9216-216F-6CBA-C3452118A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74657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318094"/>
            <a:ext cx="3868340" cy="47036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924287"/>
            <a:ext cx="3868340" cy="4265376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3200"/>
            </a:lvl1pPr>
            <a:lvl2pPr>
              <a:lnSpc>
                <a:spcPct val="100000"/>
              </a:lnSpc>
              <a:defRPr sz="2800"/>
            </a:lvl2pPr>
            <a:lvl3pPr>
              <a:lnSpc>
                <a:spcPct val="100000"/>
              </a:lnSpc>
              <a:defRPr sz="2400"/>
            </a:lvl3pPr>
            <a:lvl4pPr>
              <a:lnSpc>
                <a:spcPct val="100000"/>
              </a:lnSpc>
              <a:defRPr sz="2000"/>
            </a:lvl4pPr>
            <a:lvl5pPr>
              <a:lnSpc>
                <a:spcPct val="100000"/>
              </a:lnSpc>
              <a:defRPr sz="20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1" y="1318094"/>
            <a:ext cx="3887391" cy="47036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1" y="1924287"/>
            <a:ext cx="3887391" cy="4265376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3200"/>
            </a:lvl1pPr>
            <a:lvl2pPr>
              <a:lnSpc>
                <a:spcPct val="100000"/>
              </a:lnSpc>
              <a:defRPr sz="2800"/>
            </a:lvl2pPr>
            <a:lvl3pPr>
              <a:lnSpc>
                <a:spcPct val="100000"/>
              </a:lnSpc>
              <a:defRPr sz="2400"/>
            </a:lvl3pPr>
            <a:lvl4pPr>
              <a:lnSpc>
                <a:spcPct val="100000"/>
              </a:lnSpc>
              <a:defRPr sz="2000"/>
            </a:lvl4pPr>
            <a:lvl5pPr>
              <a:lnSpc>
                <a:spcPct val="100000"/>
              </a:lnSpc>
              <a:defRPr sz="20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29226026-9100-429E-A7E2-D154A72B41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29136"/>
            <a:ext cx="7886700" cy="95313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189DA9E-6D2C-ECFE-516A-4D7CBF5DE6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86FCD-766F-456A-BF0B-519FFBA9057E}" type="datetime2">
              <a:rPr lang="zh-CN" altLang="en-US" smtClean="0"/>
              <a:t>2026年3月11日</a:t>
            </a:fld>
            <a:endParaRPr lang="zh-CN" altLang="en-US" dirty="0"/>
          </a:p>
        </p:txBody>
      </p:sp>
      <p:sp>
        <p:nvSpPr>
          <p:cNvPr id="7" name="页脚占位符 6">
            <a:extLst>
              <a:ext uri="{FF2B5EF4-FFF2-40B4-BE49-F238E27FC236}">
                <a16:creationId xmlns:a16="http://schemas.microsoft.com/office/drawing/2014/main" id="{84D214C7-BE70-775E-3184-699E828CAA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</a:t>
            </a:r>
            <a:r>
              <a:rPr lang="en-US" altLang="zh-CN"/>
              <a:t>2</a:t>
            </a:r>
            <a:r>
              <a:rPr lang="zh-CN" altLang="en-US"/>
              <a:t>章 词法分析</a:t>
            </a:r>
            <a:r>
              <a:rPr lang="en-US" altLang="zh-CN"/>
              <a:t>(1)</a:t>
            </a:r>
            <a:endParaRPr lang="zh-CN" altLang="en-US" dirty="0"/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4E63B42C-0A8D-3187-C6A2-EC53CC68F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00672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F910E3A-F2ED-EEF4-F254-EC2E311F2E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BAC0E-B00C-488A-B63D-EC0ADD94CAC7}" type="datetime2">
              <a:rPr lang="zh-CN" altLang="en-US" smtClean="0"/>
              <a:t>2026年3月11日</a:t>
            </a:fld>
            <a:endParaRPr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2EB21E9-A4F5-FC64-1354-7982178B2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</a:t>
            </a:r>
            <a:r>
              <a:rPr lang="en-US" altLang="zh-CN"/>
              <a:t>2</a:t>
            </a:r>
            <a:r>
              <a:rPr lang="zh-CN" altLang="en-US"/>
              <a:t>章 词法分析</a:t>
            </a:r>
            <a:r>
              <a:rPr lang="en-US" altLang="zh-CN"/>
              <a:t>(1)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B089F21-B949-2FD1-743C-8877F7981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64571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F0BF46A-E386-812F-0D08-5F8229156F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5A5BA-BC1B-4868-A30E-DCFF8FE744E6}" type="datetime2">
              <a:rPr lang="zh-CN" altLang="en-US" smtClean="0"/>
              <a:t>2026年3月11日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F34F61A-207B-527E-FBEF-08F5D67B5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</a:t>
            </a:r>
            <a:r>
              <a:rPr lang="en-US" altLang="zh-CN"/>
              <a:t>2</a:t>
            </a:r>
            <a:r>
              <a:rPr lang="zh-CN" altLang="en-US"/>
              <a:t>章 词法分析</a:t>
            </a:r>
            <a:r>
              <a:rPr lang="en-US" altLang="zh-CN"/>
              <a:t>(1)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90BB434-81FB-B74A-0CBE-68F34BF44D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63618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137692"/>
            <a:ext cx="2949178" cy="1143000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04851"/>
            <a:ext cx="4629150" cy="5156201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2800"/>
            </a:lvl1pPr>
            <a:lvl2pPr>
              <a:lnSpc>
                <a:spcPct val="100000"/>
              </a:lnSpc>
              <a:defRPr sz="2400"/>
            </a:lvl2pPr>
            <a:lvl3pPr>
              <a:lnSpc>
                <a:spcPct val="100000"/>
              </a:lnSpc>
              <a:defRPr sz="2000"/>
            </a:lvl3pPr>
            <a:lvl4pPr>
              <a:lnSpc>
                <a:spcPct val="100000"/>
              </a:lnSpc>
              <a:defRPr sz="1800"/>
            </a:lvl4pPr>
            <a:lvl5pPr>
              <a:lnSpc>
                <a:spcPct val="100000"/>
              </a:lnSpc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371602"/>
            <a:ext cx="2949178" cy="449738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CD298AE-E700-D985-6042-9D007D8F30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BF6AA-2940-41C8-B89E-CB7073FEBEE7}" type="datetime2">
              <a:rPr lang="zh-CN" altLang="en-US" smtClean="0"/>
              <a:t>2026年3月11日</a:t>
            </a:fld>
            <a:endParaRPr lang="zh-CN" altLang="en-US" dirty="0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B258D42-CF72-34ED-F56F-AE9B813E9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</a:t>
            </a:r>
            <a:r>
              <a:rPr lang="en-US" altLang="zh-CN"/>
              <a:t>2</a:t>
            </a:r>
            <a:r>
              <a:rPr lang="zh-CN" altLang="en-US"/>
              <a:t>章 词法分析</a:t>
            </a:r>
            <a:r>
              <a:rPr lang="en-US" altLang="zh-CN"/>
              <a:t>(1)</a:t>
            </a:r>
            <a:endParaRPr lang="zh-CN" altLang="en-US" dirty="0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BDFD631-A3E9-165A-35DB-0DEA1F6E9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17338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14376"/>
            <a:ext cx="4629150" cy="5146676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381127"/>
            <a:ext cx="2949178" cy="448786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72FE7C6-2AD9-404C-A485-6AF34B753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137692"/>
            <a:ext cx="2949178" cy="1143000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781ADDD-B50D-2265-4F73-7D94A8CAC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C991B-6E2B-4566-9D15-DF862F0948AD}" type="datetime2">
              <a:rPr lang="zh-CN" altLang="en-US" smtClean="0"/>
              <a:t>2026年3月11日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7C0C95-F80D-C1E1-CCD9-FED7EC490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</a:t>
            </a:r>
            <a:r>
              <a:rPr lang="en-US" altLang="zh-CN"/>
              <a:t>2</a:t>
            </a:r>
            <a:r>
              <a:rPr lang="zh-CN" altLang="en-US"/>
              <a:t>章 词法分析</a:t>
            </a:r>
            <a:r>
              <a:rPr lang="en-US" altLang="zh-CN"/>
              <a:t>(1)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61A04C7-B65F-289E-E03D-12535DA86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54361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858B23B-E63C-7924-6739-DE03BC3743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16F1A-BDCF-49B3-AD9E-B0F5B5927793}" type="datetime2">
              <a:rPr lang="zh-CN" altLang="en-US" smtClean="0"/>
              <a:t>2026年3月11日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ADDC46F-A2C9-DCCE-53CA-FD68C17AB6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</a:t>
            </a:r>
            <a:r>
              <a:rPr lang="en-US" altLang="zh-CN"/>
              <a:t>2</a:t>
            </a:r>
            <a:r>
              <a:rPr lang="zh-CN" altLang="en-US"/>
              <a:t>章 词法分析</a:t>
            </a:r>
            <a:r>
              <a:rPr lang="en-US" altLang="zh-CN"/>
              <a:t>(1)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FE5539E-CDF7-804D-9506-F8F808768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62787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5B09B39-3007-BEB7-B5AD-FF5977A94F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9DDB7-7C88-44A9-B26A-F9125C01B05B}" type="datetime2">
              <a:rPr lang="zh-CN" altLang="en-US" smtClean="0"/>
              <a:t>2026年3月11日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DC64B84-DDCA-A2A7-6AF5-422C28B870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</a:t>
            </a:r>
            <a:r>
              <a:rPr lang="en-US" altLang="zh-CN"/>
              <a:t>2</a:t>
            </a:r>
            <a:r>
              <a:rPr lang="zh-CN" altLang="en-US"/>
              <a:t>章 词法分析</a:t>
            </a:r>
            <a:r>
              <a:rPr lang="en-US" altLang="zh-CN"/>
              <a:t>(1)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F739592-4F64-1117-E412-90F3314629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46561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0939" y="214314"/>
            <a:ext cx="7793037" cy="146208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8" name="日期占位符 7">
            <a:extLst>
              <a:ext uri="{FF2B5EF4-FFF2-40B4-BE49-F238E27FC236}">
                <a16:creationId xmlns:a16="http://schemas.microsoft.com/office/drawing/2014/main" id="{DFF38CD5-A72C-F759-0789-EEDBD4DE3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3345E-D704-471E-A293-146154665CD5}" type="datetime2">
              <a:rPr lang="zh-CN" altLang="en-US" smtClean="0"/>
              <a:t>2026年3月11日</a:t>
            </a:fld>
            <a:endParaRPr lang="zh-CN" altLang="en-US" dirty="0"/>
          </a:p>
        </p:txBody>
      </p:sp>
      <p:sp>
        <p:nvSpPr>
          <p:cNvPr id="9" name="页脚占位符 8">
            <a:extLst>
              <a:ext uri="{FF2B5EF4-FFF2-40B4-BE49-F238E27FC236}">
                <a16:creationId xmlns:a16="http://schemas.microsoft.com/office/drawing/2014/main" id="{538FBA95-D414-F06C-DB52-00D94A9C9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</a:t>
            </a:r>
            <a:r>
              <a:rPr lang="en-US" altLang="zh-CN"/>
              <a:t>2</a:t>
            </a:r>
            <a:r>
              <a:rPr lang="zh-CN" altLang="en-US"/>
              <a:t>章 词法分析</a:t>
            </a:r>
            <a:r>
              <a:rPr lang="en-US" altLang="zh-CN"/>
              <a:t>(1)</a:t>
            </a:r>
            <a:endParaRPr lang="zh-CN" altLang="en-US" dirty="0"/>
          </a:p>
        </p:txBody>
      </p:sp>
      <p:sp>
        <p:nvSpPr>
          <p:cNvPr id="10" name="灯片编号占位符 9">
            <a:extLst>
              <a:ext uri="{FF2B5EF4-FFF2-40B4-BE49-F238E27FC236}">
                <a16:creationId xmlns:a16="http://schemas.microsoft.com/office/drawing/2014/main" id="{8FA977F0-2D4E-D075-7789-0395E8EE4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27242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0939" y="214314"/>
            <a:ext cx="7793037" cy="146208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1182688" y="2017713"/>
            <a:ext cx="7772400" cy="4114800"/>
          </a:xfrm>
        </p:spPr>
        <p:txBody>
          <a:bodyPr/>
          <a:lstStyle/>
          <a:p>
            <a:pPr lvl="0"/>
            <a:r>
              <a:rPr lang="zh-CN" altLang="en-US" noProof="0"/>
              <a:t>单击图标添加表格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9A8814B-8A88-C255-1CC9-3C519F1E88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F9E0C-FC6E-4D16-B99D-801FB2CD3F94}" type="datetime2">
              <a:rPr lang="zh-CN" altLang="en-US" smtClean="0"/>
              <a:t>2026年3月11日</a:t>
            </a:fld>
            <a:endParaRPr lang="zh-CN" altLang="en-US" dirty="0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89516C1-45F7-9ADE-2F07-8A46D2457D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</a:t>
            </a:r>
            <a:r>
              <a:rPr lang="en-US" altLang="zh-CN"/>
              <a:t>2</a:t>
            </a:r>
            <a:r>
              <a:rPr lang="zh-CN" altLang="en-US"/>
              <a:t>章 词法分析</a:t>
            </a:r>
            <a:r>
              <a:rPr lang="en-US" altLang="zh-CN"/>
              <a:t>(1)</a:t>
            </a:r>
            <a:endParaRPr lang="zh-CN" altLang="en-US" dirty="0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A007FEB-0C75-86B7-2DB2-264DC6B13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97286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1">
            <a:extLst>
              <a:ext uri="{FF2B5EF4-FFF2-40B4-BE49-F238E27FC236}">
                <a16:creationId xmlns:a16="http://schemas.microsoft.com/office/drawing/2014/main" id="{612A7493-2047-96EB-9750-888FBD77B1C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</a:t>
            </a:r>
            <a:r>
              <a:rPr lang="en-US" altLang="zh-CN"/>
              <a:t>2</a:t>
            </a:r>
            <a:r>
              <a:rPr lang="zh-CN" altLang="en-US"/>
              <a:t>章 词法分析</a:t>
            </a:r>
            <a:r>
              <a:rPr lang="en-US" altLang="zh-CN"/>
              <a:t>(1)</a:t>
            </a:r>
            <a:endParaRPr lang="zh-CN" altLang="en-US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1D28717C-EA3A-2C80-67DE-778E5EEB0C9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464A760-9EB2-F01B-EF2E-8AA80B015BF4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96DF517C-E35D-45A9-98B5-A01C55D67C8B}" type="datetime2">
              <a:rPr lang="zh-CN" altLang="en-US" smtClean="0"/>
              <a:t>2026年3月11日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412781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20F3958B-01C0-0A96-68C9-F7752383FD9A}"/>
              </a:ext>
            </a:extLst>
          </p:cNvPr>
          <p:cNvSpPr/>
          <p:nvPr userDrawn="1"/>
        </p:nvSpPr>
        <p:spPr>
          <a:xfrm>
            <a:off x="0" y="0"/>
            <a:ext cx="9144000" cy="229128"/>
          </a:xfrm>
          <a:prstGeom prst="rect">
            <a:avLst/>
          </a:prstGeom>
          <a:gradFill flip="none" rotWithShape="1">
            <a:gsLst>
              <a:gs pos="0">
                <a:srgbClr val="3A7B9F">
                  <a:lumMod val="89000"/>
                </a:srgbClr>
              </a:gs>
              <a:gs pos="23000">
                <a:srgbClr val="3A7B9F">
                  <a:lumMod val="89000"/>
                </a:srgbClr>
              </a:gs>
              <a:gs pos="69000">
                <a:srgbClr val="316886">
                  <a:lumMod val="75000"/>
                </a:srgbClr>
              </a:gs>
              <a:gs pos="97000">
                <a:srgbClr val="2E617D">
                  <a:lumMod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8D5E4ABF-DD54-6BBA-BAC2-E1D45644836D}"/>
              </a:ext>
            </a:extLst>
          </p:cNvPr>
          <p:cNvCxnSpPr/>
          <p:nvPr userDrawn="1"/>
        </p:nvCxnSpPr>
        <p:spPr>
          <a:xfrm>
            <a:off x="0" y="229136"/>
            <a:ext cx="9144000" cy="0"/>
          </a:xfrm>
          <a:prstGeom prst="line">
            <a:avLst/>
          </a:prstGeom>
          <a:ln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29136"/>
            <a:ext cx="7886700" cy="953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257300"/>
            <a:ext cx="7886700" cy="49196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7" name="箭头: 五边形 6">
            <a:extLst>
              <a:ext uri="{FF2B5EF4-FFF2-40B4-BE49-F238E27FC236}">
                <a16:creationId xmlns:a16="http://schemas.microsoft.com/office/drawing/2014/main" id="{6CBCA317-D25B-4606-AB40-B04900150411}"/>
              </a:ext>
            </a:extLst>
          </p:cNvPr>
          <p:cNvSpPr/>
          <p:nvPr/>
        </p:nvSpPr>
        <p:spPr>
          <a:xfrm>
            <a:off x="0" y="365136"/>
            <a:ext cx="628650" cy="681135"/>
          </a:xfrm>
          <a:prstGeom prst="homePlate">
            <a:avLst/>
          </a:prstGeom>
          <a:gradFill flip="none" rotWithShape="1">
            <a:gsLst>
              <a:gs pos="0">
                <a:srgbClr val="3A7B9F">
                  <a:lumMod val="89000"/>
                </a:srgbClr>
              </a:gs>
              <a:gs pos="23000">
                <a:srgbClr val="3A7B9F">
                  <a:lumMod val="89000"/>
                </a:srgbClr>
              </a:gs>
              <a:gs pos="69000">
                <a:srgbClr val="316886">
                  <a:lumMod val="75000"/>
                </a:srgbClr>
              </a:gs>
              <a:gs pos="97000">
                <a:srgbClr val="2E617D">
                  <a:lumMod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97360822-865F-4201-A117-CC1E539ED999}"/>
              </a:ext>
            </a:extLst>
          </p:cNvPr>
          <p:cNvSpPr/>
          <p:nvPr userDrawn="1"/>
        </p:nvSpPr>
        <p:spPr>
          <a:xfrm>
            <a:off x="0" y="365128"/>
            <a:ext cx="628650" cy="681135"/>
          </a:xfrm>
          <a:prstGeom prst="homePlate">
            <a:avLst/>
          </a:prstGeom>
          <a:gradFill flip="none" rotWithShape="1">
            <a:gsLst>
              <a:gs pos="0">
                <a:srgbClr val="3A7B9F">
                  <a:lumMod val="89000"/>
                </a:srgbClr>
              </a:gs>
              <a:gs pos="23000">
                <a:srgbClr val="3A7B9F">
                  <a:lumMod val="89000"/>
                </a:srgbClr>
              </a:gs>
              <a:gs pos="69000">
                <a:srgbClr val="316886">
                  <a:lumMod val="75000"/>
                </a:srgbClr>
              </a:gs>
              <a:gs pos="97000">
                <a:srgbClr val="2E617D">
                  <a:lumMod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1345553-EF4A-DBDE-C790-A708CC05CA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10800"/>
            <a:ext cx="3086100" cy="18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</a:t>
            </a:r>
            <a:r>
              <a:rPr lang="en-US" altLang="zh-CN"/>
              <a:t>2</a:t>
            </a:r>
            <a:r>
              <a:rPr lang="zh-CN" altLang="en-US"/>
              <a:t>章 词法分析</a:t>
            </a:r>
            <a:r>
              <a:rPr lang="en-US" altLang="zh-CN"/>
              <a:t>(1)</a:t>
            </a:r>
            <a:endParaRPr lang="zh-CN" altLang="en-US" dirty="0"/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1023F4F9-B6BF-0026-295C-0157F77F36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056000" y="10800"/>
            <a:ext cx="2057400" cy="18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094DEB03-EFC6-4C20-8FC8-295189A5386F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980115C-8837-19E6-64B4-FBB7C7E3D3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2400" y="10800"/>
            <a:ext cx="2059200" cy="18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96DF517C-E35D-45A9-98B5-A01C55D67C8B}" type="datetime2">
              <a:rPr lang="zh-CN" altLang="en-US" smtClean="0"/>
              <a:t>2026年3月11日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028498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  <p:sldLayoutId id="2147483687" r:id="rId14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slideLayout" Target="../slideLayouts/slideLayout14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10" Type="http://schemas.openxmlformats.org/officeDocument/2006/relationships/tags" Target="../tags/tag10.xml"/><Relationship Id="rId19" Type="http://schemas.openxmlformats.org/officeDocument/2006/relationships/image" Target="../media/image4.tmp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tags" Target="../tags/tag25.xml"/><Relationship Id="rId13" Type="http://schemas.openxmlformats.org/officeDocument/2006/relationships/tags" Target="../tags/tag30.xml"/><Relationship Id="rId18" Type="http://schemas.openxmlformats.org/officeDocument/2006/relationships/slideLayout" Target="../slideLayouts/slideLayout14.xml"/><Relationship Id="rId3" Type="http://schemas.openxmlformats.org/officeDocument/2006/relationships/tags" Target="../tags/tag20.xml"/><Relationship Id="rId7" Type="http://schemas.openxmlformats.org/officeDocument/2006/relationships/tags" Target="../tags/tag24.xml"/><Relationship Id="rId12" Type="http://schemas.openxmlformats.org/officeDocument/2006/relationships/tags" Target="../tags/tag29.xml"/><Relationship Id="rId17" Type="http://schemas.openxmlformats.org/officeDocument/2006/relationships/tags" Target="../tags/tag34.xml"/><Relationship Id="rId2" Type="http://schemas.openxmlformats.org/officeDocument/2006/relationships/tags" Target="../tags/tag19.xml"/><Relationship Id="rId16" Type="http://schemas.openxmlformats.org/officeDocument/2006/relationships/tags" Target="../tags/tag33.xml"/><Relationship Id="rId1" Type="http://schemas.openxmlformats.org/officeDocument/2006/relationships/tags" Target="../tags/tag18.xml"/><Relationship Id="rId6" Type="http://schemas.openxmlformats.org/officeDocument/2006/relationships/tags" Target="../tags/tag23.xml"/><Relationship Id="rId11" Type="http://schemas.openxmlformats.org/officeDocument/2006/relationships/tags" Target="../tags/tag28.xml"/><Relationship Id="rId5" Type="http://schemas.openxmlformats.org/officeDocument/2006/relationships/tags" Target="../tags/tag22.xml"/><Relationship Id="rId15" Type="http://schemas.openxmlformats.org/officeDocument/2006/relationships/tags" Target="../tags/tag32.xml"/><Relationship Id="rId10" Type="http://schemas.openxmlformats.org/officeDocument/2006/relationships/tags" Target="../tags/tag27.xml"/><Relationship Id="rId19" Type="http://schemas.openxmlformats.org/officeDocument/2006/relationships/image" Target="../media/image4.tmp"/><Relationship Id="rId4" Type="http://schemas.openxmlformats.org/officeDocument/2006/relationships/tags" Target="../tags/tag21.xml"/><Relationship Id="rId9" Type="http://schemas.openxmlformats.org/officeDocument/2006/relationships/tags" Target="../tags/tag26.xml"/><Relationship Id="rId14" Type="http://schemas.openxmlformats.org/officeDocument/2006/relationships/tags" Target="../tags/tag3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slide" Target="slide58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slide" Target="slide52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DC3515-54D4-4A44-A409-1AD3C10C63E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第二章 词法分析</a:t>
            </a:r>
            <a:r>
              <a:rPr lang="en-US" altLang="zh-CN" dirty="0"/>
              <a:t>(1)</a:t>
            </a:r>
            <a:endParaRPr lang="zh-CN" altLang="en-US" sz="3600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9F7C19A-4716-4FDA-9AAE-2A3CD35E521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endParaRPr lang="en-US" altLang="zh-CN" sz="1800" dirty="0"/>
          </a:p>
          <a:p>
            <a:r>
              <a:rPr lang="zh-CN" altLang="en-US" sz="1800" dirty="0"/>
              <a:t>中国海洋大学 计算机系 王欣捷</a:t>
            </a:r>
            <a:endParaRPr lang="en-US" altLang="zh-CN" sz="1800" dirty="0"/>
          </a:p>
          <a:p>
            <a:r>
              <a:rPr lang="en-US" altLang="zh-CN" sz="1800" dirty="0"/>
              <a:t>wangxinjie@ouc.edu.cn</a:t>
            </a:r>
            <a:endParaRPr lang="zh-CN" altLang="en-US" sz="1800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B9EEABF-8F2E-4A8A-9369-F41B0C31DBC7}"/>
              </a:ext>
            </a:extLst>
          </p:cNvPr>
          <p:cNvSpPr txBox="1"/>
          <p:nvPr/>
        </p:nvSpPr>
        <p:spPr>
          <a:xfrm>
            <a:off x="3363977" y="3105834"/>
            <a:ext cx="24160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>
                <a:solidFill>
                  <a:schemeClr val="bg1"/>
                </a:solidFill>
              </a:rPr>
              <a:t>编 译 原 理</a:t>
            </a:r>
          </a:p>
        </p:txBody>
      </p:sp>
    </p:spTree>
    <p:extLst>
      <p:ext uri="{BB962C8B-B14F-4D97-AF65-F5344CB8AC3E}">
        <p14:creationId xmlns:p14="http://schemas.microsoft.com/office/powerpoint/2010/main" val="24708983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内容占位符 13">
            <a:extLst>
              <a:ext uri="{FF2B5EF4-FFF2-40B4-BE49-F238E27FC236}">
                <a16:creationId xmlns:a16="http://schemas.microsoft.com/office/drawing/2014/main" id="{84066980-0ECE-5E17-9009-4D83F1E15D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548237" y="210271"/>
            <a:ext cx="7706714" cy="664772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E846F6E8-AE4E-4B29-9CC7-8C7680380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第一章回顾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BB3D5BD-223D-3CD7-6115-EAEFC79727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029376-0930-4BDF-ACFF-4FC36EC98EF0}" type="datetime2">
              <a:rPr lang="zh-CN" altLang="en-US" smtClean="0"/>
              <a:t>2026年3月11日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E2E2661-2FFD-E86C-F28B-E5096092A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</a:t>
            </a:r>
            <a:r>
              <a:rPr lang="en-US" altLang="zh-CN"/>
              <a:t>2</a:t>
            </a:r>
            <a:r>
              <a:rPr lang="zh-CN" altLang="en-US"/>
              <a:t>章 词法分析</a:t>
            </a:r>
            <a:r>
              <a:rPr lang="en-US" altLang="zh-CN"/>
              <a:t>(1)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5D0E96A-3CAC-4047-D37E-D91EF0470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15920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标题 1">
            <a:extLst>
              <a:ext uri="{FF2B5EF4-FFF2-40B4-BE49-F238E27FC236}">
                <a16:creationId xmlns:a16="http://schemas.microsoft.com/office/drawing/2014/main" id="{BF4863E5-284D-406C-B7F0-EF7BA655F1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第一章回顾</a:t>
            </a:r>
          </a:p>
        </p:txBody>
      </p: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96C600A6-7AE4-4760-8FF0-6A1A63B88013}"/>
              </a:ext>
            </a:extLst>
          </p:cNvPr>
          <p:cNvGrpSpPr/>
          <p:nvPr/>
        </p:nvGrpSpPr>
        <p:grpSpPr>
          <a:xfrm>
            <a:off x="4201804" y="302722"/>
            <a:ext cx="2451585" cy="6386652"/>
            <a:chOff x="5883141" y="158354"/>
            <a:chExt cx="2493440" cy="6495687"/>
          </a:xfrm>
        </p:grpSpPr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03681551-5252-44EE-A1B2-3649867B835E}"/>
                </a:ext>
              </a:extLst>
            </p:cNvPr>
            <p:cNvSpPr txBox="1"/>
            <p:nvPr/>
          </p:nvSpPr>
          <p:spPr>
            <a:xfrm>
              <a:off x="6722923" y="158354"/>
              <a:ext cx="813881" cy="250425"/>
            </a:xfrm>
            <a:prstGeom prst="rect">
              <a:avLst/>
            </a:prstGeom>
            <a:noFill/>
          </p:spPr>
          <p:txBody>
            <a:bodyPr wrap="none" tIns="0" bIns="0" rtlCol="0">
              <a:spAutoFit/>
            </a:bodyPr>
            <a:lstStyle/>
            <a:p>
              <a:pPr algn="ctr"/>
              <a:r>
                <a:rPr lang="zh-CN" altLang="en-US" sz="1600" dirty="0"/>
                <a:t>字符流</a:t>
              </a:r>
            </a:p>
          </p:txBody>
        </p:sp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4AA6A973-8718-44D6-9AF6-F301AAB9B744}"/>
                </a:ext>
              </a:extLst>
            </p:cNvPr>
            <p:cNvSpPr/>
            <p:nvPr/>
          </p:nvSpPr>
          <p:spPr>
            <a:xfrm>
              <a:off x="5883144" y="536417"/>
              <a:ext cx="2493437" cy="338554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dirty="0">
                  <a:solidFill>
                    <a:schemeClr val="tx1"/>
                  </a:solidFill>
                </a:rPr>
                <a:t>词法分析器</a:t>
              </a:r>
            </a:p>
          </p:txBody>
        </p:sp>
        <p:cxnSp>
          <p:nvCxnSpPr>
            <p:cNvPr id="32" name="直接箭头连接符 31">
              <a:extLst>
                <a:ext uri="{FF2B5EF4-FFF2-40B4-BE49-F238E27FC236}">
                  <a16:creationId xmlns:a16="http://schemas.microsoft.com/office/drawing/2014/main" id="{5FC41F3C-1003-45B6-9185-C209CCAE104F}"/>
                </a:ext>
              </a:extLst>
            </p:cNvPr>
            <p:cNvCxnSpPr>
              <a:cxnSpLocks/>
              <a:stCxn id="30" idx="2"/>
              <a:endCxn id="31" idx="0"/>
            </p:cNvCxnSpPr>
            <p:nvPr/>
          </p:nvCxnSpPr>
          <p:spPr>
            <a:xfrm flipH="1">
              <a:off x="7129863" y="408779"/>
              <a:ext cx="1" cy="127639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EB78D7CD-47CC-4FF2-B509-5CBEC101368D}"/>
                </a:ext>
              </a:extLst>
            </p:cNvPr>
            <p:cNvSpPr txBox="1"/>
            <p:nvPr/>
          </p:nvSpPr>
          <p:spPr>
            <a:xfrm>
              <a:off x="6722923" y="1026417"/>
              <a:ext cx="813881" cy="250425"/>
            </a:xfrm>
            <a:prstGeom prst="rect">
              <a:avLst/>
            </a:prstGeom>
            <a:noFill/>
          </p:spPr>
          <p:txBody>
            <a:bodyPr wrap="none" tIns="0" bIns="0" rtlCol="0">
              <a:spAutoFit/>
            </a:bodyPr>
            <a:lstStyle/>
            <a:p>
              <a:pPr algn="ctr"/>
              <a:r>
                <a:rPr lang="zh-CN" altLang="en-US" sz="1600" dirty="0"/>
                <a:t>记号流</a:t>
              </a:r>
            </a:p>
          </p:txBody>
        </p:sp>
        <p:cxnSp>
          <p:nvCxnSpPr>
            <p:cNvPr id="34" name="直接箭头连接符 33">
              <a:extLst>
                <a:ext uri="{FF2B5EF4-FFF2-40B4-BE49-F238E27FC236}">
                  <a16:creationId xmlns:a16="http://schemas.microsoft.com/office/drawing/2014/main" id="{0D99BC01-1C6A-4B18-BA41-6514218F5CAE}"/>
                </a:ext>
              </a:extLst>
            </p:cNvPr>
            <p:cNvCxnSpPr>
              <a:cxnSpLocks/>
              <a:stCxn id="31" idx="2"/>
              <a:endCxn id="33" idx="0"/>
            </p:cNvCxnSpPr>
            <p:nvPr/>
          </p:nvCxnSpPr>
          <p:spPr>
            <a:xfrm>
              <a:off x="7129863" y="874971"/>
              <a:ext cx="1" cy="151446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FDF2AEEF-B270-4D26-BB1F-6608A7DDEE0D}"/>
                </a:ext>
              </a:extLst>
            </p:cNvPr>
            <p:cNvSpPr/>
            <p:nvPr/>
          </p:nvSpPr>
          <p:spPr>
            <a:xfrm>
              <a:off x="5883144" y="1419015"/>
              <a:ext cx="2493437" cy="338554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dirty="0">
                  <a:solidFill>
                    <a:schemeClr val="tx1"/>
                  </a:solidFill>
                </a:rPr>
                <a:t>语法分析器</a:t>
              </a:r>
            </a:p>
          </p:txBody>
        </p:sp>
        <p:cxnSp>
          <p:nvCxnSpPr>
            <p:cNvPr id="36" name="直接箭头连接符 35">
              <a:extLst>
                <a:ext uri="{FF2B5EF4-FFF2-40B4-BE49-F238E27FC236}">
                  <a16:creationId xmlns:a16="http://schemas.microsoft.com/office/drawing/2014/main" id="{C79A7DE1-01FB-414B-B183-ABE8B01C0A08}"/>
                </a:ext>
              </a:extLst>
            </p:cNvPr>
            <p:cNvCxnSpPr>
              <a:cxnSpLocks/>
              <a:stCxn id="33" idx="2"/>
              <a:endCxn id="35" idx="0"/>
            </p:cNvCxnSpPr>
            <p:nvPr/>
          </p:nvCxnSpPr>
          <p:spPr>
            <a:xfrm flipH="1">
              <a:off x="7129863" y="1276842"/>
              <a:ext cx="1" cy="142173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03A01466-8450-4D87-A3C1-3ACAD6EC7732}"/>
                </a:ext>
              </a:extLst>
            </p:cNvPr>
            <p:cNvSpPr txBox="1"/>
            <p:nvPr/>
          </p:nvSpPr>
          <p:spPr>
            <a:xfrm>
              <a:off x="6722921" y="1920670"/>
              <a:ext cx="813881" cy="250425"/>
            </a:xfrm>
            <a:prstGeom prst="rect">
              <a:avLst/>
            </a:prstGeom>
            <a:noFill/>
          </p:spPr>
          <p:txBody>
            <a:bodyPr wrap="none" tIns="0" bIns="0" rtlCol="0">
              <a:spAutoFit/>
            </a:bodyPr>
            <a:lstStyle/>
            <a:p>
              <a:pPr algn="ctr"/>
              <a:r>
                <a:rPr lang="zh-CN" altLang="en-US" sz="1600" dirty="0"/>
                <a:t>语法树</a:t>
              </a:r>
            </a:p>
          </p:txBody>
        </p:sp>
        <p:cxnSp>
          <p:nvCxnSpPr>
            <p:cNvPr id="38" name="直接箭头连接符 37">
              <a:extLst>
                <a:ext uri="{FF2B5EF4-FFF2-40B4-BE49-F238E27FC236}">
                  <a16:creationId xmlns:a16="http://schemas.microsoft.com/office/drawing/2014/main" id="{35CF254F-0424-4A75-A407-2F75FF2330CE}"/>
                </a:ext>
              </a:extLst>
            </p:cNvPr>
            <p:cNvCxnSpPr>
              <a:cxnSpLocks/>
              <a:stCxn id="35" idx="2"/>
              <a:endCxn id="37" idx="0"/>
            </p:cNvCxnSpPr>
            <p:nvPr/>
          </p:nvCxnSpPr>
          <p:spPr>
            <a:xfrm flipH="1">
              <a:off x="7129862" y="1757569"/>
              <a:ext cx="1" cy="163101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9" name="矩形 38">
              <a:extLst>
                <a:ext uri="{FF2B5EF4-FFF2-40B4-BE49-F238E27FC236}">
                  <a16:creationId xmlns:a16="http://schemas.microsoft.com/office/drawing/2014/main" id="{FFAF8B0C-5E45-4E2B-9A82-B2E4065D90D4}"/>
                </a:ext>
              </a:extLst>
            </p:cNvPr>
            <p:cNvSpPr/>
            <p:nvPr/>
          </p:nvSpPr>
          <p:spPr>
            <a:xfrm>
              <a:off x="5883143" y="2322740"/>
              <a:ext cx="2493437" cy="338554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dirty="0">
                  <a:solidFill>
                    <a:schemeClr val="tx1"/>
                  </a:solidFill>
                </a:rPr>
                <a:t>语义分析器</a:t>
              </a:r>
            </a:p>
          </p:txBody>
        </p:sp>
        <p:cxnSp>
          <p:nvCxnSpPr>
            <p:cNvPr id="40" name="直接箭头连接符 39">
              <a:extLst>
                <a:ext uri="{FF2B5EF4-FFF2-40B4-BE49-F238E27FC236}">
                  <a16:creationId xmlns:a16="http://schemas.microsoft.com/office/drawing/2014/main" id="{10CAA0A1-3C58-4184-8565-71FD26A75BE3}"/>
                </a:ext>
              </a:extLst>
            </p:cNvPr>
            <p:cNvCxnSpPr>
              <a:cxnSpLocks/>
              <a:stCxn id="37" idx="2"/>
              <a:endCxn id="39" idx="0"/>
            </p:cNvCxnSpPr>
            <p:nvPr/>
          </p:nvCxnSpPr>
          <p:spPr>
            <a:xfrm>
              <a:off x="7129862" y="2171095"/>
              <a:ext cx="0" cy="151645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7A075277-E695-4DE4-9DF9-2E29B0E6D708}"/>
                </a:ext>
              </a:extLst>
            </p:cNvPr>
            <p:cNvSpPr txBox="1"/>
            <p:nvPr/>
          </p:nvSpPr>
          <p:spPr>
            <a:xfrm>
              <a:off x="6481336" y="2809642"/>
              <a:ext cx="1297054" cy="250425"/>
            </a:xfrm>
            <a:prstGeom prst="rect">
              <a:avLst/>
            </a:prstGeom>
            <a:noFill/>
          </p:spPr>
          <p:txBody>
            <a:bodyPr wrap="square" tIns="0" bIns="0" rtlCol="0">
              <a:spAutoFit/>
            </a:bodyPr>
            <a:lstStyle/>
            <a:p>
              <a:pPr algn="ctr"/>
              <a:r>
                <a:rPr lang="zh-CN" altLang="en-US" sz="1600" dirty="0"/>
                <a:t>语法树</a:t>
              </a:r>
            </a:p>
          </p:txBody>
        </p:sp>
        <p:cxnSp>
          <p:nvCxnSpPr>
            <p:cNvPr id="42" name="直接箭头连接符 41">
              <a:extLst>
                <a:ext uri="{FF2B5EF4-FFF2-40B4-BE49-F238E27FC236}">
                  <a16:creationId xmlns:a16="http://schemas.microsoft.com/office/drawing/2014/main" id="{1CA7C08C-7597-484B-9E48-D87D55368495}"/>
                </a:ext>
              </a:extLst>
            </p:cNvPr>
            <p:cNvCxnSpPr>
              <a:cxnSpLocks/>
              <a:stCxn id="39" idx="2"/>
              <a:endCxn id="41" idx="0"/>
            </p:cNvCxnSpPr>
            <p:nvPr/>
          </p:nvCxnSpPr>
          <p:spPr>
            <a:xfrm>
              <a:off x="7129862" y="2661294"/>
              <a:ext cx="2" cy="148348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3" name="矩形 42">
              <a:extLst>
                <a:ext uri="{FF2B5EF4-FFF2-40B4-BE49-F238E27FC236}">
                  <a16:creationId xmlns:a16="http://schemas.microsoft.com/office/drawing/2014/main" id="{FC977763-7480-4B33-A4E8-D9EA8D3E2D64}"/>
                </a:ext>
              </a:extLst>
            </p:cNvPr>
            <p:cNvSpPr/>
            <p:nvPr/>
          </p:nvSpPr>
          <p:spPr>
            <a:xfrm>
              <a:off x="5883143" y="3226463"/>
              <a:ext cx="2493437" cy="338554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dirty="0">
                  <a:solidFill>
                    <a:schemeClr val="tx1"/>
                  </a:solidFill>
                </a:rPr>
                <a:t>中间代码生成器</a:t>
              </a:r>
            </a:p>
          </p:txBody>
        </p:sp>
        <p:cxnSp>
          <p:nvCxnSpPr>
            <p:cNvPr id="44" name="直接箭头连接符 43">
              <a:extLst>
                <a:ext uri="{FF2B5EF4-FFF2-40B4-BE49-F238E27FC236}">
                  <a16:creationId xmlns:a16="http://schemas.microsoft.com/office/drawing/2014/main" id="{779A2FA7-3439-4264-80F7-48BE43439F46}"/>
                </a:ext>
              </a:extLst>
            </p:cNvPr>
            <p:cNvCxnSpPr>
              <a:cxnSpLocks/>
              <a:stCxn id="41" idx="2"/>
              <a:endCxn id="43" idx="0"/>
            </p:cNvCxnSpPr>
            <p:nvPr/>
          </p:nvCxnSpPr>
          <p:spPr>
            <a:xfrm flipH="1">
              <a:off x="7129862" y="3060066"/>
              <a:ext cx="2" cy="166396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D0E6DC56-5F19-4754-91D4-A576B1F5F61F}"/>
                </a:ext>
              </a:extLst>
            </p:cNvPr>
            <p:cNvSpPr txBox="1"/>
            <p:nvPr/>
          </p:nvSpPr>
          <p:spPr>
            <a:xfrm>
              <a:off x="6619856" y="3713364"/>
              <a:ext cx="1020009" cy="250425"/>
            </a:xfrm>
            <a:prstGeom prst="rect">
              <a:avLst/>
            </a:prstGeom>
            <a:noFill/>
          </p:spPr>
          <p:txBody>
            <a:bodyPr wrap="square" tIns="0" bIns="0" rtlCol="0">
              <a:spAutoFit/>
            </a:bodyPr>
            <a:lstStyle/>
            <a:p>
              <a:pPr algn="ctr"/>
              <a:r>
                <a:rPr lang="zh-CN" altLang="en-US" sz="1600" dirty="0"/>
                <a:t>中间表示</a:t>
              </a:r>
            </a:p>
          </p:txBody>
        </p:sp>
        <p:cxnSp>
          <p:nvCxnSpPr>
            <p:cNvPr id="46" name="直接箭头连接符 45">
              <a:extLst>
                <a:ext uri="{FF2B5EF4-FFF2-40B4-BE49-F238E27FC236}">
                  <a16:creationId xmlns:a16="http://schemas.microsoft.com/office/drawing/2014/main" id="{A2F4C734-6480-4DF4-BC25-7651D94BEADE}"/>
                </a:ext>
              </a:extLst>
            </p:cNvPr>
            <p:cNvCxnSpPr>
              <a:cxnSpLocks/>
              <a:stCxn id="43" idx="2"/>
              <a:endCxn id="45" idx="0"/>
            </p:cNvCxnSpPr>
            <p:nvPr/>
          </p:nvCxnSpPr>
          <p:spPr>
            <a:xfrm flipH="1">
              <a:off x="7129860" y="3565017"/>
              <a:ext cx="1" cy="148347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7" name="矩形 46">
              <a:extLst>
                <a:ext uri="{FF2B5EF4-FFF2-40B4-BE49-F238E27FC236}">
                  <a16:creationId xmlns:a16="http://schemas.microsoft.com/office/drawing/2014/main" id="{98C969FF-448E-49E4-8A34-21C9F8CC13AC}"/>
                </a:ext>
              </a:extLst>
            </p:cNvPr>
            <p:cNvSpPr/>
            <p:nvPr/>
          </p:nvSpPr>
          <p:spPr>
            <a:xfrm>
              <a:off x="5883142" y="4103031"/>
              <a:ext cx="2493437" cy="338554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dirty="0">
                  <a:solidFill>
                    <a:schemeClr val="tx1"/>
                  </a:solidFill>
                </a:rPr>
                <a:t>独立于机器的代码优化器</a:t>
              </a:r>
            </a:p>
          </p:txBody>
        </p:sp>
        <p:cxnSp>
          <p:nvCxnSpPr>
            <p:cNvPr id="48" name="直接箭头连接符 47">
              <a:extLst>
                <a:ext uri="{FF2B5EF4-FFF2-40B4-BE49-F238E27FC236}">
                  <a16:creationId xmlns:a16="http://schemas.microsoft.com/office/drawing/2014/main" id="{C544AD91-C96C-4081-9ED7-CC80D31177B7}"/>
                </a:ext>
              </a:extLst>
            </p:cNvPr>
            <p:cNvCxnSpPr>
              <a:cxnSpLocks/>
              <a:stCxn id="45" idx="2"/>
              <a:endCxn id="47" idx="0"/>
            </p:cNvCxnSpPr>
            <p:nvPr/>
          </p:nvCxnSpPr>
          <p:spPr>
            <a:xfrm>
              <a:off x="7129860" y="3963788"/>
              <a:ext cx="0" cy="139242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9" name="文本框 48">
              <a:extLst>
                <a:ext uri="{FF2B5EF4-FFF2-40B4-BE49-F238E27FC236}">
                  <a16:creationId xmlns:a16="http://schemas.microsoft.com/office/drawing/2014/main" id="{F95BF6F5-E7B1-4225-86FD-387411F40415}"/>
                </a:ext>
              </a:extLst>
            </p:cNvPr>
            <p:cNvSpPr txBox="1"/>
            <p:nvPr/>
          </p:nvSpPr>
          <p:spPr>
            <a:xfrm>
              <a:off x="6393519" y="4580880"/>
              <a:ext cx="1481736" cy="250425"/>
            </a:xfrm>
            <a:prstGeom prst="rect">
              <a:avLst/>
            </a:prstGeom>
            <a:noFill/>
          </p:spPr>
          <p:txBody>
            <a:bodyPr wrap="square" tIns="0" bIns="0" rtlCol="0">
              <a:spAutoFit/>
            </a:bodyPr>
            <a:lstStyle/>
            <a:p>
              <a:pPr algn="ctr"/>
              <a:r>
                <a:rPr lang="zh-CN" altLang="en-US" sz="1600" dirty="0"/>
                <a:t>中间表示</a:t>
              </a:r>
            </a:p>
          </p:txBody>
        </p:sp>
        <p:cxnSp>
          <p:nvCxnSpPr>
            <p:cNvPr id="50" name="直接箭头连接符 49">
              <a:extLst>
                <a:ext uri="{FF2B5EF4-FFF2-40B4-BE49-F238E27FC236}">
                  <a16:creationId xmlns:a16="http://schemas.microsoft.com/office/drawing/2014/main" id="{FC661D48-4762-495E-93AF-E9DB096BDF67}"/>
                </a:ext>
              </a:extLst>
            </p:cNvPr>
            <p:cNvCxnSpPr>
              <a:cxnSpLocks/>
              <a:stCxn id="47" idx="2"/>
              <a:endCxn id="49" idx="0"/>
            </p:cNvCxnSpPr>
            <p:nvPr/>
          </p:nvCxnSpPr>
          <p:spPr>
            <a:xfrm>
              <a:off x="7129860" y="4441585"/>
              <a:ext cx="4527" cy="139295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1" name="矩形 50">
              <a:extLst>
                <a:ext uri="{FF2B5EF4-FFF2-40B4-BE49-F238E27FC236}">
                  <a16:creationId xmlns:a16="http://schemas.microsoft.com/office/drawing/2014/main" id="{32B4A866-53C4-4BC1-9F4E-939661F6A751}"/>
                </a:ext>
              </a:extLst>
            </p:cNvPr>
            <p:cNvSpPr/>
            <p:nvPr/>
          </p:nvSpPr>
          <p:spPr>
            <a:xfrm>
              <a:off x="5883142" y="4994497"/>
              <a:ext cx="2493437" cy="338554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dirty="0">
                  <a:solidFill>
                    <a:schemeClr val="tx1"/>
                  </a:solidFill>
                </a:rPr>
                <a:t>代码生成器</a:t>
              </a:r>
            </a:p>
          </p:txBody>
        </p:sp>
        <p:cxnSp>
          <p:nvCxnSpPr>
            <p:cNvPr id="52" name="直接箭头连接符 51">
              <a:extLst>
                <a:ext uri="{FF2B5EF4-FFF2-40B4-BE49-F238E27FC236}">
                  <a16:creationId xmlns:a16="http://schemas.microsoft.com/office/drawing/2014/main" id="{1FF4B017-4F25-4E71-835D-53C9BDD3F80A}"/>
                </a:ext>
              </a:extLst>
            </p:cNvPr>
            <p:cNvCxnSpPr>
              <a:cxnSpLocks/>
              <a:stCxn id="49" idx="2"/>
              <a:endCxn id="51" idx="0"/>
            </p:cNvCxnSpPr>
            <p:nvPr/>
          </p:nvCxnSpPr>
          <p:spPr>
            <a:xfrm flipH="1">
              <a:off x="7129860" y="4831305"/>
              <a:ext cx="4527" cy="163192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3944C972-FE60-43D4-8E78-18998EC35045}"/>
                </a:ext>
              </a:extLst>
            </p:cNvPr>
            <p:cNvSpPr txBox="1"/>
            <p:nvPr/>
          </p:nvSpPr>
          <p:spPr>
            <a:xfrm>
              <a:off x="6306448" y="5481399"/>
              <a:ext cx="1646827" cy="250425"/>
            </a:xfrm>
            <a:prstGeom prst="rect">
              <a:avLst/>
            </a:prstGeom>
            <a:noFill/>
          </p:spPr>
          <p:txBody>
            <a:bodyPr wrap="square" tIns="0" bIns="0" rtlCol="0">
              <a:spAutoFit/>
            </a:bodyPr>
            <a:lstStyle/>
            <a:p>
              <a:pPr algn="ctr"/>
              <a:r>
                <a:rPr lang="zh-CN" altLang="en-US" sz="1600" dirty="0"/>
                <a:t>目标机器代码</a:t>
              </a:r>
            </a:p>
          </p:txBody>
        </p:sp>
        <p:cxnSp>
          <p:nvCxnSpPr>
            <p:cNvPr id="54" name="直接箭头连接符 53">
              <a:extLst>
                <a:ext uri="{FF2B5EF4-FFF2-40B4-BE49-F238E27FC236}">
                  <a16:creationId xmlns:a16="http://schemas.microsoft.com/office/drawing/2014/main" id="{26ABF8A2-41BB-4DB3-9506-BAF4EFC6FFDD}"/>
                </a:ext>
              </a:extLst>
            </p:cNvPr>
            <p:cNvCxnSpPr>
              <a:cxnSpLocks/>
              <a:stCxn id="51" idx="2"/>
              <a:endCxn id="53" idx="0"/>
            </p:cNvCxnSpPr>
            <p:nvPr/>
          </p:nvCxnSpPr>
          <p:spPr>
            <a:xfrm>
              <a:off x="7129860" y="5333051"/>
              <a:ext cx="1" cy="148348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5" name="矩形 54">
              <a:extLst>
                <a:ext uri="{FF2B5EF4-FFF2-40B4-BE49-F238E27FC236}">
                  <a16:creationId xmlns:a16="http://schemas.microsoft.com/office/drawing/2014/main" id="{7A1A97BF-5C8C-40E0-BEC9-B4D6CD3396F8}"/>
                </a:ext>
              </a:extLst>
            </p:cNvPr>
            <p:cNvSpPr/>
            <p:nvPr/>
          </p:nvSpPr>
          <p:spPr>
            <a:xfrm>
              <a:off x="5883141" y="5889556"/>
              <a:ext cx="2493437" cy="338554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dirty="0">
                  <a:solidFill>
                    <a:schemeClr val="tx1"/>
                  </a:solidFill>
                </a:rPr>
                <a:t>依赖于机器的代码优化器</a:t>
              </a:r>
            </a:p>
          </p:txBody>
        </p:sp>
        <p:cxnSp>
          <p:nvCxnSpPr>
            <p:cNvPr id="56" name="直接箭头连接符 55">
              <a:extLst>
                <a:ext uri="{FF2B5EF4-FFF2-40B4-BE49-F238E27FC236}">
                  <a16:creationId xmlns:a16="http://schemas.microsoft.com/office/drawing/2014/main" id="{1D3F224D-3681-4E9F-AB38-382642238213}"/>
                </a:ext>
              </a:extLst>
            </p:cNvPr>
            <p:cNvCxnSpPr>
              <a:cxnSpLocks/>
              <a:stCxn id="53" idx="2"/>
              <a:endCxn id="55" idx="0"/>
            </p:cNvCxnSpPr>
            <p:nvPr/>
          </p:nvCxnSpPr>
          <p:spPr>
            <a:xfrm flipH="1">
              <a:off x="7129859" y="5731823"/>
              <a:ext cx="2" cy="157733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7" name="文本框 56">
              <a:extLst>
                <a:ext uri="{FF2B5EF4-FFF2-40B4-BE49-F238E27FC236}">
                  <a16:creationId xmlns:a16="http://schemas.microsoft.com/office/drawing/2014/main" id="{EF0E1D8C-63B1-49EF-81EE-B9BBF35A421C}"/>
                </a:ext>
              </a:extLst>
            </p:cNvPr>
            <p:cNvSpPr txBox="1"/>
            <p:nvPr/>
          </p:nvSpPr>
          <p:spPr>
            <a:xfrm>
              <a:off x="6384464" y="6403616"/>
              <a:ext cx="1490791" cy="250425"/>
            </a:xfrm>
            <a:prstGeom prst="rect">
              <a:avLst/>
            </a:prstGeom>
            <a:noFill/>
          </p:spPr>
          <p:txBody>
            <a:bodyPr wrap="square" tIns="0" bIns="0" rtlCol="0">
              <a:spAutoFit/>
            </a:bodyPr>
            <a:lstStyle/>
            <a:p>
              <a:pPr algn="ctr"/>
              <a:r>
                <a:rPr lang="zh-CN" altLang="en-US" sz="1600" dirty="0"/>
                <a:t>目标机器代码</a:t>
              </a:r>
            </a:p>
          </p:txBody>
        </p:sp>
        <p:cxnSp>
          <p:nvCxnSpPr>
            <p:cNvPr id="58" name="直接箭头连接符 57">
              <a:extLst>
                <a:ext uri="{FF2B5EF4-FFF2-40B4-BE49-F238E27FC236}">
                  <a16:creationId xmlns:a16="http://schemas.microsoft.com/office/drawing/2014/main" id="{54018765-2B16-4681-A8F8-281CDBED18F2}"/>
                </a:ext>
              </a:extLst>
            </p:cNvPr>
            <p:cNvCxnSpPr>
              <a:cxnSpLocks/>
              <a:stCxn id="55" idx="2"/>
              <a:endCxn id="57" idx="0"/>
            </p:cNvCxnSpPr>
            <p:nvPr/>
          </p:nvCxnSpPr>
          <p:spPr>
            <a:xfrm>
              <a:off x="7129859" y="6228109"/>
              <a:ext cx="1" cy="175507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59" name="流程图: 过程 58">
            <a:extLst>
              <a:ext uri="{FF2B5EF4-FFF2-40B4-BE49-F238E27FC236}">
                <a16:creationId xmlns:a16="http://schemas.microsoft.com/office/drawing/2014/main" id="{BF409869-6558-4D59-8E37-7749F09C9451}"/>
              </a:ext>
            </a:extLst>
          </p:cNvPr>
          <p:cNvSpPr/>
          <p:nvPr/>
        </p:nvSpPr>
        <p:spPr>
          <a:xfrm>
            <a:off x="3941045" y="611889"/>
            <a:ext cx="2973099" cy="3112698"/>
          </a:xfrm>
          <a:prstGeom prst="flowChartProcess">
            <a:avLst/>
          </a:prstGeom>
          <a:noFill/>
          <a:ln w="38100" cap="flat" cmpd="sng" algn="ctr">
            <a:solidFill>
              <a:schemeClr val="accent2"/>
            </a:solidFill>
            <a:prstDash val="sys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chemeClr val="accent2"/>
              </a:solidFill>
            </a:endParaRPr>
          </a:p>
        </p:txBody>
      </p:sp>
      <p:sp>
        <p:nvSpPr>
          <p:cNvPr id="60" name="流程图: 过程 59">
            <a:extLst>
              <a:ext uri="{FF2B5EF4-FFF2-40B4-BE49-F238E27FC236}">
                <a16:creationId xmlns:a16="http://schemas.microsoft.com/office/drawing/2014/main" id="{FC42C740-9D72-4AD6-9ABA-29ECE8A70802}"/>
              </a:ext>
            </a:extLst>
          </p:cNvPr>
          <p:cNvSpPr/>
          <p:nvPr/>
        </p:nvSpPr>
        <p:spPr>
          <a:xfrm>
            <a:off x="3941045" y="4968310"/>
            <a:ext cx="2973099" cy="1388562"/>
          </a:xfrm>
          <a:prstGeom prst="flowChartProcess">
            <a:avLst/>
          </a:prstGeom>
          <a:noFill/>
          <a:ln w="38100" cap="flat" cmpd="sng" algn="ctr">
            <a:solidFill>
              <a:schemeClr val="accent2"/>
            </a:solidFill>
            <a:prstDash val="sys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grpSp>
        <p:nvGrpSpPr>
          <p:cNvPr id="61" name="组合 60">
            <a:extLst>
              <a:ext uri="{FF2B5EF4-FFF2-40B4-BE49-F238E27FC236}">
                <a16:creationId xmlns:a16="http://schemas.microsoft.com/office/drawing/2014/main" id="{E08CD967-24E9-4A86-AE89-55F5A8FD9E56}"/>
              </a:ext>
            </a:extLst>
          </p:cNvPr>
          <p:cNvGrpSpPr/>
          <p:nvPr/>
        </p:nvGrpSpPr>
        <p:grpSpPr>
          <a:xfrm>
            <a:off x="709031" y="1374301"/>
            <a:ext cx="2883102" cy="1806485"/>
            <a:chOff x="1294647" y="839456"/>
            <a:chExt cx="3844136" cy="2408647"/>
          </a:xfrm>
        </p:grpSpPr>
        <p:sp>
          <p:nvSpPr>
            <p:cNvPr id="62" name="箭头: 右 61">
              <a:extLst>
                <a:ext uri="{FF2B5EF4-FFF2-40B4-BE49-F238E27FC236}">
                  <a16:creationId xmlns:a16="http://schemas.microsoft.com/office/drawing/2014/main" id="{0EBA80BC-08FB-4F04-B938-99768E70BA0B}"/>
                </a:ext>
              </a:extLst>
            </p:cNvPr>
            <p:cNvSpPr/>
            <p:nvPr/>
          </p:nvSpPr>
          <p:spPr>
            <a:xfrm>
              <a:off x="1294647" y="839456"/>
              <a:ext cx="3844136" cy="2408647"/>
            </a:xfrm>
            <a:prstGeom prst="rightArrow">
              <a:avLst>
                <a:gd name="adj1" fmla="val 70297"/>
                <a:gd name="adj2" fmla="val 29803"/>
              </a:avLst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endParaRPr lang="zh-CN" altLang="en-US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63" name="文本框 62">
              <a:extLst>
                <a:ext uri="{FF2B5EF4-FFF2-40B4-BE49-F238E27FC236}">
                  <a16:creationId xmlns:a16="http://schemas.microsoft.com/office/drawing/2014/main" id="{1BF15D72-0AC1-4605-96FC-31DFCAA447E9}"/>
                </a:ext>
              </a:extLst>
            </p:cNvPr>
            <p:cNvSpPr txBox="1"/>
            <p:nvPr/>
          </p:nvSpPr>
          <p:spPr>
            <a:xfrm>
              <a:off x="1309159" y="1314099"/>
              <a:ext cx="3349635" cy="16927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100" dirty="0">
                  <a:latin typeface="+mn-ea"/>
                </a:rPr>
                <a:t>分析部分</a:t>
              </a:r>
            </a:p>
            <a:p>
              <a:r>
                <a:rPr lang="zh-CN" altLang="en-US" sz="2100" dirty="0">
                  <a:latin typeface="+mn-ea"/>
                </a:rPr>
                <a:t>也叫前端</a:t>
              </a:r>
              <a:r>
                <a:rPr lang="en-US" altLang="zh-CN" sz="2100" dirty="0">
                  <a:latin typeface="+mn-ea"/>
                </a:rPr>
                <a:t>(</a:t>
              </a:r>
              <a:r>
                <a:rPr lang="en-US" altLang="zh-CN" sz="2100" dirty="0"/>
                <a:t>front end</a:t>
              </a:r>
              <a:r>
                <a:rPr lang="en-US" altLang="zh-CN" sz="2100" dirty="0">
                  <a:latin typeface="+mn-ea"/>
                </a:rPr>
                <a:t>)</a:t>
              </a:r>
            </a:p>
            <a:p>
              <a:r>
                <a:rPr lang="zh-CN" altLang="en-US" sz="2100" dirty="0">
                  <a:latin typeface="+mn-ea"/>
                </a:rPr>
                <a:t>与</a:t>
              </a:r>
              <a:r>
                <a:rPr lang="zh-CN" altLang="en-US" sz="2100" dirty="0">
                  <a:solidFill>
                    <a:schemeClr val="accent2"/>
                  </a:solidFill>
                  <a:latin typeface="+mn-ea"/>
                </a:rPr>
                <a:t>源语言</a:t>
              </a:r>
              <a:r>
                <a:rPr lang="zh-CN" altLang="en-US" sz="2100" dirty="0">
                  <a:latin typeface="+mn-ea"/>
                </a:rPr>
                <a:t>相关</a:t>
              </a:r>
            </a:p>
            <a:p>
              <a:endParaRPr lang="zh-CN" altLang="en-US" sz="1350" dirty="0"/>
            </a:p>
          </p:txBody>
        </p:sp>
      </p:grpSp>
      <p:grpSp>
        <p:nvGrpSpPr>
          <p:cNvPr id="64" name="组合 63">
            <a:extLst>
              <a:ext uri="{FF2B5EF4-FFF2-40B4-BE49-F238E27FC236}">
                <a16:creationId xmlns:a16="http://schemas.microsoft.com/office/drawing/2014/main" id="{99A8F3DD-BEEB-4EE7-A3DD-EF89F88A29B1}"/>
              </a:ext>
            </a:extLst>
          </p:cNvPr>
          <p:cNvGrpSpPr/>
          <p:nvPr/>
        </p:nvGrpSpPr>
        <p:grpSpPr>
          <a:xfrm>
            <a:off x="698147" y="4717821"/>
            <a:ext cx="2883102" cy="1806485"/>
            <a:chOff x="1294647" y="839456"/>
            <a:chExt cx="3844136" cy="2408647"/>
          </a:xfrm>
        </p:grpSpPr>
        <p:sp>
          <p:nvSpPr>
            <p:cNvPr id="65" name="箭头: 右 64">
              <a:extLst>
                <a:ext uri="{FF2B5EF4-FFF2-40B4-BE49-F238E27FC236}">
                  <a16:creationId xmlns:a16="http://schemas.microsoft.com/office/drawing/2014/main" id="{936CB2BC-B2D4-4AD1-972C-F0A2076B74C3}"/>
                </a:ext>
              </a:extLst>
            </p:cNvPr>
            <p:cNvSpPr/>
            <p:nvPr/>
          </p:nvSpPr>
          <p:spPr>
            <a:xfrm>
              <a:off x="1294647" y="839456"/>
              <a:ext cx="3844136" cy="2408647"/>
            </a:xfrm>
            <a:prstGeom prst="rightArrow">
              <a:avLst>
                <a:gd name="adj1" fmla="val 70297"/>
                <a:gd name="adj2" fmla="val 29803"/>
              </a:avLst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endParaRPr lang="zh-CN" altLang="en-US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66" name="文本框 65">
              <a:extLst>
                <a:ext uri="{FF2B5EF4-FFF2-40B4-BE49-F238E27FC236}">
                  <a16:creationId xmlns:a16="http://schemas.microsoft.com/office/drawing/2014/main" id="{0B7DDD1F-A345-4183-BE76-F8F5E7FC170A}"/>
                </a:ext>
              </a:extLst>
            </p:cNvPr>
            <p:cNvSpPr txBox="1"/>
            <p:nvPr/>
          </p:nvSpPr>
          <p:spPr>
            <a:xfrm>
              <a:off x="1309159" y="1314099"/>
              <a:ext cx="3330400" cy="16927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100" dirty="0">
                  <a:latin typeface="+mn-ea"/>
                </a:rPr>
                <a:t>综合部分</a:t>
              </a:r>
            </a:p>
            <a:p>
              <a:r>
                <a:rPr lang="zh-CN" altLang="en-US" sz="2100" dirty="0">
                  <a:latin typeface="+mn-ea"/>
                </a:rPr>
                <a:t>也叫后端</a:t>
              </a:r>
              <a:r>
                <a:rPr lang="en-US" altLang="zh-CN" sz="2100" dirty="0">
                  <a:latin typeface="+mn-ea"/>
                </a:rPr>
                <a:t>(</a:t>
              </a:r>
              <a:r>
                <a:rPr lang="en-US" altLang="zh-CN" sz="2100" dirty="0"/>
                <a:t>back end</a:t>
              </a:r>
              <a:r>
                <a:rPr lang="en-US" altLang="zh-CN" sz="2100" dirty="0">
                  <a:latin typeface="+mn-ea"/>
                </a:rPr>
                <a:t>)</a:t>
              </a:r>
            </a:p>
            <a:p>
              <a:r>
                <a:rPr lang="zh-CN" altLang="en-US" sz="2100" dirty="0">
                  <a:latin typeface="+mn-ea"/>
                </a:rPr>
                <a:t>与</a:t>
              </a:r>
              <a:r>
                <a:rPr lang="zh-CN" altLang="en-US" sz="2100" dirty="0">
                  <a:solidFill>
                    <a:schemeClr val="accent2"/>
                  </a:solidFill>
                  <a:latin typeface="+mn-ea"/>
                </a:rPr>
                <a:t>目标语言</a:t>
              </a:r>
              <a:r>
                <a:rPr lang="zh-CN" altLang="en-US" sz="2100" dirty="0">
                  <a:latin typeface="+mn-ea"/>
                </a:rPr>
                <a:t>相关</a:t>
              </a:r>
            </a:p>
            <a:p>
              <a:endParaRPr lang="zh-CN" altLang="en-US" sz="1350" dirty="0"/>
            </a:p>
          </p:txBody>
        </p:sp>
      </p:grpSp>
      <p:sp>
        <p:nvSpPr>
          <p:cNvPr id="67" name="标注: 弯曲线形 66">
            <a:extLst>
              <a:ext uri="{FF2B5EF4-FFF2-40B4-BE49-F238E27FC236}">
                <a16:creationId xmlns:a16="http://schemas.microsoft.com/office/drawing/2014/main" id="{D254B190-AE05-4C64-80FB-2BEB91CA94C0}"/>
              </a:ext>
            </a:extLst>
          </p:cNvPr>
          <p:cNvSpPr/>
          <p:nvPr/>
        </p:nvSpPr>
        <p:spPr>
          <a:xfrm>
            <a:off x="7532731" y="502515"/>
            <a:ext cx="1477412" cy="628112"/>
          </a:xfrm>
          <a:prstGeom prst="borderCallout2">
            <a:avLst>
              <a:gd name="adj1" fmla="val 18750"/>
              <a:gd name="adj2" fmla="val -271"/>
              <a:gd name="adj3" fmla="val 18750"/>
              <a:gd name="adj4" fmla="val -16667"/>
              <a:gd name="adj5" fmla="val 88073"/>
              <a:gd name="adj6" fmla="val -31275"/>
            </a:avLst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七个阶段</a:t>
            </a:r>
            <a:r>
              <a:rPr lang="en-US" altLang="zh-CN" dirty="0">
                <a:solidFill>
                  <a:schemeClr val="tx1"/>
                </a:solidFill>
              </a:rPr>
              <a:t>(phase)</a:t>
            </a:r>
            <a:endParaRPr lang="zh-CN" altLang="en-US" dirty="0">
              <a:solidFill>
                <a:schemeClr val="tx1"/>
              </a:solidFill>
            </a:endParaRPr>
          </a:p>
        </p:txBody>
      </p:sp>
      <p:grpSp>
        <p:nvGrpSpPr>
          <p:cNvPr id="68" name="组合 67">
            <a:extLst>
              <a:ext uri="{FF2B5EF4-FFF2-40B4-BE49-F238E27FC236}">
                <a16:creationId xmlns:a16="http://schemas.microsoft.com/office/drawing/2014/main" id="{0D4BC2E4-7E59-42F4-B723-F07B8CD9D139}"/>
              </a:ext>
            </a:extLst>
          </p:cNvPr>
          <p:cNvGrpSpPr/>
          <p:nvPr/>
        </p:nvGrpSpPr>
        <p:grpSpPr>
          <a:xfrm>
            <a:off x="7300087" y="1599798"/>
            <a:ext cx="1261899" cy="3936617"/>
            <a:chOff x="9141557" y="1769731"/>
            <a:chExt cx="1150972" cy="3590572"/>
          </a:xfrm>
        </p:grpSpPr>
        <p:sp>
          <p:nvSpPr>
            <p:cNvPr id="69" name="矩形 68">
              <a:extLst>
                <a:ext uri="{FF2B5EF4-FFF2-40B4-BE49-F238E27FC236}">
                  <a16:creationId xmlns:a16="http://schemas.microsoft.com/office/drawing/2014/main" id="{64FE71B8-5648-44F6-92A8-0E842028126E}"/>
                </a:ext>
              </a:extLst>
            </p:cNvPr>
            <p:cNvSpPr/>
            <p:nvPr/>
          </p:nvSpPr>
          <p:spPr>
            <a:xfrm>
              <a:off x="9794748" y="1769731"/>
              <a:ext cx="497781" cy="359057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dirty="0">
                  <a:solidFill>
                    <a:schemeClr val="tx1"/>
                  </a:solidFill>
                </a:rPr>
                <a:t>符</a:t>
              </a:r>
              <a:endParaRPr lang="en-US" altLang="zh-CN" sz="2400" dirty="0">
                <a:solidFill>
                  <a:schemeClr val="tx1"/>
                </a:solidFill>
              </a:endParaRPr>
            </a:p>
            <a:p>
              <a:pPr algn="ctr"/>
              <a:r>
                <a:rPr lang="zh-CN" altLang="en-US" sz="2400" dirty="0">
                  <a:solidFill>
                    <a:schemeClr val="tx1"/>
                  </a:solidFill>
                </a:rPr>
                <a:t>号</a:t>
              </a:r>
              <a:endParaRPr lang="en-US" altLang="zh-CN" sz="2400" dirty="0">
                <a:solidFill>
                  <a:schemeClr val="tx1"/>
                </a:solidFill>
              </a:endParaRPr>
            </a:p>
            <a:p>
              <a:pPr algn="ctr"/>
              <a:r>
                <a:rPr lang="zh-CN" altLang="en-US" sz="2400" dirty="0">
                  <a:solidFill>
                    <a:schemeClr val="tx1"/>
                  </a:solidFill>
                </a:rPr>
                <a:t>表</a:t>
              </a:r>
              <a:endParaRPr lang="zh-CN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70" name="箭头: 左 69">
              <a:extLst>
                <a:ext uri="{FF2B5EF4-FFF2-40B4-BE49-F238E27FC236}">
                  <a16:creationId xmlns:a16="http://schemas.microsoft.com/office/drawing/2014/main" id="{6CC6B529-DE10-4735-A671-55CE62D430A0}"/>
                </a:ext>
              </a:extLst>
            </p:cNvPr>
            <p:cNvSpPr/>
            <p:nvPr/>
          </p:nvSpPr>
          <p:spPr>
            <a:xfrm>
              <a:off x="9141557" y="2870265"/>
              <a:ext cx="543302" cy="1194264"/>
            </a:xfrm>
            <a:prstGeom prst="leftArrow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</p:grp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72AA058-2F97-599B-313F-4705640589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77A21-9381-43BD-BB2C-42AA210DFD15}" type="datetime2">
              <a:rPr lang="zh-CN" altLang="en-US" smtClean="0"/>
              <a:t>2026年3月11日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229576A-00B7-A587-73EF-34B8355A4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</a:t>
            </a:r>
            <a:r>
              <a:rPr lang="en-US" altLang="zh-CN"/>
              <a:t>2</a:t>
            </a:r>
            <a:r>
              <a:rPr lang="zh-CN" altLang="en-US"/>
              <a:t>章 词法分析</a:t>
            </a:r>
            <a:r>
              <a:rPr lang="en-US" altLang="zh-CN"/>
              <a:t>(1)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4868236-2847-5160-841C-64258832D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3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 animBg="1"/>
      <p:bldP spid="6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71352C-DAAA-4930-AD06-399D733772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第一章回顾 编译器 </a:t>
            </a:r>
            <a:r>
              <a:rPr lang="en-US" altLang="zh-CN" dirty="0"/>
              <a:t>vs </a:t>
            </a:r>
            <a:r>
              <a:rPr lang="zh-CN" altLang="en-US" dirty="0"/>
              <a:t>解释器</a:t>
            </a:r>
          </a:p>
        </p:txBody>
      </p:sp>
      <p:cxnSp>
        <p:nvCxnSpPr>
          <p:cNvPr id="144" name="直接连接符 143">
            <a:extLst>
              <a:ext uri="{FF2B5EF4-FFF2-40B4-BE49-F238E27FC236}">
                <a16:creationId xmlns:a16="http://schemas.microsoft.com/office/drawing/2014/main" id="{88A09E5D-86F1-4D49-9E56-FD07FBAC5AEB}"/>
              </a:ext>
            </a:extLst>
          </p:cNvPr>
          <p:cNvCxnSpPr>
            <a:cxnSpLocks/>
          </p:cNvCxnSpPr>
          <p:nvPr/>
        </p:nvCxnSpPr>
        <p:spPr>
          <a:xfrm>
            <a:off x="76200" y="4701876"/>
            <a:ext cx="8953500" cy="0"/>
          </a:xfrm>
          <a:prstGeom prst="line">
            <a:avLst/>
          </a:prstGeom>
          <a:noFill/>
          <a:ln w="28575" cap="flat" cmpd="sng" algn="ctr">
            <a:solidFill>
              <a:srgbClr val="000000"/>
            </a:solidFill>
            <a:prstDash val="lgDash"/>
            <a:miter lim="800000"/>
          </a:ln>
          <a:effectLst/>
        </p:spPr>
      </p:cxnSp>
      <p:sp>
        <p:nvSpPr>
          <p:cNvPr id="145" name="文本框 144">
            <a:extLst>
              <a:ext uri="{FF2B5EF4-FFF2-40B4-BE49-F238E27FC236}">
                <a16:creationId xmlns:a16="http://schemas.microsoft.com/office/drawing/2014/main" id="{40492670-3997-4337-9F87-C3A6BE77A986}"/>
              </a:ext>
            </a:extLst>
          </p:cNvPr>
          <p:cNvSpPr txBox="1"/>
          <p:nvPr/>
        </p:nvSpPr>
        <p:spPr>
          <a:xfrm>
            <a:off x="289923" y="1080669"/>
            <a:ext cx="1326004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/>
            <a:r>
              <a:rPr lang="en-US" altLang="zh-CN" sz="1600" b="1" dirty="0">
                <a:solidFill>
                  <a:srgbClr val="000000"/>
                </a:solidFill>
                <a:latin typeface="Arial" panose="020B0604020202020204"/>
              </a:rPr>
              <a:t>C</a:t>
            </a:r>
          </a:p>
          <a:p>
            <a:pPr defTabSz="914400"/>
            <a:r>
              <a:rPr lang="en-US" altLang="zh-CN" sz="1600" b="1" dirty="0">
                <a:solidFill>
                  <a:srgbClr val="000000"/>
                </a:solidFill>
                <a:latin typeface="Arial" panose="020B0604020202020204"/>
              </a:rPr>
              <a:t>C++</a:t>
            </a:r>
          </a:p>
          <a:p>
            <a:pPr defTabSz="914400"/>
            <a:r>
              <a:rPr lang="en-US" altLang="zh-CN" sz="1600" b="1" dirty="0">
                <a:solidFill>
                  <a:srgbClr val="000000"/>
                </a:solidFill>
                <a:latin typeface="Arial" panose="020B0604020202020204"/>
              </a:rPr>
              <a:t>Objective-C</a:t>
            </a:r>
          </a:p>
          <a:p>
            <a:pPr defTabSz="914400"/>
            <a:r>
              <a:rPr lang="en-US" altLang="zh-CN" sz="1600" b="1" dirty="0">
                <a:solidFill>
                  <a:srgbClr val="000000"/>
                </a:solidFill>
                <a:latin typeface="Arial" panose="020B0604020202020204"/>
              </a:rPr>
              <a:t>Fortran</a:t>
            </a:r>
            <a:endParaRPr lang="zh-CN" altLang="en-US" sz="1600" b="1" dirty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46" name="文本框 145">
            <a:extLst>
              <a:ext uri="{FF2B5EF4-FFF2-40B4-BE49-F238E27FC236}">
                <a16:creationId xmlns:a16="http://schemas.microsoft.com/office/drawing/2014/main" id="{4DC9E191-8AB9-4D9C-9CD5-BCE3BCF78867}"/>
              </a:ext>
            </a:extLst>
          </p:cNvPr>
          <p:cNvSpPr txBox="1"/>
          <p:nvPr/>
        </p:nvSpPr>
        <p:spPr>
          <a:xfrm>
            <a:off x="3397368" y="1080669"/>
            <a:ext cx="1221809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/>
            <a:r>
              <a:rPr lang="en-US" altLang="zh-CN" sz="1600" b="1" dirty="0">
                <a:solidFill>
                  <a:srgbClr val="000000"/>
                </a:solidFill>
                <a:latin typeface="Arial" panose="020B0604020202020204"/>
              </a:rPr>
              <a:t>BASIC</a:t>
            </a:r>
          </a:p>
          <a:p>
            <a:pPr defTabSz="914400"/>
            <a:r>
              <a:rPr lang="en-US" altLang="zh-CN" sz="1600" b="1" dirty="0">
                <a:solidFill>
                  <a:srgbClr val="000000"/>
                </a:solidFill>
                <a:latin typeface="Arial" panose="020B0604020202020204"/>
              </a:rPr>
              <a:t>Python</a:t>
            </a:r>
          </a:p>
          <a:p>
            <a:pPr defTabSz="914400"/>
            <a:r>
              <a:rPr lang="en-US" altLang="zh-CN" sz="1600" b="1" dirty="0">
                <a:solidFill>
                  <a:srgbClr val="000000"/>
                </a:solidFill>
                <a:latin typeface="Arial" panose="020B0604020202020204"/>
              </a:rPr>
              <a:t>JavaScript</a:t>
            </a:r>
          </a:p>
          <a:p>
            <a:pPr defTabSz="914400"/>
            <a:r>
              <a:rPr lang="en-US" altLang="zh-CN" sz="1600" b="1" dirty="0">
                <a:solidFill>
                  <a:srgbClr val="000000"/>
                </a:solidFill>
                <a:latin typeface="Arial" panose="020B0604020202020204"/>
              </a:rPr>
              <a:t>Ruby</a:t>
            </a:r>
            <a:endParaRPr lang="zh-CN" altLang="en-US" sz="1600" b="1" dirty="0">
              <a:solidFill>
                <a:srgbClr val="000000"/>
              </a:solidFill>
              <a:latin typeface="Arial" panose="020B0604020202020204"/>
            </a:endParaRP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974B3647-DFD3-4972-88E9-2ACC2F2FF6B6}"/>
              </a:ext>
            </a:extLst>
          </p:cNvPr>
          <p:cNvGrpSpPr/>
          <p:nvPr/>
        </p:nvGrpSpPr>
        <p:grpSpPr>
          <a:xfrm>
            <a:off x="3200969" y="1172725"/>
            <a:ext cx="2726423" cy="5587104"/>
            <a:chOff x="3200969" y="1172725"/>
            <a:chExt cx="2726423" cy="5587104"/>
          </a:xfrm>
        </p:grpSpPr>
        <p:sp>
          <p:nvSpPr>
            <p:cNvPr id="143" name="文本框 142">
              <a:extLst>
                <a:ext uri="{FF2B5EF4-FFF2-40B4-BE49-F238E27FC236}">
                  <a16:creationId xmlns:a16="http://schemas.microsoft.com/office/drawing/2014/main" id="{72F33510-F94D-4623-ACC0-52B0DB2D1AE5}"/>
                </a:ext>
              </a:extLst>
            </p:cNvPr>
            <p:cNvSpPr txBox="1"/>
            <p:nvPr/>
          </p:nvSpPr>
          <p:spPr>
            <a:xfrm>
              <a:off x="4180595" y="4720410"/>
              <a:ext cx="8771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400"/>
              <a:r>
                <a:rPr lang="zh-CN" altLang="en-US" dirty="0">
                  <a:solidFill>
                    <a:srgbClr val="000000"/>
                  </a:solidFill>
                  <a:latin typeface="Arial" panose="020B0604020202020204"/>
                </a:rPr>
                <a:t>运行时</a:t>
              </a:r>
            </a:p>
          </p:txBody>
        </p:sp>
        <p:pic>
          <p:nvPicPr>
            <p:cNvPr id="159" name="图片 158">
              <a:extLst>
                <a:ext uri="{FF2B5EF4-FFF2-40B4-BE49-F238E27FC236}">
                  <a16:creationId xmlns:a16="http://schemas.microsoft.com/office/drawing/2014/main" id="{6C311836-26EF-4F19-9524-D134406A7BC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duotone>
                <a:srgbClr val="418AB3">
                  <a:shade val="45000"/>
                  <a:satMod val="135000"/>
                </a:srgb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2832"/>
            <a:stretch/>
          </p:blipFill>
          <p:spPr>
            <a:xfrm>
              <a:off x="4789763" y="1172725"/>
              <a:ext cx="1075631" cy="937610"/>
            </a:xfrm>
            <a:prstGeom prst="rect">
              <a:avLst/>
            </a:prstGeom>
          </p:spPr>
        </p:pic>
        <p:sp>
          <p:nvSpPr>
            <p:cNvPr id="160" name="文本框 159">
              <a:extLst>
                <a:ext uri="{FF2B5EF4-FFF2-40B4-BE49-F238E27FC236}">
                  <a16:creationId xmlns:a16="http://schemas.microsoft.com/office/drawing/2014/main" id="{CE80B36A-BCAD-45B1-8BBC-604E8C39DA31}"/>
                </a:ext>
              </a:extLst>
            </p:cNvPr>
            <p:cNvSpPr txBox="1"/>
            <p:nvPr/>
          </p:nvSpPr>
          <p:spPr>
            <a:xfrm>
              <a:off x="4965940" y="1208369"/>
              <a:ext cx="72327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418AB3"/>
                  </a:solidFill>
                  <a:effectLst/>
                  <a:uLnTx/>
                  <a:uFillTx/>
                  <a:latin typeface="Arial" panose="020B0604020202020204"/>
                </a:rPr>
                <a:t>解释型</a:t>
              </a:r>
              <a:endPara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418AB3"/>
                </a:solidFill>
                <a:effectLst/>
                <a:uLnTx/>
                <a:uFillTx/>
                <a:latin typeface="Arial" panose="020B0604020202020204"/>
              </a:endParaRP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418AB3"/>
                  </a:solidFill>
                  <a:effectLst/>
                  <a:uLnTx/>
                  <a:uFillTx/>
                  <a:latin typeface="Arial" panose="020B0604020202020204"/>
                </a:rPr>
                <a:t>语言</a:t>
              </a:r>
            </a:p>
          </p:txBody>
        </p:sp>
        <p:sp>
          <p:nvSpPr>
            <p:cNvPr id="155" name="矩形 154">
              <a:extLst>
                <a:ext uri="{FF2B5EF4-FFF2-40B4-BE49-F238E27FC236}">
                  <a16:creationId xmlns:a16="http://schemas.microsoft.com/office/drawing/2014/main" id="{9FCFA1AE-E8D1-42B9-B911-7B1AE94C60BD}"/>
                </a:ext>
              </a:extLst>
            </p:cNvPr>
            <p:cNvSpPr/>
            <p:nvPr/>
          </p:nvSpPr>
          <p:spPr>
            <a:xfrm>
              <a:off x="3200969" y="2210082"/>
              <a:ext cx="2726423" cy="2360908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solidFill>
                <a:srgbClr val="838383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56" name="矩形 155">
              <a:extLst>
                <a:ext uri="{FF2B5EF4-FFF2-40B4-BE49-F238E27FC236}">
                  <a16:creationId xmlns:a16="http://schemas.microsoft.com/office/drawing/2014/main" id="{583D0B26-43BB-4396-A3E7-5008E66724EF}"/>
                </a:ext>
              </a:extLst>
            </p:cNvPr>
            <p:cNvSpPr/>
            <p:nvPr/>
          </p:nvSpPr>
          <p:spPr>
            <a:xfrm>
              <a:off x="3368749" y="2362437"/>
              <a:ext cx="780177" cy="1496887"/>
            </a:xfrm>
            <a:prstGeom prst="rect">
              <a:avLst/>
            </a:prstGeom>
            <a:solidFill>
              <a:srgbClr val="DDDDDD"/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黑体" panose="02010609060101010101" pitchFamily="49" charset="-122"/>
                  <a:cs typeface="+mn-cs"/>
                </a:rPr>
                <a:t>操</a:t>
              </a:r>
              <a:endPara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endParaRP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黑体" panose="02010609060101010101" pitchFamily="49" charset="-122"/>
                  <a:cs typeface="+mn-cs"/>
                </a:rPr>
                <a:t>作</a:t>
              </a:r>
              <a:endPara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endParaRP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黑体" panose="02010609060101010101" pitchFamily="49" charset="-122"/>
                  <a:cs typeface="+mn-cs"/>
                </a:rPr>
                <a:t>系</a:t>
              </a:r>
              <a:endPara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endParaRP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黑体" panose="02010609060101010101" pitchFamily="49" charset="-122"/>
                  <a:cs typeface="+mn-cs"/>
                </a:rPr>
                <a:t>统</a:t>
              </a:r>
            </a:p>
          </p:txBody>
        </p:sp>
        <p:sp>
          <p:nvSpPr>
            <p:cNvPr id="157" name="矩形 156">
              <a:extLst>
                <a:ext uri="{FF2B5EF4-FFF2-40B4-BE49-F238E27FC236}">
                  <a16:creationId xmlns:a16="http://schemas.microsoft.com/office/drawing/2014/main" id="{B15F3E03-AF7C-4174-85DB-BD768681ADB3}"/>
                </a:ext>
              </a:extLst>
            </p:cNvPr>
            <p:cNvSpPr/>
            <p:nvPr/>
          </p:nvSpPr>
          <p:spPr>
            <a:xfrm>
              <a:off x="4271647" y="2362437"/>
              <a:ext cx="1491081" cy="413157"/>
            </a:xfrm>
            <a:prstGeom prst="rect">
              <a:avLst/>
            </a:prstGeom>
            <a:solidFill>
              <a:srgbClr val="FEC306"/>
            </a:solidFill>
            <a:ln w="12700" cap="flat" cmpd="sng" algn="ctr">
              <a:solidFill>
                <a:srgbClr val="FEC306">
                  <a:shade val="50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黑体" panose="02010609060101010101" pitchFamily="49" charset="-122"/>
                  <a:cs typeface="+mn-cs"/>
                </a:rPr>
                <a:t>文本编辑器</a:t>
              </a:r>
            </a:p>
          </p:txBody>
        </p:sp>
        <p:sp>
          <p:nvSpPr>
            <p:cNvPr id="158" name="矩形 157">
              <a:extLst>
                <a:ext uri="{FF2B5EF4-FFF2-40B4-BE49-F238E27FC236}">
                  <a16:creationId xmlns:a16="http://schemas.microsoft.com/office/drawing/2014/main" id="{137EC2A7-2432-40EF-8151-E5B0EE933FC4}"/>
                </a:ext>
              </a:extLst>
            </p:cNvPr>
            <p:cNvSpPr/>
            <p:nvPr/>
          </p:nvSpPr>
          <p:spPr>
            <a:xfrm>
              <a:off x="4267452" y="2904302"/>
              <a:ext cx="1491081" cy="413157"/>
            </a:xfrm>
            <a:prstGeom prst="rect">
              <a:avLst/>
            </a:prstGeom>
            <a:solidFill>
              <a:srgbClr val="F69200"/>
            </a:solidFill>
            <a:ln w="12700" cap="flat" cmpd="sng" algn="ctr">
              <a:solidFill>
                <a:srgbClr val="F69200">
                  <a:shade val="50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黑体" panose="02010609060101010101" pitchFamily="49" charset="-122"/>
                  <a:cs typeface="+mn-cs"/>
                </a:rPr>
                <a:t>源代码</a:t>
              </a:r>
            </a:p>
          </p:txBody>
        </p:sp>
        <p:sp>
          <p:nvSpPr>
            <p:cNvPr id="151" name="矩形 150">
              <a:extLst>
                <a:ext uri="{FF2B5EF4-FFF2-40B4-BE49-F238E27FC236}">
                  <a16:creationId xmlns:a16="http://schemas.microsoft.com/office/drawing/2014/main" id="{7792B5BB-61EC-4D23-8269-DADF6004B150}"/>
                </a:ext>
              </a:extLst>
            </p:cNvPr>
            <p:cNvSpPr/>
            <p:nvPr/>
          </p:nvSpPr>
          <p:spPr>
            <a:xfrm>
              <a:off x="3200969" y="5064661"/>
              <a:ext cx="2726423" cy="1695168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solidFill>
                <a:srgbClr val="838383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52" name="矩形 151">
              <a:extLst>
                <a:ext uri="{FF2B5EF4-FFF2-40B4-BE49-F238E27FC236}">
                  <a16:creationId xmlns:a16="http://schemas.microsoft.com/office/drawing/2014/main" id="{5EE1DE62-285E-4574-9E8E-BFEC1CEA7F33}"/>
                </a:ext>
              </a:extLst>
            </p:cNvPr>
            <p:cNvSpPr/>
            <p:nvPr/>
          </p:nvSpPr>
          <p:spPr>
            <a:xfrm>
              <a:off x="3368749" y="5217016"/>
              <a:ext cx="780177" cy="1429562"/>
            </a:xfrm>
            <a:prstGeom prst="rect">
              <a:avLst/>
            </a:prstGeom>
            <a:solidFill>
              <a:srgbClr val="DDDDDD"/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黑体" panose="02010609060101010101" pitchFamily="49" charset="-122"/>
                  <a:cs typeface="+mn-cs"/>
                </a:rPr>
                <a:t>操</a:t>
              </a:r>
              <a:endPara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endParaRP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黑体" panose="02010609060101010101" pitchFamily="49" charset="-122"/>
                  <a:cs typeface="+mn-cs"/>
                </a:rPr>
                <a:t>作</a:t>
              </a:r>
              <a:endPara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endParaRP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黑体" panose="02010609060101010101" pitchFamily="49" charset="-122"/>
                  <a:cs typeface="+mn-cs"/>
                </a:rPr>
                <a:t>系</a:t>
              </a:r>
              <a:endPara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endParaRP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黑体" panose="02010609060101010101" pitchFamily="49" charset="-122"/>
                  <a:cs typeface="+mn-cs"/>
                </a:rPr>
                <a:t>统</a:t>
              </a:r>
            </a:p>
          </p:txBody>
        </p:sp>
        <p:sp>
          <p:nvSpPr>
            <p:cNvPr id="153" name="矩形 152">
              <a:extLst>
                <a:ext uri="{FF2B5EF4-FFF2-40B4-BE49-F238E27FC236}">
                  <a16:creationId xmlns:a16="http://schemas.microsoft.com/office/drawing/2014/main" id="{C45624B7-5BF8-489B-B4D1-82FCCA23EC33}"/>
                </a:ext>
              </a:extLst>
            </p:cNvPr>
            <p:cNvSpPr/>
            <p:nvPr/>
          </p:nvSpPr>
          <p:spPr>
            <a:xfrm>
              <a:off x="4267450" y="5788407"/>
              <a:ext cx="1491081" cy="413157"/>
            </a:xfrm>
            <a:prstGeom prst="rect">
              <a:avLst/>
            </a:prstGeom>
            <a:solidFill>
              <a:srgbClr val="DF5327"/>
            </a:solidFill>
            <a:ln w="12700" cap="flat" cmpd="sng" algn="ctr">
              <a:solidFill>
                <a:srgbClr val="DF5327">
                  <a:shade val="50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黑体" panose="02010609060101010101" pitchFamily="49" charset="-122"/>
                  <a:cs typeface="+mn-cs"/>
                </a:rPr>
                <a:t>解释器</a:t>
              </a:r>
            </a:p>
          </p:txBody>
        </p:sp>
        <p:sp>
          <p:nvSpPr>
            <p:cNvPr id="154" name="矩形 153">
              <a:extLst>
                <a:ext uri="{FF2B5EF4-FFF2-40B4-BE49-F238E27FC236}">
                  <a16:creationId xmlns:a16="http://schemas.microsoft.com/office/drawing/2014/main" id="{6C2EFB2C-5DAB-47CD-BC82-10EAB7FA0298}"/>
                </a:ext>
              </a:extLst>
            </p:cNvPr>
            <p:cNvSpPr/>
            <p:nvPr/>
          </p:nvSpPr>
          <p:spPr>
            <a:xfrm>
              <a:off x="4267450" y="5230144"/>
              <a:ext cx="1491081" cy="413157"/>
            </a:xfrm>
            <a:prstGeom prst="rect">
              <a:avLst/>
            </a:prstGeom>
            <a:solidFill>
              <a:srgbClr val="F69200"/>
            </a:solidFill>
            <a:ln w="12700" cap="flat" cmpd="sng" algn="ctr">
              <a:solidFill>
                <a:srgbClr val="F69200">
                  <a:shade val="50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黑体" panose="02010609060101010101" pitchFamily="49" charset="-122"/>
                  <a:cs typeface="+mn-cs"/>
                </a:rPr>
                <a:t>源代码</a:t>
              </a:r>
            </a:p>
          </p:txBody>
        </p:sp>
      </p:grpSp>
      <p:sp>
        <p:nvSpPr>
          <p:cNvPr id="161" name="文本框 160">
            <a:extLst>
              <a:ext uri="{FF2B5EF4-FFF2-40B4-BE49-F238E27FC236}">
                <a16:creationId xmlns:a16="http://schemas.microsoft.com/office/drawing/2014/main" id="{26C8DA18-8EF2-4662-9E36-6B2E69F237CB}"/>
              </a:ext>
            </a:extLst>
          </p:cNvPr>
          <p:cNvSpPr txBox="1"/>
          <p:nvPr/>
        </p:nvSpPr>
        <p:spPr>
          <a:xfrm>
            <a:off x="6285802" y="1080669"/>
            <a:ext cx="986167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/>
            <a:r>
              <a:rPr lang="en-US" altLang="zh-CN" sz="2800" b="1" dirty="0">
                <a:solidFill>
                  <a:srgbClr val="000000"/>
                </a:solidFill>
                <a:latin typeface="Arial" panose="020B0604020202020204"/>
              </a:rPr>
              <a:t>Java</a:t>
            </a:r>
          </a:p>
          <a:p>
            <a:pPr defTabSz="914400"/>
            <a:r>
              <a:rPr lang="en-US" altLang="zh-CN" sz="2800" b="1" dirty="0">
                <a:solidFill>
                  <a:srgbClr val="000000"/>
                </a:solidFill>
                <a:latin typeface="Arial" panose="020B0604020202020204"/>
              </a:rPr>
              <a:t>C#</a:t>
            </a:r>
            <a:endParaRPr lang="zh-CN" altLang="en-US" sz="2800" b="1" dirty="0">
              <a:solidFill>
                <a:srgbClr val="000000"/>
              </a:solidFill>
              <a:latin typeface="Arial" panose="020B0604020202020204"/>
            </a:endParaRPr>
          </a:p>
        </p:txBody>
      </p: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211E25D8-4715-4EB3-A3D5-B13C33CF1DBD}"/>
              </a:ext>
            </a:extLst>
          </p:cNvPr>
          <p:cNvGrpSpPr/>
          <p:nvPr/>
        </p:nvGrpSpPr>
        <p:grpSpPr>
          <a:xfrm>
            <a:off x="6199191" y="1172725"/>
            <a:ext cx="2726423" cy="5587104"/>
            <a:chOff x="6199191" y="1172725"/>
            <a:chExt cx="2726423" cy="5587104"/>
          </a:xfrm>
        </p:grpSpPr>
        <p:grpSp>
          <p:nvGrpSpPr>
            <p:cNvPr id="163" name="组合 162">
              <a:extLst>
                <a:ext uri="{FF2B5EF4-FFF2-40B4-BE49-F238E27FC236}">
                  <a16:creationId xmlns:a16="http://schemas.microsoft.com/office/drawing/2014/main" id="{8D3DA0EC-7618-492A-9CFC-2DA0ABCFABE8}"/>
                </a:ext>
              </a:extLst>
            </p:cNvPr>
            <p:cNvGrpSpPr/>
            <p:nvPr/>
          </p:nvGrpSpPr>
          <p:grpSpPr>
            <a:xfrm>
              <a:off x="7787985" y="1172725"/>
              <a:ext cx="1075631" cy="937610"/>
              <a:chOff x="1518406" y="1584700"/>
              <a:chExt cx="1165432" cy="1015888"/>
            </a:xfrm>
          </p:grpSpPr>
          <p:pic>
            <p:nvPicPr>
              <p:cNvPr id="176" name="图片 175">
                <a:extLst>
                  <a:ext uri="{FF2B5EF4-FFF2-40B4-BE49-F238E27FC236}">
                    <a16:creationId xmlns:a16="http://schemas.microsoft.com/office/drawing/2014/main" id="{92702977-4AF8-430C-AB12-13A6D0872D5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duotone>
                  <a:srgbClr val="418AB3">
                    <a:shade val="45000"/>
                    <a:satMod val="135000"/>
                  </a:srgb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12832"/>
              <a:stretch/>
            </p:blipFill>
            <p:spPr>
              <a:xfrm>
                <a:off x="1518406" y="1584700"/>
                <a:ext cx="1165432" cy="1015888"/>
              </a:xfrm>
              <a:prstGeom prst="rect">
                <a:avLst/>
              </a:prstGeom>
            </p:spPr>
          </p:pic>
          <p:sp>
            <p:nvSpPr>
              <p:cNvPr id="177" name="文本框 176">
                <a:extLst>
                  <a:ext uri="{FF2B5EF4-FFF2-40B4-BE49-F238E27FC236}">
                    <a16:creationId xmlns:a16="http://schemas.microsoft.com/office/drawing/2014/main" id="{5AB841BD-D3D8-4E46-A16E-39F1C8CF72E8}"/>
                  </a:ext>
                </a:extLst>
              </p:cNvPr>
              <p:cNvSpPr txBox="1"/>
              <p:nvPr/>
            </p:nvSpPr>
            <p:spPr>
              <a:xfrm>
                <a:off x="1709291" y="1623320"/>
                <a:ext cx="783659" cy="5669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418AB3"/>
                    </a:solidFill>
                    <a:effectLst/>
                    <a:uLnTx/>
                    <a:uFillTx/>
                    <a:latin typeface="Arial" panose="020B0604020202020204"/>
                  </a:rPr>
                  <a:t>混合型</a:t>
                </a:r>
                <a:endParaRPr kumimoji="0" lang="en-US" altLang="zh-CN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418AB3"/>
                  </a:solidFill>
                  <a:effectLst/>
                  <a:uLnTx/>
                  <a:uFillTx/>
                  <a:latin typeface="Arial" panose="020B0604020202020204"/>
                </a:endParaRPr>
              </a:p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418AB3"/>
                    </a:solidFill>
                    <a:effectLst/>
                    <a:uLnTx/>
                    <a:uFillTx/>
                    <a:latin typeface="Arial" panose="020B0604020202020204"/>
                  </a:rPr>
                  <a:t>语言</a:t>
                </a:r>
              </a:p>
            </p:txBody>
          </p:sp>
        </p:grpSp>
        <p:grpSp>
          <p:nvGrpSpPr>
            <p:cNvPr id="164" name="组合 163">
              <a:extLst>
                <a:ext uri="{FF2B5EF4-FFF2-40B4-BE49-F238E27FC236}">
                  <a16:creationId xmlns:a16="http://schemas.microsoft.com/office/drawing/2014/main" id="{2DC83BB3-8971-4F05-9132-B8621B8AA146}"/>
                </a:ext>
              </a:extLst>
            </p:cNvPr>
            <p:cNvGrpSpPr/>
            <p:nvPr/>
          </p:nvGrpSpPr>
          <p:grpSpPr>
            <a:xfrm>
              <a:off x="6199191" y="2210082"/>
              <a:ext cx="2726423" cy="2360908"/>
              <a:chOff x="8293169" y="2254386"/>
              <a:chExt cx="2726423" cy="2360908"/>
            </a:xfrm>
          </p:grpSpPr>
          <p:sp>
            <p:nvSpPr>
              <p:cNvPr id="170" name="矩形 169">
                <a:extLst>
                  <a:ext uri="{FF2B5EF4-FFF2-40B4-BE49-F238E27FC236}">
                    <a16:creationId xmlns:a16="http://schemas.microsoft.com/office/drawing/2014/main" id="{D844945B-5331-4D87-BDE9-7FC01D21B90A}"/>
                  </a:ext>
                </a:extLst>
              </p:cNvPr>
              <p:cNvSpPr/>
              <p:nvPr/>
            </p:nvSpPr>
            <p:spPr>
              <a:xfrm>
                <a:off x="8293169" y="2254386"/>
                <a:ext cx="2726423" cy="2360908"/>
              </a:xfrm>
              <a:prstGeom prst="rect">
                <a:avLst/>
              </a:prstGeom>
              <a:solidFill>
                <a:sysClr val="window" lastClr="FFFFFF"/>
              </a:solidFill>
              <a:ln w="12700" cap="flat" cmpd="sng" algn="ctr">
                <a:solidFill>
                  <a:srgbClr val="838383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黑体" panose="02010609060101010101" pitchFamily="49" charset="-122"/>
                  <a:cs typeface="+mn-cs"/>
                </a:endParaRPr>
              </a:p>
            </p:txBody>
          </p:sp>
          <p:sp>
            <p:nvSpPr>
              <p:cNvPr id="171" name="矩形 170">
                <a:extLst>
                  <a:ext uri="{FF2B5EF4-FFF2-40B4-BE49-F238E27FC236}">
                    <a16:creationId xmlns:a16="http://schemas.microsoft.com/office/drawing/2014/main" id="{A449BAF2-2CEB-4ECB-BD39-A20AC5AC4AFB}"/>
                  </a:ext>
                </a:extLst>
              </p:cNvPr>
              <p:cNvSpPr/>
              <p:nvPr/>
            </p:nvSpPr>
            <p:spPr>
              <a:xfrm>
                <a:off x="8460949" y="2406741"/>
                <a:ext cx="780177" cy="1496887"/>
              </a:xfrm>
              <a:prstGeom prst="rect">
                <a:avLst/>
              </a:prstGeom>
              <a:solidFill>
                <a:srgbClr val="DDDDDD"/>
              </a:solidFill>
              <a:ln w="952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黑体" panose="02010609060101010101" pitchFamily="49" charset="-122"/>
                    <a:cs typeface="+mn-cs"/>
                  </a:rPr>
                  <a:t>操</a:t>
                </a:r>
                <a:endParaRPr kumimoji="0" lang="en-US" altLang="zh-CN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黑体" panose="02010609060101010101" pitchFamily="49" charset="-122"/>
                  <a:cs typeface="+mn-cs"/>
                </a:endParaRPr>
              </a:p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黑体" panose="02010609060101010101" pitchFamily="49" charset="-122"/>
                    <a:cs typeface="+mn-cs"/>
                  </a:rPr>
                  <a:t>作</a:t>
                </a:r>
                <a:endParaRPr kumimoji="0" lang="en-US" altLang="zh-CN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黑体" panose="02010609060101010101" pitchFamily="49" charset="-122"/>
                  <a:cs typeface="+mn-cs"/>
                </a:endParaRPr>
              </a:p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黑体" panose="02010609060101010101" pitchFamily="49" charset="-122"/>
                    <a:cs typeface="+mn-cs"/>
                  </a:rPr>
                  <a:t>系</a:t>
                </a:r>
                <a:endParaRPr kumimoji="0" lang="en-US" altLang="zh-CN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黑体" panose="02010609060101010101" pitchFamily="49" charset="-122"/>
                  <a:cs typeface="+mn-cs"/>
                </a:endParaRPr>
              </a:p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黑体" panose="02010609060101010101" pitchFamily="49" charset="-122"/>
                    <a:cs typeface="+mn-cs"/>
                  </a:rPr>
                  <a:t>统</a:t>
                </a:r>
              </a:p>
            </p:txBody>
          </p:sp>
          <p:sp>
            <p:nvSpPr>
              <p:cNvPr id="172" name="矩形 171">
                <a:extLst>
                  <a:ext uri="{FF2B5EF4-FFF2-40B4-BE49-F238E27FC236}">
                    <a16:creationId xmlns:a16="http://schemas.microsoft.com/office/drawing/2014/main" id="{CC356679-4C36-4B9F-B41A-9D0D613532C3}"/>
                  </a:ext>
                </a:extLst>
              </p:cNvPr>
              <p:cNvSpPr/>
              <p:nvPr/>
            </p:nvSpPr>
            <p:spPr>
              <a:xfrm>
                <a:off x="9363847" y="3490471"/>
                <a:ext cx="1491081" cy="413157"/>
              </a:xfrm>
              <a:prstGeom prst="rect">
                <a:avLst/>
              </a:prstGeom>
              <a:solidFill>
                <a:srgbClr val="DF5327"/>
              </a:solidFill>
              <a:ln w="12700" cap="flat" cmpd="sng" algn="ctr">
                <a:solidFill>
                  <a:srgbClr val="DF5327">
                    <a:shade val="50000"/>
                  </a:srgb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黑体" panose="02010609060101010101" pitchFamily="49" charset="-122"/>
                    <a:cs typeface="+mn-cs"/>
                  </a:rPr>
                  <a:t>编译器</a:t>
                </a:r>
              </a:p>
            </p:txBody>
          </p:sp>
          <p:sp>
            <p:nvSpPr>
              <p:cNvPr id="173" name="矩形 172">
                <a:extLst>
                  <a:ext uri="{FF2B5EF4-FFF2-40B4-BE49-F238E27FC236}">
                    <a16:creationId xmlns:a16="http://schemas.microsoft.com/office/drawing/2014/main" id="{075F0BF1-DD0A-4C29-83A3-4FEF699FAC1C}"/>
                  </a:ext>
                </a:extLst>
              </p:cNvPr>
              <p:cNvSpPr/>
              <p:nvPr/>
            </p:nvSpPr>
            <p:spPr>
              <a:xfrm>
                <a:off x="9363847" y="2406741"/>
                <a:ext cx="1491081" cy="413157"/>
              </a:xfrm>
              <a:prstGeom prst="rect">
                <a:avLst/>
              </a:prstGeom>
              <a:solidFill>
                <a:srgbClr val="FEC306"/>
              </a:solidFill>
              <a:ln w="12700" cap="flat" cmpd="sng" algn="ctr">
                <a:solidFill>
                  <a:srgbClr val="FEC306">
                    <a:shade val="50000"/>
                  </a:srgb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黑体" panose="02010609060101010101" pitchFamily="49" charset="-122"/>
                    <a:cs typeface="+mn-cs"/>
                  </a:rPr>
                  <a:t>文本编辑器</a:t>
                </a:r>
              </a:p>
            </p:txBody>
          </p:sp>
          <p:sp>
            <p:nvSpPr>
              <p:cNvPr id="174" name="矩形 173">
                <a:extLst>
                  <a:ext uri="{FF2B5EF4-FFF2-40B4-BE49-F238E27FC236}">
                    <a16:creationId xmlns:a16="http://schemas.microsoft.com/office/drawing/2014/main" id="{9E54AE57-4F1E-4CFB-AB57-C80010B7E94F}"/>
                  </a:ext>
                </a:extLst>
              </p:cNvPr>
              <p:cNvSpPr/>
              <p:nvPr/>
            </p:nvSpPr>
            <p:spPr>
              <a:xfrm>
                <a:off x="9359652" y="2948606"/>
                <a:ext cx="1491081" cy="413157"/>
              </a:xfrm>
              <a:prstGeom prst="rect">
                <a:avLst/>
              </a:prstGeom>
              <a:solidFill>
                <a:srgbClr val="F69200"/>
              </a:solidFill>
              <a:ln w="12700" cap="flat" cmpd="sng" algn="ctr">
                <a:solidFill>
                  <a:srgbClr val="F69200">
                    <a:shade val="50000"/>
                  </a:srgb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黑体" panose="02010609060101010101" pitchFamily="49" charset="-122"/>
                    <a:cs typeface="+mn-cs"/>
                  </a:rPr>
                  <a:t>源代码</a:t>
                </a:r>
              </a:p>
            </p:txBody>
          </p:sp>
          <p:sp>
            <p:nvSpPr>
              <p:cNvPr id="175" name="矩形 174">
                <a:extLst>
                  <a:ext uri="{FF2B5EF4-FFF2-40B4-BE49-F238E27FC236}">
                    <a16:creationId xmlns:a16="http://schemas.microsoft.com/office/drawing/2014/main" id="{BBEFA997-6F45-4289-9414-FEB242396833}"/>
                  </a:ext>
                </a:extLst>
              </p:cNvPr>
              <p:cNvSpPr/>
              <p:nvPr/>
            </p:nvSpPr>
            <p:spPr>
              <a:xfrm>
                <a:off x="9359651" y="4032335"/>
                <a:ext cx="1491081" cy="413157"/>
              </a:xfrm>
              <a:prstGeom prst="rect">
                <a:avLst/>
              </a:prstGeom>
              <a:solidFill>
                <a:srgbClr val="A6B727"/>
              </a:solidFill>
              <a:ln w="12700" cap="flat" cmpd="sng" algn="ctr">
                <a:solidFill>
                  <a:srgbClr val="A6B727">
                    <a:shade val="50000"/>
                  </a:srgb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黑体" panose="02010609060101010101" pitchFamily="49" charset="-122"/>
                    <a:cs typeface="+mn-cs"/>
                  </a:rPr>
                  <a:t>Bytecode</a:t>
                </a: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黑体" panose="02010609060101010101" pitchFamily="49" charset="-122"/>
                  <a:cs typeface="+mn-cs"/>
                </a:endParaRPr>
              </a:p>
            </p:txBody>
          </p:sp>
        </p:grpSp>
        <p:grpSp>
          <p:nvGrpSpPr>
            <p:cNvPr id="165" name="组合 164">
              <a:extLst>
                <a:ext uri="{FF2B5EF4-FFF2-40B4-BE49-F238E27FC236}">
                  <a16:creationId xmlns:a16="http://schemas.microsoft.com/office/drawing/2014/main" id="{1AF7077D-553E-42A0-85D3-C8719BBFB360}"/>
                </a:ext>
              </a:extLst>
            </p:cNvPr>
            <p:cNvGrpSpPr/>
            <p:nvPr/>
          </p:nvGrpSpPr>
          <p:grpSpPr>
            <a:xfrm>
              <a:off x="6199191" y="5064661"/>
              <a:ext cx="2726423" cy="1695168"/>
              <a:chOff x="8486116" y="4994665"/>
              <a:chExt cx="2726423" cy="1695168"/>
            </a:xfrm>
          </p:grpSpPr>
          <p:sp>
            <p:nvSpPr>
              <p:cNvPr id="166" name="矩形 165">
                <a:extLst>
                  <a:ext uri="{FF2B5EF4-FFF2-40B4-BE49-F238E27FC236}">
                    <a16:creationId xmlns:a16="http://schemas.microsoft.com/office/drawing/2014/main" id="{E3B80FCA-5F40-470C-BAED-7EE5FAD25223}"/>
                  </a:ext>
                </a:extLst>
              </p:cNvPr>
              <p:cNvSpPr/>
              <p:nvPr/>
            </p:nvSpPr>
            <p:spPr>
              <a:xfrm>
                <a:off x="8486116" y="4994665"/>
                <a:ext cx="2726423" cy="1695168"/>
              </a:xfrm>
              <a:prstGeom prst="rect">
                <a:avLst/>
              </a:prstGeom>
              <a:solidFill>
                <a:sysClr val="window" lastClr="FFFFFF"/>
              </a:solidFill>
              <a:ln w="12700" cap="flat" cmpd="sng" algn="ctr">
                <a:solidFill>
                  <a:srgbClr val="838383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黑体" panose="02010609060101010101" pitchFamily="49" charset="-122"/>
                  <a:cs typeface="+mn-cs"/>
                </a:endParaRPr>
              </a:p>
            </p:txBody>
          </p:sp>
          <p:sp>
            <p:nvSpPr>
              <p:cNvPr id="167" name="矩形 166">
                <a:extLst>
                  <a:ext uri="{FF2B5EF4-FFF2-40B4-BE49-F238E27FC236}">
                    <a16:creationId xmlns:a16="http://schemas.microsoft.com/office/drawing/2014/main" id="{1017CE4E-BFBA-4DD4-90B4-B6F72B2E79C5}"/>
                  </a:ext>
                </a:extLst>
              </p:cNvPr>
              <p:cNvSpPr/>
              <p:nvPr/>
            </p:nvSpPr>
            <p:spPr>
              <a:xfrm>
                <a:off x="8653896" y="5147020"/>
                <a:ext cx="780177" cy="1429562"/>
              </a:xfrm>
              <a:prstGeom prst="rect">
                <a:avLst/>
              </a:prstGeom>
              <a:solidFill>
                <a:srgbClr val="DDDDDD"/>
              </a:solidFill>
              <a:ln w="952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黑体" panose="02010609060101010101" pitchFamily="49" charset="-122"/>
                    <a:cs typeface="+mn-cs"/>
                  </a:rPr>
                  <a:t>操</a:t>
                </a:r>
                <a:endParaRPr kumimoji="0" lang="en-US" altLang="zh-CN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黑体" panose="02010609060101010101" pitchFamily="49" charset="-122"/>
                  <a:cs typeface="+mn-cs"/>
                </a:endParaRPr>
              </a:p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黑体" panose="02010609060101010101" pitchFamily="49" charset="-122"/>
                    <a:cs typeface="+mn-cs"/>
                  </a:rPr>
                  <a:t>作</a:t>
                </a:r>
                <a:endParaRPr kumimoji="0" lang="en-US" altLang="zh-CN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黑体" panose="02010609060101010101" pitchFamily="49" charset="-122"/>
                  <a:cs typeface="+mn-cs"/>
                </a:endParaRPr>
              </a:p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黑体" panose="02010609060101010101" pitchFamily="49" charset="-122"/>
                    <a:cs typeface="+mn-cs"/>
                  </a:rPr>
                  <a:t>系</a:t>
                </a:r>
                <a:endParaRPr kumimoji="0" lang="en-US" altLang="zh-CN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黑体" panose="02010609060101010101" pitchFamily="49" charset="-122"/>
                  <a:cs typeface="+mn-cs"/>
                </a:endParaRPr>
              </a:p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黑体" panose="02010609060101010101" pitchFamily="49" charset="-122"/>
                    <a:cs typeface="+mn-cs"/>
                  </a:rPr>
                  <a:t>统</a:t>
                </a:r>
              </a:p>
            </p:txBody>
          </p:sp>
          <p:sp>
            <p:nvSpPr>
              <p:cNvPr id="168" name="矩形 167">
                <a:extLst>
                  <a:ext uri="{FF2B5EF4-FFF2-40B4-BE49-F238E27FC236}">
                    <a16:creationId xmlns:a16="http://schemas.microsoft.com/office/drawing/2014/main" id="{FE710207-A6A9-4748-8F22-4A34FA50CF69}"/>
                  </a:ext>
                </a:extLst>
              </p:cNvPr>
              <p:cNvSpPr/>
              <p:nvPr/>
            </p:nvSpPr>
            <p:spPr>
              <a:xfrm>
                <a:off x="9577765" y="5160149"/>
                <a:ext cx="1491081" cy="413157"/>
              </a:xfrm>
              <a:prstGeom prst="rect">
                <a:avLst/>
              </a:prstGeom>
              <a:solidFill>
                <a:srgbClr val="A6B727"/>
              </a:solidFill>
              <a:ln w="12700" cap="flat" cmpd="sng" algn="ctr">
                <a:solidFill>
                  <a:srgbClr val="A6B727">
                    <a:shade val="50000"/>
                  </a:srgb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黑体" panose="02010609060101010101" pitchFamily="49" charset="-122"/>
                    <a:cs typeface="+mn-cs"/>
                  </a:rPr>
                  <a:t>Bytecode</a:t>
                </a: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黑体" panose="02010609060101010101" pitchFamily="49" charset="-122"/>
                  <a:cs typeface="+mn-cs"/>
                </a:endParaRPr>
              </a:p>
            </p:txBody>
          </p:sp>
          <p:sp>
            <p:nvSpPr>
              <p:cNvPr id="169" name="矩形 168">
                <a:extLst>
                  <a:ext uri="{FF2B5EF4-FFF2-40B4-BE49-F238E27FC236}">
                    <a16:creationId xmlns:a16="http://schemas.microsoft.com/office/drawing/2014/main" id="{C86AAF29-A080-4A43-972B-9F890ABAC8FE}"/>
                  </a:ext>
                </a:extLst>
              </p:cNvPr>
              <p:cNvSpPr/>
              <p:nvPr/>
            </p:nvSpPr>
            <p:spPr>
              <a:xfrm>
                <a:off x="9577764" y="5719595"/>
                <a:ext cx="1491081" cy="413157"/>
              </a:xfrm>
              <a:prstGeom prst="rect">
                <a:avLst/>
              </a:prstGeom>
              <a:solidFill>
                <a:srgbClr val="DF5327"/>
              </a:solidFill>
              <a:ln w="12700" cap="flat" cmpd="sng" algn="ctr">
                <a:solidFill>
                  <a:srgbClr val="DF5327">
                    <a:shade val="50000"/>
                  </a:srgb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黑体" panose="02010609060101010101" pitchFamily="49" charset="-122"/>
                    <a:cs typeface="+mn-cs"/>
                  </a:rPr>
                  <a:t>解释器</a:t>
                </a:r>
              </a:p>
            </p:txBody>
          </p:sp>
        </p:grpSp>
        <p:sp>
          <p:nvSpPr>
            <p:cNvPr id="178" name="文本框 177">
              <a:extLst>
                <a:ext uri="{FF2B5EF4-FFF2-40B4-BE49-F238E27FC236}">
                  <a16:creationId xmlns:a16="http://schemas.microsoft.com/office/drawing/2014/main" id="{4B60888D-DCA3-46C6-BA9B-60DFA204DC59}"/>
                </a:ext>
              </a:extLst>
            </p:cNvPr>
            <p:cNvSpPr txBox="1"/>
            <p:nvPr/>
          </p:nvSpPr>
          <p:spPr>
            <a:xfrm>
              <a:off x="7188704" y="4720410"/>
              <a:ext cx="8771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400"/>
              <a:r>
                <a:rPr lang="zh-CN" altLang="en-US" dirty="0">
                  <a:solidFill>
                    <a:srgbClr val="000000"/>
                  </a:solidFill>
                  <a:latin typeface="Arial" panose="020B0604020202020204"/>
                </a:rPr>
                <a:t>运行时</a:t>
              </a:r>
            </a:p>
          </p:txBody>
        </p:sp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56AE73FF-FE46-449F-A8B0-52F260D8960F}"/>
              </a:ext>
            </a:extLst>
          </p:cNvPr>
          <p:cNvGrpSpPr/>
          <p:nvPr/>
        </p:nvGrpSpPr>
        <p:grpSpPr>
          <a:xfrm>
            <a:off x="203312" y="1172725"/>
            <a:ext cx="2726423" cy="5587104"/>
            <a:chOff x="203312" y="1172725"/>
            <a:chExt cx="2726423" cy="5587104"/>
          </a:xfrm>
        </p:grpSpPr>
        <p:pic>
          <p:nvPicPr>
            <p:cNvPr id="141" name="图片 140">
              <a:extLst>
                <a:ext uri="{FF2B5EF4-FFF2-40B4-BE49-F238E27FC236}">
                  <a16:creationId xmlns:a16="http://schemas.microsoft.com/office/drawing/2014/main" id="{B2D2EDB0-D01C-484D-ABD5-03809CB951A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duotone>
                <a:srgbClr val="418AB3">
                  <a:shade val="45000"/>
                  <a:satMod val="135000"/>
                </a:srgb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2832"/>
            <a:stretch/>
          </p:blipFill>
          <p:spPr>
            <a:xfrm>
              <a:off x="1792106" y="1172725"/>
              <a:ext cx="1075631" cy="937610"/>
            </a:xfrm>
            <a:prstGeom prst="rect">
              <a:avLst/>
            </a:prstGeom>
          </p:spPr>
        </p:pic>
        <p:sp>
          <p:nvSpPr>
            <p:cNvPr id="142" name="文本框 141">
              <a:extLst>
                <a:ext uri="{FF2B5EF4-FFF2-40B4-BE49-F238E27FC236}">
                  <a16:creationId xmlns:a16="http://schemas.microsoft.com/office/drawing/2014/main" id="{C8DA5A00-8FB5-4CC5-8845-791ED67DEFEB}"/>
                </a:ext>
              </a:extLst>
            </p:cNvPr>
            <p:cNvSpPr txBox="1"/>
            <p:nvPr/>
          </p:nvSpPr>
          <p:spPr>
            <a:xfrm>
              <a:off x="1968283" y="1208369"/>
              <a:ext cx="72327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418AB3"/>
                  </a:solidFill>
                  <a:effectLst/>
                  <a:uLnTx/>
                  <a:uFillTx/>
                  <a:latin typeface="Arial" panose="020B0604020202020204"/>
                </a:rPr>
                <a:t>编译型</a:t>
              </a:r>
              <a:endPara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418AB3"/>
                </a:solidFill>
                <a:effectLst/>
                <a:uLnTx/>
                <a:uFillTx/>
                <a:latin typeface="Arial" panose="020B0604020202020204"/>
              </a:endParaRP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418AB3"/>
                  </a:solidFill>
                  <a:effectLst/>
                  <a:uLnTx/>
                  <a:uFillTx/>
                  <a:latin typeface="Arial" panose="020B0604020202020204"/>
                </a:rPr>
                <a:t>语言</a:t>
              </a:r>
            </a:p>
          </p:txBody>
        </p:sp>
        <p:sp>
          <p:nvSpPr>
            <p:cNvPr id="135" name="矩形 134">
              <a:extLst>
                <a:ext uri="{FF2B5EF4-FFF2-40B4-BE49-F238E27FC236}">
                  <a16:creationId xmlns:a16="http://schemas.microsoft.com/office/drawing/2014/main" id="{65AED569-AF5C-47E6-AE4E-24E85ED97EAB}"/>
                </a:ext>
              </a:extLst>
            </p:cNvPr>
            <p:cNvSpPr/>
            <p:nvPr/>
          </p:nvSpPr>
          <p:spPr>
            <a:xfrm>
              <a:off x="203312" y="2210082"/>
              <a:ext cx="2726423" cy="2360908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solidFill>
                <a:srgbClr val="838383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36" name="矩形 135">
              <a:extLst>
                <a:ext uri="{FF2B5EF4-FFF2-40B4-BE49-F238E27FC236}">
                  <a16:creationId xmlns:a16="http://schemas.microsoft.com/office/drawing/2014/main" id="{2DD48A8E-8571-4BD5-9F42-FD30B1EEA42B}"/>
                </a:ext>
              </a:extLst>
            </p:cNvPr>
            <p:cNvSpPr/>
            <p:nvPr/>
          </p:nvSpPr>
          <p:spPr>
            <a:xfrm>
              <a:off x="371092" y="2362437"/>
              <a:ext cx="780177" cy="1496887"/>
            </a:xfrm>
            <a:prstGeom prst="rect">
              <a:avLst/>
            </a:prstGeom>
            <a:solidFill>
              <a:srgbClr val="DDDDDD"/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黑体" panose="02010609060101010101" pitchFamily="49" charset="-122"/>
                  <a:cs typeface="+mn-cs"/>
                </a:rPr>
                <a:t>操</a:t>
              </a:r>
              <a:endPara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endParaRP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黑体" panose="02010609060101010101" pitchFamily="49" charset="-122"/>
                  <a:cs typeface="+mn-cs"/>
                </a:rPr>
                <a:t>作</a:t>
              </a:r>
              <a:endPara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endParaRP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黑体" panose="02010609060101010101" pitchFamily="49" charset="-122"/>
                  <a:cs typeface="+mn-cs"/>
                </a:rPr>
                <a:t>系</a:t>
              </a:r>
              <a:endPara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endParaRP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黑体" panose="02010609060101010101" pitchFamily="49" charset="-122"/>
                  <a:cs typeface="+mn-cs"/>
                </a:rPr>
                <a:t>统</a:t>
              </a:r>
            </a:p>
          </p:txBody>
        </p:sp>
        <p:sp>
          <p:nvSpPr>
            <p:cNvPr id="137" name="矩形 136">
              <a:extLst>
                <a:ext uri="{FF2B5EF4-FFF2-40B4-BE49-F238E27FC236}">
                  <a16:creationId xmlns:a16="http://schemas.microsoft.com/office/drawing/2014/main" id="{C51788EA-0B6B-422C-A31A-3704F1ED7615}"/>
                </a:ext>
              </a:extLst>
            </p:cNvPr>
            <p:cNvSpPr/>
            <p:nvPr/>
          </p:nvSpPr>
          <p:spPr>
            <a:xfrm>
              <a:off x="1273990" y="3446167"/>
              <a:ext cx="1491081" cy="413157"/>
            </a:xfrm>
            <a:prstGeom prst="rect">
              <a:avLst/>
            </a:prstGeom>
            <a:solidFill>
              <a:srgbClr val="DF5327"/>
            </a:solidFill>
            <a:ln w="12700" cap="flat" cmpd="sng" algn="ctr">
              <a:solidFill>
                <a:srgbClr val="DF5327">
                  <a:shade val="50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黑体" panose="02010609060101010101" pitchFamily="49" charset="-122"/>
                  <a:cs typeface="+mn-cs"/>
                </a:rPr>
                <a:t>编译器</a:t>
              </a:r>
            </a:p>
          </p:txBody>
        </p:sp>
        <p:sp>
          <p:nvSpPr>
            <p:cNvPr id="138" name="矩形 137">
              <a:extLst>
                <a:ext uri="{FF2B5EF4-FFF2-40B4-BE49-F238E27FC236}">
                  <a16:creationId xmlns:a16="http://schemas.microsoft.com/office/drawing/2014/main" id="{E22BC585-335F-4953-AFD4-30684A131D08}"/>
                </a:ext>
              </a:extLst>
            </p:cNvPr>
            <p:cNvSpPr/>
            <p:nvPr/>
          </p:nvSpPr>
          <p:spPr>
            <a:xfrm>
              <a:off x="1273990" y="2362437"/>
              <a:ext cx="1491081" cy="413157"/>
            </a:xfrm>
            <a:prstGeom prst="rect">
              <a:avLst/>
            </a:prstGeom>
            <a:solidFill>
              <a:srgbClr val="FEC306"/>
            </a:solidFill>
            <a:ln w="12700" cap="flat" cmpd="sng" algn="ctr">
              <a:solidFill>
                <a:srgbClr val="FEC306">
                  <a:shade val="50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黑体" panose="02010609060101010101" pitchFamily="49" charset="-122"/>
                  <a:cs typeface="+mn-cs"/>
                </a:rPr>
                <a:t>文本编辑器</a:t>
              </a:r>
            </a:p>
          </p:txBody>
        </p:sp>
        <p:sp>
          <p:nvSpPr>
            <p:cNvPr id="139" name="矩形 138">
              <a:extLst>
                <a:ext uri="{FF2B5EF4-FFF2-40B4-BE49-F238E27FC236}">
                  <a16:creationId xmlns:a16="http://schemas.microsoft.com/office/drawing/2014/main" id="{58CEEDFA-1FE1-4CE3-809B-F25986D48FBC}"/>
                </a:ext>
              </a:extLst>
            </p:cNvPr>
            <p:cNvSpPr/>
            <p:nvPr/>
          </p:nvSpPr>
          <p:spPr>
            <a:xfrm>
              <a:off x="1269795" y="2904302"/>
              <a:ext cx="1491081" cy="413157"/>
            </a:xfrm>
            <a:prstGeom prst="rect">
              <a:avLst/>
            </a:prstGeom>
            <a:solidFill>
              <a:srgbClr val="F69200"/>
            </a:solidFill>
            <a:ln w="12700" cap="flat" cmpd="sng" algn="ctr">
              <a:solidFill>
                <a:srgbClr val="F69200">
                  <a:shade val="50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黑体" panose="02010609060101010101" pitchFamily="49" charset="-122"/>
                  <a:cs typeface="+mn-cs"/>
                </a:rPr>
                <a:t>源代码</a:t>
              </a:r>
            </a:p>
          </p:txBody>
        </p:sp>
        <p:sp>
          <p:nvSpPr>
            <p:cNvPr id="140" name="矩形 139">
              <a:extLst>
                <a:ext uri="{FF2B5EF4-FFF2-40B4-BE49-F238E27FC236}">
                  <a16:creationId xmlns:a16="http://schemas.microsoft.com/office/drawing/2014/main" id="{F7265D68-4D85-4573-A412-29194965B7BD}"/>
                </a:ext>
              </a:extLst>
            </p:cNvPr>
            <p:cNvSpPr/>
            <p:nvPr/>
          </p:nvSpPr>
          <p:spPr>
            <a:xfrm>
              <a:off x="1269794" y="3988031"/>
              <a:ext cx="1491081" cy="413157"/>
            </a:xfrm>
            <a:prstGeom prst="rect">
              <a:avLst/>
            </a:prstGeom>
            <a:solidFill>
              <a:srgbClr val="A6B727"/>
            </a:solidFill>
            <a:ln w="12700" cap="flat" cmpd="sng" algn="ctr">
              <a:solidFill>
                <a:srgbClr val="A6B727">
                  <a:shade val="50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黑体" panose="02010609060101010101" pitchFamily="49" charset="-122"/>
                  <a:cs typeface="+mn-cs"/>
                </a:rPr>
                <a:t>机器代码</a:t>
              </a:r>
            </a:p>
          </p:txBody>
        </p:sp>
        <p:sp>
          <p:nvSpPr>
            <p:cNvPr id="132" name="矩形 131">
              <a:extLst>
                <a:ext uri="{FF2B5EF4-FFF2-40B4-BE49-F238E27FC236}">
                  <a16:creationId xmlns:a16="http://schemas.microsoft.com/office/drawing/2014/main" id="{CF578B83-79A0-446A-911A-3C8AD0592D32}"/>
                </a:ext>
              </a:extLst>
            </p:cNvPr>
            <p:cNvSpPr/>
            <p:nvPr/>
          </p:nvSpPr>
          <p:spPr>
            <a:xfrm>
              <a:off x="203312" y="5064661"/>
              <a:ext cx="2726423" cy="1695168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solidFill>
                <a:srgbClr val="838383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33" name="矩形 132">
              <a:extLst>
                <a:ext uri="{FF2B5EF4-FFF2-40B4-BE49-F238E27FC236}">
                  <a16:creationId xmlns:a16="http://schemas.microsoft.com/office/drawing/2014/main" id="{65D3FF20-CDBA-4A4E-8A04-194C56249DE7}"/>
                </a:ext>
              </a:extLst>
            </p:cNvPr>
            <p:cNvSpPr/>
            <p:nvPr/>
          </p:nvSpPr>
          <p:spPr>
            <a:xfrm>
              <a:off x="371092" y="5217016"/>
              <a:ext cx="780177" cy="1429562"/>
            </a:xfrm>
            <a:prstGeom prst="rect">
              <a:avLst/>
            </a:prstGeom>
            <a:solidFill>
              <a:srgbClr val="DDDDDD"/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黑体" panose="02010609060101010101" pitchFamily="49" charset="-122"/>
                  <a:cs typeface="+mn-cs"/>
                </a:rPr>
                <a:t>操</a:t>
              </a:r>
              <a:endPara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endParaRP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黑体" panose="02010609060101010101" pitchFamily="49" charset="-122"/>
                  <a:cs typeface="+mn-cs"/>
                </a:rPr>
                <a:t>作</a:t>
              </a:r>
              <a:endPara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endParaRP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黑体" panose="02010609060101010101" pitchFamily="49" charset="-122"/>
                  <a:cs typeface="+mn-cs"/>
                </a:rPr>
                <a:t>系</a:t>
              </a:r>
              <a:endPara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endParaRP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黑体" panose="02010609060101010101" pitchFamily="49" charset="-122"/>
                  <a:cs typeface="+mn-cs"/>
                </a:rPr>
                <a:t>统</a:t>
              </a:r>
            </a:p>
          </p:txBody>
        </p:sp>
        <p:sp>
          <p:nvSpPr>
            <p:cNvPr id="134" name="矩形 133">
              <a:extLst>
                <a:ext uri="{FF2B5EF4-FFF2-40B4-BE49-F238E27FC236}">
                  <a16:creationId xmlns:a16="http://schemas.microsoft.com/office/drawing/2014/main" id="{3676594D-3925-42E7-9C5F-C42AB9FF76C3}"/>
                </a:ext>
              </a:extLst>
            </p:cNvPr>
            <p:cNvSpPr/>
            <p:nvPr/>
          </p:nvSpPr>
          <p:spPr>
            <a:xfrm>
              <a:off x="1294961" y="5230145"/>
              <a:ext cx="1491081" cy="413157"/>
            </a:xfrm>
            <a:prstGeom prst="rect">
              <a:avLst/>
            </a:prstGeom>
            <a:solidFill>
              <a:srgbClr val="A6B727"/>
            </a:solidFill>
            <a:ln w="12700" cap="flat" cmpd="sng" algn="ctr">
              <a:solidFill>
                <a:srgbClr val="A6B727">
                  <a:shade val="50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黑体" panose="02010609060101010101" pitchFamily="49" charset="-122"/>
                  <a:cs typeface="+mn-cs"/>
                </a:rPr>
                <a:t>机器代码</a:t>
              </a:r>
            </a:p>
          </p:txBody>
        </p:sp>
        <p:sp>
          <p:nvSpPr>
            <p:cNvPr id="179" name="文本框 178">
              <a:extLst>
                <a:ext uri="{FF2B5EF4-FFF2-40B4-BE49-F238E27FC236}">
                  <a16:creationId xmlns:a16="http://schemas.microsoft.com/office/drawing/2014/main" id="{F234EAE9-430F-4D7E-8CF6-0AAFDDB2E88F}"/>
                </a:ext>
              </a:extLst>
            </p:cNvPr>
            <p:cNvSpPr txBox="1"/>
            <p:nvPr/>
          </p:nvSpPr>
          <p:spPr>
            <a:xfrm>
              <a:off x="1068591" y="4720410"/>
              <a:ext cx="8771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400"/>
              <a:r>
                <a:rPr lang="zh-CN" altLang="en-US" dirty="0">
                  <a:solidFill>
                    <a:srgbClr val="000000"/>
                  </a:solidFill>
                  <a:latin typeface="Arial" panose="020B0604020202020204"/>
                </a:rPr>
                <a:t>运行时</a:t>
              </a:r>
            </a:p>
          </p:txBody>
        </p:sp>
      </p:grp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D695487-1508-0631-D671-77D2C16C7E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02FAAF-6F93-4B79-BA2A-8A39914B8FD7}" type="datetime2">
              <a:rPr lang="zh-CN" altLang="en-US" smtClean="0"/>
              <a:t>2026年3月11日</a:t>
            </a:fld>
            <a:endParaRPr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0865CBE-F75C-3394-42E6-558E7F32FD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</a:t>
            </a:r>
            <a:r>
              <a:rPr lang="en-US" altLang="zh-CN"/>
              <a:t>2</a:t>
            </a:r>
            <a:r>
              <a:rPr lang="zh-CN" altLang="en-US"/>
              <a:t>章 词法分析</a:t>
            </a:r>
            <a:r>
              <a:rPr lang="en-US" altLang="zh-CN"/>
              <a:t>(1)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70A81D9-4998-5F32-A13B-60B31F59A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06876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5" grpId="0"/>
      <p:bldP spid="146" grpId="0"/>
      <p:bldP spid="16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BB8E16-620B-4062-BDD7-5DC30179E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本次课内容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52C7A76-E1A6-4B55-864E-44C6B6DB20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sz="2800" dirty="0"/>
              <a:t>如何识别出代表浮点类型的关键字“</a:t>
            </a:r>
            <a:r>
              <a:rPr lang="en-US" altLang="zh-CN" sz="2800" dirty="0"/>
              <a:t>float</a:t>
            </a:r>
            <a:r>
              <a:rPr lang="zh-CN" altLang="en-US" sz="2800" dirty="0"/>
              <a:t>”和其他形式的“</a:t>
            </a:r>
            <a:r>
              <a:rPr lang="en-US" altLang="zh-CN" sz="2800" dirty="0"/>
              <a:t>float</a:t>
            </a:r>
            <a:r>
              <a:rPr lang="zh-CN" altLang="en-US" sz="2800" dirty="0"/>
              <a:t>”？</a:t>
            </a:r>
            <a:endParaRPr lang="en-US" altLang="zh-CN" sz="2800" dirty="0"/>
          </a:p>
          <a:p>
            <a:pPr>
              <a:lnSpc>
                <a:spcPct val="120000"/>
              </a:lnSpc>
            </a:pPr>
            <a:endParaRPr lang="en-US" altLang="zh-CN" sz="2800" dirty="0"/>
          </a:p>
          <a:p>
            <a:pPr>
              <a:lnSpc>
                <a:spcPct val="120000"/>
              </a:lnSpc>
            </a:pPr>
            <a:endParaRPr lang="en-US" altLang="zh-CN" sz="2800" dirty="0"/>
          </a:p>
          <a:p>
            <a:pPr>
              <a:lnSpc>
                <a:spcPct val="120000"/>
              </a:lnSpc>
            </a:pPr>
            <a:endParaRPr lang="en-US" altLang="zh-CN" sz="2800" dirty="0"/>
          </a:p>
          <a:p>
            <a:pPr>
              <a:lnSpc>
                <a:spcPct val="120000"/>
              </a:lnSpc>
            </a:pPr>
            <a:endParaRPr lang="en-US" altLang="zh-CN" sz="2800" dirty="0"/>
          </a:p>
          <a:p>
            <a:pPr>
              <a:lnSpc>
                <a:spcPct val="120000"/>
              </a:lnSpc>
            </a:pPr>
            <a:endParaRPr lang="en-US" altLang="zh-CN" sz="2800" dirty="0"/>
          </a:p>
          <a:p>
            <a:pPr>
              <a:lnSpc>
                <a:spcPct val="120000"/>
              </a:lnSpc>
            </a:pPr>
            <a:r>
              <a:rPr lang="zh-CN" altLang="en-US" sz="2800" dirty="0"/>
              <a:t>词法分析器可以帮助你解决这个问题！</a:t>
            </a:r>
            <a:endParaRPr lang="en-US" altLang="zh-CN" sz="2800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A7EDCAA-E5B8-04F7-2EBB-B9937F42E4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5E3CE-8F87-41A7-80F7-13ADD849A958}" type="datetime2">
              <a:rPr lang="zh-CN" altLang="en-US" smtClean="0"/>
              <a:t>2026年3月11日</a:t>
            </a:fld>
            <a:endParaRPr lang="zh-CN" altLang="en-US" dirty="0"/>
          </a:p>
        </p:txBody>
      </p:sp>
      <p:sp>
        <p:nvSpPr>
          <p:cNvPr id="7" name="页脚占位符 6">
            <a:extLst>
              <a:ext uri="{FF2B5EF4-FFF2-40B4-BE49-F238E27FC236}">
                <a16:creationId xmlns:a16="http://schemas.microsoft.com/office/drawing/2014/main" id="{EE241777-676C-448C-DAA7-773599E085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</a:t>
            </a:r>
            <a:r>
              <a:rPr lang="en-US" altLang="zh-CN"/>
              <a:t>2</a:t>
            </a:r>
            <a:r>
              <a:rPr lang="zh-CN" altLang="en-US"/>
              <a:t>章 词法分析</a:t>
            </a:r>
            <a:r>
              <a:rPr lang="en-US" altLang="zh-CN"/>
              <a:t>(1)</a:t>
            </a:r>
            <a:endParaRPr lang="zh-CN" altLang="en-US" dirty="0"/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42D8DB7E-783F-A916-87CA-ECDA1B197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5</a:t>
            </a:fld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375E66E-DD12-AAD5-16D4-C11627A307E8}"/>
              </a:ext>
            </a:extLst>
          </p:cNvPr>
          <p:cNvSpPr txBox="1"/>
          <p:nvPr/>
        </p:nvSpPr>
        <p:spPr>
          <a:xfrm>
            <a:off x="477748" y="2355217"/>
            <a:ext cx="8037602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/* 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除了第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行第一个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和第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行第二个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外，所有其他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都不应该被识别成关键字 *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</a:t>
            </a:r>
            <a:endParaRPr lang="zh-CN" alt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zh-C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(){</a:t>
            </a:r>
          </a:p>
          <a:p>
            <a:r>
              <a:rPr lang="en-US" altLang="zh-C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lang="en-US" altLang="zh-C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float1</a:t>
            </a:r>
            <a:r>
              <a:rPr lang="en-US" altLang="zh-CN" dirty="0">
                <a:solidFill>
                  <a:srgbClr val="001080"/>
                </a:solidFill>
                <a:latin typeface="Consolas" panose="020B0609020204030204" pitchFamily="49" charset="0"/>
              </a:rPr>
              <a:t>;</a:t>
            </a:r>
            <a:endParaRPr lang="en-US" altLang="zh-C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a1floata1 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zh-C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altLang="zh-C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abcfloat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 float "</a:t>
            </a:r>
            <a:r>
              <a:rPr lang="en-US" altLang="zh-C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zh-C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float1</a:t>
            </a:r>
            <a:r>
              <a:rPr lang="en-US" altLang="zh-C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zh-C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lang="en-US" altLang="zh-C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)a1float1;</a:t>
            </a:r>
          </a:p>
          <a:p>
            <a:r>
              <a:rPr lang="en-US" altLang="zh-C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zh-C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a1floata1;</a:t>
            </a:r>
          </a:p>
          <a:p>
            <a:r>
              <a:rPr lang="en-US" altLang="zh-C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rewrite float to double</a:t>
            </a:r>
            <a:endParaRPr lang="en-US" altLang="zh-C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/* rewrite float to double </a:t>
            </a:r>
            <a:endParaRPr lang="en-US" altLang="zh-C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*/</a:t>
            </a:r>
            <a:r>
              <a:rPr lang="en-US" altLang="zh-C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en-US" altLang="zh-C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6729541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>
            <a:extLst>
              <a:ext uri="{FF2B5EF4-FFF2-40B4-BE49-F238E27FC236}">
                <a16:creationId xmlns:a16="http://schemas.microsoft.com/office/drawing/2014/main" id="{86EB9678-ACA1-47A5-8439-F79A524BBB7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zh-CN" altLang="en-US" dirty="0"/>
              <a:t>本次课内容</a:t>
            </a:r>
          </a:p>
        </p:txBody>
      </p:sp>
      <p:sp>
        <p:nvSpPr>
          <p:cNvPr id="70659" name="Rectangle 3">
            <a:extLst>
              <a:ext uri="{FF2B5EF4-FFF2-40B4-BE49-F238E27FC236}">
                <a16:creationId xmlns:a16="http://schemas.microsoft.com/office/drawing/2014/main" id="{4F177DE1-4F76-4CDF-8BE8-6176F03FAE9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dirty="0"/>
              <a:t>学习词法分析器的功能、理解各类术语概念、了解词法错误及修复策略、掌握串和语言的运算、重点掌握正规式</a:t>
            </a:r>
            <a:r>
              <a:rPr lang="en-US" altLang="zh-CN" sz="2400" dirty="0"/>
              <a:t>/</a:t>
            </a:r>
            <a:r>
              <a:rPr lang="zh-CN" altLang="en-US" sz="2400" dirty="0"/>
              <a:t>正规定义及状态转换图知识</a:t>
            </a:r>
          </a:p>
          <a:p>
            <a:pPr eaLnBrk="1" hangingPunct="1">
              <a:lnSpc>
                <a:spcPct val="120000"/>
              </a:lnSpc>
            </a:pPr>
            <a:endParaRPr lang="en-US" altLang="zh-CN" sz="2400" dirty="0"/>
          </a:p>
          <a:p>
            <a:pPr eaLnBrk="1" hangingPunct="1">
              <a:lnSpc>
                <a:spcPct val="120000"/>
              </a:lnSpc>
            </a:pPr>
            <a:r>
              <a:rPr lang="en-US" altLang="zh-CN" sz="2400" dirty="0"/>
              <a:t>2.1 </a:t>
            </a:r>
            <a:r>
              <a:rPr lang="zh-CN" altLang="en-US" sz="2400" dirty="0"/>
              <a:t>词法记号和属性</a:t>
            </a:r>
            <a:endParaRPr lang="en-US" altLang="zh-CN" sz="2400" dirty="0"/>
          </a:p>
          <a:p>
            <a:pPr eaLnBrk="1" hangingPunct="1">
              <a:lnSpc>
                <a:spcPct val="120000"/>
              </a:lnSpc>
            </a:pPr>
            <a:r>
              <a:rPr lang="en-US" altLang="zh-CN" sz="2400" dirty="0"/>
              <a:t>2.2 </a:t>
            </a:r>
            <a:r>
              <a:rPr lang="zh-CN" altLang="en-US" sz="2400" dirty="0"/>
              <a:t>串和语言</a:t>
            </a:r>
            <a:endParaRPr lang="en-US" altLang="zh-CN" sz="2400" dirty="0"/>
          </a:p>
          <a:p>
            <a:pPr eaLnBrk="1" hangingPunct="1">
              <a:lnSpc>
                <a:spcPct val="120000"/>
              </a:lnSpc>
            </a:pPr>
            <a:r>
              <a:rPr lang="en-US" altLang="zh-CN" sz="2400" dirty="0"/>
              <a:t>2.3 </a:t>
            </a:r>
            <a:r>
              <a:rPr lang="zh-CN" altLang="en-US" sz="2400" dirty="0"/>
              <a:t>正规式和正规定义</a:t>
            </a:r>
            <a:endParaRPr lang="en-US" altLang="zh-CN" sz="2400" dirty="0"/>
          </a:p>
          <a:p>
            <a:pPr eaLnBrk="1" hangingPunct="1">
              <a:lnSpc>
                <a:spcPct val="120000"/>
              </a:lnSpc>
            </a:pPr>
            <a:r>
              <a:rPr lang="en-US" altLang="zh-CN" sz="2400" dirty="0"/>
              <a:t>2.4 </a:t>
            </a:r>
            <a:r>
              <a:rPr lang="zh-CN" altLang="en-US" sz="2400" dirty="0"/>
              <a:t>状态转换图</a:t>
            </a:r>
            <a:endParaRPr lang="en-US" altLang="zh-CN" sz="2400" dirty="0"/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0C6B65D-0896-7D1F-7AD3-503686D92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DC954-B916-4005-8744-2B5D81B73D5E}" type="datetime2">
              <a:rPr lang="zh-CN" altLang="en-US" smtClean="0"/>
              <a:t>2026年3月11日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F72E4BD-59B6-27C3-03CC-F377E31D5D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</a:t>
            </a:r>
            <a:r>
              <a:rPr lang="en-US" altLang="zh-CN"/>
              <a:t>2</a:t>
            </a:r>
            <a:r>
              <a:rPr lang="zh-CN" altLang="en-US"/>
              <a:t>章 词法分析</a:t>
            </a:r>
            <a:r>
              <a:rPr lang="en-US" altLang="zh-CN"/>
              <a:t>(1)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09018F2-4D30-7108-3D15-C8A94922C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56985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AB28B2E8-4D6F-4BB0-BB8B-A5B37C137D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第二章 词法分析</a:t>
            </a: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B0F71D8-1836-4516-BA42-BD9479AE4B28}"/>
              </a:ext>
            </a:extLst>
          </p:cNvPr>
          <p:cNvGrpSpPr/>
          <p:nvPr/>
        </p:nvGrpSpPr>
        <p:grpSpPr>
          <a:xfrm>
            <a:off x="4840975" y="203679"/>
            <a:ext cx="4174831" cy="6491484"/>
            <a:chOff x="7077015" y="158354"/>
            <a:chExt cx="4174831" cy="6491484"/>
          </a:xfrm>
        </p:grpSpPr>
        <p:grpSp>
          <p:nvGrpSpPr>
            <p:cNvPr id="41" name="组合 40">
              <a:extLst>
                <a:ext uri="{FF2B5EF4-FFF2-40B4-BE49-F238E27FC236}">
                  <a16:creationId xmlns:a16="http://schemas.microsoft.com/office/drawing/2014/main" id="{127CA810-E9ED-4D66-8DF8-4AF78D4713F5}"/>
                </a:ext>
              </a:extLst>
            </p:cNvPr>
            <p:cNvGrpSpPr/>
            <p:nvPr/>
          </p:nvGrpSpPr>
          <p:grpSpPr>
            <a:xfrm>
              <a:off x="7313588" y="158354"/>
              <a:ext cx="2493440" cy="6491484"/>
              <a:chOff x="5883141" y="158354"/>
              <a:chExt cx="2493440" cy="6491484"/>
            </a:xfrm>
          </p:grpSpPr>
          <p:sp>
            <p:nvSpPr>
              <p:cNvPr id="46" name="文本框 45">
                <a:extLst>
                  <a:ext uri="{FF2B5EF4-FFF2-40B4-BE49-F238E27FC236}">
                    <a16:creationId xmlns:a16="http://schemas.microsoft.com/office/drawing/2014/main" id="{D1A945CB-2156-4849-B6D7-764C442F9A4E}"/>
                  </a:ext>
                </a:extLst>
              </p:cNvPr>
              <p:cNvSpPr txBox="1"/>
              <p:nvPr/>
            </p:nvSpPr>
            <p:spPr>
              <a:xfrm>
                <a:off x="6729754" y="158354"/>
                <a:ext cx="800219" cy="246221"/>
              </a:xfrm>
              <a:prstGeom prst="rect">
                <a:avLst/>
              </a:prstGeom>
              <a:noFill/>
            </p:spPr>
            <p:txBody>
              <a:bodyPr wrap="none" tIns="0" bIns="0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</a:rPr>
                  <a:t>字符流</a:t>
                </a:r>
              </a:p>
            </p:txBody>
          </p:sp>
          <p:sp>
            <p:nvSpPr>
              <p:cNvPr id="47" name="矩形 46">
                <a:extLst>
                  <a:ext uri="{FF2B5EF4-FFF2-40B4-BE49-F238E27FC236}">
                    <a16:creationId xmlns:a16="http://schemas.microsoft.com/office/drawing/2014/main" id="{3BF2BE00-02E4-4D82-903E-D15431745C81}"/>
                  </a:ext>
                </a:extLst>
              </p:cNvPr>
              <p:cNvSpPr/>
              <p:nvPr/>
            </p:nvSpPr>
            <p:spPr>
              <a:xfrm>
                <a:off x="5883144" y="536417"/>
                <a:ext cx="2493437" cy="338554"/>
              </a:xfrm>
              <a:prstGeom prst="rect">
                <a:avLst/>
              </a:prstGeom>
              <a:solidFill>
                <a:sysClr val="window" lastClr="FFFFFF"/>
              </a:solidFill>
              <a:ln w="12700" cap="flat" cmpd="sng" algn="ctr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黑体" panose="02010609060101010101" pitchFamily="49" charset="-122"/>
                    <a:cs typeface="+mn-cs"/>
                  </a:rPr>
                  <a:t>词法分析器</a:t>
                </a:r>
              </a:p>
            </p:txBody>
          </p:sp>
          <p:cxnSp>
            <p:nvCxnSpPr>
              <p:cNvPr id="48" name="直接箭头连接符 47">
                <a:extLst>
                  <a:ext uri="{FF2B5EF4-FFF2-40B4-BE49-F238E27FC236}">
                    <a16:creationId xmlns:a16="http://schemas.microsoft.com/office/drawing/2014/main" id="{F76BA5C2-B190-4182-926C-948CDDD22BD1}"/>
                  </a:ext>
                </a:extLst>
              </p:cNvPr>
              <p:cNvCxnSpPr>
                <a:cxnSpLocks/>
                <a:stCxn id="46" idx="2"/>
                <a:endCxn id="47" idx="0"/>
              </p:cNvCxnSpPr>
              <p:nvPr/>
            </p:nvCxnSpPr>
            <p:spPr>
              <a:xfrm flipH="1">
                <a:off x="7129863" y="404575"/>
                <a:ext cx="1" cy="131842"/>
              </a:xfrm>
              <a:prstGeom prst="straightConnector1">
                <a:avLst/>
              </a:prstGeom>
              <a:noFill/>
              <a:ln w="28575" cap="flat" cmpd="sng" algn="ctr">
                <a:solidFill>
                  <a:srgbClr val="000000"/>
                </a:solidFill>
                <a:prstDash val="solid"/>
                <a:miter lim="800000"/>
                <a:tailEnd type="triangle"/>
              </a:ln>
              <a:effectLst/>
            </p:spPr>
          </p:cxnSp>
          <p:sp>
            <p:nvSpPr>
              <p:cNvPr id="49" name="文本框 48">
                <a:extLst>
                  <a:ext uri="{FF2B5EF4-FFF2-40B4-BE49-F238E27FC236}">
                    <a16:creationId xmlns:a16="http://schemas.microsoft.com/office/drawing/2014/main" id="{4B9D0C05-7B69-4978-9711-F048B99C5F4E}"/>
                  </a:ext>
                </a:extLst>
              </p:cNvPr>
              <p:cNvSpPr txBox="1"/>
              <p:nvPr/>
            </p:nvSpPr>
            <p:spPr>
              <a:xfrm>
                <a:off x="6729754" y="1026417"/>
                <a:ext cx="800219" cy="246221"/>
              </a:xfrm>
              <a:prstGeom prst="rect">
                <a:avLst/>
              </a:prstGeom>
              <a:noFill/>
            </p:spPr>
            <p:txBody>
              <a:bodyPr wrap="none" tIns="0" bIns="0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</a:rPr>
                  <a:t>记号流</a:t>
                </a:r>
              </a:p>
            </p:txBody>
          </p:sp>
          <p:cxnSp>
            <p:nvCxnSpPr>
              <p:cNvPr id="50" name="直接箭头连接符 49">
                <a:extLst>
                  <a:ext uri="{FF2B5EF4-FFF2-40B4-BE49-F238E27FC236}">
                    <a16:creationId xmlns:a16="http://schemas.microsoft.com/office/drawing/2014/main" id="{B17868D3-3A3D-4019-B730-6380289D993E}"/>
                  </a:ext>
                </a:extLst>
              </p:cNvPr>
              <p:cNvCxnSpPr>
                <a:cxnSpLocks/>
                <a:stCxn id="47" idx="2"/>
                <a:endCxn id="49" idx="0"/>
              </p:cNvCxnSpPr>
              <p:nvPr/>
            </p:nvCxnSpPr>
            <p:spPr>
              <a:xfrm>
                <a:off x="7129863" y="874971"/>
                <a:ext cx="1" cy="151446"/>
              </a:xfrm>
              <a:prstGeom prst="straightConnector1">
                <a:avLst/>
              </a:prstGeom>
              <a:noFill/>
              <a:ln w="28575" cap="flat" cmpd="sng" algn="ctr">
                <a:solidFill>
                  <a:srgbClr val="000000"/>
                </a:solidFill>
                <a:prstDash val="solid"/>
                <a:miter lim="800000"/>
                <a:tailEnd type="triangle"/>
              </a:ln>
              <a:effectLst/>
            </p:spPr>
          </p:cxnSp>
          <p:sp>
            <p:nvSpPr>
              <p:cNvPr id="51" name="矩形 50">
                <a:extLst>
                  <a:ext uri="{FF2B5EF4-FFF2-40B4-BE49-F238E27FC236}">
                    <a16:creationId xmlns:a16="http://schemas.microsoft.com/office/drawing/2014/main" id="{79924F41-2BF7-4690-B61F-43302E9FA878}"/>
                  </a:ext>
                </a:extLst>
              </p:cNvPr>
              <p:cNvSpPr/>
              <p:nvPr/>
            </p:nvSpPr>
            <p:spPr>
              <a:xfrm>
                <a:off x="5883144" y="1419015"/>
                <a:ext cx="2493437" cy="338554"/>
              </a:xfrm>
              <a:prstGeom prst="rect">
                <a:avLst/>
              </a:prstGeom>
              <a:solidFill>
                <a:sysClr val="window" lastClr="FFFFFF"/>
              </a:solidFill>
              <a:ln w="12700" cap="flat" cmpd="sng" algn="ctr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黑体" panose="02010609060101010101" pitchFamily="49" charset="-122"/>
                    <a:cs typeface="+mn-cs"/>
                  </a:rPr>
                  <a:t>语法分析器</a:t>
                </a:r>
              </a:p>
            </p:txBody>
          </p:sp>
          <p:cxnSp>
            <p:nvCxnSpPr>
              <p:cNvPr id="52" name="直接箭头连接符 51">
                <a:extLst>
                  <a:ext uri="{FF2B5EF4-FFF2-40B4-BE49-F238E27FC236}">
                    <a16:creationId xmlns:a16="http://schemas.microsoft.com/office/drawing/2014/main" id="{5E14ACB9-5F02-4574-B4C2-745E000A9BAC}"/>
                  </a:ext>
                </a:extLst>
              </p:cNvPr>
              <p:cNvCxnSpPr>
                <a:cxnSpLocks/>
                <a:stCxn id="49" idx="2"/>
                <a:endCxn id="51" idx="0"/>
              </p:cNvCxnSpPr>
              <p:nvPr/>
            </p:nvCxnSpPr>
            <p:spPr>
              <a:xfrm flipH="1">
                <a:off x="7129863" y="1272638"/>
                <a:ext cx="1" cy="146377"/>
              </a:xfrm>
              <a:prstGeom prst="straightConnector1">
                <a:avLst/>
              </a:prstGeom>
              <a:noFill/>
              <a:ln w="28575" cap="flat" cmpd="sng" algn="ctr">
                <a:solidFill>
                  <a:srgbClr val="000000"/>
                </a:solidFill>
                <a:prstDash val="solid"/>
                <a:miter lim="800000"/>
                <a:tailEnd type="triangle"/>
              </a:ln>
              <a:effectLst/>
            </p:spPr>
          </p:cxnSp>
          <p:sp>
            <p:nvSpPr>
              <p:cNvPr id="53" name="文本框 52">
                <a:extLst>
                  <a:ext uri="{FF2B5EF4-FFF2-40B4-BE49-F238E27FC236}">
                    <a16:creationId xmlns:a16="http://schemas.microsoft.com/office/drawing/2014/main" id="{C0EF25E1-CD1B-497A-8F77-4784DDF41F3A}"/>
                  </a:ext>
                </a:extLst>
              </p:cNvPr>
              <p:cNvSpPr txBox="1"/>
              <p:nvPr/>
            </p:nvSpPr>
            <p:spPr>
              <a:xfrm>
                <a:off x="6729753" y="1920670"/>
                <a:ext cx="800219" cy="246221"/>
              </a:xfrm>
              <a:prstGeom prst="rect">
                <a:avLst/>
              </a:prstGeom>
              <a:noFill/>
            </p:spPr>
            <p:txBody>
              <a:bodyPr wrap="none" tIns="0" bIns="0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</a:rPr>
                  <a:t>语法树</a:t>
                </a:r>
              </a:p>
            </p:txBody>
          </p:sp>
          <p:cxnSp>
            <p:nvCxnSpPr>
              <p:cNvPr id="54" name="直接箭头连接符 53">
                <a:extLst>
                  <a:ext uri="{FF2B5EF4-FFF2-40B4-BE49-F238E27FC236}">
                    <a16:creationId xmlns:a16="http://schemas.microsoft.com/office/drawing/2014/main" id="{DA664B18-D66B-4193-9365-3F667273E386}"/>
                  </a:ext>
                </a:extLst>
              </p:cNvPr>
              <p:cNvCxnSpPr>
                <a:cxnSpLocks/>
                <a:stCxn id="51" idx="2"/>
                <a:endCxn id="53" idx="0"/>
              </p:cNvCxnSpPr>
              <p:nvPr/>
            </p:nvCxnSpPr>
            <p:spPr>
              <a:xfrm>
                <a:off x="7129863" y="1757569"/>
                <a:ext cx="0" cy="163101"/>
              </a:xfrm>
              <a:prstGeom prst="straightConnector1">
                <a:avLst/>
              </a:prstGeom>
              <a:noFill/>
              <a:ln w="28575" cap="flat" cmpd="sng" algn="ctr">
                <a:solidFill>
                  <a:srgbClr val="000000"/>
                </a:solidFill>
                <a:prstDash val="solid"/>
                <a:miter lim="800000"/>
                <a:tailEnd type="triangle"/>
              </a:ln>
              <a:effectLst/>
            </p:spPr>
          </p:cxnSp>
          <p:sp>
            <p:nvSpPr>
              <p:cNvPr id="55" name="矩形 54">
                <a:extLst>
                  <a:ext uri="{FF2B5EF4-FFF2-40B4-BE49-F238E27FC236}">
                    <a16:creationId xmlns:a16="http://schemas.microsoft.com/office/drawing/2014/main" id="{AB8D345B-36C5-4E5A-BE58-78D9B67EDDAB}"/>
                  </a:ext>
                </a:extLst>
              </p:cNvPr>
              <p:cNvSpPr/>
              <p:nvPr/>
            </p:nvSpPr>
            <p:spPr>
              <a:xfrm>
                <a:off x="5883143" y="2322740"/>
                <a:ext cx="2493437" cy="338554"/>
              </a:xfrm>
              <a:prstGeom prst="rect">
                <a:avLst/>
              </a:prstGeom>
              <a:solidFill>
                <a:sysClr val="window" lastClr="FFFFFF"/>
              </a:solidFill>
              <a:ln w="12700" cap="flat" cmpd="sng" algn="ctr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黑体" panose="02010609060101010101" pitchFamily="49" charset="-122"/>
                    <a:cs typeface="+mn-cs"/>
                  </a:rPr>
                  <a:t>语义分析器</a:t>
                </a:r>
              </a:p>
            </p:txBody>
          </p:sp>
          <p:cxnSp>
            <p:nvCxnSpPr>
              <p:cNvPr id="56" name="直接箭头连接符 55">
                <a:extLst>
                  <a:ext uri="{FF2B5EF4-FFF2-40B4-BE49-F238E27FC236}">
                    <a16:creationId xmlns:a16="http://schemas.microsoft.com/office/drawing/2014/main" id="{80DCEE51-29D9-4571-8F98-A2C8DF3BE469}"/>
                  </a:ext>
                </a:extLst>
              </p:cNvPr>
              <p:cNvCxnSpPr>
                <a:cxnSpLocks/>
                <a:stCxn id="53" idx="2"/>
                <a:endCxn id="55" idx="0"/>
              </p:cNvCxnSpPr>
              <p:nvPr/>
            </p:nvCxnSpPr>
            <p:spPr>
              <a:xfrm flipH="1">
                <a:off x="7129862" y="2166891"/>
                <a:ext cx="1" cy="155849"/>
              </a:xfrm>
              <a:prstGeom prst="straightConnector1">
                <a:avLst/>
              </a:prstGeom>
              <a:noFill/>
              <a:ln w="28575" cap="flat" cmpd="sng" algn="ctr">
                <a:solidFill>
                  <a:srgbClr val="000000"/>
                </a:solidFill>
                <a:prstDash val="solid"/>
                <a:miter lim="800000"/>
                <a:tailEnd type="triangle"/>
              </a:ln>
              <a:effectLst/>
            </p:spPr>
          </p:cxnSp>
          <p:sp>
            <p:nvSpPr>
              <p:cNvPr id="57" name="文本框 56">
                <a:extLst>
                  <a:ext uri="{FF2B5EF4-FFF2-40B4-BE49-F238E27FC236}">
                    <a16:creationId xmlns:a16="http://schemas.microsoft.com/office/drawing/2014/main" id="{9D724770-8611-41FB-AC89-D6530708A134}"/>
                  </a:ext>
                </a:extLst>
              </p:cNvPr>
              <p:cNvSpPr txBox="1"/>
              <p:nvPr/>
            </p:nvSpPr>
            <p:spPr>
              <a:xfrm>
                <a:off x="6729754" y="2809642"/>
                <a:ext cx="800219" cy="246221"/>
              </a:xfrm>
              <a:prstGeom prst="rect">
                <a:avLst/>
              </a:prstGeom>
              <a:noFill/>
            </p:spPr>
            <p:txBody>
              <a:bodyPr wrap="square" tIns="0" bIns="0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</a:rPr>
                  <a:t>语法树</a:t>
                </a:r>
              </a:p>
            </p:txBody>
          </p:sp>
          <p:cxnSp>
            <p:nvCxnSpPr>
              <p:cNvPr id="58" name="直接箭头连接符 57">
                <a:extLst>
                  <a:ext uri="{FF2B5EF4-FFF2-40B4-BE49-F238E27FC236}">
                    <a16:creationId xmlns:a16="http://schemas.microsoft.com/office/drawing/2014/main" id="{9BF3D74F-BDB8-46DC-9A12-65B848B6C392}"/>
                  </a:ext>
                </a:extLst>
              </p:cNvPr>
              <p:cNvCxnSpPr>
                <a:cxnSpLocks/>
                <a:stCxn id="55" idx="2"/>
                <a:endCxn id="57" idx="0"/>
              </p:cNvCxnSpPr>
              <p:nvPr/>
            </p:nvCxnSpPr>
            <p:spPr>
              <a:xfrm>
                <a:off x="7129862" y="2661294"/>
                <a:ext cx="2" cy="148348"/>
              </a:xfrm>
              <a:prstGeom prst="straightConnector1">
                <a:avLst/>
              </a:prstGeom>
              <a:noFill/>
              <a:ln w="28575" cap="flat" cmpd="sng" algn="ctr">
                <a:solidFill>
                  <a:srgbClr val="000000"/>
                </a:solidFill>
                <a:prstDash val="solid"/>
                <a:miter lim="800000"/>
                <a:tailEnd type="triangle"/>
              </a:ln>
              <a:effectLst/>
            </p:spPr>
          </p:cxnSp>
          <p:sp>
            <p:nvSpPr>
              <p:cNvPr id="59" name="矩形 58">
                <a:extLst>
                  <a:ext uri="{FF2B5EF4-FFF2-40B4-BE49-F238E27FC236}">
                    <a16:creationId xmlns:a16="http://schemas.microsoft.com/office/drawing/2014/main" id="{2AC2D988-8EE0-438A-B1D8-16A27635AAAB}"/>
                  </a:ext>
                </a:extLst>
              </p:cNvPr>
              <p:cNvSpPr/>
              <p:nvPr/>
            </p:nvSpPr>
            <p:spPr>
              <a:xfrm>
                <a:off x="5883143" y="3226463"/>
                <a:ext cx="2493437" cy="338554"/>
              </a:xfrm>
              <a:prstGeom prst="rect">
                <a:avLst/>
              </a:prstGeom>
              <a:solidFill>
                <a:sysClr val="window" lastClr="FFFFFF"/>
              </a:solidFill>
              <a:ln w="12700" cap="flat" cmpd="sng" algn="ctr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黑体" panose="02010609060101010101" pitchFamily="49" charset="-122"/>
                    <a:cs typeface="+mn-cs"/>
                  </a:rPr>
                  <a:t>中间代码生成器</a:t>
                </a:r>
              </a:p>
            </p:txBody>
          </p:sp>
          <p:cxnSp>
            <p:nvCxnSpPr>
              <p:cNvPr id="60" name="直接箭头连接符 59">
                <a:extLst>
                  <a:ext uri="{FF2B5EF4-FFF2-40B4-BE49-F238E27FC236}">
                    <a16:creationId xmlns:a16="http://schemas.microsoft.com/office/drawing/2014/main" id="{1846DD9F-0B56-428F-884A-F75EBA57E4F6}"/>
                  </a:ext>
                </a:extLst>
              </p:cNvPr>
              <p:cNvCxnSpPr>
                <a:cxnSpLocks/>
                <a:stCxn id="57" idx="2"/>
                <a:endCxn id="59" idx="0"/>
              </p:cNvCxnSpPr>
              <p:nvPr/>
            </p:nvCxnSpPr>
            <p:spPr>
              <a:xfrm flipH="1">
                <a:off x="7129862" y="3055863"/>
                <a:ext cx="2" cy="170600"/>
              </a:xfrm>
              <a:prstGeom prst="straightConnector1">
                <a:avLst/>
              </a:prstGeom>
              <a:noFill/>
              <a:ln w="28575" cap="flat" cmpd="sng" algn="ctr">
                <a:solidFill>
                  <a:srgbClr val="000000"/>
                </a:solidFill>
                <a:prstDash val="solid"/>
                <a:miter lim="800000"/>
                <a:tailEnd type="triangle"/>
              </a:ln>
              <a:effectLst/>
            </p:spPr>
          </p:cxnSp>
          <p:sp>
            <p:nvSpPr>
              <p:cNvPr id="61" name="文本框 60">
                <a:extLst>
                  <a:ext uri="{FF2B5EF4-FFF2-40B4-BE49-F238E27FC236}">
                    <a16:creationId xmlns:a16="http://schemas.microsoft.com/office/drawing/2014/main" id="{D7C141B7-B12D-4A68-80BD-ACB53F9D5E2D}"/>
                  </a:ext>
                </a:extLst>
              </p:cNvPr>
              <p:cNvSpPr txBox="1"/>
              <p:nvPr/>
            </p:nvSpPr>
            <p:spPr>
              <a:xfrm>
                <a:off x="6619856" y="3713365"/>
                <a:ext cx="1020009" cy="246221"/>
              </a:xfrm>
              <a:prstGeom prst="rect">
                <a:avLst/>
              </a:prstGeom>
              <a:noFill/>
            </p:spPr>
            <p:txBody>
              <a:bodyPr wrap="square" tIns="0" bIns="0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</a:rPr>
                  <a:t>中间表示</a:t>
                </a:r>
              </a:p>
            </p:txBody>
          </p:sp>
          <p:cxnSp>
            <p:nvCxnSpPr>
              <p:cNvPr id="62" name="直接箭头连接符 61">
                <a:extLst>
                  <a:ext uri="{FF2B5EF4-FFF2-40B4-BE49-F238E27FC236}">
                    <a16:creationId xmlns:a16="http://schemas.microsoft.com/office/drawing/2014/main" id="{FC4F78FE-CF87-4235-9172-4BD048FEBB20}"/>
                  </a:ext>
                </a:extLst>
              </p:cNvPr>
              <p:cNvCxnSpPr>
                <a:cxnSpLocks/>
                <a:stCxn id="59" idx="2"/>
                <a:endCxn id="61" idx="0"/>
              </p:cNvCxnSpPr>
              <p:nvPr/>
            </p:nvCxnSpPr>
            <p:spPr>
              <a:xfrm flipH="1">
                <a:off x="7129861" y="3565017"/>
                <a:ext cx="1" cy="148348"/>
              </a:xfrm>
              <a:prstGeom prst="straightConnector1">
                <a:avLst/>
              </a:prstGeom>
              <a:noFill/>
              <a:ln w="28575" cap="flat" cmpd="sng" algn="ctr">
                <a:solidFill>
                  <a:srgbClr val="000000"/>
                </a:solidFill>
                <a:prstDash val="solid"/>
                <a:miter lim="800000"/>
                <a:tailEnd type="triangle"/>
              </a:ln>
              <a:effectLst/>
            </p:spPr>
          </p:cxnSp>
          <p:sp>
            <p:nvSpPr>
              <p:cNvPr id="63" name="矩形 62">
                <a:extLst>
                  <a:ext uri="{FF2B5EF4-FFF2-40B4-BE49-F238E27FC236}">
                    <a16:creationId xmlns:a16="http://schemas.microsoft.com/office/drawing/2014/main" id="{9C37FB97-FA5A-403F-ADEB-3A632737E370}"/>
                  </a:ext>
                </a:extLst>
              </p:cNvPr>
              <p:cNvSpPr/>
              <p:nvPr/>
            </p:nvSpPr>
            <p:spPr>
              <a:xfrm>
                <a:off x="5883142" y="4103031"/>
                <a:ext cx="2493437" cy="338554"/>
              </a:xfrm>
              <a:prstGeom prst="rect">
                <a:avLst/>
              </a:prstGeom>
              <a:solidFill>
                <a:sysClr val="window" lastClr="FFFFFF"/>
              </a:solidFill>
              <a:ln w="12700" cap="flat" cmpd="sng" algn="ctr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黑体" panose="02010609060101010101" pitchFamily="49" charset="-122"/>
                    <a:cs typeface="+mn-cs"/>
                  </a:rPr>
                  <a:t>独立于机器的代码优化器</a:t>
                </a:r>
              </a:p>
            </p:txBody>
          </p:sp>
          <p:cxnSp>
            <p:nvCxnSpPr>
              <p:cNvPr id="64" name="直接箭头连接符 63">
                <a:extLst>
                  <a:ext uri="{FF2B5EF4-FFF2-40B4-BE49-F238E27FC236}">
                    <a16:creationId xmlns:a16="http://schemas.microsoft.com/office/drawing/2014/main" id="{02F0CB2D-BC82-45C7-A236-3D520F7310F4}"/>
                  </a:ext>
                </a:extLst>
              </p:cNvPr>
              <p:cNvCxnSpPr>
                <a:cxnSpLocks/>
                <a:stCxn id="61" idx="2"/>
                <a:endCxn id="63" idx="0"/>
              </p:cNvCxnSpPr>
              <p:nvPr/>
            </p:nvCxnSpPr>
            <p:spPr>
              <a:xfrm>
                <a:off x="7129861" y="3959586"/>
                <a:ext cx="0" cy="143445"/>
              </a:xfrm>
              <a:prstGeom prst="straightConnector1">
                <a:avLst/>
              </a:prstGeom>
              <a:noFill/>
              <a:ln w="28575" cap="flat" cmpd="sng" algn="ctr">
                <a:solidFill>
                  <a:srgbClr val="000000"/>
                </a:solidFill>
                <a:prstDash val="solid"/>
                <a:miter lim="800000"/>
                <a:tailEnd type="triangle"/>
              </a:ln>
              <a:effectLst/>
            </p:spPr>
          </p:cxnSp>
          <p:sp>
            <p:nvSpPr>
              <p:cNvPr id="65" name="文本框 64">
                <a:extLst>
                  <a:ext uri="{FF2B5EF4-FFF2-40B4-BE49-F238E27FC236}">
                    <a16:creationId xmlns:a16="http://schemas.microsoft.com/office/drawing/2014/main" id="{E5660DCD-9C7A-4B0D-AEF6-0722BACCC1A9}"/>
                  </a:ext>
                </a:extLst>
              </p:cNvPr>
              <p:cNvSpPr txBox="1"/>
              <p:nvPr/>
            </p:nvSpPr>
            <p:spPr>
              <a:xfrm>
                <a:off x="6628909" y="4580880"/>
                <a:ext cx="1010956" cy="246221"/>
              </a:xfrm>
              <a:prstGeom prst="rect">
                <a:avLst/>
              </a:prstGeom>
              <a:noFill/>
            </p:spPr>
            <p:txBody>
              <a:bodyPr wrap="square" tIns="0" bIns="0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</a:rPr>
                  <a:t>中间表示</a:t>
                </a:r>
              </a:p>
            </p:txBody>
          </p:sp>
          <p:cxnSp>
            <p:nvCxnSpPr>
              <p:cNvPr id="66" name="直接箭头连接符 65">
                <a:extLst>
                  <a:ext uri="{FF2B5EF4-FFF2-40B4-BE49-F238E27FC236}">
                    <a16:creationId xmlns:a16="http://schemas.microsoft.com/office/drawing/2014/main" id="{A1CAA2BC-860D-4F09-AEAD-8AA3F8955081}"/>
                  </a:ext>
                </a:extLst>
              </p:cNvPr>
              <p:cNvCxnSpPr>
                <a:cxnSpLocks/>
                <a:stCxn id="63" idx="2"/>
                <a:endCxn id="65" idx="0"/>
              </p:cNvCxnSpPr>
              <p:nvPr/>
            </p:nvCxnSpPr>
            <p:spPr>
              <a:xfrm>
                <a:off x="7129861" y="4441585"/>
                <a:ext cx="4526" cy="139295"/>
              </a:xfrm>
              <a:prstGeom prst="straightConnector1">
                <a:avLst/>
              </a:prstGeom>
              <a:noFill/>
              <a:ln w="28575" cap="flat" cmpd="sng" algn="ctr">
                <a:solidFill>
                  <a:srgbClr val="000000"/>
                </a:solidFill>
                <a:prstDash val="solid"/>
                <a:miter lim="800000"/>
                <a:tailEnd type="triangle"/>
              </a:ln>
              <a:effectLst/>
            </p:spPr>
          </p:cxnSp>
          <p:sp>
            <p:nvSpPr>
              <p:cNvPr id="67" name="矩形 66">
                <a:extLst>
                  <a:ext uri="{FF2B5EF4-FFF2-40B4-BE49-F238E27FC236}">
                    <a16:creationId xmlns:a16="http://schemas.microsoft.com/office/drawing/2014/main" id="{21ADD12E-B4D1-4329-A7E6-6D95D05B720A}"/>
                  </a:ext>
                </a:extLst>
              </p:cNvPr>
              <p:cNvSpPr/>
              <p:nvPr/>
            </p:nvSpPr>
            <p:spPr>
              <a:xfrm>
                <a:off x="5883142" y="4994497"/>
                <a:ext cx="2493437" cy="338554"/>
              </a:xfrm>
              <a:prstGeom prst="rect">
                <a:avLst/>
              </a:prstGeom>
              <a:solidFill>
                <a:sysClr val="window" lastClr="FFFFFF"/>
              </a:solidFill>
              <a:ln w="12700" cap="flat" cmpd="sng" algn="ctr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黑体" panose="02010609060101010101" pitchFamily="49" charset="-122"/>
                    <a:cs typeface="+mn-cs"/>
                  </a:rPr>
                  <a:t>代码生成器</a:t>
                </a:r>
              </a:p>
            </p:txBody>
          </p:sp>
          <p:cxnSp>
            <p:nvCxnSpPr>
              <p:cNvPr id="68" name="直接箭头连接符 67">
                <a:extLst>
                  <a:ext uri="{FF2B5EF4-FFF2-40B4-BE49-F238E27FC236}">
                    <a16:creationId xmlns:a16="http://schemas.microsoft.com/office/drawing/2014/main" id="{BD0F22B1-19FE-4171-AC3A-02B9CD57CD14}"/>
                  </a:ext>
                </a:extLst>
              </p:cNvPr>
              <p:cNvCxnSpPr>
                <a:cxnSpLocks/>
                <a:stCxn id="65" idx="2"/>
                <a:endCxn id="67" idx="0"/>
              </p:cNvCxnSpPr>
              <p:nvPr/>
            </p:nvCxnSpPr>
            <p:spPr>
              <a:xfrm flipH="1">
                <a:off x="7129861" y="4827101"/>
                <a:ext cx="4526" cy="167396"/>
              </a:xfrm>
              <a:prstGeom prst="straightConnector1">
                <a:avLst/>
              </a:prstGeom>
              <a:noFill/>
              <a:ln w="28575" cap="flat" cmpd="sng" algn="ctr">
                <a:solidFill>
                  <a:srgbClr val="000000"/>
                </a:solidFill>
                <a:prstDash val="solid"/>
                <a:miter lim="800000"/>
                <a:tailEnd type="triangle"/>
              </a:ln>
              <a:effectLst/>
            </p:spPr>
          </p:cxnSp>
          <p:sp>
            <p:nvSpPr>
              <p:cNvPr id="69" name="文本框 68">
                <a:extLst>
                  <a:ext uri="{FF2B5EF4-FFF2-40B4-BE49-F238E27FC236}">
                    <a16:creationId xmlns:a16="http://schemas.microsoft.com/office/drawing/2014/main" id="{7B6DBDFB-B9F7-46E3-8754-E6A08895664D}"/>
                  </a:ext>
                </a:extLst>
              </p:cNvPr>
              <p:cNvSpPr txBox="1"/>
              <p:nvPr/>
            </p:nvSpPr>
            <p:spPr>
              <a:xfrm>
                <a:off x="6306447" y="5481399"/>
                <a:ext cx="1646826" cy="246221"/>
              </a:xfrm>
              <a:prstGeom prst="rect">
                <a:avLst/>
              </a:prstGeom>
              <a:noFill/>
            </p:spPr>
            <p:txBody>
              <a:bodyPr wrap="square" tIns="0" bIns="0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</a:rPr>
                  <a:t>目标机器代码</a:t>
                </a:r>
              </a:p>
            </p:txBody>
          </p:sp>
          <p:cxnSp>
            <p:nvCxnSpPr>
              <p:cNvPr id="70" name="直接箭头连接符 69">
                <a:extLst>
                  <a:ext uri="{FF2B5EF4-FFF2-40B4-BE49-F238E27FC236}">
                    <a16:creationId xmlns:a16="http://schemas.microsoft.com/office/drawing/2014/main" id="{8443EC28-B7E9-4CB8-87CA-1CDDCB1A1A16}"/>
                  </a:ext>
                </a:extLst>
              </p:cNvPr>
              <p:cNvCxnSpPr>
                <a:cxnSpLocks/>
                <a:stCxn id="67" idx="2"/>
                <a:endCxn id="69" idx="0"/>
              </p:cNvCxnSpPr>
              <p:nvPr/>
            </p:nvCxnSpPr>
            <p:spPr>
              <a:xfrm flipH="1">
                <a:off x="7129860" y="5333051"/>
                <a:ext cx="1" cy="148348"/>
              </a:xfrm>
              <a:prstGeom prst="straightConnector1">
                <a:avLst/>
              </a:prstGeom>
              <a:noFill/>
              <a:ln w="28575" cap="flat" cmpd="sng" algn="ctr">
                <a:solidFill>
                  <a:srgbClr val="000000"/>
                </a:solidFill>
                <a:prstDash val="solid"/>
                <a:miter lim="800000"/>
                <a:tailEnd type="triangle"/>
              </a:ln>
              <a:effectLst/>
            </p:spPr>
          </p:cxnSp>
          <p:sp>
            <p:nvSpPr>
              <p:cNvPr id="71" name="矩形 70">
                <a:extLst>
                  <a:ext uri="{FF2B5EF4-FFF2-40B4-BE49-F238E27FC236}">
                    <a16:creationId xmlns:a16="http://schemas.microsoft.com/office/drawing/2014/main" id="{06CCE8C2-F49E-4FB8-8564-5AC72B3C612D}"/>
                  </a:ext>
                </a:extLst>
              </p:cNvPr>
              <p:cNvSpPr/>
              <p:nvPr/>
            </p:nvSpPr>
            <p:spPr>
              <a:xfrm>
                <a:off x="5883141" y="5889556"/>
                <a:ext cx="2493437" cy="338554"/>
              </a:xfrm>
              <a:prstGeom prst="rect">
                <a:avLst/>
              </a:prstGeom>
              <a:solidFill>
                <a:sysClr val="window" lastClr="FFFFFF"/>
              </a:solidFill>
              <a:ln w="12700" cap="flat" cmpd="sng" algn="ctr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黑体" panose="02010609060101010101" pitchFamily="49" charset="-122"/>
                    <a:cs typeface="+mn-cs"/>
                  </a:rPr>
                  <a:t>依赖于机器的代码优化器</a:t>
                </a:r>
              </a:p>
            </p:txBody>
          </p:sp>
          <p:cxnSp>
            <p:nvCxnSpPr>
              <p:cNvPr id="72" name="直接箭头连接符 71">
                <a:extLst>
                  <a:ext uri="{FF2B5EF4-FFF2-40B4-BE49-F238E27FC236}">
                    <a16:creationId xmlns:a16="http://schemas.microsoft.com/office/drawing/2014/main" id="{8763EAB4-6955-49AC-A43F-AB62F4EEBB6D}"/>
                  </a:ext>
                </a:extLst>
              </p:cNvPr>
              <p:cNvCxnSpPr>
                <a:cxnSpLocks/>
                <a:stCxn id="69" idx="2"/>
                <a:endCxn id="71" idx="0"/>
              </p:cNvCxnSpPr>
              <p:nvPr/>
            </p:nvCxnSpPr>
            <p:spPr>
              <a:xfrm>
                <a:off x="7129860" y="5727620"/>
                <a:ext cx="0" cy="161936"/>
              </a:xfrm>
              <a:prstGeom prst="straightConnector1">
                <a:avLst/>
              </a:prstGeom>
              <a:noFill/>
              <a:ln w="28575" cap="flat" cmpd="sng" algn="ctr">
                <a:solidFill>
                  <a:srgbClr val="000000"/>
                </a:solidFill>
                <a:prstDash val="solid"/>
                <a:miter lim="800000"/>
                <a:tailEnd type="triangle"/>
              </a:ln>
              <a:effectLst/>
            </p:spPr>
          </p:cxnSp>
          <p:sp>
            <p:nvSpPr>
              <p:cNvPr id="73" name="文本框 72">
                <a:extLst>
                  <a:ext uri="{FF2B5EF4-FFF2-40B4-BE49-F238E27FC236}">
                    <a16:creationId xmlns:a16="http://schemas.microsoft.com/office/drawing/2014/main" id="{4E379895-9926-4F44-AEC8-B8CCBCE39AE9}"/>
                  </a:ext>
                </a:extLst>
              </p:cNvPr>
              <p:cNvSpPr txBox="1"/>
              <p:nvPr/>
            </p:nvSpPr>
            <p:spPr>
              <a:xfrm>
                <a:off x="6384463" y="6403617"/>
                <a:ext cx="1490791" cy="246221"/>
              </a:xfrm>
              <a:prstGeom prst="rect">
                <a:avLst/>
              </a:prstGeom>
              <a:noFill/>
            </p:spPr>
            <p:txBody>
              <a:bodyPr wrap="square" tIns="0" bIns="0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</a:rPr>
                  <a:t>目标机器代码</a:t>
                </a:r>
              </a:p>
            </p:txBody>
          </p:sp>
          <p:cxnSp>
            <p:nvCxnSpPr>
              <p:cNvPr id="74" name="直接箭头连接符 73">
                <a:extLst>
                  <a:ext uri="{FF2B5EF4-FFF2-40B4-BE49-F238E27FC236}">
                    <a16:creationId xmlns:a16="http://schemas.microsoft.com/office/drawing/2014/main" id="{B00E256D-4E58-40DF-AA1C-349723A4E8DF}"/>
                  </a:ext>
                </a:extLst>
              </p:cNvPr>
              <p:cNvCxnSpPr>
                <a:cxnSpLocks/>
                <a:stCxn id="71" idx="2"/>
                <a:endCxn id="73" idx="0"/>
              </p:cNvCxnSpPr>
              <p:nvPr/>
            </p:nvCxnSpPr>
            <p:spPr>
              <a:xfrm flipH="1">
                <a:off x="7129859" y="6228110"/>
                <a:ext cx="1" cy="175507"/>
              </a:xfrm>
              <a:prstGeom prst="straightConnector1">
                <a:avLst/>
              </a:prstGeom>
              <a:noFill/>
              <a:ln w="28575" cap="flat" cmpd="sng" algn="ctr">
                <a:solidFill>
                  <a:srgbClr val="000000"/>
                </a:solidFill>
                <a:prstDash val="solid"/>
                <a:miter lim="800000"/>
                <a:tailEnd type="triangle"/>
              </a:ln>
              <a:effectLst/>
            </p:spPr>
          </p:cxnSp>
        </p:grpSp>
        <p:sp>
          <p:nvSpPr>
            <p:cNvPr id="42" name="流程图: 过程 41">
              <a:extLst>
                <a:ext uri="{FF2B5EF4-FFF2-40B4-BE49-F238E27FC236}">
                  <a16:creationId xmlns:a16="http://schemas.microsoft.com/office/drawing/2014/main" id="{7D1E1D90-298A-4DE3-8BC7-94FD61E92F6C}"/>
                </a:ext>
              </a:extLst>
            </p:cNvPr>
            <p:cNvSpPr/>
            <p:nvPr/>
          </p:nvSpPr>
          <p:spPr>
            <a:xfrm>
              <a:off x="7077015" y="454971"/>
              <a:ext cx="3023857" cy="501447"/>
            </a:xfrm>
            <a:prstGeom prst="flowChartProcess">
              <a:avLst/>
            </a:prstGeom>
            <a:noFill/>
            <a:ln w="38100" cap="flat" cmpd="sng" algn="ctr">
              <a:solidFill>
                <a:srgbClr val="DF5327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DF5327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endParaRPr>
            </a:p>
          </p:txBody>
        </p:sp>
        <p:grpSp>
          <p:nvGrpSpPr>
            <p:cNvPr id="43" name="组合 42">
              <a:extLst>
                <a:ext uri="{FF2B5EF4-FFF2-40B4-BE49-F238E27FC236}">
                  <a16:creationId xmlns:a16="http://schemas.microsoft.com/office/drawing/2014/main" id="{D1310938-AE5B-4993-B44C-6A846532D535}"/>
                </a:ext>
              </a:extLst>
            </p:cNvPr>
            <p:cNvGrpSpPr/>
            <p:nvPr/>
          </p:nvGrpSpPr>
          <p:grpSpPr>
            <a:xfrm>
              <a:off x="10100872" y="1782848"/>
              <a:ext cx="1150974" cy="3590572"/>
              <a:chOff x="8670425" y="1782848"/>
              <a:chExt cx="1150974" cy="3590572"/>
            </a:xfrm>
          </p:grpSpPr>
          <p:sp>
            <p:nvSpPr>
              <p:cNvPr id="44" name="矩形 43">
                <a:extLst>
                  <a:ext uri="{FF2B5EF4-FFF2-40B4-BE49-F238E27FC236}">
                    <a16:creationId xmlns:a16="http://schemas.microsoft.com/office/drawing/2014/main" id="{D90E0429-9F00-45C3-970C-EE56B80E5A18}"/>
                  </a:ext>
                </a:extLst>
              </p:cNvPr>
              <p:cNvSpPr/>
              <p:nvPr/>
            </p:nvSpPr>
            <p:spPr>
              <a:xfrm>
                <a:off x="9323618" y="1782848"/>
                <a:ext cx="497781" cy="3590572"/>
              </a:xfrm>
              <a:prstGeom prst="rect">
                <a:avLst/>
              </a:prstGeom>
              <a:solidFill>
                <a:sysClr val="window" lastClr="FFFFFF"/>
              </a:solidFill>
              <a:ln w="12700" cap="flat" cmpd="sng" algn="ctr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黑体" panose="02010609060101010101" pitchFamily="49" charset="-122"/>
                    <a:cs typeface="+mn-cs"/>
                  </a:rPr>
                  <a:t>符</a:t>
                </a:r>
                <a:endParaRPr kumimoji="0" lang="en-US" altLang="zh-CN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黑体" panose="02010609060101010101" pitchFamily="49" charset="-122"/>
                  <a:cs typeface="+mn-cs"/>
                </a:endParaRPr>
              </a:p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黑体" panose="02010609060101010101" pitchFamily="49" charset="-122"/>
                    <a:cs typeface="+mn-cs"/>
                  </a:rPr>
                  <a:t>号</a:t>
                </a:r>
                <a:endParaRPr kumimoji="0" lang="en-US" altLang="zh-CN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黑体" panose="02010609060101010101" pitchFamily="49" charset="-122"/>
                  <a:cs typeface="+mn-cs"/>
                </a:endParaRPr>
              </a:p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黑体" panose="02010609060101010101" pitchFamily="49" charset="-122"/>
                    <a:cs typeface="+mn-cs"/>
                  </a:rPr>
                  <a:t>表</a:t>
                </a:r>
              </a:p>
            </p:txBody>
          </p:sp>
          <p:sp>
            <p:nvSpPr>
              <p:cNvPr id="45" name="箭头: 左 44">
                <a:extLst>
                  <a:ext uri="{FF2B5EF4-FFF2-40B4-BE49-F238E27FC236}">
                    <a16:creationId xmlns:a16="http://schemas.microsoft.com/office/drawing/2014/main" id="{3A95E88F-55FB-4500-9064-5E5828B1173F}"/>
                  </a:ext>
                </a:extLst>
              </p:cNvPr>
              <p:cNvSpPr/>
              <p:nvPr/>
            </p:nvSpPr>
            <p:spPr>
              <a:xfrm>
                <a:off x="8670425" y="2883382"/>
                <a:ext cx="543302" cy="1194264"/>
              </a:xfrm>
              <a:prstGeom prst="leftArrow">
                <a:avLst/>
              </a:prstGeom>
              <a:solidFill>
                <a:sysClr val="window" lastClr="FFFFFF"/>
              </a:solidFill>
              <a:ln w="12700" cap="flat" cmpd="sng" algn="ctr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黑体" panose="02010609060101010101" pitchFamily="49" charset="-122"/>
                  <a:cs typeface="+mn-cs"/>
                </a:endParaRPr>
              </a:p>
            </p:txBody>
          </p:sp>
        </p:grpSp>
      </p:grpSp>
      <p:grpSp>
        <p:nvGrpSpPr>
          <p:cNvPr id="75" name="Group 45">
            <a:extLst>
              <a:ext uri="{FF2B5EF4-FFF2-40B4-BE49-F238E27FC236}">
                <a16:creationId xmlns:a16="http://schemas.microsoft.com/office/drawing/2014/main" id="{3EEAC861-7AFA-44B9-BDC0-9F6AD748230E}"/>
              </a:ext>
            </a:extLst>
          </p:cNvPr>
          <p:cNvGrpSpPr>
            <a:grpSpLocks/>
          </p:cNvGrpSpPr>
          <p:nvPr/>
        </p:nvGrpSpPr>
        <p:grpSpPr bwMode="auto">
          <a:xfrm>
            <a:off x="236921" y="2108984"/>
            <a:ext cx="4687491" cy="3028950"/>
            <a:chOff x="144" y="1200"/>
            <a:chExt cx="3524" cy="2544"/>
          </a:xfrm>
        </p:grpSpPr>
        <p:sp>
          <p:nvSpPr>
            <p:cNvPr id="76" name="Rectangle 6" descr="Green marble">
              <a:extLst>
                <a:ext uri="{FF2B5EF4-FFF2-40B4-BE49-F238E27FC236}">
                  <a16:creationId xmlns:a16="http://schemas.microsoft.com/office/drawing/2014/main" id="{CBC17BF6-C450-4BF2-9CA1-9962BC665F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4" y="2304"/>
              <a:ext cx="1728" cy="432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 i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i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i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i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i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9pPr>
            </a:lstStyle>
            <a:p>
              <a:pPr algn="ctr">
                <a:buFontTx/>
                <a:buNone/>
              </a:pPr>
              <a:r>
                <a:rPr lang="zh-CN" altLang="en-US" sz="2100" i="0" dirty="0">
                  <a:latin typeface="+mn-lt"/>
                  <a:ea typeface="+mn-ea"/>
                </a:rPr>
                <a:t>词法分析器</a:t>
              </a:r>
              <a:endParaRPr lang="zh-CN" altLang="en-US" sz="2100" dirty="0">
                <a:latin typeface="+mn-lt"/>
                <a:ea typeface="+mn-ea"/>
              </a:endParaRPr>
            </a:p>
          </p:txBody>
        </p:sp>
        <p:sp>
          <p:nvSpPr>
            <p:cNvPr id="77" name="Line 7">
              <a:extLst>
                <a:ext uri="{FF2B5EF4-FFF2-40B4-BE49-F238E27FC236}">
                  <a16:creationId xmlns:a16="http://schemas.microsoft.com/office/drawing/2014/main" id="{ADE463E7-792E-4777-8024-6B085FEB95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28" y="1728"/>
              <a:ext cx="0" cy="48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78" name="Line 8">
              <a:extLst>
                <a:ext uri="{FF2B5EF4-FFF2-40B4-BE49-F238E27FC236}">
                  <a16:creationId xmlns:a16="http://schemas.microsoft.com/office/drawing/2014/main" id="{C50965EA-43D1-4F6B-A713-7C4B094847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28" y="2832"/>
              <a:ext cx="0" cy="48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79" name="Rectangle 9">
              <a:extLst>
                <a:ext uri="{FF2B5EF4-FFF2-40B4-BE49-F238E27FC236}">
                  <a16:creationId xmlns:a16="http://schemas.microsoft.com/office/drawing/2014/main" id="{ACFFD9C9-A849-4ACB-97AF-4BD8287C19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312"/>
              <a:ext cx="3524" cy="4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marL="342900" indent="-342900">
                <a:defRPr sz="2400" i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i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i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i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i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9pPr>
            </a:lstStyle>
            <a:p>
              <a:pPr>
                <a:buFontTx/>
                <a:buNone/>
              </a:pPr>
              <a:r>
                <a:rPr lang="en-US" altLang="zh-CN" b="1" i="0" dirty="0">
                  <a:latin typeface="+mn-lt"/>
                  <a:ea typeface="+mn-ea"/>
                  <a:sym typeface="Symbol" panose="05050102010706020507" pitchFamily="18" charset="2"/>
                </a:rPr>
                <a:t>i</a:t>
              </a:r>
              <a:r>
                <a:rPr lang="en-US" altLang="zh-CN" b="1" i="0" dirty="0">
                  <a:latin typeface="+mn-lt"/>
                  <a:ea typeface="+mn-ea"/>
                </a:rPr>
                <a:t>d, 1</a:t>
              </a:r>
              <a:r>
                <a:rPr lang="en-US" altLang="zh-CN" b="1" i="0" dirty="0">
                  <a:latin typeface="+mn-lt"/>
                  <a:ea typeface="+mn-ea"/>
                  <a:sym typeface="Symbol" panose="05050102010706020507" pitchFamily="18" charset="2"/>
                </a:rPr>
                <a:t></a:t>
              </a:r>
              <a:r>
                <a:rPr lang="zh-CN" altLang="en-US" b="1" dirty="0">
                  <a:latin typeface="+mn-lt"/>
                  <a:ea typeface="+mn-ea"/>
                </a:rPr>
                <a:t> </a:t>
              </a:r>
              <a:r>
                <a:rPr lang="en-US" altLang="zh-CN" b="1" i="0" dirty="0">
                  <a:latin typeface="+mn-lt"/>
                  <a:ea typeface="+mn-ea"/>
                  <a:sym typeface="Symbol" panose="05050102010706020507" pitchFamily="18" charset="2"/>
                </a:rPr>
                <a:t></a:t>
              </a:r>
              <a:r>
                <a:rPr lang="en-US" altLang="zh-CN" b="1" i="0" dirty="0">
                  <a:latin typeface="+mn-lt"/>
                  <a:ea typeface="+mn-ea"/>
                </a:rPr>
                <a:t>=</a:t>
              </a:r>
              <a:r>
                <a:rPr lang="en-US" altLang="zh-CN" b="1" i="0" dirty="0">
                  <a:latin typeface="+mn-lt"/>
                  <a:ea typeface="+mn-ea"/>
                  <a:sym typeface="Symbol" panose="05050102010706020507" pitchFamily="18" charset="2"/>
                </a:rPr>
                <a:t></a:t>
              </a:r>
              <a:r>
                <a:rPr lang="en-US" altLang="zh-CN" b="1" i="0" dirty="0">
                  <a:latin typeface="+mn-lt"/>
                  <a:ea typeface="+mn-ea"/>
                </a:rPr>
                <a:t> </a:t>
              </a:r>
              <a:r>
                <a:rPr lang="en-US" altLang="zh-CN" b="1" i="0" dirty="0">
                  <a:latin typeface="+mn-lt"/>
                  <a:ea typeface="+mn-ea"/>
                  <a:sym typeface="Symbol" panose="05050102010706020507" pitchFamily="18" charset="2"/>
                </a:rPr>
                <a:t></a:t>
              </a:r>
              <a:r>
                <a:rPr lang="en-US" altLang="zh-CN" b="1" i="0" dirty="0">
                  <a:latin typeface="+mn-lt"/>
                  <a:ea typeface="+mn-ea"/>
                </a:rPr>
                <a:t>id, 2</a:t>
              </a:r>
              <a:r>
                <a:rPr lang="en-US" altLang="zh-CN" b="1" i="0" dirty="0">
                  <a:latin typeface="+mn-lt"/>
                  <a:ea typeface="+mn-ea"/>
                  <a:sym typeface="Symbol" panose="05050102010706020507" pitchFamily="18" charset="2"/>
                </a:rPr>
                <a:t></a:t>
              </a:r>
              <a:r>
                <a:rPr lang="en-US" altLang="zh-CN" b="1" i="0" dirty="0">
                  <a:latin typeface="+mn-lt"/>
                  <a:ea typeface="+mn-ea"/>
                </a:rPr>
                <a:t> </a:t>
              </a:r>
              <a:r>
                <a:rPr lang="en-US" altLang="zh-CN" b="1" i="0" dirty="0">
                  <a:latin typeface="+mn-lt"/>
                  <a:ea typeface="+mn-ea"/>
                  <a:sym typeface="Symbol" panose="05050102010706020507" pitchFamily="18" charset="2"/>
                </a:rPr>
                <a:t></a:t>
              </a:r>
              <a:r>
                <a:rPr lang="en-US" altLang="zh-CN" b="1" i="0" dirty="0">
                  <a:latin typeface="+mn-lt"/>
                  <a:ea typeface="+mn-ea"/>
                </a:rPr>
                <a:t>+</a:t>
              </a:r>
              <a:r>
                <a:rPr lang="en-US" altLang="zh-CN" b="1" i="0" dirty="0">
                  <a:latin typeface="+mn-lt"/>
                  <a:ea typeface="+mn-ea"/>
                  <a:sym typeface="Symbol" panose="05050102010706020507" pitchFamily="18" charset="2"/>
                </a:rPr>
                <a:t></a:t>
              </a:r>
              <a:r>
                <a:rPr lang="en-US" altLang="zh-CN" b="1" i="0" dirty="0">
                  <a:latin typeface="+mn-lt"/>
                  <a:ea typeface="+mn-ea"/>
                </a:rPr>
                <a:t> </a:t>
              </a:r>
              <a:r>
                <a:rPr lang="en-US" altLang="zh-CN" b="1" i="0" dirty="0">
                  <a:latin typeface="+mn-lt"/>
                  <a:ea typeface="+mn-ea"/>
                  <a:sym typeface="Symbol" panose="05050102010706020507" pitchFamily="18" charset="2"/>
                </a:rPr>
                <a:t></a:t>
              </a:r>
              <a:r>
                <a:rPr lang="en-US" altLang="zh-CN" b="1" i="0" dirty="0">
                  <a:latin typeface="+mn-lt"/>
                  <a:ea typeface="+mn-ea"/>
                </a:rPr>
                <a:t>id, 3</a:t>
              </a:r>
              <a:r>
                <a:rPr lang="en-US" altLang="zh-CN" b="1" i="0" dirty="0">
                  <a:latin typeface="+mn-lt"/>
                  <a:ea typeface="+mn-ea"/>
                  <a:sym typeface="Symbol" panose="05050102010706020507" pitchFamily="18" charset="2"/>
                </a:rPr>
                <a:t></a:t>
              </a:r>
              <a:r>
                <a:rPr lang="en-US" altLang="zh-CN" b="1" i="0" dirty="0">
                  <a:latin typeface="+mn-lt"/>
                  <a:ea typeface="+mn-ea"/>
                </a:rPr>
                <a:t> </a:t>
              </a:r>
              <a:r>
                <a:rPr lang="en-US" altLang="zh-CN" b="1" i="0" dirty="0">
                  <a:latin typeface="+mn-lt"/>
                  <a:ea typeface="+mn-ea"/>
                  <a:sym typeface="Symbol" panose="05050102010706020507" pitchFamily="18" charset="2"/>
                </a:rPr>
                <a:t></a:t>
              </a:r>
              <a:r>
                <a:rPr lang="en-US" altLang="zh-CN" sz="2000" b="1" i="0" dirty="0">
                  <a:latin typeface="+mn-lt"/>
                  <a:ea typeface="+mn-ea"/>
                  <a:sym typeface="Symbol" panose="05050102010706020507" pitchFamily="18" charset="2"/>
                </a:rPr>
                <a:t></a:t>
              </a:r>
              <a:r>
                <a:rPr lang="en-US" altLang="zh-CN" b="1" i="0" dirty="0">
                  <a:latin typeface="+mn-lt"/>
                  <a:ea typeface="+mn-ea"/>
                  <a:sym typeface="Symbol" panose="05050102010706020507" pitchFamily="18" charset="2"/>
                </a:rPr>
                <a:t></a:t>
              </a:r>
              <a:r>
                <a:rPr lang="en-US" altLang="zh-CN" b="1" i="0" dirty="0">
                  <a:latin typeface="+mn-lt"/>
                  <a:ea typeface="+mn-ea"/>
                </a:rPr>
                <a:t> </a:t>
              </a:r>
              <a:r>
                <a:rPr lang="en-US" altLang="zh-CN" b="1" i="0" dirty="0">
                  <a:latin typeface="+mn-lt"/>
                  <a:ea typeface="+mn-ea"/>
                  <a:sym typeface="Symbol" panose="05050102010706020507" pitchFamily="18" charset="2"/>
                </a:rPr>
                <a:t></a:t>
              </a:r>
              <a:r>
                <a:rPr lang="en-US" altLang="zh-CN" b="1" i="0" dirty="0">
                  <a:latin typeface="+mn-lt"/>
                  <a:ea typeface="+mn-ea"/>
                </a:rPr>
                <a:t>60</a:t>
              </a:r>
              <a:r>
                <a:rPr lang="en-US" altLang="zh-CN" b="1" i="0" dirty="0">
                  <a:latin typeface="+mn-lt"/>
                  <a:ea typeface="+mn-ea"/>
                  <a:sym typeface="Symbol" panose="05050102010706020507" pitchFamily="18" charset="2"/>
                </a:rPr>
                <a:t></a:t>
              </a:r>
              <a:endParaRPr lang="en-US" altLang="zh-CN" b="1" i="0" dirty="0">
                <a:latin typeface="+mn-lt"/>
                <a:ea typeface="+mn-ea"/>
              </a:endParaRPr>
            </a:p>
          </p:txBody>
        </p:sp>
        <p:sp>
          <p:nvSpPr>
            <p:cNvPr id="80" name="Rectangle 38">
              <a:extLst>
                <a:ext uri="{FF2B5EF4-FFF2-40B4-BE49-F238E27FC236}">
                  <a16:creationId xmlns:a16="http://schemas.microsoft.com/office/drawing/2014/main" id="{E38365A1-B374-4E1B-8E7D-2F953134FE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1200"/>
              <a:ext cx="3216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 i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i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i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i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i="1">
                  <a:solidFill>
                    <a:schemeClr val="tx1"/>
                  </a:solidFill>
                  <a:latin typeface="Courier New" panose="02070309020205020404" pitchFamily="49" charset="0"/>
                  <a:ea typeface="宋体" panose="02010600030101010101" pitchFamily="2" charset="-122"/>
                </a:defRPr>
              </a:lvl9pPr>
            </a:lstStyle>
            <a:p>
              <a:pPr>
                <a:buFontTx/>
                <a:buNone/>
              </a:pPr>
              <a:r>
                <a:rPr lang="en-US" altLang="zh-CN" b="1" i="0" dirty="0">
                  <a:latin typeface="+mn-lt"/>
                  <a:ea typeface="+mn-ea"/>
                </a:rPr>
                <a:t>position = initial + rate </a:t>
              </a:r>
              <a:r>
                <a:rPr lang="en-US" altLang="zh-CN" b="1" i="0" dirty="0">
                  <a:latin typeface="+mn-lt"/>
                  <a:ea typeface="+mn-ea"/>
                  <a:cs typeface="Times New Roman" panose="02020603050405020304" pitchFamily="18" charset="0"/>
                  <a:sym typeface="Symbol" panose="05050102010706020507" pitchFamily="18" charset="2"/>
                </a:rPr>
                <a:t></a:t>
              </a:r>
              <a:r>
                <a:rPr lang="en-US" altLang="zh-CN" b="1" i="0" dirty="0">
                  <a:latin typeface="+mn-lt"/>
                  <a:ea typeface="+mn-ea"/>
                  <a:cs typeface="Times New Roman" panose="02020603050405020304" pitchFamily="18" charset="0"/>
                </a:rPr>
                <a:t> </a:t>
              </a:r>
              <a:r>
                <a:rPr lang="en-US" altLang="zh-CN" b="1" i="0" dirty="0">
                  <a:latin typeface="+mn-lt"/>
                  <a:ea typeface="+mn-ea"/>
                </a:rPr>
                <a:t>60</a:t>
              </a:r>
            </a:p>
          </p:txBody>
        </p:sp>
      </p:grp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CA4B4CD-F36B-78E8-AC8B-735F3CC14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5D314B-1091-42FE-8D8B-A03871C4C91E}" type="datetime2">
              <a:rPr lang="zh-CN" altLang="en-US" smtClean="0"/>
              <a:t>2026年3月11日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DA3FC06-E67C-E18E-3EE9-DFE9129B0F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</a:t>
            </a:r>
            <a:r>
              <a:rPr lang="en-US" altLang="zh-CN"/>
              <a:t>2</a:t>
            </a:r>
            <a:r>
              <a:rPr lang="zh-CN" altLang="en-US"/>
              <a:t>章 词法分析</a:t>
            </a:r>
            <a:r>
              <a:rPr lang="en-US" altLang="zh-CN"/>
              <a:t>(1)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C0BE8A1-BB98-8EB8-2E7A-92F6B7637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42675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08BB4C56-5368-4CE6-A537-274B4F863F0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zh-CN" altLang="en-US" dirty="0"/>
              <a:t>第二章 词法分析</a:t>
            </a: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47FBD639-3A9D-4608-923C-ED2F1CDBAB9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词法分析的主要功能：</a:t>
            </a:r>
          </a:p>
          <a:p>
            <a:pPr lvl="1" eaLnBrk="1" hangingPunct="1"/>
            <a:r>
              <a:rPr lang="zh-CN" altLang="en-US" dirty="0"/>
              <a:t>源程序字符流（</a:t>
            </a:r>
            <a:r>
              <a:rPr lang="en-US" altLang="zh-CN" dirty="0"/>
              <a:t>characters</a:t>
            </a:r>
            <a:r>
              <a:rPr lang="zh-CN" altLang="en-US" dirty="0"/>
              <a:t>）</a:t>
            </a:r>
            <a:r>
              <a:rPr lang="zh-CN" altLang="en-US" dirty="0">
                <a:sym typeface="Wingdings" panose="05000000000000000000" pitchFamily="2" charset="2"/>
              </a:rPr>
              <a:t> 词法记号流（</a:t>
            </a:r>
            <a:r>
              <a:rPr lang="en-US" altLang="zh-CN" dirty="0">
                <a:sym typeface="Wingdings" panose="05000000000000000000" pitchFamily="2" charset="2"/>
              </a:rPr>
              <a:t>tokens</a:t>
            </a:r>
            <a:r>
              <a:rPr lang="zh-CN" altLang="en-US" dirty="0">
                <a:sym typeface="Wingdings" panose="05000000000000000000" pitchFamily="2" charset="2"/>
              </a:rPr>
              <a:t>）</a:t>
            </a:r>
          </a:p>
          <a:p>
            <a:r>
              <a:rPr lang="zh-CN" altLang="en-US" dirty="0">
                <a:sym typeface="Wingdings" panose="05000000000000000000" pitchFamily="2" charset="2"/>
              </a:rPr>
              <a:t>手工构造词法分析器的方法：</a:t>
            </a:r>
          </a:p>
          <a:p>
            <a:pPr lvl="1"/>
            <a:r>
              <a:rPr lang="zh-CN" altLang="en-US" dirty="0">
                <a:sym typeface="Wingdings" panose="05000000000000000000" pitchFamily="2" charset="2"/>
              </a:rPr>
              <a:t>用状态转换图描述源语言词法记号的结构</a:t>
            </a:r>
          </a:p>
          <a:p>
            <a:pPr lvl="1"/>
            <a:r>
              <a:rPr lang="zh-CN" altLang="en-US" dirty="0">
                <a:sym typeface="Wingdings" panose="05000000000000000000" pitchFamily="2" charset="2"/>
              </a:rPr>
              <a:t>手工将状态转换图翻译成识别词法记号的程序</a:t>
            </a:r>
          </a:p>
          <a:p>
            <a:r>
              <a:rPr lang="zh-CN" altLang="en-US" dirty="0"/>
              <a:t>词法分析器的自动生成：正规式、状态转换图和有限自动机等。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D85EFC1-DC0D-6231-A408-EB23C59684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B21AE-63B1-45E5-99FF-FD3D9D1B445A}" type="datetime2">
              <a:rPr lang="zh-CN" altLang="en-US" smtClean="0"/>
              <a:t>2026年3月11日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6199A93-886E-F5BA-7017-AEF63D5A4B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</a:t>
            </a:r>
            <a:r>
              <a:rPr lang="en-US" altLang="zh-CN"/>
              <a:t>2</a:t>
            </a:r>
            <a:r>
              <a:rPr lang="zh-CN" altLang="en-US"/>
              <a:t>章 词法分析</a:t>
            </a:r>
            <a:r>
              <a:rPr lang="en-US" altLang="zh-CN"/>
              <a:t>(1)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E2096FA-1BD0-B719-2FF5-1948186B9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8</a:t>
            </a:fld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2FF09C51-32B4-4F31-A172-E9A17E557F2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zh-CN" altLang="en-US" dirty="0"/>
              <a:t>第二章 词法分析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D0E090B1-6985-4FC7-AFF0-DE53E7FE9C81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词法分析器和语法分析器的一种典型关系：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语法分析器为</a:t>
            </a:r>
            <a:r>
              <a:rPr lang="zh-CN" altLang="en-US" dirty="0">
                <a:solidFill>
                  <a:schemeClr val="accent2"/>
                </a:solidFill>
              </a:rPr>
              <a:t>主导</a:t>
            </a:r>
            <a:r>
              <a:rPr lang="zh-CN" altLang="en-US" dirty="0"/>
              <a:t>、词法分析器为其</a:t>
            </a:r>
            <a:r>
              <a:rPr lang="zh-CN" altLang="en-US" dirty="0">
                <a:solidFill>
                  <a:schemeClr val="accent2"/>
                </a:solidFill>
              </a:rPr>
              <a:t>子程序</a:t>
            </a:r>
            <a:endParaRPr lang="en-US" altLang="zh-CN" dirty="0">
              <a:solidFill>
                <a:schemeClr val="accent2"/>
              </a:solidFill>
            </a:endParaRPr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两个模块的活动交错进行</a:t>
            </a:r>
          </a:p>
        </p:txBody>
      </p:sp>
      <p:grpSp>
        <p:nvGrpSpPr>
          <p:cNvPr id="16388" name="Group 4">
            <a:extLst>
              <a:ext uri="{FF2B5EF4-FFF2-40B4-BE49-F238E27FC236}">
                <a16:creationId xmlns:a16="http://schemas.microsoft.com/office/drawing/2014/main" id="{F4715D65-535B-4046-9864-9D2F3729210E}"/>
              </a:ext>
            </a:extLst>
          </p:cNvPr>
          <p:cNvGrpSpPr>
            <a:grpSpLocks/>
          </p:cNvGrpSpPr>
          <p:nvPr/>
        </p:nvGrpSpPr>
        <p:grpSpPr bwMode="auto">
          <a:xfrm>
            <a:off x="1342429" y="3717131"/>
            <a:ext cx="6459141" cy="2114550"/>
            <a:chOff x="144" y="816"/>
            <a:chExt cx="5425" cy="1776"/>
          </a:xfrm>
        </p:grpSpPr>
        <p:sp>
          <p:nvSpPr>
            <p:cNvPr id="16389" name="Rectangle 5">
              <a:extLst>
                <a:ext uri="{FF2B5EF4-FFF2-40B4-BE49-F238E27FC236}">
                  <a16:creationId xmlns:a16="http://schemas.microsoft.com/office/drawing/2014/main" id="{9EEF024D-0350-4903-A367-85129ADC5D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0" y="1891"/>
              <a:ext cx="2601" cy="5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950" b="1">
                  <a:latin typeface="+mn-lt"/>
                  <a:ea typeface="+mn-ea"/>
                </a:rPr>
                <a:t> </a:t>
              </a:r>
            </a:p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>
                <a:latin typeface="+mn-lt"/>
                <a:ea typeface="+mn-ea"/>
              </a:endParaRPr>
            </a:p>
          </p:txBody>
        </p:sp>
        <p:sp>
          <p:nvSpPr>
            <p:cNvPr id="16390" name="Rectangle 6">
              <a:extLst>
                <a:ext uri="{FF2B5EF4-FFF2-40B4-BE49-F238E27FC236}">
                  <a16:creationId xmlns:a16="http://schemas.microsoft.com/office/drawing/2014/main" id="{8AC32987-B272-4A10-843C-EC26F0636D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0" y="1891"/>
              <a:ext cx="2601" cy="5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950" b="1">
                  <a:latin typeface="+mn-lt"/>
                  <a:ea typeface="+mn-ea"/>
                </a:rPr>
                <a:t> </a:t>
              </a:r>
            </a:p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>
                <a:latin typeface="+mn-lt"/>
                <a:ea typeface="+mn-ea"/>
              </a:endParaRPr>
            </a:p>
          </p:txBody>
        </p:sp>
        <p:sp>
          <p:nvSpPr>
            <p:cNvPr id="16391" name="Rectangle 7">
              <a:extLst>
                <a:ext uri="{FF2B5EF4-FFF2-40B4-BE49-F238E27FC236}">
                  <a16:creationId xmlns:a16="http://schemas.microsoft.com/office/drawing/2014/main" id="{259CC625-75D2-4B12-BF52-EA9421813B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" y="816"/>
              <a:ext cx="4896" cy="17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lvl="1">
                <a:buClrTx/>
                <a:buSzTx/>
                <a:buFontTx/>
                <a:buChar char="–"/>
              </a:pPr>
              <a:endParaRPr lang="en-US" altLang="zh-CN" sz="2100">
                <a:latin typeface="+mn-lt"/>
                <a:ea typeface="+mn-ea"/>
              </a:endParaRPr>
            </a:p>
            <a:p>
              <a:pPr>
                <a:lnSpc>
                  <a:spcPct val="0"/>
                </a:lnSpc>
                <a:buClrTx/>
                <a:buSzTx/>
                <a:buFontTx/>
                <a:buChar char="•"/>
              </a:pPr>
              <a:endParaRPr lang="en-US" altLang="zh-CN" sz="2400">
                <a:latin typeface="+mn-lt"/>
                <a:ea typeface="+mn-ea"/>
              </a:endParaRPr>
            </a:p>
          </p:txBody>
        </p:sp>
        <p:sp>
          <p:nvSpPr>
            <p:cNvPr id="16392" name="Rectangle 8">
              <a:extLst>
                <a:ext uri="{FF2B5EF4-FFF2-40B4-BE49-F238E27FC236}">
                  <a16:creationId xmlns:a16="http://schemas.microsoft.com/office/drawing/2014/main" id="{069B5570-AD5D-4247-8824-95D8DDE4E1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0" y="1152"/>
              <a:ext cx="1192" cy="394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>
                  <a:latin typeface="+mn-lt"/>
                  <a:ea typeface="+mn-ea"/>
                </a:rPr>
                <a:t>词法分析器</a:t>
              </a:r>
            </a:p>
          </p:txBody>
        </p:sp>
        <p:sp>
          <p:nvSpPr>
            <p:cNvPr id="16393" name="Rectangle 9">
              <a:extLst>
                <a:ext uri="{FF2B5EF4-FFF2-40B4-BE49-F238E27FC236}">
                  <a16:creationId xmlns:a16="http://schemas.microsoft.com/office/drawing/2014/main" id="{068F5DF2-7E75-4AC4-976B-2CC4090547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0" y="1172"/>
              <a:ext cx="1156" cy="394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>
                  <a:latin typeface="+mn-lt"/>
                  <a:ea typeface="+mn-ea"/>
                </a:rPr>
                <a:t>语法分析器</a:t>
              </a:r>
            </a:p>
          </p:txBody>
        </p:sp>
        <p:sp>
          <p:nvSpPr>
            <p:cNvPr id="16394" name="Rectangle 10">
              <a:extLst>
                <a:ext uri="{FF2B5EF4-FFF2-40B4-BE49-F238E27FC236}">
                  <a16:creationId xmlns:a16="http://schemas.microsoft.com/office/drawing/2014/main" id="{616140C4-0680-4F96-AB78-6F028E5CDD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9" y="1956"/>
              <a:ext cx="884" cy="394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>
                  <a:latin typeface="+mn-lt"/>
                  <a:ea typeface="+mn-ea"/>
                </a:rPr>
                <a:t>符号表</a:t>
              </a:r>
            </a:p>
          </p:txBody>
        </p:sp>
        <p:sp>
          <p:nvSpPr>
            <p:cNvPr id="16395" name="Line 11">
              <a:extLst>
                <a:ext uri="{FF2B5EF4-FFF2-40B4-BE49-F238E27FC236}">
                  <a16:creationId xmlns:a16="http://schemas.microsoft.com/office/drawing/2014/main" id="{DE72D1E2-B655-4829-A0BF-0104B42368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68" y="1593"/>
              <a:ext cx="481" cy="35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stealth" w="lg" len="med"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6396" name="Line 12">
              <a:extLst>
                <a:ext uri="{FF2B5EF4-FFF2-40B4-BE49-F238E27FC236}">
                  <a16:creationId xmlns:a16="http://schemas.microsoft.com/office/drawing/2014/main" id="{4CBB7DEC-64FB-46B5-B825-76C95D8F2C2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544" y="1593"/>
              <a:ext cx="480" cy="35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stealth" w="lg" len="med"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6397" name="Line 13">
              <a:extLst>
                <a:ext uri="{FF2B5EF4-FFF2-40B4-BE49-F238E27FC236}">
                  <a16:creationId xmlns:a16="http://schemas.microsoft.com/office/drawing/2014/main" id="{6F436AE0-B35E-4B4D-874A-9B5DFF42D2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63" y="1257"/>
              <a:ext cx="125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6398" name="Line 14">
              <a:extLst>
                <a:ext uri="{FF2B5EF4-FFF2-40B4-BE49-F238E27FC236}">
                  <a16:creationId xmlns:a16="http://schemas.microsoft.com/office/drawing/2014/main" id="{A578E1EC-6064-44B9-91E6-D851B1E60F6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400" y="1440"/>
              <a:ext cx="126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6399" name="Line 15">
              <a:extLst>
                <a:ext uri="{FF2B5EF4-FFF2-40B4-BE49-F238E27FC236}">
                  <a16:creationId xmlns:a16="http://schemas.microsoft.com/office/drawing/2014/main" id="{31633AAD-9A8E-44B8-AE3D-BD41AE25B1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0" y="1344"/>
              <a:ext cx="22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6400" name="Line 16">
              <a:extLst>
                <a:ext uri="{FF2B5EF4-FFF2-40B4-BE49-F238E27FC236}">
                  <a16:creationId xmlns:a16="http://schemas.microsoft.com/office/drawing/2014/main" id="{174C8E10-937C-4D0B-93F7-F34974D7E1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44" y="1344"/>
              <a:ext cx="62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dash"/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6401" name="Rectangle 17">
              <a:extLst>
                <a:ext uri="{FF2B5EF4-FFF2-40B4-BE49-F238E27FC236}">
                  <a16:creationId xmlns:a16="http://schemas.microsoft.com/office/drawing/2014/main" id="{0DDCEE0F-D3AF-49EC-A10C-FAF9323091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17" y="935"/>
              <a:ext cx="115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dirty="0">
                  <a:latin typeface="+mn-lt"/>
                  <a:ea typeface="+mn-ea"/>
                </a:rPr>
                <a:t>记号</a:t>
              </a:r>
              <a:r>
                <a:rPr lang="en-US" altLang="zh-CN" sz="1800" b="1" dirty="0">
                  <a:latin typeface="+mn-lt"/>
                  <a:ea typeface="+mn-ea"/>
                </a:rPr>
                <a:t>(token)</a:t>
              </a:r>
            </a:p>
          </p:txBody>
        </p:sp>
        <p:sp>
          <p:nvSpPr>
            <p:cNvPr id="16402" name="Rectangle 18">
              <a:extLst>
                <a:ext uri="{FF2B5EF4-FFF2-40B4-BE49-F238E27FC236}">
                  <a16:creationId xmlns:a16="http://schemas.microsoft.com/office/drawing/2014/main" id="{6B6E50C8-04CE-41D2-AD96-689D6C3DDD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8" y="1488"/>
              <a:ext cx="128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dirty="0">
                  <a:latin typeface="+mn-lt"/>
                  <a:ea typeface="+mn-ea"/>
                </a:rPr>
                <a:t>取下一个记号</a:t>
              </a:r>
            </a:p>
          </p:txBody>
        </p:sp>
        <p:sp>
          <p:nvSpPr>
            <p:cNvPr id="16403" name="Rectangle 19">
              <a:extLst>
                <a:ext uri="{FF2B5EF4-FFF2-40B4-BE49-F238E27FC236}">
                  <a16:creationId xmlns:a16="http://schemas.microsoft.com/office/drawing/2014/main" id="{783472A6-B0F6-40B1-8DF3-6DE7D37414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1200"/>
              <a:ext cx="768" cy="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>
                  <a:latin typeface="+mn-lt"/>
                  <a:ea typeface="+mn-ea"/>
                </a:rPr>
                <a:t>源程序</a:t>
              </a:r>
            </a:p>
          </p:txBody>
        </p:sp>
      </p:grp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56F222C-F233-EC0B-E675-EB3CAFCF2A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56266-23FE-4440-BAE3-A1E00C50C5FE}" type="datetime2">
              <a:rPr lang="zh-CN" altLang="en-US" smtClean="0"/>
              <a:t>2026年3月11日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6051150-DACF-1ACC-BAC3-80761E0E57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</a:t>
            </a:r>
            <a:r>
              <a:rPr lang="en-US" altLang="zh-CN"/>
              <a:t>2</a:t>
            </a:r>
            <a:r>
              <a:rPr lang="zh-CN" altLang="en-US"/>
              <a:t>章 词法分析</a:t>
            </a:r>
            <a:r>
              <a:rPr lang="en-US" altLang="zh-CN"/>
              <a:t>(1)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941ADE3-CA3E-E308-6F84-806C6CB19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9</a:t>
            </a:fld>
            <a:endParaRPr lang="zh-CN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6208C9FA-287E-499C-B3C7-2563F860F4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zh-CN" altLang="en-US" dirty="0"/>
              <a:t>第二章 词法分析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A23979F9-A3F8-4A0B-AD02-C3F1AB1296A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词法分析器的任务：</a:t>
            </a:r>
          </a:p>
          <a:p>
            <a:pPr lvl="1" eaLnBrk="1" hangingPunct="1"/>
            <a:r>
              <a:rPr lang="zh-CN" altLang="en-US" dirty="0"/>
              <a:t>将正确的单词（</a:t>
            </a:r>
            <a:r>
              <a:rPr lang="en-US" altLang="zh-CN" dirty="0"/>
              <a:t>lexeme</a:t>
            </a:r>
            <a:r>
              <a:rPr lang="zh-CN" altLang="en-US" dirty="0"/>
              <a:t>）识别为记号</a:t>
            </a:r>
            <a:r>
              <a:rPr lang="zh-CN" altLang="en-US" dirty="0">
                <a:sym typeface="Wingdings" panose="05000000000000000000" pitchFamily="2" charset="2"/>
              </a:rPr>
              <a:t>；</a:t>
            </a:r>
          </a:p>
          <a:p>
            <a:pPr lvl="1" eaLnBrk="1" hangingPunct="1"/>
            <a:r>
              <a:rPr lang="zh-CN" altLang="en-US" dirty="0">
                <a:sym typeface="Wingdings" panose="05000000000000000000" pitchFamily="2" charset="2"/>
              </a:rPr>
              <a:t>剥去注释和空白（制表符、回车符、空格等分隔符）</a:t>
            </a:r>
          </a:p>
          <a:p>
            <a:pPr lvl="1" eaLnBrk="1" hangingPunct="1"/>
            <a:r>
              <a:rPr lang="zh-CN" altLang="en-US" dirty="0">
                <a:sym typeface="Wingdings" panose="05000000000000000000" pitchFamily="2" charset="2"/>
              </a:rPr>
              <a:t>将各阶段产生的错误信息和源程序联系起来</a:t>
            </a:r>
          </a:p>
          <a:p>
            <a:pPr lvl="1" eaLnBrk="1" hangingPunct="1"/>
            <a:r>
              <a:rPr lang="zh-CN" altLang="en-US" dirty="0">
                <a:sym typeface="Wingdings" panose="05000000000000000000" pitchFamily="2" charset="2"/>
              </a:rPr>
              <a:t>如果源语言支持宏，则宏的预处理可以在词法分析时实现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A2D0C3B-4FD2-4E27-A2B6-592A560A06B8}"/>
              </a:ext>
            </a:extLst>
          </p:cNvPr>
          <p:cNvSpPr/>
          <p:nvPr/>
        </p:nvSpPr>
        <p:spPr>
          <a:xfrm>
            <a:off x="981513" y="4697834"/>
            <a:ext cx="7180974" cy="203852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 dirty="0">
                <a:solidFill>
                  <a:schemeClr val="tx1"/>
                </a:solidFill>
              </a:rPr>
              <a:t>注：现代编译器往往有单独的预处理模块。详见第一章“编译器在语言处理系统中的位置”。</a:t>
            </a:r>
            <a:endParaRPr lang="en-US" altLang="zh-CN" sz="2400" dirty="0">
              <a:solidFill>
                <a:schemeClr val="tx1"/>
              </a:solidFill>
            </a:endParaRPr>
          </a:p>
          <a:p>
            <a:endParaRPr lang="en-US" altLang="zh-CN" sz="2400" dirty="0">
              <a:solidFill>
                <a:schemeClr val="tx1"/>
              </a:solidFill>
            </a:endParaRPr>
          </a:p>
          <a:p>
            <a:r>
              <a:rPr lang="zh-CN" altLang="en-US" sz="2400" dirty="0">
                <a:solidFill>
                  <a:schemeClr val="tx1"/>
                </a:solidFill>
              </a:rPr>
              <a:t>全面地讲，</a:t>
            </a:r>
            <a:r>
              <a:rPr lang="zh-CN" altLang="en-US" sz="2400" dirty="0">
                <a:solidFill>
                  <a:schemeClr val="accent1"/>
                </a:solidFill>
              </a:rPr>
              <a:t>注释、空白</a:t>
            </a:r>
            <a:r>
              <a:rPr lang="zh-CN" altLang="en-US" sz="2400" dirty="0">
                <a:solidFill>
                  <a:schemeClr val="tx1"/>
                </a:solidFill>
              </a:rPr>
              <a:t>和</a:t>
            </a:r>
            <a:r>
              <a:rPr lang="zh-CN" altLang="en-US" sz="2400" dirty="0">
                <a:solidFill>
                  <a:schemeClr val="accent1"/>
                </a:solidFill>
              </a:rPr>
              <a:t>宏</a:t>
            </a:r>
            <a:r>
              <a:rPr lang="zh-CN" altLang="en-US" sz="2400" dirty="0">
                <a:solidFill>
                  <a:schemeClr val="tx1"/>
                </a:solidFill>
              </a:rPr>
              <a:t>可以在预处理模块中实现，也可以在词法分析时实现。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13DCF04-E4BB-C198-6E16-1708F168CB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B1769-556A-4102-B69C-80A8DE6A8304}" type="datetime2">
              <a:rPr lang="zh-CN" altLang="en-US" smtClean="0"/>
              <a:t>2026年3月11日</a:t>
            </a:fld>
            <a:endParaRPr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0656825-37FB-CF16-F130-96ACDE4F1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</a:t>
            </a:r>
            <a:r>
              <a:rPr lang="en-US" altLang="zh-CN"/>
              <a:t>2</a:t>
            </a:r>
            <a:r>
              <a:rPr lang="zh-CN" altLang="en-US"/>
              <a:t>章 词法分析</a:t>
            </a:r>
            <a:r>
              <a:rPr lang="en-US" altLang="zh-CN"/>
              <a:t>(1)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1A600E7-1DB0-AD17-6413-F201EBA676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10</a:t>
            </a:fld>
            <a:endParaRPr lang="zh-CN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3BA59C7D-C1A3-458B-BDF4-AAE7650541C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CN"/>
              <a:t>2.1 </a:t>
            </a:r>
            <a:r>
              <a:rPr lang="zh-CN" altLang="en-US"/>
              <a:t>词法记号及属性</a:t>
            </a:r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23A14E48-5320-4611-B2F0-3623441B995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词法记号（</a:t>
            </a:r>
            <a:r>
              <a:rPr lang="en-US" altLang="zh-CN" dirty="0"/>
              <a:t>tokens</a:t>
            </a:r>
            <a:r>
              <a:rPr lang="zh-CN" altLang="en-US" dirty="0"/>
              <a:t>）、模式（</a:t>
            </a:r>
            <a:r>
              <a:rPr lang="en-US" altLang="zh-CN" dirty="0"/>
              <a:t>patterns</a:t>
            </a:r>
            <a:r>
              <a:rPr lang="zh-CN" altLang="en-US" dirty="0"/>
              <a:t>）、单词（</a:t>
            </a:r>
            <a:r>
              <a:rPr lang="en-US" altLang="zh-CN" dirty="0"/>
              <a:t>lexemes</a:t>
            </a:r>
            <a:r>
              <a:rPr lang="zh-CN" altLang="en-US" dirty="0"/>
              <a:t>）</a:t>
            </a:r>
          </a:p>
          <a:p>
            <a:pPr eaLnBrk="1" hangingPunct="1"/>
            <a:r>
              <a:rPr lang="zh-CN" altLang="en-US" dirty="0"/>
              <a:t>词法记号的属性</a:t>
            </a:r>
          </a:p>
          <a:p>
            <a:pPr eaLnBrk="1" hangingPunct="1"/>
            <a:r>
              <a:rPr lang="zh-CN" altLang="en-US" dirty="0"/>
              <a:t>词法错误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C25F95E-4955-02EA-BFED-2BE2837CD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5EFCA-44DB-4A07-8E52-C083327E608C}" type="datetime2">
              <a:rPr lang="zh-CN" altLang="en-US" smtClean="0"/>
              <a:t>2026年3月11日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5C1A9C8-9152-5CD5-2BC4-462EEC7C6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</a:t>
            </a:r>
            <a:r>
              <a:rPr lang="en-US" altLang="zh-CN"/>
              <a:t>2</a:t>
            </a:r>
            <a:r>
              <a:rPr lang="zh-CN" altLang="en-US"/>
              <a:t>章 词法分析</a:t>
            </a:r>
            <a:r>
              <a:rPr lang="en-US" altLang="zh-CN"/>
              <a:t>(1)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7BE0390-57BA-E816-10E2-5B5D11201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11</a:t>
            </a:fld>
            <a:endParaRPr lang="zh-CN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A8D8C273-204F-4C5E-B684-F6712962FFF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CN" dirty="0"/>
              <a:t>2.1.1 </a:t>
            </a:r>
            <a:r>
              <a:rPr lang="zh-CN" altLang="en-US" dirty="0"/>
              <a:t>词法记号、模式、单词</a:t>
            </a: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BB5DFD37-8619-4A8E-AE0F-08EF6F408DA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28650" y="1257300"/>
            <a:ext cx="7886700" cy="5371564"/>
          </a:xfrm>
        </p:spPr>
        <p:txBody>
          <a:bodyPr>
            <a:normAutofit/>
          </a:bodyPr>
          <a:lstStyle/>
          <a:p>
            <a:pPr eaLnBrk="1" hangingPunct="1">
              <a:lnSpc>
                <a:spcPct val="110000"/>
              </a:lnSpc>
            </a:pPr>
            <a:r>
              <a:rPr lang="zh-CN" altLang="en-US" sz="2800" dirty="0">
                <a:solidFill>
                  <a:schemeClr val="accent2"/>
                </a:solidFill>
              </a:rPr>
              <a:t>词法记号</a:t>
            </a:r>
            <a:r>
              <a:rPr lang="zh-CN" altLang="en-US" sz="2800" dirty="0"/>
              <a:t>（</a:t>
            </a:r>
            <a:r>
              <a:rPr lang="en-US" altLang="zh-CN" sz="2800" dirty="0"/>
              <a:t>token</a:t>
            </a:r>
            <a:r>
              <a:rPr lang="zh-CN" altLang="en-US" sz="2800" dirty="0"/>
              <a:t>，简称</a:t>
            </a:r>
            <a:r>
              <a:rPr lang="zh-CN" altLang="en-US" sz="2800" dirty="0">
                <a:solidFill>
                  <a:schemeClr val="accent2"/>
                </a:solidFill>
              </a:rPr>
              <a:t>记号</a:t>
            </a:r>
            <a:r>
              <a:rPr lang="zh-CN" altLang="en-US" sz="2800" dirty="0"/>
              <a:t>）：</a:t>
            </a:r>
          </a:p>
          <a:p>
            <a:pPr lvl="1" eaLnBrk="1" hangingPunct="1">
              <a:lnSpc>
                <a:spcPct val="110000"/>
              </a:lnSpc>
            </a:pPr>
            <a:r>
              <a:rPr lang="zh-CN" altLang="en-US" sz="2400" dirty="0"/>
              <a:t>计算机内部表示一般为</a:t>
            </a:r>
            <a:r>
              <a:rPr lang="en-US" altLang="zh-CN" sz="2400" dirty="0"/>
              <a:t>&lt;</a:t>
            </a:r>
            <a:r>
              <a:rPr lang="zh-CN" altLang="en-US" sz="2400" dirty="0"/>
              <a:t>记号名，属性值</a:t>
            </a:r>
            <a:r>
              <a:rPr lang="en-US" altLang="zh-CN" sz="2400" dirty="0"/>
              <a:t>&gt; </a:t>
            </a:r>
            <a:r>
              <a:rPr lang="zh-CN" altLang="en-US" sz="2400" dirty="0"/>
              <a:t>二元组，属性值为可选的。</a:t>
            </a:r>
          </a:p>
          <a:p>
            <a:pPr lvl="1" eaLnBrk="1" hangingPunct="1">
              <a:lnSpc>
                <a:spcPct val="110000"/>
              </a:lnSpc>
            </a:pPr>
            <a:r>
              <a:rPr lang="zh-CN" altLang="en-US" sz="2400" dirty="0"/>
              <a:t>记号名即记号分类（</a:t>
            </a:r>
            <a:r>
              <a:rPr lang="en-US" altLang="zh-CN" sz="2400" dirty="0"/>
              <a:t>token class</a:t>
            </a:r>
            <a:r>
              <a:rPr lang="zh-CN" altLang="en-US" sz="2400" dirty="0"/>
              <a:t>），是语法分析的输入符号，记号名常用来直接引用记号。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2239B2C-6147-F459-091A-6D21E64B61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57DBC-1A1D-4FAD-9CBB-78AA1443769C}" type="datetime2">
              <a:rPr lang="zh-CN" altLang="en-US" smtClean="0"/>
              <a:t>2026年3月11日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8DB96E6-A5DC-E1F4-9274-6A07BC935C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</a:t>
            </a:r>
            <a:r>
              <a:rPr lang="en-US" altLang="zh-CN"/>
              <a:t>2</a:t>
            </a:r>
            <a:r>
              <a:rPr lang="zh-CN" altLang="en-US"/>
              <a:t>章 词法分析</a:t>
            </a:r>
            <a:r>
              <a:rPr lang="en-US" altLang="zh-CN"/>
              <a:t>(1)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1DC905C-AEE5-9BDB-2392-FF20F70509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12</a:t>
            </a:fld>
            <a:endParaRPr lang="zh-CN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12E7AB3D-38A1-440E-9FD6-443967B4B5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CN" dirty="0"/>
              <a:t>2.1.1 </a:t>
            </a:r>
            <a:r>
              <a:rPr lang="zh-CN" altLang="en-US" dirty="0"/>
              <a:t>词法记号、模式、单词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A6A93CD9-FBBD-431C-902D-84310742BE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词法记号的例子</a:t>
            </a:r>
          </a:p>
        </p:txBody>
      </p:sp>
      <p:graphicFrame>
        <p:nvGraphicFramePr>
          <p:cNvPr id="2" name="表格 2">
            <a:extLst>
              <a:ext uri="{FF2B5EF4-FFF2-40B4-BE49-F238E27FC236}">
                <a16:creationId xmlns:a16="http://schemas.microsoft.com/office/drawing/2014/main" id="{A37119C2-5A28-47F8-845C-859FF73EDA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1284311"/>
              </p:ext>
            </p:extLst>
          </p:nvPr>
        </p:nvGraphicFramePr>
        <p:xfrm>
          <a:off x="225465" y="2038525"/>
          <a:ext cx="8693069" cy="36590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511944">
                  <a:extLst>
                    <a:ext uri="{9D8B030D-6E8A-4147-A177-3AD203B41FA5}">
                      <a16:colId xmlns:a16="http://schemas.microsoft.com/office/drawing/2014/main" val="2791657631"/>
                    </a:ext>
                  </a:extLst>
                </a:gridCol>
                <a:gridCol w="2812214">
                  <a:extLst>
                    <a:ext uri="{9D8B030D-6E8A-4147-A177-3AD203B41FA5}">
                      <a16:colId xmlns:a16="http://schemas.microsoft.com/office/drawing/2014/main" val="3498121489"/>
                    </a:ext>
                  </a:extLst>
                </a:gridCol>
                <a:gridCol w="4368911">
                  <a:extLst>
                    <a:ext uri="{9D8B030D-6E8A-4147-A177-3AD203B41FA5}">
                      <a16:colId xmlns:a16="http://schemas.microsoft.com/office/drawing/2014/main" val="2040334759"/>
                    </a:ext>
                  </a:extLst>
                </a:gridCol>
              </a:tblGrid>
              <a:tr h="479732">
                <a:tc>
                  <a:txBody>
                    <a:bodyPr/>
                    <a:lstStyle/>
                    <a:p>
                      <a:r>
                        <a:rPr lang="zh-CN" altLang="en-US" sz="2400" dirty="0">
                          <a:solidFill>
                            <a:schemeClr val="accent2"/>
                          </a:solidFill>
                          <a:latin typeface="+mn-lt"/>
                          <a:ea typeface="+mn-ea"/>
                        </a:rPr>
                        <a:t>词法记号</a:t>
                      </a:r>
                    </a:p>
                  </a:txBody>
                  <a:tcPr marL="79378" marR="79378" marT="39689" marB="39689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 dirty="0">
                          <a:solidFill>
                            <a:schemeClr val="accent2"/>
                          </a:solidFill>
                          <a:latin typeface="+mn-lt"/>
                          <a:ea typeface="+mn-ea"/>
                        </a:rPr>
                        <a:t>单词举例</a:t>
                      </a:r>
                    </a:p>
                  </a:txBody>
                  <a:tcPr marL="79378" marR="79378" marT="39689" marB="3968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400" dirty="0">
                          <a:solidFill>
                            <a:schemeClr val="accent2"/>
                          </a:solidFill>
                          <a:latin typeface="+mn-lt"/>
                          <a:ea typeface="+mn-ea"/>
                        </a:rPr>
                        <a:t>模式的非形式描述</a:t>
                      </a:r>
                    </a:p>
                  </a:txBody>
                  <a:tcPr marL="79378" marR="79378" marT="39689" marB="3968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0948939"/>
                  </a:ext>
                </a:extLst>
              </a:tr>
              <a:tr h="476751"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latin typeface="+mn-lt"/>
                          <a:ea typeface="+mn-ea"/>
                        </a:rPr>
                        <a:t>if</a:t>
                      </a:r>
                      <a:endParaRPr lang="zh-CN" altLang="en-US" sz="2400" dirty="0">
                        <a:latin typeface="+mn-lt"/>
                        <a:ea typeface="+mn-ea"/>
                      </a:endParaRPr>
                    </a:p>
                  </a:txBody>
                  <a:tcPr marL="79378" marR="79378" marT="39689" marB="39689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latin typeface="+mn-lt"/>
                          <a:ea typeface="+mn-ea"/>
                        </a:rPr>
                        <a:t>if</a:t>
                      </a:r>
                      <a:endParaRPr lang="zh-CN" altLang="en-US" sz="2400" dirty="0">
                        <a:latin typeface="+mn-lt"/>
                        <a:ea typeface="+mn-ea"/>
                      </a:endParaRPr>
                    </a:p>
                  </a:txBody>
                  <a:tcPr marL="79378" marR="79378" marT="39689" marB="3968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 dirty="0">
                          <a:latin typeface="+mn-lt"/>
                          <a:ea typeface="+mn-ea"/>
                        </a:rPr>
                        <a:t>字符</a:t>
                      </a:r>
                      <a:r>
                        <a:rPr lang="en-US" altLang="zh-CN" sz="2400" dirty="0" err="1">
                          <a:latin typeface="+mn-lt"/>
                          <a:ea typeface="+mn-ea"/>
                        </a:rPr>
                        <a:t>i</a:t>
                      </a:r>
                      <a:r>
                        <a:rPr lang="en-US" altLang="zh-CN" sz="2400" dirty="0">
                          <a:latin typeface="+mn-lt"/>
                          <a:ea typeface="+mn-ea"/>
                        </a:rPr>
                        <a:t>,</a:t>
                      </a:r>
                      <a:r>
                        <a:rPr lang="zh-CN" altLang="en-US" sz="2400" dirty="0">
                          <a:latin typeface="+mn-lt"/>
                          <a:ea typeface="+mn-ea"/>
                        </a:rPr>
                        <a:t> </a:t>
                      </a:r>
                      <a:r>
                        <a:rPr lang="en-US" altLang="zh-CN" sz="2400" dirty="0">
                          <a:latin typeface="+mn-lt"/>
                          <a:ea typeface="+mn-ea"/>
                        </a:rPr>
                        <a:t>f</a:t>
                      </a:r>
                      <a:endParaRPr lang="zh-CN" altLang="en-US" sz="2400" dirty="0">
                        <a:latin typeface="+mn-lt"/>
                        <a:ea typeface="+mn-ea"/>
                      </a:endParaRPr>
                    </a:p>
                  </a:txBody>
                  <a:tcPr marL="79378" marR="79378" marT="39689" marB="3968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3773917"/>
                  </a:ext>
                </a:extLst>
              </a:tr>
              <a:tr h="476751"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latin typeface="+mn-lt"/>
                          <a:ea typeface="+mn-ea"/>
                        </a:rPr>
                        <a:t>for</a:t>
                      </a:r>
                      <a:endParaRPr lang="zh-CN" altLang="en-US" sz="2400" dirty="0">
                        <a:latin typeface="+mn-lt"/>
                        <a:ea typeface="+mn-ea"/>
                      </a:endParaRPr>
                    </a:p>
                  </a:txBody>
                  <a:tcPr marL="79378" marR="79378" marT="39689" marB="39689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latin typeface="+mn-lt"/>
                          <a:ea typeface="+mn-ea"/>
                        </a:rPr>
                        <a:t>for</a:t>
                      </a:r>
                      <a:endParaRPr lang="zh-CN" altLang="en-US" sz="2400" dirty="0">
                        <a:latin typeface="+mn-lt"/>
                        <a:ea typeface="+mn-ea"/>
                      </a:endParaRPr>
                    </a:p>
                  </a:txBody>
                  <a:tcPr marL="79378" marR="79378" marT="39689" marB="3968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 dirty="0">
                          <a:latin typeface="+mn-lt"/>
                          <a:ea typeface="+mn-ea"/>
                        </a:rPr>
                        <a:t>字符</a:t>
                      </a:r>
                      <a:r>
                        <a:rPr lang="en-US" altLang="zh-CN" sz="2400" dirty="0">
                          <a:latin typeface="+mn-lt"/>
                          <a:ea typeface="+mn-ea"/>
                        </a:rPr>
                        <a:t>f, o, r</a:t>
                      </a:r>
                      <a:endParaRPr lang="zh-CN" altLang="en-US" sz="2400" dirty="0">
                        <a:latin typeface="+mn-lt"/>
                        <a:ea typeface="+mn-ea"/>
                      </a:endParaRPr>
                    </a:p>
                  </a:txBody>
                  <a:tcPr marL="79378" marR="79378" marT="39689" marB="3968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7740167"/>
                  </a:ext>
                </a:extLst>
              </a:tr>
              <a:tr h="476751"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latin typeface="+mn-lt"/>
                          <a:ea typeface="+mn-ea"/>
                        </a:rPr>
                        <a:t>relation</a:t>
                      </a:r>
                      <a:endParaRPr lang="zh-CN" altLang="en-US" sz="2400" dirty="0">
                        <a:latin typeface="+mn-lt"/>
                        <a:ea typeface="+mn-ea"/>
                      </a:endParaRPr>
                    </a:p>
                  </a:txBody>
                  <a:tcPr marL="79378" marR="79378" marT="39689" marB="39689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latin typeface="+mn-lt"/>
                          <a:ea typeface="+mn-ea"/>
                        </a:rPr>
                        <a:t>&lt;, &lt;=, =, …</a:t>
                      </a:r>
                      <a:endParaRPr lang="zh-CN" altLang="en-US" sz="2400" dirty="0">
                        <a:latin typeface="+mn-lt"/>
                        <a:ea typeface="+mn-ea"/>
                      </a:endParaRPr>
                    </a:p>
                  </a:txBody>
                  <a:tcPr marL="79378" marR="79378" marT="39689" marB="3968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dirty="0"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&lt; </a:t>
                      </a:r>
                      <a:r>
                        <a:rPr lang="zh-CN" altLang="en-US" sz="2400" dirty="0">
                          <a:latin typeface="+mn-lt"/>
                          <a:ea typeface="+mn-ea"/>
                        </a:rPr>
                        <a:t>或</a:t>
                      </a:r>
                      <a:r>
                        <a:rPr lang="zh-CN" altLang="en-US" sz="2400" dirty="0"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2400" dirty="0"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&lt;= </a:t>
                      </a:r>
                      <a:r>
                        <a:rPr lang="zh-CN" altLang="en-US" sz="2400" dirty="0">
                          <a:latin typeface="+mn-lt"/>
                          <a:ea typeface="+mn-ea"/>
                        </a:rPr>
                        <a:t>或</a:t>
                      </a:r>
                      <a:r>
                        <a:rPr lang="zh-CN" altLang="en-US" sz="2400" dirty="0"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2400" dirty="0"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= </a:t>
                      </a:r>
                      <a:r>
                        <a:rPr lang="zh-CN" altLang="en-US" sz="2400" dirty="0">
                          <a:latin typeface="+mn-lt"/>
                          <a:ea typeface="+mn-ea"/>
                        </a:rPr>
                        <a:t>或 </a:t>
                      </a:r>
                      <a:r>
                        <a:rPr lang="en-US" altLang="zh-CN" sz="2400" dirty="0">
                          <a:latin typeface="+mn-lt"/>
                          <a:ea typeface="+mn-ea"/>
                        </a:rPr>
                        <a:t>…</a:t>
                      </a:r>
                    </a:p>
                  </a:txBody>
                  <a:tcPr marL="79378" marR="79378" marT="39689" marB="3968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2551528"/>
                  </a:ext>
                </a:extLst>
              </a:tr>
              <a:tr h="476751"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latin typeface="+mn-lt"/>
                          <a:ea typeface="+mn-ea"/>
                        </a:rPr>
                        <a:t>id</a:t>
                      </a:r>
                      <a:endParaRPr lang="zh-CN" altLang="en-US" sz="2400" dirty="0">
                        <a:latin typeface="+mn-lt"/>
                        <a:ea typeface="+mn-ea"/>
                      </a:endParaRPr>
                    </a:p>
                  </a:txBody>
                  <a:tcPr marL="79378" marR="79378" marT="39689" marB="39689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latin typeface="+mn-lt"/>
                          <a:ea typeface="+mn-ea"/>
                        </a:rPr>
                        <a:t>sum, count, D5</a:t>
                      </a:r>
                      <a:endParaRPr lang="zh-CN" altLang="en-US" sz="2400" dirty="0">
                        <a:latin typeface="+mn-lt"/>
                        <a:ea typeface="+mn-ea"/>
                      </a:endParaRPr>
                    </a:p>
                  </a:txBody>
                  <a:tcPr marL="79378" marR="79378" marT="39689" marB="3968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 dirty="0">
                          <a:latin typeface="+mn-lt"/>
                          <a:ea typeface="+mn-ea"/>
                        </a:rPr>
                        <a:t>由字母开头的字母数字串</a:t>
                      </a:r>
                    </a:p>
                  </a:txBody>
                  <a:tcPr marL="79378" marR="79378" marT="39689" marB="3968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4689525"/>
                  </a:ext>
                </a:extLst>
              </a:tr>
              <a:tr h="452083"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latin typeface="+mn-lt"/>
                          <a:ea typeface="+mn-ea"/>
                        </a:rPr>
                        <a:t>num</a:t>
                      </a:r>
                      <a:endParaRPr lang="zh-CN" altLang="en-US" sz="2400" dirty="0">
                        <a:latin typeface="+mn-lt"/>
                        <a:ea typeface="+mn-ea"/>
                      </a:endParaRPr>
                    </a:p>
                  </a:txBody>
                  <a:tcPr marL="79378" marR="79378" marT="39689" marB="39689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b="0" dirty="0"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3.1, 10, 2.8E12</a:t>
                      </a:r>
                      <a:endParaRPr lang="zh-CN" altLang="en-US" sz="2400" b="0" dirty="0">
                        <a:latin typeface="+mn-lt"/>
                        <a:ea typeface="+mn-ea"/>
                      </a:endParaRPr>
                    </a:p>
                  </a:txBody>
                  <a:tcPr marL="79378" marR="79378" marT="39689" marB="3968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 dirty="0">
                          <a:latin typeface="+mn-lt"/>
                          <a:ea typeface="+mn-ea"/>
                        </a:rPr>
                        <a:t>任何数值常数</a:t>
                      </a:r>
                    </a:p>
                  </a:txBody>
                  <a:tcPr marL="79378" marR="79378" marT="39689" marB="3968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6657867"/>
                  </a:ext>
                </a:extLst>
              </a:tr>
              <a:tr h="820241"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latin typeface="+mn-lt"/>
                          <a:ea typeface="+mn-ea"/>
                        </a:rPr>
                        <a:t>literal</a:t>
                      </a:r>
                      <a:endParaRPr lang="zh-CN" altLang="en-US" sz="2400" dirty="0">
                        <a:latin typeface="+mn-lt"/>
                        <a:ea typeface="+mn-ea"/>
                      </a:endParaRPr>
                    </a:p>
                  </a:txBody>
                  <a:tcPr marL="79378" marR="79378" marT="39689" marB="39689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b="0" dirty="0"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“</a:t>
                      </a:r>
                      <a:r>
                        <a:rPr lang="en-US" altLang="zh-CN" sz="2400" b="0" dirty="0" err="1"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seg.error</a:t>
                      </a:r>
                      <a:r>
                        <a:rPr lang="en-US" altLang="zh-CN" sz="2400" b="0" dirty="0"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”</a:t>
                      </a:r>
                      <a:endParaRPr lang="zh-CN" altLang="en-US" sz="2400" b="0" dirty="0">
                        <a:latin typeface="+mn-lt"/>
                        <a:ea typeface="+mn-ea"/>
                      </a:endParaRPr>
                    </a:p>
                  </a:txBody>
                  <a:tcPr marL="79378" marR="79378" marT="39689" marB="3968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 dirty="0">
                          <a:latin typeface="+mn-lt"/>
                          <a:ea typeface="+mn-ea"/>
                        </a:rPr>
                        <a:t>两个引号（</a:t>
                      </a:r>
                      <a:r>
                        <a:rPr lang="en-US" altLang="zh-CN" sz="2400" b="1" dirty="0"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“”</a:t>
                      </a:r>
                      <a:r>
                        <a:rPr lang="zh-CN" altLang="en-US" sz="2400" dirty="0">
                          <a:latin typeface="+mn-lt"/>
                          <a:ea typeface="+mn-ea"/>
                        </a:rPr>
                        <a:t>）之间的任意字符串，但引号本身除外</a:t>
                      </a:r>
                    </a:p>
                  </a:txBody>
                  <a:tcPr marL="79378" marR="79378" marT="39689" marB="3968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8208362"/>
                  </a:ext>
                </a:extLst>
              </a:tr>
            </a:tbl>
          </a:graphicData>
        </a:graphic>
      </p:graphicFrame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03CEFE5-7836-11BC-F50E-1FCC8A0FD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00395-8AFD-4E8D-A8A1-B176D545E819}" type="datetime2">
              <a:rPr lang="zh-CN" altLang="en-US" smtClean="0"/>
              <a:t>2026年3月11日</a:t>
            </a:fld>
            <a:endParaRPr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B3A35E1-225C-85DE-AAD0-DA0E2570AD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</a:t>
            </a:r>
            <a:r>
              <a:rPr lang="en-US" altLang="zh-CN"/>
              <a:t>2</a:t>
            </a:r>
            <a:r>
              <a:rPr lang="zh-CN" altLang="en-US"/>
              <a:t>章 词法分析</a:t>
            </a:r>
            <a:r>
              <a:rPr lang="en-US" altLang="zh-CN"/>
              <a:t>(1)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389D27B-DD94-6355-6B1E-FB0340CDA8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13</a:t>
            </a:fld>
            <a:endParaRPr lang="zh-CN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A8D8C273-204F-4C5E-B684-F6712962FFF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CN" dirty="0"/>
              <a:t>2.1.1 </a:t>
            </a:r>
            <a:r>
              <a:rPr lang="zh-CN" altLang="en-US" dirty="0"/>
              <a:t>词法记号、模式、单词</a:t>
            </a: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BB5DFD37-8619-4A8E-AE0F-08EF6F408DA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28650" y="1257300"/>
            <a:ext cx="7886700" cy="5371564"/>
          </a:xfrm>
        </p:spPr>
        <p:txBody>
          <a:bodyPr>
            <a:normAutofit fontScale="85000" lnSpcReduction="10000"/>
          </a:bodyPr>
          <a:lstStyle/>
          <a:p>
            <a:pPr eaLnBrk="1" hangingPunct="1">
              <a:lnSpc>
                <a:spcPct val="110000"/>
              </a:lnSpc>
            </a:pPr>
            <a:r>
              <a:rPr lang="zh-CN" altLang="en-US" dirty="0">
                <a:solidFill>
                  <a:schemeClr val="accent2"/>
                </a:solidFill>
              </a:rPr>
              <a:t>词法记号</a:t>
            </a:r>
            <a:r>
              <a:rPr lang="zh-CN" altLang="en-US" dirty="0"/>
              <a:t>（</a:t>
            </a:r>
            <a:r>
              <a:rPr lang="en-US" altLang="zh-CN" dirty="0"/>
              <a:t>token</a:t>
            </a:r>
            <a:r>
              <a:rPr lang="zh-CN" altLang="en-US" dirty="0"/>
              <a:t>，简称</a:t>
            </a:r>
            <a:r>
              <a:rPr lang="zh-CN" altLang="en-US" dirty="0">
                <a:solidFill>
                  <a:schemeClr val="accent2"/>
                </a:solidFill>
              </a:rPr>
              <a:t>记号</a:t>
            </a:r>
            <a:r>
              <a:rPr lang="zh-CN" altLang="en-US" dirty="0"/>
              <a:t>）：</a:t>
            </a:r>
          </a:p>
          <a:p>
            <a:pPr lvl="1" eaLnBrk="1" hangingPunct="1">
              <a:lnSpc>
                <a:spcPct val="110000"/>
              </a:lnSpc>
            </a:pPr>
            <a:r>
              <a:rPr lang="zh-CN" altLang="en-US" dirty="0"/>
              <a:t>计算机内部表示一般为</a:t>
            </a:r>
            <a:r>
              <a:rPr lang="en-US" altLang="zh-CN" dirty="0"/>
              <a:t>&lt;</a:t>
            </a:r>
            <a:r>
              <a:rPr lang="zh-CN" altLang="en-US" dirty="0"/>
              <a:t>记号名，属性值</a:t>
            </a:r>
            <a:r>
              <a:rPr lang="en-US" altLang="zh-CN" dirty="0"/>
              <a:t>&gt; </a:t>
            </a:r>
            <a:r>
              <a:rPr lang="zh-CN" altLang="en-US" dirty="0"/>
              <a:t>二元组，属性值为可选的。</a:t>
            </a:r>
          </a:p>
          <a:p>
            <a:pPr lvl="1" eaLnBrk="1" hangingPunct="1">
              <a:lnSpc>
                <a:spcPct val="110000"/>
              </a:lnSpc>
            </a:pPr>
            <a:r>
              <a:rPr lang="zh-CN" altLang="en-US" dirty="0"/>
              <a:t>记号名即记号分类（</a:t>
            </a:r>
            <a:r>
              <a:rPr lang="en-US" altLang="zh-CN" dirty="0"/>
              <a:t>token class</a:t>
            </a:r>
            <a:r>
              <a:rPr lang="zh-CN" altLang="en-US" dirty="0"/>
              <a:t>），是语法分析的输入符号，记号名常用来直接引用记号。</a:t>
            </a:r>
          </a:p>
          <a:p>
            <a:pPr eaLnBrk="1" hangingPunct="1">
              <a:lnSpc>
                <a:spcPct val="110000"/>
              </a:lnSpc>
            </a:pPr>
            <a:r>
              <a:rPr lang="zh-CN" altLang="en-US" dirty="0">
                <a:solidFill>
                  <a:schemeClr val="accent2"/>
                </a:solidFill>
              </a:rPr>
              <a:t>模式</a:t>
            </a:r>
            <a:r>
              <a:rPr lang="zh-CN" altLang="en-US" dirty="0"/>
              <a:t>（</a:t>
            </a:r>
            <a:r>
              <a:rPr lang="en-US" altLang="zh-CN" dirty="0"/>
              <a:t>pattern</a:t>
            </a:r>
            <a:r>
              <a:rPr lang="zh-CN" altLang="en-US" dirty="0"/>
              <a:t>）：描述一个词法记号的单词可能具有的</a:t>
            </a:r>
            <a:r>
              <a:rPr lang="zh-CN" altLang="en-US" dirty="0">
                <a:solidFill>
                  <a:schemeClr val="accent2"/>
                </a:solidFill>
              </a:rPr>
              <a:t>形式</a:t>
            </a:r>
            <a:r>
              <a:rPr lang="zh-CN" altLang="en-US" dirty="0"/>
              <a:t>。当词法记号是一个关键字时，它的模式就是组成这个关键字的字符序列；当词法记号是一个标识符或其他，模式是一个更加复杂的结构，它可以和很多字符串</a:t>
            </a:r>
            <a:r>
              <a:rPr lang="zh-CN" altLang="en-US" dirty="0">
                <a:solidFill>
                  <a:schemeClr val="accent2"/>
                </a:solidFill>
              </a:rPr>
              <a:t>匹配</a:t>
            </a:r>
            <a:r>
              <a:rPr lang="zh-CN" altLang="en-US" dirty="0"/>
              <a:t>。</a:t>
            </a:r>
          </a:p>
          <a:p>
            <a:pPr eaLnBrk="1" hangingPunct="1">
              <a:lnSpc>
                <a:spcPct val="110000"/>
              </a:lnSpc>
            </a:pPr>
            <a:r>
              <a:rPr lang="zh-CN" altLang="en-US" dirty="0">
                <a:solidFill>
                  <a:schemeClr val="accent2"/>
                </a:solidFill>
              </a:rPr>
              <a:t>单词</a:t>
            </a:r>
            <a:r>
              <a:rPr lang="zh-CN" altLang="en-US" dirty="0"/>
              <a:t>（</a:t>
            </a:r>
            <a:r>
              <a:rPr lang="en-US" altLang="zh-CN" dirty="0"/>
              <a:t>lexeme</a:t>
            </a:r>
            <a:r>
              <a:rPr lang="zh-CN" altLang="en-US" dirty="0"/>
              <a:t>）：又叫</a:t>
            </a:r>
            <a:r>
              <a:rPr lang="zh-CN" altLang="en-US" dirty="0">
                <a:solidFill>
                  <a:schemeClr val="accent2"/>
                </a:solidFill>
              </a:rPr>
              <a:t>词法单元</a:t>
            </a:r>
            <a:r>
              <a:rPr lang="zh-CN" altLang="en-US" dirty="0"/>
              <a:t>，它和某个词法记号的</a:t>
            </a:r>
            <a:r>
              <a:rPr lang="zh-CN" altLang="en-US" dirty="0">
                <a:solidFill>
                  <a:schemeClr val="accent2"/>
                </a:solidFill>
              </a:rPr>
              <a:t>模式</a:t>
            </a:r>
            <a:r>
              <a:rPr lang="zh-CN" altLang="en-US" dirty="0"/>
              <a:t>匹配，它是该记号的</a:t>
            </a:r>
            <a:r>
              <a:rPr lang="zh-CN" altLang="en-US" dirty="0">
                <a:solidFill>
                  <a:schemeClr val="accent2"/>
                </a:solidFill>
              </a:rPr>
              <a:t>实例</a:t>
            </a:r>
            <a:r>
              <a:rPr lang="zh-CN" altLang="en-US" dirty="0">
                <a:solidFill>
                  <a:schemeClr val="accent3"/>
                </a:solidFill>
              </a:rPr>
              <a:t>。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FB1239F-B78F-C3AD-A922-8457E52652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DD516-6FF4-47BD-90D5-5049AD12CD46}" type="datetime2">
              <a:rPr lang="zh-CN" altLang="en-US" smtClean="0"/>
              <a:t>2026年3月11日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A2DC79E-23D7-197D-4BE5-E22FF0D31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</a:t>
            </a:r>
            <a:r>
              <a:rPr lang="en-US" altLang="zh-CN"/>
              <a:t>2</a:t>
            </a:r>
            <a:r>
              <a:rPr lang="zh-CN" altLang="en-US"/>
              <a:t>章 词法分析</a:t>
            </a:r>
            <a:r>
              <a:rPr lang="en-US" altLang="zh-CN"/>
              <a:t>(1)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C994BA3-CCD6-B7CD-2FF9-C490DC16A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07731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A69A2392-EDD4-4045-A061-93E7CFFAC54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CN" dirty="0"/>
              <a:t>2.1.1 </a:t>
            </a:r>
            <a:r>
              <a:rPr lang="zh-CN" altLang="en-US" dirty="0"/>
              <a:t>词法记号、模式、单词</a:t>
            </a: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C7E73F5C-24AC-44DE-B345-DB7514DDCBB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28650" y="1257300"/>
            <a:ext cx="7886700" cy="5260946"/>
          </a:xfrm>
        </p:spPr>
        <p:txBody>
          <a:bodyPr>
            <a:normAutofit/>
          </a:bodyPr>
          <a:lstStyle/>
          <a:p>
            <a:pPr eaLnBrk="1" hangingPunct="1"/>
            <a:r>
              <a:rPr lang="zh-CN" altLang="en-US" dirty="0"/>
              <a:t>如何确定记号名（即</a:t>
            </a:r>
            <a:r>
              <a:rPr lang="en-US" altLang="zh-CN" dirty="0"/>
              <a:t>token class</a:t>
            </a:r>
            <a:r>
              <a:rPr lang="zh-CN" altLang="en-US" dirty="0"/>
              <a:t>）？</a:t>
            </a:r>
          </a:p>
          <a:p>
            <a:pPr lvl="1" eaLnBrk="1" hangingPunct="1"/>
            <a:r>
              <a:rPr lang="zh-CN" altLang="en-US" dirty="0"/>
              <a:t>确定记号名（即记号分类）</a:t>
            </a:r>
            <a:r>
              <a:rPr lang="zh-CN" altLang="en-US" dirty="0">
                <a:solidFill>
                  <a:schemeClr val="hlink"/>
                </a:solidFill>
              </a:rPr>
              <a:t>没有原则性规定</a:t>
            </a:r>
            <a:r>
              <a:rPr lang="zh-CN" altLang="en-US" dirty="0"/>
              <a:t>，取决于处理上的方便。</a:t>
            </a:r>
          </a:p>
          <a:p>
            <a:pPr lvl="1" eaLnBrk="1" hangingPunct="1"/>
            <a:endParaRPr lang="en-US" altLang="zh-CN" dirty="0"/>
          </a:p>
          <a:p>
            <a:pPr lvl="1" eaLnBrk="1" hangingPunct="1"/>
            <a:r>
              <a:rPr lang="zh-CN" altLang="en-US" dirty="0"/>
              <a:t>通常</a:t>
            </a:r>
            <a:r>
              <a:rPr lang="zh-CN" altLang="en-US" dirty="0">
                <a:solidFill>
                  <a:schemeClr val="accent2"/>
                </a:solidFill>
              </a:rPr>
              <a:t>关键字</a:t>
            </a:r>
            <a:r>
              <a:rPr lang="zh-CN" altLang="en-US" dirty="0"/>
              <a:t>和</a:t>
            </a:r>
            <a:r>
              <a:rPr lang="zh-CN" altLang="en-US" dirty="0">
                <a:solidFill>
                  <a:schemeClr val="accent2"/>
                </a:solidFill>
              </a:rPr>
              <a:t>分隔符</a:t>
            </a:r>
            <a:r>
              <a:rPr lang="zh-CN" altLang="en-US" dirty="0"/>
              <a:t>（标点符号）等可以一词一类；</a:t>
            </a:r>
          </a:p>
          <a:p>
            <a:pPr lvl="1" eaLnBrk="1" hangingPunct="1"/>
            <a:r>
              <a:rPr lang="zh-CN" altLang="en-US" dirty="0">
                <a:solidFill>
                  <a:schemeClr val="accent2"/>
                </a:solidFill>
              </a:rPr>
              <a:t>标识符</a:t>
            </a:r>
            <a:r>
              <a:rPr lang="zh-CN" altLang="en-US" dirty="0"/>
              <a:t>（变量）通常算做一类；</a:t>
            </a:r>
          </a:p>
          <a:p>
            <a:pPr lvl="1" eaLnBrk="1" hangingPunct="1"/>
            <a:r>
              <a:rPr lang="zh-CN" altLang="en-US" dirty="0">
                <a:solidFill>
                  <a:schemeClr val="accent2"/>
                </a:solidFill>
              </a:rPr>
              <a:t>常数或常量</a:t>
            </a:r>
            <a:r>
              <a:rPr lang="zh-CN" altLang="en-US" dirty="0"/>
              <a:t>可按数据类型分类，如前例中的</a:t>
            </a:r>
            <a:r>
              <a:rPr lang="en-US" altLang="zh-CN" dirty="0"/>
              <a:t>num</a:t>
            </a:r>
            <a:r>
              <a:rPr lang="zh-CN" altLang="en-US" dirty="0"/>
              <a:t>，</a:t>
            </a:r>
            <a:r>
              <a:rPr lang="en-US" altLang="zh-CN" dirty="0"/>
              <a:t>literal</a:t>
            </a:r>
            <a:r>
              <a:rPr lang="zh-CN" altLang="en-US" dirty="0"/>
              <a:t>。</a:t>
            </a:r>
          </a:p>
          <a:p>
            <a:pPr lvl="1" eaLnBrk="1" hangingPunct="1"/>
            <a:r>
              <a:rPr lang="zh-CN" altLang="en-US" dirty="0">
                <a:solidFill>
                  <a:schemeClr val="accent2"/>
                </a:solidFill>
              </a:rPr>
              <a:t>运算符</a:t>
            </a:r>
            <a:r>
              <a:rPr lang="zh-CN" altLang="en-US" dirty="0"/>
              <a:t>可以一词一类，也可以若干个归为一类，如前例中的</a:t>
            </a:r>
            <a:r>
              <a:rPr lang="en-US" altLang="zh-CN" dirty="0"/>
              <a:t>relation</a:t>
            </a:r>
            <a:r>
              <a:rPr lang="zh-CN" altLang="en-US" dirty="0"/>
              <a:t>。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B7DB881-0585-B291-9B14-48AEA5CC6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87DE8-363D-4613-B96F-7A8507C62D1D}" type="datetime2">
              <a:rPr lang="zh-CN" altLang="en-US" smtClean="0"/>
              <a:t>2026年3月11日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EE82D41-59E3-DDB4-2F80-64FF9B441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</a:t>
            </a:r>
            <a:r>
              <a:rPr lang="en-US" altLang="zh-CN"/>
              <a:t>2</a:t>
            </a:r>
            <a:r>
              <a:rPr lang="zh-CN" altLang="en-US"/>
              <a:t>章 词法分析</a:t>
            </a:r>
            <a:r>
              <a:rPr lang="en-US" altLang="zh-CN"/>
              <a:t>(1)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A6B6FA3-B818-06FA-8E3C-245996859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15</a:t>
            </a:fld>
            <a:endParaRPr lang="zh-CN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C7E6F049-46F2-4629-A108-33309440C50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2.1.1 </a:t>
            </a:r>
            <a:r>
              <a:rPr lang="zh-CN" altLang="en-US" dirty="0"/>
              <a:t>词法记号、模式、单词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70772F37-F2CC-45C1-9D65-2586AA320F2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例：将下列源程序片段转换成记号流（可以只用记号名表示记号）：</a:t>
            </a:r>
          </a:p>
          <a:p>
            <a:pPr lvl="1" eaLnBrk="1" hangingPunct="1"/>
            <a:r>
              <a:rPr lang="zh-CN" altLang="en-US" dirty="0"/>
              <a:t>源程序片段</a:t>
            </a:r>
            <a:r>
              <a:rPr lang="zh-CN" altLang="en-US" dirty="0">
                <a:sym typeface="Wingdings" panose="05000000000000000000" pitchFamily="2" charset="2"/>
              </a:rPr>
              <a:t>：（其中</a:t>
            </a:r>
            <a:r>
              <a:rPr lang="en-US" altLang="zh-CN" b="1" dirty="0">
                <a:latin typeface="Courier New" panose="02070309020205020404" pitchFamily="49" charset="0"/>
                <a:sym typeface="Wingdings" panose="05000000000000000000" pitchFamily="2" charset="2"/>
              </a:rPr>
              <a:t>sum</a:t>
            </a:r>
            <a:r>
              <a:rPr lang="zh-CN" altLang="en-US" dirty="0">
                <a:sym typeface="Wingdings" panose="05000000000000000000" pitchFamily="2" charset="2"/>
              </a:rPr>
              <a:t>是变量）</a:t>
            </a:r>
            <a:endParaRPr lang="zh-CN" altLang="en-US" dirty="0"/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 b="1" dirty="0">
                <a:latin typeface="Courier New" panose="02070309020205020404" pitchFamily="49" charset="0"/>
              </a:rPr>
              <a:t> </a:t>
            </a:r>
            <a:r>
              <a:rPr lang="en-US" altLang="zh-CN" sz="2400" b="1" dirty="0">
                <a:solidFill>
                  <a:schemeClr val="accent1"/>
                </a:solidFill>
              </a:rPr>
              <a:t>if (sum &gt; 0) return sum;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endParaRPr lang="en-US" altLang="zh-CN" b="1" dirty="0">
              <a:solidFill>
                <a:schemeClr val="accent1"/>
              </a:solidFill>
            </a:endParaRPr>
          </a:p>
        </p:txBody>
      </p:sp>
      <p:graphicFrame>
        <p:nvGraphicFramePr>
          <p:cNvPr id="4" name="表格 2">
            <a:extLst>
              <a:ext uri="{FF2B5EF4-FFF2-40B4-BE49-F238E27FC236}">
                <a16:creationId xmlns:a16="http://schemas.microsoft.com/office/drawing/2014/main" id="{1121075B-DD10-4D53-8080-246DE7C0D2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0342184"/>
              </p:ext>
            </p:extLst>
          </p:nvPr>
        </p:nvGraphicFramePr>
        <p:xfrm>
          <a:off x="2595313" y="4477869"/>
          <a:ext cx="6158553" cy="191673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071127">
                  <a:extLst>
                    <a:ext uri="{9D8B030D-6E8A-4147-A177-3AD203B41FA5}">
                      <a16:colId xmlns:a16="http://schemas.microsoft.com/office/drawing/2014/main" val="2791657631"/>
                    </a:ext>
                  </a:extLst>
                </a:gridCol>
                <a:gridCol w="1992296">
                  <a:extLst>
                    <a:ext uri="{9D8B030D-6E8A-4147-A177-3AD203B41FA5}">
                      <a16:colId xmlns:a16="http://schemas.microsoft.com/office/drawing/2014/main" val="3498121489"/>
                    </a:ext>
                  </a:extLst>
                </a:gridCol>
                <a:gridCol w="3095130">
                  <a:extLst>
                    <a:ext uri="{9D8B030D-6E8A-4147-A177-3AD203B41FA5}">
                      <a16:colId xmlns:a16="http://schemas.microsoft.com/office/drawing/2014/main" val="2040334759"/>
                    </a:ext>
                  </a:extLst>
                </a:gridCol>
              </a:tblGrid>
              <a:tr h="339863">
                <a:tc>
                  <a:txBody>
                    <a:bodyPr/>
                    <a:lstStyle/>
                    <a:p>
                      <a:r>
                        <a:rPr lang="zh-CN" altLang="en-US" sz="1700" b="0" dirty="0">
                          <a:solidFill>
                            <a:schemeClr val="accent2"/>
                          </a:solidFill>
                          <a:latin typeface="+mn-lt"/>
                          <a:ea typeface="+mn-ea"/>
                        </a:rPr>
                        <a:t>词法记号</a:t>
                      </a:r>
                    </a:p>
                  </a:txBody>
                  <a:tcPr marL="56235" marR="56235" marT="28118" marB="281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700" b="0" dirty="0">
                          <a:solidFill>
                            <a:schemeClr val="accent2"/>
                          </a:solidFill>
                          <a:latin typeface="+mn-lt"/>
                          <a:ea typeface="+mn-ea"/>
                        </a:rPr>
                        <a:t>单词举例</a:t>
                      </a:r>
                    </a:p>
                  </a:txBody>
                  <a:tcPr marL="56235" marR="56235" marT="28118" marB="281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700" b="0" dirty="0">
                          <a:solidFill>
                            <a:schemeClr val="accent2"/>
                          </a:solidFill>
                          <a:latin typeface="+mn-lt"/>
                          <a:ea typeface="+mn-ea"/>
                        </a:rPr>
                        <a:t>模式的非形式描述</a:t>
                      </a:r>
                    </a:p>
                  </a:txBody>
                  <a:tcPr marL="56235" marR="56235" marT="28118" marB="281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0948939"/>
                  </a:ext>
                </a:extLst>
              </a:tr>
              <a:tr h="337752">
                <a:tc>
                  <a:txBody>
                    <a:bodyPr/>
                    <a:lstStyle/>
                    <a:p>
                      <a:r>
                        <a:rPr lang="en-US" altLang="zh-CN" sz="1700" dirty="0">
                          <a:latin typeface="+mn-lt"/>
                          <a:ea typeface="+mn-ea"/>
                        </a:rPr>
                        <a:t>relation</a:t>
                      </a:r>
                      <a:endParaRPr lang="zh-CN" altLang="en-US" sz="1700" dirty="0">
                        <a:latin typeface="+mn-lt"/>
                        <a:ea typeface="+mn-ea"/>
                      </a:endParaRPr>
                    </a:p>
                  </a:txBody>
                  <a:tcPr marL="56235" marR="56235" marT="28118" marB="281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700" dirty="0">
                          <a:latin typeface="+mn-lt"/>
                          <a:ea typeface="+mn-ea"/>
                        </a:rPr>
                        <a:t>&lt;, &lt;=, =, …</a:t>
                      </a:r>
                      <a:endParaRPr lang="zh-CN" altLang="en-US" sz="1700" dirty="0">
                        <a:latin typeface="+mn-lt"/>
                        <a:ea typeface="+mn-ea"/>
                      </a:endParaRPr>
                    </a:p>
                  </a:txBody>
                  <a:tcPr marL="56235" marR="56235" marT="28118" marB="281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700" dirty="0"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&lt; </a:t>
                      </a:r>
                      <a:r>
                        <a:rPr lang="zh-CN" altLang="en-US" sz="1700" dirty="0">
                          <a:latin typeface="+mn-lt"/>
                          <a:ea typeface="+mn-ea"/>
                        </a:rPr>
                        <a:t>或</a:t>
                      </a:r>
                      <a:r>
                        <a:rPr lang="zh-CN" altLang="en-US" sz="1700" dirty="0"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1700" dirty="0"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&lt;= </a:t>
                      </a:r>
                      <a:r>
                        <a:rPr lang="zh-CN" altLang="en-US" sz="1700" dirty="0">
                          <a:latin typeface="+mn-lt"/>
                          <a:ea typeface="+mn-ea"/>
                        </a:rPr>
                        <a:t>或</a:t>
                      </a:r>
                      <a:r>
                        <a:rPr lang="zh-CN" altLang="en-US" sz="1700" dirty="0"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1700" dirty="0"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= </a:t>
                      </a:r>
                      <a:r>
                        <a:rPr lang="zh-CN" altLang="en-US" sz="1700" dirty="0">
                          <a:latin typeface="+mn-lt"/>
                          <a:ea typeface="+mn-ea"/>
                        </a:rPr>
                        <a:t>或 </a:t>
                      </a:r>
                      <a:r>
                        <a:rPr lang="en-US" altLang="zh-CN" sz="1700" dirty="0">
                          <a:latin typeface="+mn-lt"/>
                          <a:ea typeface="+mn-ea"/>
                        </a:rPr>
                        <a:t>…</a:t>
                      </a:r>
                    </a:p>
                  </a:txBody>
                  <a:tcPr marL="56235" marR="56235" marT="28118" marB="281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2551528"/>
                  </a:ext>
                </a:extLst>
              </a:tr>
              <a:tr h="337752">
                <a:tc>
                  <a:txBody>
                    <a:bodyPr/>
                    <a:lstStyle/>
                    <a:p>
                      <a:r>
                        <a:rPr lang="en-US" altLang="zh-CN" sz="1700" dirty="0">
                          <a:latin typeface="+mn-lt"/>
                          <a:ea typeface="+mn-ea"/>
                        </a:rPr>
                        <a:t>id</a:t>
                      </a:r>
                      <a:endParaRPr lang="zh-CN" altLang="en-US" sz="1700" dirty="0">
                        <a:latin typeface="+mn-lt"/>
                        <a:ea typeface="+mn-ea"/>
                      </a:endParaRPr>
                    </a:p>
                  </a:txBody>
                  <a:tcPr marL="56235" marR="56235" marT="28118" marB="281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700" dirty="0">
                          <a:latin typeface="+mn-lt"/>
                          <a:ea typeface="+mn-ea"/>
                        </a:rPr>
                        <a:t>sum, count, D5</a:t>
                      </a:r>
                      <a:endParaRPr lang="zh-CN" altLang="en-US" sz="1700" dirty="0">
                        <a:latin typeface="+mn-lt"/>
                        <a:ea typeface="+mn-ea"/>
                      </a:endParaRPr>
                    </a:p>
                  </a:txBody>
                  <a:tcPr marL="56235" marR="56235" marT="28118" marB="281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700" dirty="0">
                          <a:latin typeface="+mn-lt"/>
                          <a:ea typeface="+mn-ea"/>
                        </a:rPr>
                        <a:t>由字母开头的字母数字串</a:t>
                      </a:r>
                    </a:p>
                  </a:txBody>
                  <a:tcPr marL="56235" marR="56235" marT="28118" marB="281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4689525"/>
                  </a:ext>
                </a:extLst>
              </a:tr>
              <a:tr h="320276">
                <a:tc>
                  <a:txBody>
                    <a:bodyPr/>
                    <a:lstStyle/>
                    <a:p>
                      <a:r>
                        <a:rPr lang="en-US" altLang="zh-CN" sz="1700" dirty="0">
                          <a:latin typeface="+mn-lt"/>
                          <a:ea typeface="+mn-ea"/>
                        </a:rPr>
                        <a:t>num</a:t>
                      </a:r>
                      <a:endParaRPr lang="zh-CN" altLang="en-US" sz="1700" dirty="0">
                        <a:latin typeface="+mn-lt"/>
                        <a:ea typeface="+mn-ea"/>
                      </a:endParaRPr>
                    </a:p>
                  </a:txBody>
                  <a:tcPr marL="56235" marR="56235" marT="28118" marB="281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700" b="0" dirty="0"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3.1, 10, 2.8E12</a:t>
                      </a:r>
                      <a:endParaRPr lang="zh-CN" altLang="en-US" sz="1700" b="0" dirty="0">
                        <a:latin typeface="+mn-lt"/>
                        <a:ea typeface="+mn-ea"/>
                      </a:endParaRPr>
                    </a:p>
                  </a:txBody>
                  <a:tcPr marL="56235" marR="56235" marT="28118" marB="281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700" dirty="0">
                          <a:latin typeface="+mn-lt"/>
                          <a:ea typeface="+mn-ea"/>
                        </a:rPr>
                        <a:t>任何数值常数</a:t>
                      </a:r>
                    </a:p>
                  </a:txBody>
                  <a:tcPr marL="56235" marR="56235" marT="28118" marB="281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6657867"/>
                  </a:ext>
                </a:extLst>
              </a:tr>
              <a:tr h="581095">
                <a:tc>
                  <a:txBody>
                    <a:bodyPr/>
                    <a:lstStyle/>
                    <a:p>
                      <a:r>
                        <a:rPr lang="en-US" altLang="zh-CN" sz="1700" dirty="0">
                          <a:latin typeface="+mn-lt"/>
                          <a:ea typeface="+mn-ea"/>
                        </a:rPr>
                        <a:t>literal</a:t>
                      </a:r>
                      <a:endParaRPr lang="zh-CN" altLang="en-US" sz="1700" dirty="0">
                        <a:latin typeface="+mn-lt"/>
                        <a:ea typeface="+mn-ea"/>
                      </a:endParaRPr>
                    </a:p>
                  </a:txBody>
                  <a:tcPr marL="56235" marR="56235" marT="28118" marB="281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700" b="0" dirty="0"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“</a:t>
                      </a:r>
                      <a:r>
                        <a:rPr lang="en-US" altLang="zh-CN" sz="1700" b="0" dirty="0" err="1"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seg.error</a:t>
                      </a:r>
                      <a:r>
                        <a:rPr lang="en-US" altLang="zh-CN" sz="1700" b="0" dirty="0"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”</a:t>
                      </a:r>
                      <a:endParaRPr lang="zh-CN" altLang="en-US" sz="1700" b="0" dirty="0">
                        <a:latin typeface="+mn-lt"/>
                        <a:ea typeface="+mn-ea"/>
                      </a:endParaRPr>
                    </a:p>
                  </a:txBody>
                  <a:tcPr marL="56235" marR="56235" marT="28118" marB="281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700" dirty="0">
                          <a:latin typeface="+mn-lt"/>
                          <a:ea typeface="+mn-ea"/>
                        </a:rPr>
                        <a:t>两个引号（</a:t>
                      </a:r>
                      <a:r>
                        <a:rPr lang="en-US" altLang="zh-CN" sz="1700" b="1" dirty="0"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“”</a:t>
                      </a:r>
                      <a:r>
                        <a:rPr lang="zh-CN" altLang="en-US" sz="1700" dirty="0">
                          <a:latin typeface="+mn-lt"/>
                          <a:ea typeface="+mn-ea"/>
                        </a:rPr>
                        <a:t>）之间的任意字符串，但引号本身除外</a:t>
                      </a:r>
                    </a:p>
                  </a:txBody>
                  <a:tcPr marL="56235" marR="56235" marT="28118" marB="281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8208362"/>
                  </a:ext>
                </a:extLst>
              </a:tr>
            </a:tbl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BC3D30EE-6B06-458A-9E37-48A9C8CE069D}"/>
              </a:ext>
            </a:extLst>
          </p:cNvPr>
          <p:cNvSpPr txBox="1"/>
          <p:nvPr/>
        </p:nvSpPr>
        <p:spPr>
          <a:xfrm>
            <a:off x="2595313" y="4098722"/>
            <a:ext cx="5484243" cy="341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zh-CN" altLang="en-US" dirty="0">
                <a:solidFill>
                  <a:schemeClr val="accent2"/>
                </a:solidFill>
              </a:rPr>
              <a:t>关键字</a:t>
            </a:r>
            <a:r>
              <a:rPr lang="zh-CN" altLang="en-US" dirty="0"/>
              <a:t>和</a:t>
            </a:r>
            <a:r>
              <a:rPr lang="zh-CN" altLang="en-US" dirty="0">
                <a:solidFill>
                  <a:schemeClr val="accent2"/>
                </a:solidFill>
              </a:rPr>
              <a:t>分隔符</a:t>
            </a:r>
            <a:r>
              <a:rPr lang="zh-CN" altLang="en-US" dirty="0"/>
              <a:t>（标点符号）等可以一词一类；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01D534F-CC4B-4C83-AAB3-9EBADC9007EA}"/>
              </a:ext>
            </a:extLst>
          </p:cNvPr>
          <p:cNvSpPr txBox="1"/>
          <p:nvPr/>
        </p:nvSpPr>
        <p:spPr>
          <a:xfrm>
            <a:off x="788138" y="3311554"/>
            <a:ext cx="7567724" cy="64633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dirty="0">
                <a:latin typeface="Arial" panose="020B0604020202020204" pitchFamily="34" charset="0"/>
              </a:rPr>
              <a:t>答案：</a:t>
            </a:r>
            <a:r>
              <a:rPr lang="en-US" altLang="zh-CN" dirty="0">
                <a:latin typeface="Arial" panose="020B0604020202020204" pitchFamily="34" charset="0"/>
              </a:rPr>
              <a:t>&lt;if&gt;&lt;(&gt;&lt;id, 1&gt;&lt;relation, &gt;&gt;&lt;num, 0&gt;&lt;)&gt;&lt;return&gt;&lt;id, 1&gt;&lt;;&gt;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	 </a:t>
            </a:r>
            <a:r>
              <a:rPr lang="zh-CN" altLang="en-US" dirty="0">
                <a:latin typeface="Arial" panose="020B0604020202020204" pitchFamily="34" charset="0"/>
              </a:rPr>
              <a:t>（</a:t>
            </a:r>
            <a:r>
              <a:rPr lang="en-US" altLang="zh-CN" dirty="0">
                <a:latin typeface="Arial" panose="020B0604020202020204" pitchFamily="34" charset="0"/>
              </a:rPr>
              <a:t>1</a:t>
            </a:r>
            <a:r>
              <a:rPr lang="zh-CN" altLang="en-US" dirty="0">
                <a:latin typeface="Arial" panose="020B0604020202020204" pitchFamily="34" charset="0"/>
              </a:rPr>
              <a:t>是指向符号表中</a:t>
            </a:r>
            <a:r>
              <a:rPr lang="en-US" altLang="zh-CN" dirty="0">
                <a:latin typeface="Arial" panose="020B0604020202020204" pitchFamily="34" charset="0"/>
              </a:rPr>
              <a:t>sum</a:t>
            </a:r>
            <a:r>
              <a:rPr lang="zh-CN" altLang="en-US" dirty="0">
                <a:latin typeface="Arial" panose="020B0604020202020204" pitchFamily="34" charset="0"/>
              </a:rPr>
              <a:t>条目的指针）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4AF1DB1-9880-4156-81F6-002F44A2C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51D9C-5A2C-4F06-9F8D-3CBCEA479B14}" type="datetime2">
              <a:rPr lang="zh-CN" altLang="en-US" smtClean="0"/>
              <a:t>2026年3月11日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692C3C5-1C2D-F7EB-076D-371B4073FE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</a:t>
            </a:r>
            <a:r>
              <a:rPr lang="en-US" altLang="zh-CN"/>
              <a:t>2</a:t>
            </a:r>
            <a:r>
              <a:rPr lang="zh-CN" altLang="en-US"/>
              <a:t>章 词法分析</a:t>
            </a:r>
            <a:r>
              <a:rPr lang="en-US" altLang="zh-CN"/>
              <a:t>(1)</a:t>
            </a:r>
            <a:endParaRPr lang="zh-CN" altLang="en-US" dirty="0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154F2FA-552F-A332-2519-9BD0C7292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29434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C3682F82-5F3F-4408-B0BB-B0E84876970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CN" dirty="0"/>
              <a:t>2.1.1 </a:t>
            </a:r>
            <a:r>
              <a:rPr lang="zh-CN" altLang="en-US" dirty="0"/>
              <a:t>词法记号、模式、单词</a:t>
            </a:r>
          </a:p>
        </p:txBody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2FF93321-F8C0-4477-B5B4-83102842014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28650" y="1257300"/>
            <a:ext cx="7886700" cy="5371564"/>
          </a:xfrm>
        </p:spPr>
        <p:txBody>
          <a:bodyPr>
            <a:normAutofit fontScale="77500" lnSpcReduction="20000"/>
          </a:bodyPr>
          <a:lstStyle/>
          <a:p>
            <a:pPr eaLnBrk="1" hangingPunct="1">
              <a:lnSpc>
                <a:spcPct val="120000"/>
              </a:lnSpc>
            </a:pPr>
            <a:r>
              <a:rPr lang="zh-CN" altLang="en-US" dirty="0"/>
              <a:t>关键字、保留字和标准标识符的区别：</a:t>
            </a:r>
            <a:endParaRPr lang="en-US" altLang="zh-CN" dirty="0"/>
          </a:p>
          <a:p>
            <a:pPr>
              <a:lnSpc>
                <a:spcPct val="120000"/>
              </a:lnSpc>
            </a:pPr>
            <a:r>
              <a:rPr lang="zh-CN" altLang="en-US" dirty="0">
                <a:solidFill>
                  <a:schemeClr val="accent2"/>
                </a:solidFill>
              </a:rPr>
              <a:t>保留字</a:t>
            </a:r>
            <a:r>
              <a:rPr lang="zh-CN" altLang="en-US" dirty="0"/>
              <a:t>：语言预先确定了含义的单词，程序员不可以对这样的单词重新声明含义。</a:t>
            </a:r>
          </a:p>
          <a:p>
            <a:pPr>
              <a:lnSpc>
                <a:spcPct val="120000"/>
              </a:lnSpc>
            </a:pPr>
            <a:r>
              <a:rPr lang="zh-CN" altLang="en-US" dirty="0">
                <a:solidFill>
                  <a:schemeClr val="accent2"/>
                </a:solidFill>
              </a:rPr>
              <a:t>关键字</a:t>
            </a:r>
            <a:r>
              <a:rPr lang="zh-CN" altLang="en-US" dirty="0"/>
              <a:t>：</a:t>
            </a:r>
          </a:p>
          <a:p>
            <a:pPr lvl="1">
              <a:lnSpc>
                <a:spcPct val="120000"/>
              </a:lnSpc>
            </a:pPr>
            <a:r>
              <a:rPr lang="zh-CN" altLang="en-US" dirty="0"/>
              <a:t>语言预先确定了含义的单词，</a:t>
            </a:r>
          </a:p>
          <a:p>
            <a:pPr lvl="1">
              <a:lnSpc>
                <a:spcPct val="120000"/>
              </a:lnSpc>
            </a:pPr>
            <a:r>
              <a:rPr lang="zh-CN" altLang="en-US" dirty="0"/>
              <a:t>有的语言不允许程序员重新声明含义，同保留字</a:t>
            </a:r>
          </a:p>
          <a:p>
            <a:pPr lvl="1">
              <a:lnSpc>
                <a:spcPct val="120000"/>
              </a:lnSpc>
            </a:pPr>
            <a:r>
              <a:rPr lang="zh-CN" altLang="en-US" dirty="0"/>
              <a:t>有的语言允许重新声明含义，视关键字出现的位置不同而确定是关键字还是重新声明的变量等。如</a:t>
            </a:r>
            <a:r>
              <a:rPr lang="en-US" altLang="zh-CN" dirty="0"/>
              <a:t>Fortran</a:t>
            </a:r>
            <a:r>
              <a:rPr lang="zh-CN" altLang="en-US" dirty="0"/>
              <a:t>，关键字不保留</a:t>
            </a:r>
          </a:p>
          <a:p>
            <a:pPr>
              <a:lnSpc>
                <a:spcPct val="120000"/>
              </a:lnSpc>
            </a:pPr>
            <a:r>
              <a:rPr lang="zh-CN" altLang="en-US" dirty="0">
                <a:solidFill>
                  <a:schemeClr val="accent2"/>
                </a:solidFill>
              </a:rPr>
              <a:t>标准标识符</a:t>
            </a:r>
            <a:r>
              <a:rPr lang="zh-CN" altLang="en-US" dirty="0"/>
              <a:t>：预先确定含义，但程序员可以重新声明，视声明的作用域确定其是声明的标识符还是标准标识符。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A89E6D7-AF98-43FF-A51D-62B1528625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97CD3-3338-4F1E-8359-27740AB31CC0}" type="datetime2">
              <a:rPr lang="zh-CN" altLang="en-US" smtClean="0"/>
              <a:t>2026年3月11日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ED1F6F6-73CD-F344-B9AF-E5401D7160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</a:t>
            </a:r>
            <a:r>
              <a:rPr lang="en-US" altLang="zh-CN"/>
              <a:t>2</a:t>
            </a:r>
            <a:r>
              <a:rPr lang="zh-CN" altLang="en-US"/>
              <a:t>章 词法分析</a:t>
            </a:r>
            <a:r>
              <a:rPr lang="en-US" altLang="zh-CN"/>
              <a:t>(1)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74C8948-0ECA-EE1C-C696-23171B316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17</a:t>
            </a:fld>
            <a:endParaRPr lang="zh-CN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303C0FF5-8A70-4CDD-9195-E1FA4DF4AE4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CN"/>
              <a:t>2.1.2 </a:t>
            </a:r>
            <a:r>
              <a:rPr lang="zh-CN" altLang="en-US"/>
              <a:t>词法记号的属性</a:t>
            </a:r>
          </a:p>
        </p:txBody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AB06C436-A8E7-4DC3-9E75-6A0641393BD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eaLnBrk="1" hangingPunct="1">
              <a:lnSpc>
                <a:spcPct val="120000"/>
              </a:lnSpc>
            </a:pPr>
            <a:r>
              <a:rPr lang="zh-CN" altLang="en-US" dirty="0">
                <a:cs typeface="Times New Roman" panose="02020603050405020304" pitchFamily="18" charset="0"/>
              </a:rPr>
              <a:t>如果有多个</a:t>
            </a:r>
            <a:r>
              <a:rPr lang="zh-CN" altLang="en-US" dirty="0"/>
              <a:t>单词</a:t>
            </a:r>
            <a:r>
              <a:rPr lang="zh-CN" altLang="en-US" dirty="0">
                <a:cs typeface="Times New Roman" panose="02020603050405020304" pitchFamily="18" charset="0"/>
              </a:rPr>
              <a:t>与一个模式匹配，那么词法分析器必须向编译器的后续阶段提供有关被匹配</a:t>
            </a:r>
            <a:r>
              <a:rPr lang="zh-CN" altLang="en-US" dirty="0"/>
              <a:t>单词</a:t>
            </a:r>
            <a:r>
              <a:rPr lang="zh-CN" altLang="en-US" dirty="0">
                <a:cs typeface="Times New Roman" panose="02020603050405020304" pitchFamily="18" charset="0"/>
              </a:rPr>
              <a:t>的附加信息。</a:t>
            </a:r>
            <a:endParaRPr lang="en-US" altLang="zh-CN" dirty="0"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dirty="0">
                <a:cs typeface="Times New Roman" panose="02020603050405020304" pitchFamily="18" charset="0"/>
              </a:rPr>
              <a:t>最重要的例子就是</a:t>
            </a:r>
            <a:r>
              <a:rPr lang="zh-CN" altLang="en-US" dirty="0">
                <a:solidFill>
                  <a:schemeClr val="accent2"/>
                </a:solidFill>
                <a:cs typeface="Times New Roman" panose="02020603050405020304" pitchFamily="18" charset="0"/>
              </a:rPr>
              <a:t>词法记号</a:t>
            </a:r>
            <a:r>
              <a:rPr lang="en-US" altLang="zh-CN" dirty="0">
                <a:solidFill>
                  <a:schemeClr val="accent2"/>
                </a:solidFill>
                <a:cs typeface="Times New Roman" panose="02020603050405020304" pitchFamily="18" charset="0"/>
              </a:rPr>
              <a:t>id</a:t>
            </a:r>
            <a:r>
              <a:rPr lang="zh-CN" altLang="en-US" dirty="0">
                <a:cs typeface="Times New Roman" panose="02020603050405020304" pitchFamily="18" charset="0"/>
              </a:rPr>
              <a:t>：例如</a:t>
            </a:r>
            <a:r>
              <a:rPr lang="en-US" altLang="zh-CN" dirty="0">
                <a:solidFill>
                  <a:schemeClr val="accent2"/>
                </a:solidFill>
                <a:cs typeface="Times New Roman" panose="02020603050405020304" pitchFamily="18" charset="0"/>
              </a:rPr>
              <a:t>position</a:t>
            </a:r>
            <a:r>
              <a:rPr lang="zh-CN" altLang="en-US" dirty="0">
                <a:cs typeface="Times New Roman" panose="02020603050405020304" pitchFamily="18" charset="0"/>
              </a:rPr>
              <a:t>和</a:t>
            </a:r>
            <a:r>
              <a:rPr lang="en-US" altLang="zh-CN" dirty="0">
                <a:solidFill>
                  <a:schemeClr val="accent2"/>
                </a:solidFill>
                <a:cs typeface="Times New Roman" panose="02020603050405020304" pitchFamily="18" charset="0"/>
              </a:rPr>
              <a:t>rate</a:t>
            </a:r>
            <a:r>
              <a:rPr lang="zh-CN" altLang="en-US" dirty="0">
                <a:cs typeface="Times New Roman" panose="02020603050405020304" pitchFamily="18" charset="0"/>
              </a:rPr>
              <a:t>都能与</a:t>
            </a:r>
            <a:r>
              <a:rPr lang="en-US" altLang="zh-CN" dirty="0">
                <a:solidFill>
                  <a:schemeClr val="accent2"/>
                </a:solidFill>
                <a:cs typeface="Times New Roman" panose="02020603050405020304" pitchFamily="18" charset="0"/>
              </a:rPr>
              <a:t>id</a:t>
            </a:r>
            <a:r>
              <a:rPr lang="zh-CN" altLang="en-US" dirty="0">
                <a:cs typeface="Times New Roman" panose="02020603050405020304" pitchFamily="18" charset="0"/>
              </a:rPr>
              <a:t>的模式匹配，但从翻译成目标代码来看，不同</a:t>
            </a:r>
            <a:r>
              <a:rPr lang="en-US" altLang="zh-CN" dirty="0">
                <a:cs typeface="Times New Roman" panose="02020603050405020304" pitchFamily="18" charset="0"/>
              </a:rPr>
              <a:t>id</a:t>
            </a:r>
            <a:r>
              <a:rPr lang="zh-CN" altLang="en-US" dirty="0">
                <a:cs typeface="Times New Roman" panose="02020603050405020304" pitchFamily="18" charset="0"/>
              </a:rPr>
              <a:t>的值不一样，所以代码的运算结果也不一样。</a:t>
            </a:r>
            <a:endParaRPr lang="en-US" altLang="zh-CN" dirty="0"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dirty="0">
                <a:cs typeface="Times New Roman" panose="02020603050405020304" pitchFamily="18" charset="0"/>
              </a:rPr>
              <a:t>后续阶段需要的属性可能是一个结构化数据：包含</a:t>
            </a:r>
            <a:r>
              <a:rPr lang="zh-CN" altLang="en-US" dirty="0">
                <a:solidFill>
                  <a:schemeClr val="accent2"/>
                </a:solidFill>
              </a:rPr>
              <a:t>单词</a:t>
            </a:r>
            <a:r>
              <a:rPr lang="zh-CN" altLang="en-US" dirty="0">
                <a:cs typeface="Times New Roman" panose="02020603050405020304" pitchFamily="18" charset="0"/>
              </a:rPr>
              <a:t>、类型、第一次出现的位置等等，保存在</a:t>
            </a:r>
            <a:r>
              <a:rPr lang="zh-CN" altLang="en-US" dirty="0">
                <a:solidFill>
                  <a:schemeClr val="accent2"/>
                </a:solidFill>
                <a:cs typeface="Times New Roman" panose="02020603050405020304" pitchFamily="18" charset="0"/>
              </a:rPr>
              <a:t>符号表</a:t>
            </a:r>
            <a:r>
              <a:rPr lang="zh-CN" altLang="en-US" dirty="0">
                <a:cs typeface="Times New Roman" panose="02020603050405020304" pitchFamily="18" charset="0"/>
              </a:rPr>
              <a:t>里。</a:t>
            </a:r>
            <a:endParaRPr lang="en-US" altLang="zh-CN" dirty="0"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dirty="0">
                <a:cs typeface="Times New Roman" panose="02020603050405020304" pitchFamily="18" charset="0"/>
              </a:rPr>
              <a:t>因此，一个</a:t>
            </a:r>
            <a:r>
              <a:rPr lang="en-US" altLang="zh-CN" dirty="0">
                <a:cs typeface="Times New Roman" panose="02020603050405020304" pitchFamily="18" charset="0"/>
              </a:rPr>
              <a:t>id</a:t>
            </a:r>
            <a:r>
              <a:rPr lang="zh-CN" altLang="en-US" dirty="0">
                <a:cs typeface="Times New Roman" panose="02020603050405020304" pitchFamily="18" charset="0"/>
              </a:rPr>
              <a:t>的属性是一个指向符号表中该</a:t>
            </a:r>
            <a:r>
              <a:rPr lang="en-US" altLang="zh-CN" dirty="0">
                <a:cs typeface="Times New Roman" panose="02020603050405020304" pitchFamily="18" charset="0"/>
              </a:rPr>
              <a:t>id</a:t>
            </a:r>
            <a:r>
              <a:rPr lang="zh-CN" altLang="en-US" dirty="0">
                <a:cs typeface="Times New Roman" panose="02020603050405020304" pitchFamily="18" charset="0"/>
              </a:rPr>
              <a:t>对应条目的</a:t>
            </a:r>
            <a:r>
              <a:rPr lang="zh-CN" altLang="en-US" dirty="0">
                <a:solidFill>
                  <a:schemeClr val="accent2"/>
                </a:solidFill>
                <a:cs typeface="Times New Roman" panose="02020603050405020304" pitchFamily="18" charset="0"/>
              </a:rPr>
              <a:t>指针</a:t>
            </a:r>
            <a:endParaRPr lang="en-US" altLang="zh-CN" dirty="0">
              <a:solidFill>
                <a:schemeClr val="accent2"/>
              </a:solidFill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dirty="0">
                <a:cs typeface="Times New Roman" panose="02020603050405020304" pitchFamily="18" charset="0"/>
              </a:rPr>
              <a:t>记号名影响语法分析的</a:t>
            </a:r>
            <a:r>
              <a:rPr lang="zh-CN" altLang="en-US" dirty="0">
                <a:solidFill>
                  <a:schemeClr val="accent2"/>
                </a:solidFill>
                <a:cs typeface="Times New Roman" panose="02020603050405020304" pitchFamily="18" charset="0"/>
              </a:rPr>
              <a:t>决策</a:t>
            </a:r>
            <a:r>
              <a:rPr lang="zh-CN" altLang="en-US" dirty="0">
                <a:cs typeface="Times New Roman" panose="02020603050405020304" pitchFamily="18" charset="0"/>
              </a:rPr>
              <a:t>，属性影响记号的</a:t>
            </a:r>
            <a:r>
              <a:rPr lang="zh-CN" altLang="en-US" dirty="0">
                <a:solidFill>
                  <a:schemeClr val="accent2"/>
                </a:solidFill>
                <a:cs typeface="Times New Roman" panose="02020603050405020304" pitchFamily="18" charset="0"/>
              </a:rPr>
              <a:t>翻译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0C33579-B493-C66D-5514-ED6531C5F7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27D12-CE7A-41C3-8B55-4924AF1F61A5}" type="datetime2">
              <a:rPr lang="zh-CN" altLang="en-US" smtClean="0"/>
              <a:t>2026年3月11日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1458AFA-FBA9-487F-0C80-FFFE01BFC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</a:t>
            </a:r>
            <a:r>
              <a:rPr lang="en-US" altLang="zh-CN"/>
              <a:t>2</a:t>
            </a:r>
            <a:r>
              <a:rPr lang="zh-CN" altLang="en-US"/>
              <a:t>章 词法分析</a:t>
            </a:r>
            <a:r>
              <a:rPr lang="en-US" altLang="zh-CN"/>
              <a:t>(1)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BF7B472-327B-35EA-3E7D-3E79F888B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18</a:t>
            </a:fld>
            <a:endParaRPr lang="zh-CN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303C0FF5-8A70-4CDD-9195-E1FA4DF4AE4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CN"/>
              <a:t>2.1.2 </a:t>
            </a:r>
            <a:r>
              <a:rPr lang="zh-CN" altLang="en-US"/>
              <a:t>词法记号的属性</a:t>
            </a:r>
          </a:p>
        </p:txBody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AB06C436-A8E7-4DC3-9E75-6A0641393BD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110000"/>
              </a:lnSpc>
            </a:pPr>
            <a:r>
              <a:rPr lang="en-US" altLang="zh-CN" sz="2800" b="1" dirty="0">
                <a:solidFill>
                  <a:schemeClr val="accent1"/>
                </a:solidFill>
                <a:cs typeface="Times New Roman" panose="02020603050405020304" pitchFamily="18" charset="0"/>
              </a:rPr>
              <a:t>position = initial + rate * 60</a:t>
            </a:r>
            <a:r>
              <a:rPr lang="zh-CN" altLang="en-US" sz="2800" dirty="0"/>
              <a:t>的记号名和属性值：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zh-CN" altLang="en-US" sz="2800" dirty="0"/>
              <a:t>	     </a:t>
            </a:r>
            <a:r>
              <a:rPr lang="zh-CN" altLang="en-US" sz="2800" dirty="0">
                <a:sym typeface="Symbol" panose="05050102010706020507" pitchFamily="18" charset="2"/>
              </a:rPr>
              <a:t></a:t>
            </a:r>
            <a:r>
              <a:rPr lang="en-US" altLang="zh-CN" sz="2800" b="1" dirty="0">
                <a:cs typeface="Times New Roman" panose="02020603050405020304" pitchFamily="18" charset="0"/>
              </a:rPr>
              <a:t>id</a:t>
            </a:r>
            <a:r>
              <a:rPr lang="zh-CN" altLang="en-US" sz="2800" dirty="0"/>
              <a:t>，指向符号表中</a:t>
            </a:r>
            <a:r>
              <a:rPr lang="en-US" altLang="zh-CN" sz="2800" b="1" dirty="0">
                <a:cs typeface="Times New Roman" panose="02020603050405020304" pitchFamily="18" charset="0"/>
              </a:rPr>
              <a:t>position</a:t>
            </a:r>
            <a:r>
              <a:rPr lang="zh-CN" altLang="en-US" sz="2800" dirty="0"/>
              <a:t>条目的指针</a:t>
            </a:r>
            <a:r>
              <a:rPr lang="zh-CN" altLang="en-US" sz="2800" dirty="0">
                <a:sym typeface="Symbol" panose="05050102010706020507" pitchFamily="18" charset="2"/>
              </a:rPr>
              <a:t></a:t>
            </a:r>
            <a:endParaRPr lang="zh-CN" altLang="en-US" sz="2800" dirty="0"/>
          </a:p>
          <a:p>
            <a:pPr lvl="1" algn="just"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zh-CN" altLang="en-US" dirty="0">
                <a:sym typeface="Symbol" panose="05050102010706020507" pitchFamily="18" charset="2"/>
              </a:rPr>
              <a:t>	</a:t>
            </a:r>
            <a:r>
              <a:rPr lang="en-US" altLang="zh-CN" b="1" dirty="0">
                <a:cs typeface="Times New Roman" panose="02020603050405020304" pitchFamily="18" charset="0"/>
              </a:rPr>
              <a:t>assign _ op</a:t>
            </a:r>
            <a:r>
              <a:rPr lang="en-US" altLang="zh-CN" dirty="0">
                <a:sym typeface="Symbol" panose="05050102010706020507" pitchFamily="18" charset="2"/>
              </a:rPr>
              <a:t></a:t>
            </a:r>
            <a:endParaRPr lang="en-US" altLang="zh-CN" dirty="0"/>
          </a:p>
          <a:p>
            <a:pPr lvl="1" algn="just"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dirty="0"/>
              <a:t>	</a:t>
            </a:r>
            <a:r>
              <a:rPr lang="en-US" altLang="zh-CN" dirty="0">
                <a:sym typeface="Symbol" panose="05050102010706020507" pitchFamily="18" charset="2"/>
              </a:rPr>
              <a:t></a:t>
            </a:r>
            <a:r>
              <a:rPr lang="en-US" altLang="zh-CN" b="1" dirty="0">
                <a:cs typeface="Times New Roman" panose="02020603050405020304" pitchFamily="18" charset="0"/>
              </a:rPr>
              <a:t>id</a:t>
            </a:r>
            <a:r>
              <a:rPr lang="zh-CN" altLang="en-US" dirty="0"/>
              <a:t>，指向符号表中</a:t>
            </a:r>
            <a:r>
              <a:rPr lang="en-US" altLang="zh-CN" b="1" dirty="0">
                <a:cs typeface="Times New Roman" panose="02020603050405020304" pitchFamily="18" charset="0"/>
              </a:rPr>
              <a:t>initial</a:t>
            </a:r>
            <a:r>
              <a:rPr lang="zh-CN" altLang="en-US" dirty="0"/>
              <a:t>条目的指针</a:t>
            </a:r>
            <a:r>
              <a:rPr lang="zh-CN" altLang="en-US" dirty="0">
                <a:sym typeface="Symbol" panose="05050102010706020507" pitchFamily="18" charset="2"/>
              </a:rPr>
              <a:t></a:t>
            </a:r>
            <a:endParaRPr lang="zh-CN" altLang="en-US" dirty="0"/>
          </a:p>
          <a:p>
            <a:pPr lvl="1" algn="just"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zh-CN" altLang="en-US" dirty="0">
                <a:sym typeface="Symbol" panose="05050102010706020507" pitchFamily="18" charset="2"/>
              </a:rPr>
              <a:t>	</a:t>
            </a:r>
            <a:r>
              <a:rPr lang="en-US" altLang="zh-CN" b="1" dirty="0" err="1">
                <a:cs typeface="Times New Roman" panose="02020603050405020304" pitchFamily="18" charset="0"/>
              </a:rPr>
              <a:t>add_op</a:t>
            </a:r>
            <a:r>
              <a:rPr lang="en-US" altLang="zh-CN" dirty="0">
                <a:sym typeface="Symbol" panose="05050102010706020507" pitchFamily="18" charset="2"/>
              </a:rPr>
              <a:t></a:t>
            </a:r>
            <a:endParaRPr lang="en-US" altLang="zh-CN" dirty="0"/>
          </a:p>
          <a:p>
            <a:pPr lvl="1" algn="just"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sym typeface="Symbol" panose="05050102010706020507" pitchFamily="18" charset="2"/>
              </a:rPr>
              <a:t>	</a:t>
            </a:r>
            <a:r>
              <a:rPr lang="en-US" altLang="zh-CN" b="1" dirty="0">
                <a:cs typeface="Times New Roman" panose="02020603050405020304" pitchFamily="18" charset="0"/>
              </a:rPr>
              <a:t>id</a:t>
            </a:r>
            <a:r>
              <a:rPr lang="zh-CN" altLang="en-US" dirty="0"/>
              <a:t>，指向符号表中</a:t>
            </a:r>
            <a:r>
              <a:rPr lang="en-US" altLang="zh-CN" b="1" dirty="0">
                <a:cs typeface="Times New Roman" panose="02020603050405020304" pitchFamily="18" charset="0"/>
              </a:rPr>
              <a:t>rate</a:t>
            </a:r>
            <a:r>
              <a:rPr lang="zh-CN" altLang="en-US" dirty="0"/>
              <a:t>条目的指针</a:t>
            </a:r>
            <a:r>
              <a:rPr lang="zh-CN" altLang="en-US" dirty="0">
                <a:sym typeface="Symbol" panose="05050102010706020507" pitchFamily="18" charset="2"/>
              </a:rPr>
              <a:t></a:t>
            </a:r>
            <a:endParaRPr lang="zh-CN" altLang="en-US" dirty="0"/>
          </a:p>
          <a:p>
            <a:pPr lvl="1" algn="just"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zh-CN" altLang="en-US" dirty="0"/>
              <a:t>	</a:t>
            </a:r>
            <a:r>
              <a:rPr lang="zh-CN" altLang="en-US" dirty="0">
                <a:sym typeface="Symbol" panose="05050102010706020507" pitchFamily="18" charset="2"/>
              </a:rPr>
              <a:t></a:t>
            </a:r>
            <a:r>
              <a:rPr lang="en-US" altLang="zh-CN" b="1" dirty="0" err="1">
                <a:cs typeface="Times New Roman" panose="02020603050405020304" pitchFamily="18" charset="0"/>
              </a:rPr>
              <a:t>mul</a:t>
            </a:r>
            <a:r>
              <a:rPr lang="en-US" altLang="zh-CN" b="1" dirty="0">
                <a:cs typeface="Times New Roman" panose="02020603050405020304" pitchFamily="18" charset="0"/>
              </a:rPr>
              <a:t>_ op</a:t>
            </a:r>
            <a:r>
              <a:rPr lang="en-US" altLang="zh-CN" dirty="0">
                <a:sym typeface="Symbol" panose="05050102010706020507" pitchFamily="18" charset="2"/>
              </a:rPr>
              <a:t></a:t>
            </a:r>
            <a:endParaRPr lang="en-US" altLang="zh-CN" dirty="0"/>
          </a:p>
          <a:p>
            <a:pPr lvl="1" algn="just"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sym typeface="Symbol" panose="05050102010706020507" pitchFamily="18" charset="2"/>
              </a:rPr>
              <a:t>	</a:t>
            </a:r>
            <a:r>
              <a:rPr lang="en-US" altLang="zh-CN" b="1" dirty="0">
                <a:cs typeface="Times New Roman" panose="02020603050405020304" pitchFamily="18" charset="0"/>
              </a:rPr>
              <a:t>num</a:t>
            </a:r>
            <a:r>
              <a:rPr lang="zh-CN" altLang="en-US" dirty="0"/>
              <a:t>，整数值</a:t>
            </a:r>
            <a:r>
              <a:rPr lang="en-US" altLang="zh-CN" dirty="0">
                <a:cs typeface="Times New Roman" panose="02020603050405020304" pitchFamily="18" charset="0"/>
              </a:rPr>
              <a:t>60</a:t>
            </a:r>
            <a:r>
              <a:rPr lang="en-US" altLang="zh-CN" dirty="0">
                <a:sym typeface="Symbol" panose="05050102010706020507" pitchFamily="18" charset="2"/>
              </a:rPr>
              <a:t></a:t>
            </a:r>
            <a:endParaRPr lang="en-US" altLang="zh-CN" dirty="0"/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CEB15C2-360C-560D-27CE-5DAB37D25B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E54A5-065F-4AC0-AB37-CCFF4CA554FE}" type="datetime2">
              <a:rPr lang="zh-CN" altLang="en-US" smtClean="0"/>
              <a:t>2026年3月11日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492C91E-D8C7-2B90-A7FF-1FEF78CC8F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</a:t>
            </a:r>
            <a:r>
              <a:rPr lang="en-US" altLang="zh-CN"/>
              <a:t>2</a:t>
            </a:r>
            <a:r>
              <a:rPr lang="zh-CN" altLang="en-US"/>
              <a:t>章 词法分析</a:t>
            </a:r>
            <a:r>
              <a:rPr lang="en-US" altLang="zh-CN"/>
              <a:t>(1)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5C2CA2F-DAA4-6A48-B294-5E92F4B4B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22783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02ED5397-ADBB-4C77-87A4-A15A87569AA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CN"/>
              <a:t>2.1.3 </a:t>
            </a:r>
            <a:r>
              <a:rPr lang="zh-CN" altLang="en-US"/>
              <a:t>词法错误</a:t>
            </a:r>
          </a:p>
        </p:txBody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1263AB7F-9D6A-4192-A2AE-81AACE996FF1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eaLnBrk="1" hangingPunct="1">
              <a:lnSpc>
                <a:spcPct val="120000"/>
              </a:lnSpc>
            </a:pPr>
            <a:r>
              <a:rPr lang="zh-CN" altLang="en-US" dirty="0"/>
              <a:t>词法分析器对源程序采取非常局部的观点，因而难以发现如下错误：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zh-CN" b="1" dirty="0">
                <a:solidFill>
                  <a:schemeClr val="accent1"/>
                </a:solidFill>
                <a:cs typeface="Arial" panose="020B0604020202020204" pitchFamily="34" charset="0"/>
              </a:rPr>
              <a:t>fi (a == f (x) )</a:t>
            </a:r>
            <a:r>
              <a:rPr lang="en-US" altLang="zh-CN" b="1" dirty="0">
                <a:solidFill>
                  <a:schemeClr val="accent1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chemeClr val="accent1"/>
                </a:solidFill>
              </a:rPr>
              <a:t>…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dirty="0"/>
              <a:t>遇到</a:t>
            </a:r>
            <a:r>
              <a:rPr lang="en-US" altLang="zh-CN" b="1" dirty="0">
                <a:solidFill>
                  <a:schemeClr val="accent1"/>
                </a:solidFill>
              </a:rPr>
              <a:t>fi</a:t>
            </a:r>
            <a:r>
              <a:rPr lang="zh-CN" altLang="en-US" dirty="0"/>
              <a:t>时，词法分析器无法指出</a:t>
            </a:r>
            <a:r>
              <a:rPr lang="en-US" altLang="zh-CN" b="1" dirty="0">
                <a:solidFill>
                  <a:schemeClr val="accent1"/>
                </a:solidFill>
              </a:rPr>
              <a:t>fi</a:t>
            </a:r>
            <a:r>
              <a:rPr lang="zh-CN" altLang="en-US" dirty="0"/>
              <a:t>究竟是关键字</a:t>
            </a:r>
            <a:r>
              <a:rPr lang="en-US" altLang="zh-CN" b="1" dirty="0">
                <a:solidFill>
                  <a:schemeClr val="accent1"/>
                </a:solidFill>
              </a:rPr>
              <a:t>if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rgbClr val="C00000"/>
                </a:solidFill>
              </a:rPr>
              <a:t>误写</a:t>
            </a:r>
            <a:r>
              <a:rPr lang="zh-CN" altLang="en-US" dirty="0"/>
              <a:t>还是一个未声明的</a:t>
            </a:r>
            <a:r>
              <a:rPr lang="zh-CN" altLang="en-US" dirty="0">
                <a:solidFill>
                  <a:srgbClr val="C00000"/>
                </a:solidFill>
              </a:rPr>
              <a:t>函数标识符</a:t>
            </a:r>
            <a:r>
              <a:rPr lang="zh-CN" altLang="en-US" dirty="0"/>
              <a:t>。由于</a:t>
            </a:r>
            <a:r>
              <a:rPr lang="en-US" altLang="zh-CN" b="1" dirty="0">
                <a:solidFill>
                  <a:schemeClr val="accent1"/>
                </a:solidFill>
              </a:rPr>
              <a:t>fi</a:t>
            </a:r>
            <a:r>
              <a:rPr lang="zh-CN" altLang="en-US" dirty="0"/>
              <a:t>是标识符</a:t>
            </a:r>
            <a:r>
              <a:rPr lang="en-US" altLang="zh-CN" b="1" dirty="0">
                <a:solidFill>
                  <a:schemeClr val="accent1"/>
                </a:solidFill>
              </a:rPr>
              <a:t>id</a:t>
            </a:r>
            <a:r>
              <a:rPr lang="zh-CN" altLang="en-US" dirty="0"/>
              <a:t>的一个合法的单词，因此词法分析器必须向语法分析器返回这个</a:t>
            </a:r>
            <a:r>
              <a:rPr lang="en-US" altLang="zh-CN" b="1" dirty="0">
                <a:solidFill>
                  <a:schemeClr val="accent1"/>
                </a:solidFill>
              </a:rPr>
              <a:t>id</a:t>
            </a:r>
            <a:r>
              <a:rPr lang="zh-CN" altLang="en-US" dirty="0"/>
              <a:t>的单词</a:t>
            </a:r>
            <a:r>
              <a:rPr lang="en-US" altLang="zh-CN" b="1" dirty="0">
                <a:solidFill>
                  <a:schemeClr val="accent1"/>
                </a:solidFill>
              </a:rPr>
              <a:t>fi</a:t>
            </a:r>
            <a:r>
              <a:rPr lang="zh-CN" altLang="en-US" dirty="0"/>
              <a:t>。而让语法分析器去处理这个错误。</a:t>
            </a:r>
            <a:endParaRPr lang="en-US" altLang="zh-CN" dirty="0"/>
          </a:p>
          <a:p>
            <a:pPr eaLnBrk="1" hangingPunct="1">
              <a:lnSpc>
                <a:spcPct val="120000"/>
              </a:lnSpc>
            </a:pPr>
            <a:endParaRPr lang="en-US" altLang="zh-CN" dirty="0">
              <a:solidFill>
                <a:schemeClr val="tx2"/>
              </a:solidFill>
            </a:endParaRP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1F927D0-6B82-0A9B-1421-CFD9F715F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35DE1-F206-461C-BF3F-C7393EADBE22}" type="datetime2">
              <a:rPr lang="zh-CN" altLang="en-US" smtClean="0"/>
              <a:t>2026年3月11日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C612A37-07B7-C1D9-3F4B-E948668D17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</a:t>
            </a:r>
            <a:r>
              <a:rPr lang="en-US" altLang="zh-CN"/>
              <a:t>2</a:t>
            </a:r>
            <a:r>
              <a:rPr lang="zh-CN" altLang="en-US"/>
              <a:t>章 词法分析</a:t>
            </a:r>
            <a:r>
              <a:rPr lang="en-US" altLang="zh-CN"/>
              <a:t>(1)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58EF526-CE52-4E23-3C33-610DD95B9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20</a:t>
            </a:fld>
            <a:endParaRPr lang="zh-CN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E1020C16-09FB-49F7-80B7-C32DB1384F0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CN" dirty="0"/>
              <a:t>2.1.3 </a:t>
            </a:r>
            <a:r>
              <a:rPr lang="zh-CN" altLang="en-US" dirty="0"/>
              <a:t>词法错误</a:t>
            </a:r>
          </a:p>
        </p:txBody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1E4C739D-05B9-49FA-B0A7-763229FBF8A0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eaLnBrk="1" hangingPunct="1">
              <a:lnSpc>
                <a:spcPct val="120000"/>
              </a:lnSpc>
            </a:pPr>
            <a:r>
              <a:rPr lang="zh-CN" altLang="en-US" dirty="0"/>
              <a:t>词法分析只能发现单词内部“拼写”类错误：</a:t>
            </a:r>
            <a:endParaRPr lang="en-US" altLang="zh-CN" dirty="0"/>
          </a:p>
          <a:p>
            <a:pPr eaLnBrk="1" hangingPunct="1">
              <a:lnSpc>
                <a:spcPct val="120000"/>
              </a:lnSpc>
            </a:pPr>
            <a:r>
              <a:rPr lang="en-US" altLang="zh-CN" dirty="0"/>
              <a:t>1</a:t>
            </a:r>
            <a:r>
              <a:rPr lang="zh-CN" altLang="en-US" dirty="0"/>
              <a:t>、</a:t>
            </a:r>
            <a:r>
              <a:rPr lang="en-US" altLang="zh-CN" dirty="0"/>
              <a:t>“</a:t>
            </a:r>
            <a:r>
              <a:rPr lang="zh-CN" altLang="en-US" dirty="0">
                <a:solidFill>
                  <a:schemeClr val="accent2"/>
                </a:solidFill>
              </a:rPr>
              <a:t>紧急方式</a:t>
            </a:r>
            <a:r>
              <a:rPr lang="zh-CN" altLang="en-US" dirty="0"/>
              <a:t>”（</a:t>
            </a:r>
            <a:r>
              <a:rPr lang="en-US" altLang="zh-CN" dirty="0"/>
              <a:t>panic mode</a:t>
            </a:r>
            <a:r>
              <a:rPr lang="zh-CN" altLang="en-US" dirty="0"/>
              <a:t>）的错误恢复：</a:t>
            </a:r>
          </a:p>
          <a:p>
            <a:pPr lvl="1" eaLnBrk="1" hangingPunct="1">
              <a:lnSpc>
                <a:spcPct val="120000"/>
              </a:lnSpc>
            </a:pPr>
            <a:r>
              <a:rPr lang="zh-CN" altLang="en-US" dirty="0"/>
              <a:t>删除输入指针当前指向的若干个字符（剩余输入的前缀），直到词法分析器能够发现一个正确的记号为止。</a:t>
            </a:r>
            <a:endParaRPr lang="en-US" altLang="zh-CN" dirty="0"/>
          </a:p>
          <a:p>
            <a:pPr eaLnBrk="1" hangingPunct="1">
              <a:lnSpc>
                <a:spcPct val="120000"/>
              </a:lnSpc>
            </a:pPr>
            <a:r>
              <a:rPr lang="en-US" altLang="zh-CN" dirty="0"/>
              <a:t>2</a:t>
            </a:r>
            <a:r>
              <a:rPr lang="zh-CN" altLang="en-US" dirty="0"/>
              <a:t>、</a:t>
            </a:r>
            <a:r>
              <a:rPr lang="zh-CN" altLang="en-US" dirty="0">
                <a:solidFill>
                  <a:schemeClr val="accent2"/>
                </a:solidFill>
              </a:rPr>
              <a:t>错误修补</a:t>
            </a:r>
            <a:r>
              <a:rPr lang="zh-CN" altLang="en-US" dirty="0"/>
              <a:t>，即检查剩余输入的前缀能否用下面的一个变换变成一个合法的单词：</a:t>
            </a:r>
          </a:p>
          <a:p>
            <a:pPr lvl="1" eaLnBrk="1" hangingPunct="1">
              <a:lnSpc>
                <a:spcPct val="120000"/>
              </a:lnSpc>
            </a:pPr>
            <a:r>
              <a:rPr lang="zh-CN" altLang="en-US" dirty="0">
                <a:latin typeface="Courier New" panose="02070309020205020404" pitchFamily="49" charset="0"/>
              </a:rPr>
              <a:t>删除一个多余字符。</a:t>
            </a:r>
          </a:p>
          <a:p>
            <a:pPr lvl="1" eaLnBrk="1" hangingPunct="1">
              <a:lnSpc>
                <a:spcPct val="120000"/>
              </a:lnSpc>
            </a:pPr>
            <a:r>
              <a:rPr lang="zh-CN" altLang="en-US" dirty="0">
                <a:latin typeface="Courier New" panose="02070309020205020404" pitchFamily="49" charset="0"/>
              </a:rPr>
              <a:t>插入一个遗漏的字符。</a:t>
            </a:r>
          </a:p>
          <a:p>
            <a:pPr lvl="1" eaLnBrk="1" hangingPunct="1">
              <a:lnSpc>
                <a:spcPct val="120000"/>
              </a:lnSpc>
            </a:pPr>
            <a:r>
              <a:rPr lang="zh-CN" altLang="en-US" dirty="0">
                <a:latin typeface="Courier New" panose="02070309020205020404" pitchFamily="49" charset="0"/>
              </a:rPr>
              <a:t>用一个正确的字符代替一个不正确的字符</a:t>
            </a:r>
          </a:p>
          <a:p>
            <a:pPr lvl="1" eaLnBrk="1" hangingPunct="1">
              <a:lnSpc>
                <a:spcPct val="120000"/>
              </a:lnSpc>
            </a:pPr>
            <a:r>
              <a:rPr lang="zh-CN" altLang="en-US" dirty="0">
                <a:latin typeface="Courier New" panose="02070309020205020404" pitchFamily="49" charset="0"/>
              </a:rPr>
              <a:t>交换两个相邻字符。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1B7E4F6-DF5E-52B9-6AF9-3209C2E8F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A3363-9B30-4DAD-A9E7-00676BC87CC1}" type="datetime2">
              <a:rPr lang="zh-CN" altLang="en-US" smtClean="0"/>
              <a:t>2026年3月11日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C5051FA-2DDE-D183-EFC9-E66DE71ACD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</a:t>
            </a:r>
            <a:r>
              <a:rPr lang="en-US" altLang="zh-CN"/>
              <a:t>2</a:t>
            </a:r>
            <a:r>
              <a:rPr lang="zh-CN" altLang="en-US"/>
              <a:t>章 词法分析</a:t>
            </a:r>
            <a:r>
              <a:rPr lang="en-US" altLang="zh-CN"/>
              <a:t>(1)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0674C75-3913-FC54-69F9-339092B481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21</a:t>
            </a:fld>
            <a:endParaRPr lang="zh-CN" alt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A96595C7-ECA8-4ADE-AFF9-5DB7F9AED5A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CN" dirty="0"/>
              <a:t>2.2 </a:t>
            </a:r>
            <a:r>
              <a:rPr lang="zh-CN" altLang="en-US" dirty="0"/>
              <a:t>词法记号的描述与识别</a:t>
            </a:r>
          </a:p>
        </p:txBody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66B1BF48-9A0D-4A94-80D3-AC5C7459C76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zh-CN" altLang="en-US" dirty="0"/>
              <a:t>为了把单词（</a:t>
            </a:r>
            <a:r>
              <a:rPr lang="en-US" altLang="zh-CN" dirty="0"/>
              <a:t>lexeme</a:t>
            </a:r>
            <a:r>
              <a:rPr lang="zh-CN" altLang="en-US" dirty="0"/>
              <a:t>）识别为记号（</a:t>
            </a:r>
            <a:r>
              <a:rPr lang="en-US" altLang="zh-CN" dirty="0"/>
              <a:t>token</a:t>
            </a:r>
            <a:r>
              <a:rPr lang="zh-CN" altLang="en-US" dirty="0"/>
              <a:t>），一个重要的问题是：</a:t>
            </a:r>
            <a:endParaRPr lang="en-US" altLang="zh-CN" dirty="0"/>
          </a:p>
          <a:p>
            <a:pPr lvl="1" eaLnBrk="1" hangingPunct="1"/>
            <a:r>
              <a:rPr lang="zh-CN" altLang="en-US" dirty="0"/>
              <a:t>你如何知道哪几个字符组成的单词可识别为某类记号？</a:t>
            </a:r>
            <a:endParaRPr lang="en-US" altLang="zh-CN" dirty="0"/>
          </a:p>
          <a:p>
            <a:pPr eaLnBrk="1" hangingPunct="1">
              <a:lnSpc>
                <a:spcPct val="100000"/>
              </a:lnSpc>
            </a:pPr>
            <a:r>
              <a:rPr lang="zh-CN" altLang="en-US" dirty="0"/>
              <a:t>这就用到了“模式”（</a:t>
            </a:r>
            <a:r>
              <a:rPr lang="en-US" altLang="zh-CN" dirty="0"/>
              <a:t>pattern</a:t>
            </a:r>
            <a:r>
              <a:rPr lang="zh-CN" altLang="en-US" dirty="0"/>
              <a:t>），而</a:t>
            </a:r>
            <a:r>
              <a:rPr lang="zh-CN" altLang="en-US" dirty="0">
                <a:solidFill>
                  <a:schemeClr val="accent2"/>
                </a:solidFill>
              </a:rPr>
              <a:t>正规式</a:t>
            </a:r>
            <a:r>
              <a:rPr lang="zh-CN" altLang="en-US" dirty="0"/>
              <a:t>（</a:t>
            </a:r>
            <a:r>
              <a:rPr lang="en-US" altLang="zh-CN" dirty="0">
                <a:solidFill>
                  <a:schemeClr val="accent2"/>
                </a:solidFill>
              </a:rPr>
              <a:t>regular expression</a:t>
            </a:r>
            <a:r>
              <a:rPr lang="zh-CN" altLang="en-US" dirty="0"/>
              <a:t>，也叫</a:t>
            </a:r>
            <a:r>
              <a:rPr lang="zh-CN" altLang="en-US" dirty="0">
                <a:solidFill>
                  <a:schemeClr val="accent2"/>
                </a:solidFill>
              </a:rPr>
              <a:t>正则表达式</a:t>
            </a:r>
            <a:r>
              <a:rPr lang="zh-CN" altLang="en-US" dirty="0"/>
              <a:t>）就是一种</a:t>
            </a:r>
            <a:r>
              <a:rPr lang="zh-CN" altLang="en-US" dirty="0">
                <a:solidFill>
                  <a:schemeClr val="accent1"/>
                </a:solidFill>
              </a:rPr>
              <a:t>形式化</a:t>
            </a:r>
            <a:r>
              <a:rPr lang="zh-CN" altLang="en-US" dirty="0"/>
              <a:t>的“模式”。</a:t>
            </a:r>
            <a:endParaRPr lang="en-US" altLang="zh-CN" dirty="0"/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C8C09AA-B599-E963-09CE-379E751E97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C292E-54A5-43B1-9EAA-4E13401AB983}" type="datetime2">
              <a:rPr lang="zh-CN" altLang="en-US" smtClean="0"/>
              <a:t>2026年3月11日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ED71152-A6DE-FB5E-38C2-CE5CC833DC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</a:t>
            </a:r>
            <a:r>
              <a:rPr lang="en-US" altLang="zh-CN"/>
              <a:t>2</a:t>
            </a:r>
            <a:r>
              <a:rPr lang="zh-CN" altLang="en-US"/>
              <a:t>章 词法分析</a:t>
            </a:r>
            <a:r>
              <a:rPr lang="en-US" altLang="zh-CN"/>
              <a:t>(1)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B301C43-6A38-3C4D-B8F9-8FC5DD00F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22</a:t>
            </a:fld>
            <a:endParaRPr lang="zh-CN" alt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81CBD367-BB33-44BF-A027-A419AAEF2BC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CN" dirty="0"/>
              <a:t>2.2 </a:t>
            </a:r>
            <a:r>
              <a:rPr lang="zh-CN" altLang="en-US" dirty="0"/>
              <a:t>词法记号的描述与识别</a:t>
            </a:r>
          </a:p>
        </p:txBody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64B2C0CA-1AF2-4B71-91AA-7DDF0BC9AC2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串和语言</a:t>
            </a:r>
          </a:p>
          <a:p>
            <a:pPr eaLnBrk="1" hangingPunct="1"/>
            <a:r>
              <a:rPr lang="zh-CN" altLang="en-US" dirty="0"/>
              <a:t>正规式</a:t>
            </a:r>
          </a:p>
          <a:p>
            <a:pPr eaLnBrk="1" hangingPunct="1"/>
            <a:r>
              <a:rPr lang="zh-CN" altLang="en-US" dirty="0"/>
              <a:t>正规定义</a:t>
            </a:r>
            <a:endParaRPr lang="en-US" altLang="zh-CN" dirty="0"/>
          </a:p>
          <a:p>
            <a:pPr eaLnBrk="1" hangingPunct="1"/>
            <a:r>
              <a:rPr lang="zh-CN" altLang="en-US" dirty="0"/>
              <a:t>状态转换图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54847BE-AB7F-D21B-E8E8-19CD024724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A29DF-FB8A-40CB-BA1E-0D7EF17640D1}" type="datetime2">
              <a:rPr lang="zh-CN" altLang="en-US" smtClean="0"/>
              <a:t>2026年3月11日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D814525-BDCA-0C62-2D4D-D84AC0F87F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</a:t>
            </a:r>
            <a:r>
              <a:rPr lang="en-US" altLang="zh-CN"/>
              <a:t>2</a:t>
            </a:r>
            <a:r>
              <a:rPr lang="zh-CN" altLang="en-US"/>
              <a:t>章 词法分析</a:t>
            </a:r>
            <a:r>
              <a:rPr lang="en-US" altLang="zh-CN"/>
              <a:t>(1)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CB7BC77-4903-D196-3BA4-4DBF73889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23</a:t>
            </a:fld>
            <a:endParaRPr lang="zh-CN" alt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0C7CACF2-BD06-4334-87F7-E543B56E6F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CN" dirty="0"/>
              <a:t>2.2.1 </a:t>
            </a:r>
            <a:r>
              <a:rPr lang="zh-CN" altLang="en-US" dirty="0"/>
              <a:t>串和语言</a:t>
            </a:r>
          </a:p>
        </p:txBody>
      </p:sp>
      <p:sp>
        <p:nvSpPr>
          <p:cNvPr id="2" name="内容占位符 1">
            <a:extLst>
              <a:ext uri="{FF2B5EF4-FFF2-40B4-BE49-F238E27FC236}">
                <a16:creationId xmlns:a16="http://schemas.microsoft.com/office/drawing/2014/main" id="{43F25B62-3956-4FBC-8ECB-2F9FB319DD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zh-CN" altLang="en-US" dirty="0">
                <a:solidFill>
                  <a:schemeClr val="accent2"/>
                </a:solidFill>
              </a:rPr>
              <a:t>字母表</a:t>
            </a:r>
            <a:r>
              <a:rPr lang="zh-CN" altLang="en-US" dirty="0">
                <a:solidFill>
                  <a:schemeClr val="accent2"/>
                </a:solidFill>
                <a:sym typeface="Symbol" panose="05050102010706020507" pitchFamily="18" charset="2"/>
              </a:rPr>
              <a:t> </a:t>
            </a:r>
            <a:r>
              <a:rPr lang="zh-CN" altLang="en-US" dirty="0"/>
              <a:t>（</a:t>
            </a:r>
            <a:r>
              <a:rPr lang="en-US" altLang="zh-CN" dirty="0"/>
              <a:t>alphabet</a:t>
            </a:r>
            <a:r>
              <a:rPr lang="zh-CN" altLang="en-US" dirty="0"/>
              <a:t>）：</a:t>
            </a:r>
            <a:r>
              <a:rPr lang="zh-CN" altLang="en-US" dirty="0">
                <a:solidFill>
                  <a:schemeClr val="accent1"/>
                </a:solidFill>
              </a:rPr>
              <a:t>符号的有限集合</a:t>
            </a:r>
            <a:r>
              <a:rPr lang="zh-CN" altLang="en-US" dirty="0"/>
              <a:t>，用符号</a:t>
            </a:r>
            <a:r>
              <a:rPr lang="zh-CN" altLang="en-US" dirty="0">
                <a:sym typeface="Symbol" panose="05050102010706020507" pitchFamily="18" charset="2"/>
              </a:rPr>
              <a:t>表示。</a:t>
            </a:r>
            <a:endParaRPr lang="en-US" altLang="zh-CN" dirty="0"/>
          </a:p>
          <a:p>
            <a:pPr eaLnBrk="1" hangingPunct="1"/>
            <a:r>
              <a:rPr lang="zh-CN" altLang="en-US" dirty="0"/>
              <a:t>例：</a:t>
            </a:r>
            <a:endParaRPr lang="en-US" altLang="zh-CN" dirty="0"/>
          </a:p>
          <a:p>
            <a:pPr lvl="1"/>
            <a:r>
              <a:rPr lang="zh-CN" altLang="en-US" dirty="0">
                <a:sym typeface="Symbol" panose="05050102010706020507" pitchFamily="18" charset="2"/>
              </a:rPr>
              <a:t>二进制字母表（</a:t>
            </a:r>
            <a:r>
              <a:rPr lang="en-US" altLang="zh-CN" dirty="0">
                <a:sym typeface="Symbol" panose="05050102010706020507" pitchFamily="18" charset="2"/>
              </a:rPr>
              <a:t>binary alphabet</a:t>
            </a:r>
            <a:r>
              <a:rPr lang="zh-CN" altLang="en-US" dirty="0">
                <a:sym typeface="Symbol" panose="05050102010706020507" pitchFamily="18" charset="2"/>
              </a:rPr>
              <a:t>）： </a:t>
            </a:r>
            <a:r>
              <a:rPr lang="en-US" altLang="zh-CN" dirty="0">
                <a:sym typeface="Symbol" panose="05050102010706020507" pitchFamily="18" charset="2"/>
              </a:rPr>
              <a:t>= </a:t>
            </a:r>
            <a:r>
              <a:rPr lang="en-US" altLang="zh-CN" dirty="0"/>
              <a:t>{0, 1}</a:t>
            </a:r>
          </a:p>
          <a:p>
            <a:pPr lvl="1"/>
            <a:r>
              <a:rPr lang="zh-CN" altLang="en-US" dirty="0"/>
              <a:t>英文字母表</a:t>
            </a:r>
            <a:endParaRPr lang="en-US" altLang="zh-CN" dirty="0"/>
          </a:p>
          <a:p>
            <a:pPr lvl="1"/>
            <a:r>
              <a:rPr lang="en-US" altLang="zh-CN" dirty="0"/>
              <a:t>ASCII</a:t>
            </a:r>
            <a:r>
              <a:rPr lang="zh-CN" altLang="en-US" dirty="0"/>
              <a:t>字符集</a:t>
            </a:r>
            <a:endParaRPr lang="en-US" altLang="zh-CN" dirty="0"/>
          </a:p>
          <a:p>
            <a:pPr lvl="1"/>
            <a:r>
              <a:rPr lang="en-US" altLang="zh-CN" dirty="0"/>
              <a:t>Unicode</a:t>
            </a:r>
            <a:r>
              <a:rPr lang="zh-CN" altLang="en-US" dirty="0"/>
              <a:t>字符集</a:t>
            </a:r>
            <a:endParaRPr lang="zh-CN" altLang="en-US" dirty="0">
              <a:sym typeface="Symbol" panose="05050102010706020507" pitchFamily="18" charset="2"/>
            </a:endParaRP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09CD714-41CD-156E-BB39-27C1648BC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FDFFB-56BF-46CF-83C1-498A494DBE2F}" type="datetime2">
              <a:rPr lang="zh-CN" altLang="en-US" smtClean="0"/>
              <a:t>2026年3月11日</a:t>
            </a:fld>
            <a:endParaRPr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9FF7699-90EE-9BB0-D7D4-CC2E120DC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</a:t>
            </a:r>
            <a:r>
              <a:rPr lang="en-US" altLang="zh-CN"/>
              <a:t>2</a:t>
            </a:r>
            <a:r>
              <a:rPr lang="zh-CN" altLang="en-US"/>
              <a:t>章 词法分析</a:t>
            </a:r>
            <a:r>
              <a:rPr lang="en-US" altLang="zh-CN"/>
              <a:t>(1)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959B7E8-914C-A06A-DC6E-B8E6ACFC86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24</a:t>
            </a:fld>
            <a:endParaRPr lang="zh-CN" alt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0C7CACF2-BD06-4334-87F7-E543B56E6F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8650" y="229136"/>
            <a:ext cx="7886700" cy="953133"/>
          </a:xfrm>
        </p:spPr>
        <p:txBody>
          <a:bodyPr>
            <a:normAutofit/>
          </a:bodyPr>
          <a:lstStyle/>
          <a:p>
            <a:r>
              <a:rPr lang="en-US" altLang="zh-CN" dirty="0"/>
              <a:t>2.2.1 </a:t>
            </a:r>
            <a:r>
              <a:rPr lang="zh-CN" altLang="en-US" dirty="0"/>
              <a:t>串和语言</a:t>
            </a:r>
          </a:p>
        </p:txBody>
      </p:sp>
      <p:sp>
        <p:nvSpPr>
          <p:cNvPr id="2" name="内容占位符 1">
            <a:extLst>
              <a:ext uri="{FF2B5EF4-FFF2-40B4-BE49-F238E27FC236}">
                <a16:creationId xmlns:a16="http://schemas.microsoft.com/office/drawing/2014/main" id="{43F25B62-3956-4FBC-8ECB-2F9FB319DD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257300"/>
            <a:ext cx="7886700" cy="4919663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10000"/>
              </a:lnSpc>
            </a:pPr>
            <a:r>
              <a:rPr lang="zh-CN" altLang="en-US" dirty="0">
                <a:solidFill>
                  <a:schemeClr val="accent2"/>
                </a:solidFill>
              </a:rPr>
              <a:t>串</a:t>
            </a:r>
            <a:r>
              <a:rPr lang="zh-CN" altLang="en-US" dirty="0"/>
              <a:t>（</a:t>
            </a:r>
            <a:r>
              <a:rPr lang="en-US" altLang="zh-CN" dirty="0"/>
              <a:t>string</a:t>
            </a:r>
            <a:r>
              <a:rPr lang="zh-CN" altLang="en-US" dirty="0"/>
              <a:t>）：串是字母表中符号的一个</a:t>
            </a:r>
            <a:r>
              <a:rPr lang="zh-CN" altLang="en-US" dirty="0">
                <a:solidFill>
                  <a:schemeClr val="accent2"/>
                </a:solidFill>
              </a:rPr>
              <a:t>有穷序列</a:t>
            </a:r>
            <a:r>
              <a:rPr lang="zh-CN" altLang="en-US" dirty="0"/>
              <a:t>。</a:t>
            </a:r>
            <a:endParaRPr lang="en-US" altLang="zh-CN" dirty="0"/>
          </a:p>
          <a:p>
            <a:pPr lvl="1">
              <a:lnSpc>
                <a:spcPct val="110000"/>
              </a:lnSpc>
            </a:pPr>
            <a:r>
              <a:rPr lang="en-US" altLang="zh-CN" dirty="0"/>
              <a:t>0110</a:t>
            </a:r>
            <a:r>
              <a:rPr lang="zh-CN" altLang="en-US" dirty="0"/>
              <a:t>是二进制字母表的一个串，</a:t>
            </a:r>
            <a:r>
              <a:rPr lang="en-US" altLang="zh-CN" dirty="0"/>
              <a:t>abb</a:t>
            </a:r>
            <a:r>
              <a:rPr lang="zh-CN" altLang="en-US" dirty="0"/>
              <a:t>是英文字母表的一个串</a:t>
            </a:r>
            <a:endParaRPr lang="en-US" altLang="zh-CN" dirty="0"/>
          </a:p>
          <a:p>
            <a:pPr>
              <a:lnSpc>
                <a:spcPct val="110000"/>
              </a:lnSpc>
            </a:pPr>
            <a:r>
              <a:rPr lang="zh-CN" altLang="en-US" dirty="0">
                <a:solidFill>
                  <a:schemeClr val="accent2"/>
                </a:solidFill>
                <a:sym typeface="Symbol" panose="05050102010706020507" pitchFamily="18" charset="2"/>
              </a:rPr>
              <a:t>串的长度</a:t>
            </a:r>
            <a:r>
              <a:rPr lang="zh-CN" altLang="en-US" dirty="0">
                <a:sym typeface="Symbol" panose="05050102010706020507" pitchFamily="18" charset="2"/>
              </a:rPr>
              <a:t>：</a:t>
            </a:r>
            <a:r>
              <a:rPr lang="en-US" altLang="zh-CN" dirty="0">
                <a:sym typeface="Symbol" panose="05050102010706020507" pitchFamily="18" charset="2"/>
              </a:rPr>
              <a:t>|s|=</a:t>
            </a:r>
            <a:r>
              <a:rPr lang="zh-CN" altLang="en-US" dirty="0">
                <a:sym typeface="Symbol" panose="05050102010706020507" pitchFamily="18" charset="2"/>
              </a:rPr>
              <a:t>串</a:t>
            </a:r>
            <a:r>
              <a:rPr lang="en-US" altLang="zh-CN" dirty="0">
                <a:sym typeface="Symbol" panose="05050102010706020507" pitchFamily="18" charset="2"/>
              </a:rPr>
              <a:t>s</a:t>
            </a:r>
            <a:r>
              <a:rPr lang="zh-CN" altLang="en-US" dirty="0">
                <a:sym typeface="Symbol" panose="05050102010706020507" pitchFamily="18" charset="2"/>
              </a:rPr>
              <a:t>中符号的个数。空串长度为</a:t>
            </a:r>
            <a:r>
              <a:rPr lang="en-US" altLang="zh-CN" dirty="0">
                <a:sym typeface="Symbol" panose="05050102010706020507" pitchFamily="18" charset="2"/>
              </a:rPr>
              <a:t>0</a:t>
            </a:r>
            <a:endParaRPr lang="en-US" altLang="zh-CN" dirty="0"/>
          </a:p>
          <a:p>
            <a:pPr lvl="1">
              <a:lnSpc>
                <a:spcPct val="110000"/>
              </a:lnSpc>
            </a:pPr>
            <a:r>
              <a:rPr lang="en-US" altLang="zh-CN" dirty="0"/>
              <a:t>|0110|=4</a:t>
            </a:r>
            <a:r>
              <a:rPr lang="zh-CN" altLang="en-US" dirty="0"/>
              <a:t>，</a:t>
            </a:r>
            <a:r>
              <a:rPr lang="en-US" altLang="zh-CN" dirty="0"/>
              <a:t>|abb|=3</a:t>
            </a:r>
          </a:p>
          <a:p>
            <a:pPr>
              <a:lnSpc>
                <a:spcPct val="110000"/>
              </a:lnSpc>
            </a:pPr>
            <a:r>
              <a:rPr lang="zh-CN" altLang="en-US" dirty="0">
                <a:solidFill>
                  <a:schemeClr val="accent2"/>
                </a:solidFill>
              </a:rPr>
              <a:t>空串</a:t>
            </a:r>
            <a:r>
              <a:rPr lang="zh-CN" altLang="en-US" dirty="0">
                <a:sym typeface="Symbol" panose="05050102010706020507" pitchFamily="18" charset="2"/>
              </a:rPr>
              <a:t>（</a:t>
            </a:r>
            <a:r>
              <a:rPr lang="en-US" altLang="zh-CN" dirty="0">
                <a:sym typeface="Symbol" panose="05050102010706020507" pitchFamily="18" charset="2"/>
              </a:rPr>
              <a:t>empty string</a:t>
            </a:r>
            <a:r>
              <a:rPr lang="zh-CN" altLang="en-US" dirty="0">
                <a:sym typeface="Symbol" panose="05050102010706020507" pitchFamily="18" charset="2"/>
              </a:rPr>
              <a:t>）是长度为</a:t>
            </a:r>
            <a:r>
              <a:rPr lang="en-US" altLang="zh-CN" dirty="0">
                <a:sym typeface="Symbol" panose="05050102010706020507" pitchFamily="18" charset="2"/>
              </a:rPr>
              <a:t>0</a:t>
            </a:r>
            <a:r>
              <a:rPr lang="zh-CN" altLang="en-US" dirty="0">
                <a:sym typeface="Symbol" panose="05050102010706020507" pitchFamily="18" charset="2"/>
              </a:rPr>
              <a:t>的串，用</a:t>
            </a:r>
            <a:r>
              <a:rPr lang="en-US" altLang="zh-CN" dirty="0">
                <a:sym typeface="Symbol" panose="05050102010706020507" pitchFamily="18" charset="2"/>
              </a:rPr>
              <a:t></a:t>
            </a:r>
            <a:r>
              <a:rPr lang="zh-CN" altLang="en-US" dirty="0">
                <a:sym typeface="Symbol" panose="05050102010706020507" pitchFamily="18" charset="2"/>
              </a:rPr>
              <a:t>（</a:t>
            </a:r>
            <a:r>
              <a:rPr lang="en-US" altLang="zh-CN" dirty="0">
                <a:sym typeface="Symbol" panose="05050102010706020507" pitchFamily="18" charset="2"/>
              </a:rPr>
              <a:t>epsilon</a:t>
            </a:r>
            <a:r>
              <a:rPr lang="zh-CN" altLang="en-US" dirty="0">
                <a:sym typeface="Symbol" panose="05050102010706020507" pitchFamily="18" charset="2"/>
              </a:rPr>
              <a:t>）表示</a:t>
            </a:r>
            <a:endParaRPr lang="en-US" altLang="zh-CN" dirty="0">
              <a:sym typeface="Symbol" panose="05050102010706020507" pitchFamily="18" charset="2"/>
            </a:endParaRPr>
          </a:p>
          <a:p>
            <a:pPr lvl="1">
              <a:lnSpc>
                <a:spcPct val="110000"/>
              </a:lnSpc>
            </a:pPr>
            <a:r>
              <a:rPr lang="en-US" altLang="zh-CN" dirty="0">
                <a:sym typeface="Symbol" panose="05050102010706020507" pitchFamily="18" charset="2"/>
              </a:rPr>
              <a:t>||=0</a:t>
            </a:r>
            <a:endParaRPr lang="en-US" altLang="zh-CN" dirty="0"/>
          </a:p>
          <a:p>
            <a:pPr>
              <a:lnSpc>
                <a:spcPct val="110000"/>
              </a:lnSpc>
            </a:pPr>
            <a:endParaRPr lang="en-US" altLang="zh-CN" dirty="0"/>
          </a:p>
          <a:p>
            <a:pPr>
              <a:lnSpc>
                <a:spcPct val="110000"/>
              </a:lnSpc>
            </a:pPr>
            <a:endParaRPr lang="en-US" altLang="zh-CN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865F73E-06A3-239B-C95A-1AC03CC46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287DA-C247-408E-9111-09F9D763A7F3}" type="datetime2">
              <a:rPr lang="zh-CN" altLang="en-US" smtClean="0"/>
              <a:t>2026年3月11日</a:t>
            </a:fld>
            <a:endParaRPr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9566EFC-D86A-D9D2-3281-71A71B3713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</a:t>
            </a:r>
            <a:r>
              <a:rPr lang="en-US" altLang="zh-CN"/>
              <a:t>2</a:t>
            </a:r>
            <a:r>
              <a:rPr lang="zh-CN" altLang="en-US"/>
              <a:t>章 词法分析</a:t>
            </a:r>
            <a:r>
              <a:rPr lang="en-US" altLang="zh-CN"/>
              <a:t>(1)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1B5A8C9-F3EC-DA35-435A-68BA46AC0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584643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260099B4-BBC4-48E6-894B-8F6D4A774F3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8650" y="229136"/>
            <a:ext cx="7886700" cy="953133"/>
          </a:xfrm>
        </p:spPr>
        <p:txBody>
          <a:bodyPr>
            <a:normAutofit/>
          </a:bodyPr>
          <a:lstStyle/>
          <a:p>
            <a:r>
              <a:rPr lang="en-US" altLang="zh-CN" dirty="0"/>
              <a:t>2.2.1 </a:t>
            </a:r>
            <a:r>
              <a:rPr lang="zh-CN" altLang="en-US" dirty="0"/>
              <a:t>串和语言</a:t>
            </a:r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ACD47F46-D9A5-450E-80CA-E7AC0B7DA3A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28650" y="1257300"/>
            <a:ext cx="7886700" cy="4919663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20000"/>
              </a:lnSpc>
            </a:pPr>
            <a:r>
              <a:rPr lang="zh-CN" altLang="en-US" dirty="0"/>
              <a:t>关于串的部分的术语：</a:t>
            </a:r>
          </a:p>
          <a:p>
            <a:pPr>
              <a:lnSpc>
                <a:spcPct val="120000"/>
              </a:lnSpc>
            </a:pPr>
            <a:r>
              <a:rPr lang="zh-CN" altLang="en-US" dirty="0">
                <a:solidFill>
                  <a:schemeClr val="accent2"/>
                </a:solidFill>
              </a:rPr>
              <a:t>前缀</a:t>
            </a:r>
            <a:r>
              <a:rPr lang="zh-CN" altLang="en-US" dirty="0"/>
              <a:t>（</a:t>
            </a:r>
            <a:r>
              <a:rPr lang="en-US" altLang="zh-CN" dirty="0"/>
              <a:t>prefix</a:t>
            </a:r>
            <a:r>
              <a:rPr lang="zh-CN" altLang="en-US" dirty="0"/>
              <a:t>）：从串</a:t>
            </a:r>
            <a:r>
              <a:rPr lang="en-US" altLang="zh-CN" dirty="0"/>
              <a:t>s</a:t>
            </a:r>
            <a:r>
              <a:rPr lang="zh-CN" altLang="en-US" dirty="0"/>
              <a:t>的尾部删去若干个（包括</a:t>
            </a:r>
            <a:r>
              <a:rPr lang="en-US" altLang="zh-CN" dirty="0"/>
              <a:t>0</a:t>
            </a:r>
            <a:r>
              <a:rPr lang="zh-CN" altLang="en-US" dirty="0"/>
              <a:t>个）符号后得到的串。例如</a:t>
            </a:r>
            <a:r>
              <a:rPr lang="en-US" altLang="zh-CN" dirty="0"/>
              <a:t>ban</a:t>
            </a:r>
            <a:r>
              <a:rPr lang="zh-CN" altLang="en-US" dirty="0"/>
              <a:t>、</a:t>
            </a:r>
            <a:r>
              <a:rPr lang="en-US" altLang="zh-CN" dirty="0"/>
              <a:t>banana</a:t>
            </a:r>
            <a:r>
              <a:rPr lang="zh-CN" altLang="en-US" dirty="0"/>
              <a:t>和</a:t>
            </a:r>
            <a:r>
              <a:rPr lang="en-US" altLang="zh-CN" dirty="0">
                <a:sym typeface="Symbol" panose="05050102010706020507" pitchFamily="18" charset="2"/>
              </a:rPr>
              <a:t></a:t>
            </a:r>
            <a:r>
              <a:rPr lang="zh-CN" altLang="en-US" dirty="0">
                <a:sym typeface="Symbol" panose="05050102010706020507" pitchFamily="18" charset="2"/>
              </a:rPr>
              <a:t>是</a:t>
            </a:r>
            <a:r>
              <a:rPr lang="en-US" altLang="zh-CN" dirty="0">
                <a:sym typeface="Symbol" panose="05050102010706020507" pitchFamily="18" charset="2"/>
              </a:rPr>
              <a:t>banana</a:t>
            </a:r>
            <a:r>
              <a:rPr lang="zh-CN" altLang="en-US" dirty="0">
                <a:sym typeface="Symbol" panose="05050102010706020507" pitchFamily="18" charset="2"/>
              </a:rPr>
              <a:t>的前缀。</a:t>
            </a:r>
            <a:endParaRPr lang="zh-CN" altLang="en-US" dirty="0"/>
          </a:p>
          <a:p>
            <a:pPr>
              <a:lnSpc>
                <a:spcPct val="120000"/>
              </a:lnSpc>
            </a:pPr>
            <a:r>
              <a:rPr lang="zh-CN" altLang="en-US" dirty="0">
                <a:solidFill>
                  <a:schemeClr val="accent2"/>
                </a:solidFill>
              </a:rPr>
              <a:t>后缀</a:t>
            </a:r>
            <a:r>
              <a:rPr lang="zh-CN" altLang="en-US" dirty="0"/>
              <a:t>（</a:t>
            </a:r>
            <a:r>
              <a:rPr lang="en-US" altLang="zh-CN" dirty="0"/>
              <a:t>suffix</a:t>
            </a:r>
            <a:r>
              <a:rPr lang="zh-CN" altLang="en-US" dirty="0"/>
              <a:t>）：从串</a:t>
            </a:r>
            <a:r>
              <a:rPr lang="en-US" altLang="zh-CN" dirty="0"/>
              <a:t>s</a:t>
            </a:r>
            <a:r>
              <a:rPr lang="zh-CN" altLang="en-US" dirty="0"/>
              <a:t>的头部删去若干个（包括</a:t>
            </a:r>
            <a:r>
              <a:rPr lang="en-US" altLang="zh-CN" dirty="0"/>
              <a:t>0</a:t>
            </a:r>
            <a:r>
              <a:rPr lang="zh-CN" altLang="en-US" dirty="0"/>
              <a:t>个）符号后得到的串。例如</a:t>
            </a:r>
            <a:r>
              <a:rPr lang="en-US" altLang="zh-CN" dirty="0"/>
              <a:t>nana</a:t>
            </a:r>
            <a:r>
              <a:rPr lang="zh-CN" altLang="en-US" dirty="0"/>
              <a:t>、</a:t>
            </a:r>
            <a:r>
              <a:rPr lang="en-US" altLang="zh-CN" dirty="0"/>
              <a:t>banana</a:t>
            </a:r>
            <a:r>
              <a:rPr lang="zh-CN" altLang="en-US" dirty="0"/>
              <a:t>和</a:t>
            </a:r>
            <a:r>
              <a:rPr lang="en-US" altLang="zh-CN" dirty="0">
                <a:sym typeface="Symbol" panose="05050102010706020507" pitchFamily="18" charset="2"/>
              </a:rPr>
              <a:t></a:t>
            </a:r>
            <a:r>
              <a:rPr lang="zh-CN" altLang="en-US" dirty="0">
                <a:sym typeface="Symbol" panose="05050102010706020507" pitchFamily="18" charset="2"/>
              </a:rPr>
              <a:t>是</a:t>
            </a:r>
            <a:r>
              <a:rPr lang="en-US" altLang="zh-CN" dirty="0">
                <a:sym typeface="Symbol" panose="05050102010706020507" pitchFamily="18" charset="2"/>
              </a:rPr>
              <a:t>banana</a:t>
            </a:r>
            <a:r>
              <a:rPr lang="zh-CN" altLang="en-US" dirty="0">
                <a:sym typeface="Symbol" panose="05050102010706020507" pitchFamily="18" charset="2"/>
              </a:rPr>
              <a:t>的后缀。</a:t>
            </a:r>
            <a:endParaRPr lang="zh-CN" altLang="en-US" dirty="0"/>
          </a:p>
          <a:p>
            <a:pPr>
              <a:lnSpc>
                <a:spcPct val="120000"/>
              </a:lnSpc>
            </a:pPr>
            <a:r>
              <a:rPr lang="zh-CN" altLang="en-US" dirty="0">
                <a:solidFill>
                  <a:schemeClr val="accent2"/>
                </a:solidFill>
              </a:rPr>
              <a:t>子串</a:t>
            </a:r>
            <a:r>
              <a:rPr lang="zh-CN" altLang="en-US" dirty="0"/>
              <a:t>（</a:t>
            </a:r>
            <a:r>
              <a:rPr lang="en-US" altLang="zh-CN" dirty="0"/>
              <a:t>substring</a:t>
            </a:r>
            <a:r>
              <a:rPr lang="zh-CN" altLang="en-US" dirty="0"/>
              <a:t>）：从串</a:t>
            </a:r>
            <a:r>
              <a:rPr lang="en-US" altLang="zh-CN" dirty="0"/>
              <a:t>s</a:t>
            </a:r>
            <a:r>
              <a:rPr lang="zh-CN" altLang="en-US" dirty="0"/>
              <a:t>删除某个前缀和某个后缀所得到的串。例如</a:t>
            </a:r>
            <a:r>
              <a:rPr lang="en-US" altLang="zh-CN" dirty="0" err="1"/>
              <a:t>anana</a:t>
            </a:r>
            <a:r>
              <a:rPr lang="zh-CN" altLang="en-US" dirty="0"/>
              <a:t>、</a:t>
            </a:r>
            <a:r>
              <a:rPr lang="en-US" altLang="zh-CN" dirty="0"/>
              <a:t>nan</a:t>
            </a:r>
            <a:r>
              <a:rPr lang="zh-CN" altLang="en-US" dirty="0"/>
              <a:t>和</a:t>
            </a:r>
            <a:r>
              <a:rPr lang="en-US" altLang="zh-CN" dirty="0">
                <a:sym typeface="Symbol" panose="05050102010706020507" pitchFamily="18" charset="2"/>
              </a:rPr>
              <a:t></a:t>
            </a:r>
            <a:r>
              <a:rPr lang="zh-CN" altLang="en-US" dirty="0">
                <a:sym typeface="Symbol" panose="05050102010706020507" pitchFamily="18" charset="2"/>
              </a:rPr>
              <a:t>是</a:t>
            </a:r>
            <a:r>
              <a:rPr lang="en-US" altLang="zh-CN" dirty="0">
                <a:sym typeface="Symbol" panose="05050102010706020507" pitchFamily="18" charset="2"/>
              </a:rPr>
              <a:t>banana</a:t>
            </a:r>
            <a:r>
              <a:rPr lang="zh-CN" altLang="en-US" dirty="0">
                <a:sym typeface="Symbol" panose="05050102010706020507" pitchFamily="18" charset="2"/>
              </a:rPr>
              <a:t>的子串。</a:t>
            </a:r>
            <a:endParaRPr lang="en-US" altLang="zh-CN" dirty="0">
              <a:sym typeface="Symbol" panose="05050102010706020507" pitchFamily="18" charset="2"/>
            </a:endParaRPr>
          </a:p>
          <a:p>
            <a:pPr>
              <a:lnSpc>
                <a:spcPct val="120000"/>
              </a:lnSpc>
            </a:pPr>
            <a:r>
              <a:rPr lang="zh-CN" altLang="en-US" dirty="0">
                <a:solidFill>
                  <a:schemeClr val="accent2"/>
                </a:solidFill>
              </a:rPr>
              <a:t>真</a:t>
            </a:r>
            <a:r>
              <a:rPr lang="zh-CN" altLang="en-US" dirty="0"/>
              <a:t>（</a:t>
            </a:r>
            <a:r>
              <a:rPr lang="en-US" altLang="zh-CN" dirty="0"/>
              <a:t>true</a:t>
            </a:r>
            <a:r>
              <a:rPr lang="zh-CN" altLang="en-US" dirty="0"/>
              <a:t>）</a:t>
            </a:r>
            <a:r>
              <a:rPr lang="zh-CN" altLang="en-US" dirty="0">
                <a:solidFill>
                  <a:schemeClr val="accent2"/>
                </a:solidFill>
              </a:rPr>
              <a:t>前缀、真后缀、真子串</a:t>
            </a:r>
            <a:r>
              <a:rPr lang="zh-CN" altLang="en-US" dirty="0"/>
              <a:t>：串</a:t>
            </a:r>
            <a:r>
              <a:rPr lang="en-US" altLang="zh-CN" dirty="0"/>
              <a:t>s</a:t>
            </a:r>
            <a:r>
              <a:rPr lang="zh-CN" altLang="en-US" dirty="0"/>
              <a:t>的既不等于</a:t>
            </a:r>
            <a:r>
              <a:rPr lang="en-US" altLang="zh-CN" dirty="0">
                <a:sym typeface="Symbol" panose="05050102010706020507" pitchFamily="18" charset="2"/>
              </a:rPr>
              <a:t></a:t>
            </a:r>
            <a:r>
              <a:rPr lang="zh-CN" altLang="en-US" dirty="0">
                <a:sym typeface="Symbol" panose="05050102010706020507" pitchFamily="18" charset="2"/>
              </a:rPr>
              <a:t>、也不等于</a:t>
            </a:r>
            <a:r>
              <a:rPr lang="en-US" altLang="zh-CN" dirty="0">
                <a:sym typeface="Symbol" panose="05050102010706020507" pitchFamily="18" charset="2"/>
              </a:rPr>
              <a:t>s</a:t>
            </a:r>
            <a:r>
              <a:rPr lang="zh-CN" altLang="en-US" dirty="0">
                <a:sym typeface="Symbol" panose="05050102010706020507" pitchFamily="18" charset="2"/>
              </a:rPr>
              <a:t>本身的前缀、后缀、子串。</a:t>
            </a:r>
            <a:endParaRPr lang="zh-CN" altLang="en-US" dirty="0"/>
          </a:p>
          <a:p>
            <a:pPr lvl="1">
              <a:lnSpc>
                <a:spcPct val="120000"/>
              </a:lnSpc>
            </a:pPr>
            <a:endParaRPr lang="zh-CN" altLang="en-US" dirty="0"/>
          </a:p>
          <a:p>
            <a:pPr lvl="1">
              <a:lnSpc>
                <a:spcPct val="120000"/>
              </a:lnSpc>
            </a:pPr>
            <a:endParaRPr lang="en-US" altLang="zh-CN" dirty="0"/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D8799BE-DFDC-88C6-6B45-F80AA40510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1A8CB-1203-4EA9-A6E8-0F7E0DD25CE6}" type="datetime2">
              <a:rPr lang="zh-CN" altLang="en-US" smtClean="0"/>
              <a:t>2026年3月11日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3C7BCA0-41A2-67D5-939A-2AF25CF4B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</a:t>
            </a:r>
            <a:r>
              <a:rPr lang="en-US" altLang="zh-CN"/>
              <a:t>2</a:t>
            </a:r>
            <a:r>
              <a:rPr lang="zh-CN" altLang="en-US"/>
              <a:t>章 词法分析</a:t>
            </a:r>
            <a:r>
              <a:rPr lang="en-US" altLang="zh-CN"/>
              <a:t>(1)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960DB4C-A9DA-1D06-E84A-434904372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26</a:t>
            </a:fld>
            <a:endParaRPr lang="zh-CN" alt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0C7CACF2-BD06-4334-87F7-E543B56E6F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CN"/>
              <a:t>2.2.1 </a:t>
            </a:r>
            <a:r>
              <a:rPr lang="zh-CN" altLang="en-US"/>
              <a:t>串和语言</a:t>
            </a:r>
            <a:endParaRPr lang="zh-CN" altLang="en-US" dirty="0"/>
          </a:p>
        </p:txBody>
      </p:sp>
      <p:sp>
        <p:nvSpPr>
          <p:cNvPr id="2" name="内容占位符 1">
            <a:extLst>
              <a:ext uri="{FF2B5EF4-FFF2-40B4-BE49-F238E27FC236}">
                <a16:creationId xmlns:a16="http://schemas.microsoft.com/office/drawing/2014/main" id="{43F25B62-3956-4FBC-8ECB-2F9FB319DD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eaLnBrk="1" hangingPunct="1">
              <a:lnSpc>
                <a:spcPct val="110000"/>
              </a:lnSpc>
            </a:pPr>
            <a:r>
              <a:rPr lang="zh-CN" altLang="en-US" dirty="0"/>
              <a:t>串的运算：</a:t>
            </a:r>
          </a:p>
          <a:p>
            <a:pPr>
              <a:lnSpc>
                <a:spcPct val="110000"/>
              </a:lnSpc>
            </a:pPr>
            <a:r>
              <a:rPr lang="zh-CN" altLang="en-US" dirty="0">
                <a:solidFill>
                  <a:schemeClr val="accent2"/>
                </a:solidFill>
                <a:sym typeface="Symbol" panose="05050102010706020507" pitchFamily="18" charset="2"/>
              </a:rPr>
              <a:t>连接</a:t>
            </a:r>
            <a:r>
              <a:rPr lang="zh-CN" altLang="en-US" dirty="0">
                <a:sym typeface="Symbol" panose="05050102010706020507" pitchFamily="18" charset="2"/>
              </a:rPr>
              <a:t>（</a:t>
            </a:r>
            <a:r>
              <a:rPr lang="en-US" altLang="zh-CN" dirty="0">
                <a:sym typeface="Symbol" panose="05050102010706020507" pitchFamily="18" charset="2"/>
              </a:rPr>
              <a:t>concatenation</a:t>
            </a:r>
            <a:r>
              <a:rPr lang="zh-CN" altLang="en-US" dirty="0">
                <a:sym typeface="Symbol" panose="05050102010706020507" pitchFamily="18" charset="2"/>
              </a:rPr>
              <a:t>）：如果</a:t>
            </a:r>
            <a:r>
              <a:rPr lang="en-US" altLang="zh-CN" dirty="0">
                <a:sym typeface="Symbol" panose="05050102010706020507" pitchFamily="18" charset="2"/>
              </a:rPr>
              <a:t>x</a:t>
            </a:r>
            <a:r>
              <a:rPr lang="zh-CN" altLang="en-US" dirty="0">
                <a:sym typeface="Symbol" panose="05050102010706020507" pitchFamily="18" charset="2"/>
              </a:rPr>
              <a:t>和</a:t>
            </a:r>
            <a:r>
              <a:rPr lang="en-US" altLang="zh-CN" dirty="0">
                <a:sym typeface="Symbol" panose="05050102010706020507" pitchFamily="18" charset="2"/>
              </a:rPr>
              <a:t>y</a:t>
            </a:r>
            <a:r>
              <a:rPr lang="zh-CN" altLang="en-US" dirty="0">
                <a:sym typeface="Symbol" panose="05050102010706020507" pitchFamily="18" charset="2"/>
              </a:rPr>
              <a:t>是串，那么</a:t>
            </a:r>
            <a:r>
              <a:rPr lang="en-US" altLang="zh-CN" dirty="0">
                <a:sym typeface="Symbol" panose="05050102010706020507" pitchFamily="18" charset="2"/>
              </a:rPr>
              <a:t>x</a:t>
            </a:r>
            <a:r>
              <a:rPr lang="zh-CN" altLang="en-US" dirty="0">
                <a:sym typeface="Symbol" panose="05050102010706020507" pitchFamily="18" charset="2"/>
              </a:rPr>
              <a:t>和</a:t>
            </a:r>
            <a:r>
              <a:rPr lang="en-US" altLang="zh-CN" dirty="0">
                <a:sym typeface="Symbol" panose="05050102010706020507" pitchFamily="18" charset="2"/>
              </a:rPr>
              <a:t>y</a:t>
            </a:r>
            <a:r>
              <a:rPr lang="zh-CN" altLang="en-US" dirty="0">
                <a:sym typeface="Symbol" panose="05050102010706020507" pitchFamily="18" charset="2"/>
              </a:rPr>
              <a:t>的连接是把</a:t>
            </a:r>
            <a:r>
              <a:rPr lang="en-US" altLang="zh-CN" dirty="0">
                <a:sym typeface="Symbol" panose="05050102010706020507" pitchFamily="18" charset="2"/>
              </a:rPr>
              <a:t>y</a:t>
            </a:r>
            <a:r>
              <a:rPr lang="zh-CN" altLang="en-US" dirty="0">
                <a:sym typeface="Symbol" panose="05050102010706020507" pitchFamily="18" charset="2"/>
              </a:rPr>
              <a:t>附加到</a:t>
            </a:r>
            <a:r>
              <a:rPr lang="en-US" altLang="zh-CN" dirty="0">
                <a:sym typeface="Symbol" panose="05050102010706020507" pitchFamily="18" charset="2"/>
              </a:rPr>
              <a:t>x</a:t>
            </a:r>
            <a:r>
              <a:rPr lang="zh-CN" altLang="en-US" dirty="0">
                <a:sym typeface="Symbol" panose="05050102010706020507" pitchFamily="18" charset="2"/>
              </a:rPr>
              <a:t>后面形成的串，记做</a:t>
            </a:r>
            <a:r>
              <a:rPr lang="en-US" altLang="zh-CN" dirty="0" err="1">
                <a:sym typeface="Symbol" panose="05050102010706020507" pitchFamily="18" charset="2"/>
              </a:rPr>
              <a:t>xy</a:t>
            </a:r>
            <a:endParaRPr lang="en-US" altLang="zh-CN" dirty="0">
              <a:sym typeface="Symbol" panose="05050102010706020507" pitchFamily="18" charset="2"/>
            </a:endParaRPr>
          </a:p>
          <a:p>
            <a:pPr lvl="1">
              <a:lnSpc>
                <a:spcPct val="110000"/>
              </a:lnSpc>
            </a:pPr>
            <a:r>
              <a:rPr lang="zh-CN" altLang="en-US" dirty="0">
                <a:sym typeface="Symbol" panose="05050102010706020507" pitchFamily="18" charset="2"/>
              </a:rPr>
              <a:t>若</a:t>
            </a:r>
            <a:r>
              <a:rPr lang="en-US" altLang="zh-CN" dirty="0">
                <a:cs typeface="Times New Roman" panose="02020603050405020304" pitchFamily="18" charset="0"/>
                <a:sym typeface="Symbol" panose="05050102010706020507" pitchFamily="18" charset="2"/>
              </a:rPr>
              <a:t>x=dog, y=house, </a:t>
            </a:r>
            <a:r>
              <a:rPr lang="zh-CN" altLang="en-US" dirty="0">
                <a:cs typeface="Times New Roman" panose="02020603050405020304" pitchFamily="18" charset="0"/>
                <a:sym typeface="Symbol" panose="05050102010706020507" pitchFamily="18" charset="2"/>
              </a:rPr>
              <a:t>则</a:t>
            </a:r>
            <a:r>
              <a:rPr lang="en-US" altLang="zh-CN" dirty="0" err="1">
                <a:cs typeface="Times New Roman" panose="02020603050405020304" pitchFamily="18" charset="0"/>
                <a:sym typeface="Symbol" panose="05050102010706020507" pitchFamily="18" charset="2"/>
              </a:rPr>
              <a:t>xy</a:t>
            </a:r>
            <a:r>
              <a:rPr lang="en-US" altLang="zh-CN" dirty="0">
                <a:cs typeface="Times New Roman" panose="02020603050405020304" pitchFamily="18" charset="0"/>
                <a:sym typeface="Symbol" panose="05050102010706020507" pitchFamily="18" charset="2"/>
              </a:rPr>
              <a:t>=doghouse</a:t>
            </a:r>
            <a:r>
              <a:rPr lang="zh-CN" altLang="en-US" dirty="0">
                <a:sym typeface="Symbol" panose="05050102010706020507" pitchFamily="18" charset="2"/>
              </a:rPr>
              <a:t>。</a:t>
            </a:r>
            <a:endParaRPr lang="en-US" altLang="zh-CN" dirty="0">
              <a:sym typeface="Symbol" panose="05050102010706020507" pitchFamily="18" charset="2"/>
            </a:endParaRPr>
          </a:p>
          <a:p>
            <a:pPr lvl="1">
              <a:lnSpc>
                <a:spcPct val="110000"/>
              </a:lnSpc>
            </a:pPr>
            <a:r>
              <a:rPr lang="zh-CN" altLang="en-US" dirty="0">
                <a:sym typeface="Symbol" panose="05050102010706020507" pitchFamily="18" charset="2"/>
              </a:rPr>
              <a:t>空串是连接运算的单位元（</a:t>
            </a:r>
            <a:r>
              <a:rPr lang="en-US" altLang="zh-CN" dirty="0">
                <a:sym typeface="Symbol" panose="05050102010706020507" pitchFamily="18" charset="2"/>
              </a:rPr>
              <a:t>identity</a:t>
            </a:r>
            <a:r>
              <a:rPr lang="zh-CN" altLang="en-US" dirty="0">
                <a:sym typeface="Symbol" panose="05050102010706020507" pitchFamily="18" charset="2"/>
              </a:rPr>
              <a:t>），即对于任何串都有</a:t>
            </a:r>
            <a:r>
              <a:rPr lang="en-US" altLang="zh-CN" i="1" dirty="0">
                <a:cs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en-US" altLang="zh-CN" dirty="0">
                <a:cs typeface="Times New Roman" panose="02020603050405020304" pitchFamily="18" charset="0"/>
                <a:sym typeface="Symbol" panose="05050102010706020507" pitchFamily="18" charset="2"/>
              </a:rPr>
              <a:t></a:t>
            </a:r>
            <a:r>
              <a:rPr lang="en-US" altLang="zh-CN" i="1" dirty="0">
                <a:cs typeface="Times New Roman" panose="02020603050405020304" pitchFamily="18" charset="0"/>
                <a:sym typeface="Symbol" panose="05050102010706020507" pitchFamily="18" charset="2"/>
              </a:rPr>
              <a:t> = </a:t>
            </a:r>
            <a:r>
              <a:rPr lang="en-US" altLang="zh-CN" dirty="0">
                <a:cs typeface="Times New Roman" panose="02020603050405020304" pitchFamily="18" charset="0"/>
                <a:sym typeface="Symbol" panose="05050102010706020507" pitchFamily="18" charset="2"/>
              </a:rPr>
              <a:t></a:t>
            </a:r>
            <a:r>
              <a:rPr lang="en-US" altLang="zh-CN" i="1" dirty="0">
                <a:cs typeface="Times New Roman" panose="02020603050405020304" pitchFamily="18" charset="0"/>
                <a:sym typeface="Symbol" panose="05050102010706020507" pitchFamily="18" charset="2"/>
              </a:rPr>
              <a:t>s = s</a:t>
            </a:r>
            <a:endParaRPr lang="en-US" altLang="zh-CN" dirty="0">
              <a:sym typeface="Symbol" panose="05050102010706020507" pitchFamily="18" charset="2"/>
            </a:endParaRPr>
          </a:p>
          <a:p>
            <a:pPr>
              <a:lnSpc>
                <a:spcPct val="110000"/>
              </a:lnSpc>
            </a:pPr>
            <a:r>
              <a:rPr lang="zh-CN" altLang="en-US" dirty="0">
                <a:solidFill>
                  <a:schemeClr val="accent2"/>
                </a:solidFill>
                <a:sym typeface="Symbol" panose="05050102010706020507" pitchFamily="18" charset="2"/>
              </a:rPr>
              <a:t>积</a:t>
            </a:r>
            <a:r>
              <a:rPr lang="zh-CN" altLang="en-US" dirty="0">
                <a:sym typeface="Symbol" panose="05050102010706020507" pitchFamily="18" charset="2"/>
              </a:rPr>
              <a:t>（</a:t>
            </a:r>
            <a:r>
              <a:rPr lang="zh-CN" altLang="en-US" dirty="0">
                <a:solidFill>
                  <a:schemeClr val="accent2"/>
                </a:solidFill>
                <a:sym typeface="Symbol" panose="05050102010706020507" pitchFamily="18" charset="2"/>
              </a:rPr>
              <a:t>指数、幂</a:t>
            </a:r>
            <a:r>
              <a:rPr lang="zh-CN" altLang="en-US" dirty="0">
                <a:sym typeface="Symbol" panose="05050102010706020507" pitchFamily="18" charset="2"/>
              </a:rPr>
              <a:t>）： </a:t>
            </a:r>
            <a:r>
              <a:rPr lang="en-US" altLang="zh-CN" i="1" dirty="0">
                <a:cs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en-US" altLang="zh-CN" baseline="30000" dirty="0">
                <a:cs typeface="Times New Roman" panose="02020603050405020304" pitchFamily="18" charset="0"/>
                <a:sym typeface="Symbol" panose="05050102010706020507" pitchFamily="18" charset="2"/>
              </a:rPr>
              <a:t>0</a:t>
            </a:r>
            <a:r>
              <a:rPr lang="zh-CN" altLang="en-US" dirty="0">
                <a:cs typeface="Times New Roman" panose="02020603050405020304" pitchFamily="18" charset="0"/>
                <a:sym typeface="Symbol" panose="05050102010706020507" pitchFamily="18" charset="2"/>
              </a:rPr>
              <a:t>为，</a:t>
            </a:r>
            <a:r>
              <a:rPr lang="en-US" altLang="zh-CN" i="1" dirty="0" err="1">
                <a:cs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en-US" altLang="zh-CN" i="1" baseline="30000" dirty="0" err="1"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zh-CN" altLang="en-US" dirty="0">
                <a:cs typeface="Times New Roman" panose="02020603050405020304" pitchFamily="18" charset="0"/>
                <a:sym typeface="Symbol" panose="05050102010706020507" pitchFamily="18" charset="2"/>
              </a:rPr>
              <a:t>为</a:t>
            </a:r>
            <a:r>
              <a:rPr lang="en-US" altLang="zh-CN" i="1" dirty="0" err="1">
                <a:cs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en-US" altLang="zh-CN" i="1" baseline="30000" dirty="0" err="1"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zh-CN" baseline="30000" dirty="0">
                <a:cs typeface="Times New Roman" panose="02020603050405020304" pitchFamily="18" charset="0"/>
                <a:sym typeface="Symbol" panose="05050102010706020507" pitchFamily="18" charset="2"/>
              </a:rPr>
              <a:t> -1</a:t>
            </a:r>
            <a:r>
              <a:rPr lang="en-US" altLang="zh-CN" i="1" dirty="0">
                <a:cs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zh-CN" altLang="en-US" dirty="0">
                <a:cs typeface="Times New Roman" panose="02020603050405020304" pitchFamily="18" charset="0"/>
                <a:sym typeface="Symbol" panose="05050102010706020507" pitchFamily="18" charset="2"/>
              </a:rPr>
              <a:t>（</a:t>
            </a:r>
            <a:r>
              <a:rPr lang="en-US" altLang="zh-CN" i="1" dirty="0" err="1"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zh-CN" dirty="0">
                <a:cs typeface="Times New Roman" panose="02020603050405020304" pitchFamily="18" charset="0"/>
                <a:sym typeface="Symbol" panose="05050102010706020507" pitchFamily="18" charset="2"/>
              </a:rPr>
              <a:t> &gt; 0</a:t>
            </a:r>
            <a:r>
              <a:rPr lang="zh-CN" altLang="en-US" dirty="0">
                <a:cs typeface="Times New Roman" panose="02020603050405020304" pitchFamily="18" charset="0"/>
                <a:sym typeface="Symbol" panose="05050102010706020507" pitchFamily="18" charset="2"/>
              </a:rPr>
              <a:t>）</a:t>
            </a:r>
            <a:endParaRPr lang="en-US" altLang="zh-CN" dirty="0"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lvl="1">
              <a:lnSpc>
                <a:spcPct val="110000"/>
              </a:lnSpc>
            </a:pPr>
            <a:r>
              <a:rPr lang="zh-CN" altLang="en-US" dirty="0">
                <a:cs typeface="Times New Roman" panose="02020603050405020304" pitchFamily="18" charset="0"/>
                <a:sym typeface="Symbol" panose="05050102010706020507" pitchFamily="18" charset="2"/>
              </a:rPr>
              <a:t>如果</a:t>
            </a:r>
            <a:r>
              <a:rPr lang="en-US" altLang="zh-CN" i="1" dirty="0">
                <a:cs typeface="Times New Roman" panose="02020603050405020304" pitchFamily="18" charset="0"/>
                <a:sym typeface="Symbol" panose="05050102010706020507" pitchFamily="18" charset="2"/>
              </a:rPr>
              <a:t>s=</a:t>
            </a:r>
            <a:r>
              <a:rPr lang="en-US" altLang="zh-CN" i="1" dirty="0" err="1">
                <a:cs typeface="Times New Roman" panose="02020603050405020304" pitchFamily="18" charset="0"/>
                <a:sym typeface="Symbol" panose="05050102010706020507" pitchFamily="18" charset="2"/>
              </a:rPr>
              <a:t>ba</a:t>
            </a:r>
            <a:r>
              <a:rPr lang="zh-CN" altLang="en-US" i="1" dirty="0">
                <a:cs typeface="Times New Roman" panose="02020603050405020304" pitchFamily="18" charset="0"/>
                <a:sym typeface="Symbol" panose="05050102010706020507" pitchFamily="18" charset="2"/>
              </a:rPr>
              <a:t>，</a:t>
            </a:r>
            <a:r>
              <a:rPr lang="zh-CN" altLang="en-US" dirty="0">
                <a:cs typeface="Times New Roman" panose="02020603050405020304" pitchFamily="18" charset="0"/>
                <a:sym typeface="Symbol" panose="05050102010706020507" pitchFamily="18" charset="2"/>
              </a:rPr>
              <a:t>那么</a:t>
            </a:r>
            <a:r>
              <a:rPr lang="en-US" altLang="zh-CN" i="1" dirty="0">
                <a:cs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en-US" altLang="zh-CN" i="1" baseline="30000" dirty="0">
                <a:cs typeface="Times New Roman" panose="02020603050405020304" pitchFamily="18" charset="0"/>
                <a:sym typeface="Symbol" panose="05050102010706020507" pitchFamily="18" charset="2"/>
              </a:rPr>
              <a:t>1 </a:t>
            </a:r>
            <a:r>
              <a:rPr lang="en-US" altLang="zh-CN" i="1" dirty="0">
                <a:cs typeface="Times New Roman" panose="02020603050405020304" pitchFamily="18" charset="0"/>
                <a:sym typeface="Symbol" panose="05050102010706020507" pitchFamily="18" charset="2"/>
              </a:rPr>
              <a:t>=</a:t>
            </a:r>
            <a:r>
              <a:rPr lang="en-US" altLang="zh-CN" i="1" dirty="0" err="1">
                <a:cs typeface="Times New Roman" panose="02020603050405020304" pitchFamily="18" charset="0"/>
                <a:sym typeface="Symbol" panose="05050102010706020507" pitchFamily="18" charset="2"/>
              </a:rPr>
              <a:t>ba</a:t>
            </a:r>
            <a:r>
              <a:rPr lang="zh-CN" altLang="en-US" i="1" dirty="0">
                <a:cs typeface="Times New Roman" panose="02020603050405020304" pitchFamily="18" charset="0"/>
                <a:sym typeface="Symbol" panose="05050102010706020507" pitchFamily="18" charset="2"/>
              </a:rPr>
              <a:t>，</a:t>
            </a:r>
            <a:r>
              <a:rPr lang="en-US" altLang="zh-CN" i="1" dirty="0">
                <a:cs typeface="Times New Roman" panose="02020603050405020304" pitchFamily="18" charset="0"/>
                <a:sym typeface="Symbol" panose="05050102010706020507" pitchFamily="18" charset="2"/>
              </a:rPr>
              <a:t> s</a:t>
            </a:r>
            <a:r>
              <a:rPr lang="en-US" altLang="zh-CN" i="1" baseline="30000" dirty="0">
                <a:cs typeface="Times New Roman" panose="02020603050405020304" pitchFamily="18" charset="0"/>
                <a:sym typeface="Symbol" panose="05050102010706020507" pitchFamily="18" charset="2"/>
              </a:rPr>
              <a:t>2 </a:t>
            </a:r>
            <a:r>
              <a:rPr lang="en-US" altLang="zh-CN" i="1" dirty="0">
                <a:cs typeface="Times New Roman" panose="02020603050405020304" pitchFamily="18" charset="0"/>
                <a:sym typeface="Symbol" panose="05050102010706020507" pitchFamily="18" charset="2"/>
              </a:rPr>
              <a:t>=baba</a:t>
            </a:r>
            <a:r>
              <a:rPr lang="zh-CN" altLang="en-US" i="1" dirty="0">
                <a:cs typeface="Times New Roman" panose="02020603050405020304" pitchFamily="18" charset="0"/>
                <a:sym typeface="Symbol" panose="05050102010706020507" pitchFamily="18" charset="2"/>
              </a:rPr>
              <a:t>，</a:t>
            </a:r>
            <a:r>
              <a:rPr lang="en-US" altLang="zh-CN" i="1" dirty="0">
                <a:cs typeface="Times New Roman" panose="02020603050405020304" pitchFamily="18" charset="0"/>
                <a:sym typeface="Symbol" panose="05050102010706020507" pitchFamily="18" charset="2"/>
              </a:rPr>
              <a:t> s</a:t>
            </a:r>
            <a:r>
              <a:rPr lang="en-US" altLang="zh-CN" i="1" baseline="30000" dirty="0">
                <a:cs typeface="Times New Roman" panose="02020603050405020304" pitchFamily="18" charset="0"/>
                <a:sym typeface="Symbol" panose="05050102010706020507" pitchFamily="18" charset="2"/>
              </a:rPr>
              <a:t>3 </a:t>
            </a:r>
            <a:r>
              <a:rPr lang="en-US" altLang="zh-CN" i="1" dirty="0">
                <a:cs typeface="Times New Roman" panose="02020603050405020304" pitchFamily="18" charset="0"/>
                <a:sym typeface="Symbol" panose="05050102010706020507" pitchFamily="18" charset="2"/>
              </a:rPr>
              <a:t>=</a:t>
            </a:r>
            <a:r>
              <a:rPr lang="en-US" altLang="zh-CN" i="1" dirty="0" err="1">
                <a:cs typeface="Times New Roman" panose="02020603050405020304" pitchFamily="18" charset="0"/>
                <a:sym typeface="Symbol" panose="05050102010706020507" pitchFamily="18" charset="2"/>
              </a:rPr>
              <a:t>bababa</a:t>
            </a:r>
            <a:r>
              <a:rPr lang="zh-CN" altLang="en-US" i="1" dirty="0">
                <a:cs typeface="Times New Roman" panose="02020603050405020304" pitchFamily="18" charset="0"/>
                <a:sym typeface="Symbol" panose="05050102010706020507" pitchFamily="18" charset="2"/>
              </a:rPr>
              <a:t>，</a:t>
            </a:r>
            <a:r>
              <a:rPr lang="en-US" altLang="zh-CN" i="1" dirty="0">
                <a:cs typeface="Times New Roman" panose="02020603050405020304" pitchFamily="18" charset="0"/>
                <a:sym typeface="Symbol" panose="05050102010706020507" pitchFamily="18" charset="2"/>
              </a:rPr>
              <a:t>…</a:t>
            </a:r>
            <a:endParaRPr lang="en-US" altLang="zh-CN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4024D2D-AEB8-3E12-12DB-D098ED02C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DD152-74A3-4392-A193-D316A4E47EEF}" type="datetime2">
              <a:rPr lang="zh-CN" altLang="en-US" smtClean="0"/>
              <a:t>2026年3月11日</a:t>
            </a:fld>
            <a:endParaRPr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A9C6575-7C8B-408E-3830-74024BB4D5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</a:t>
            </a:r>
            <a:r>
              <a:rPr lang="en-US" altLang="zh-CN"/>
              <a:t>2</a:t>
            </a:r>
            <a:r>
              <a:rPr lang="zh-CN" altLang="en-US"/>
              <a:t>章 词法分析</a:t>
            </a:r>
            <a:r>
              <a:rPr lang="en-US" altLang="zh-CN"/>
              <a:t>(1)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267E48F-6317-35C3-6AAB-6933ADACE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637119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73C042-D848-4C51-A4A8-C1708E9970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29136"/>
            <a:ext cx="7886700" cy="953133"/>
          </a:xfrm>
        </p:spPr>
        <p:txBody>
          <a:bodyPr>
            <a:normAutofit/>
          </a:bodyPr>
          <a:lstStyle/>
          <a:p>
            <a:r>
              <a:rPr lang="en-US" altLang="zh-CN" dirty="0"/>
              <a:t>2.2.1 </a:t>
            </a:r>
            <a:r>
              <a:rPr lang="zh-CN" altLang="en-US" dirty="0"/>
              <a:t>串和语言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3B39149-E4BE-49F9-8538-CF229A6B13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257300"/>
            <a:ext cx="7886700" cy="4919663"/>
          </a:xfrm>
        </p:spPr>
        <p:txBody>
          <a:bodyPr>
            <a:normAutofit/>
          </a:bodyPr>
          <a:lstStyle/>
          <a:p>
            <a:r>
              <a:rPr lang="zh-CN" altLang="en-US" sz="2400" dirty="0">
                <a:solidFill>
                  <a:schemeClr val="accent2"/>
                </a:solidFill>
                <a:sym typeface="Symbol" panose="05050102010706020507" pitchFamily="18" charset="2"/>
              </a:rPr>
              <a:t>语言</a:t>
            </a:r>
            <a:r>
              <a:rPr lang="zh-CN" altLang="en-US" sz="2400" dirty="0">
                <a:sym typeface="Symbol" panose="05050102010706020507" pitchFamily="18" charset="2"/>
              </a:rPr>
              <a:t>（</a:t>
            </a:r>
            <a:r>
              <a:rPr lang="en-US" altLang="zh-CN" sz="2400" dirty="0">
                <a:sym typeface="Symbol" panose="05050102010706020507" pitchFamily="18" charset="2"/>
              </a:rPr>
              <a:t>language</a:t>
            </a:r>
            <a:r>
              <a:rPr lang="zh-CN" altLang="en-US" sz="2400" dirty="0">
                <a:sym typeface="Symbol" panose="05050102010706020507" pitchFamily="18" charset="2"/>
              </a:rPr>
              <a:t>）：字母表上的一个</a:t>
            </a:r>
            <a:r>
              <a:rPr lang="zh-CN" altLang="en-US" sz="2400" dirty="0">
                <a:solidFill>
                  <a:schemeClr val="accent2"/>
                </a:solidFill>
                <a:sym typeface="Symbol" panose="05050102010706020507" pitchFamily="18" charset="2"/>
              </a:rPr>
              <a:t>串集</a:t>
            </a:r>
            <a:r>
              <a:rPr lang="zh-CN" altLang="en-US" sz="2400" dirty="0">
                <a:sym typeface="Symbol" panose="05050102010706020507" pitchFamily="18" charset="2"/>
              </a:rPr>
              <a:t>。例： </a:t>
            </a:r>
            <a:r>
              <a:rPr lang="en-US" altLang="zh-CN" sz="2400" dirty="0"/>
              <a:t>{</a:t>
            </a:r>
            <a:r>
              <a:rPr lang="en-US" altLang="zh-CN" sz="2400" dirty="0">
                <a:sym typeface="Symbol" panose="05050102010706020507" pitchFamily="18" charset="2"/>
              </a:rPr>
              <a:t>, 0, 00, 000, …}, {}, </a:t>
            </a:r>
            <a:r>
              <a:rPr lang="zh-CN" altLang="en-US" sz="2400" dirty="0">
                <a:sym typeface="Symbol" panose="05050102010706020507" pitchFamily="18" charset="2"/>
              </a:rPr>
              <a:t>，所有语法正确的</a:t>
            </a:r>
            <a:r>
              <a:rPr lang="en-US" altLang="zh-CN" sz="2400" dirty="0">
                <a:sym typeface="Symbol" panose="05050102010706020507" pitchFamily="18" charset="2"/>
              </a:rPr>
              <a:t>C</a:t>
            </a:r>
            <a:r>
              <a:rPr lang="zh-CN" altLang="en-US" sz="2400" dirty="0">
                <a:sym typeface="Symbol" panose="05050102010706020507" pitchFamily="18" charset="2"/>
              </a:rPr>
              <a:t>程序集合，所有语法正确的英语句子集合</a:t>
            </a:r>
            <a:endParaRPr lang="en-US" altLang="zh-CN" sz="2400" dirty="0">
              <a:sym typeface="Symbol" panose="05050102010706020507" pitchFamily="18" charset="2"/>
            </a:endParaRPr>
          </a:p>
          <a:p>
            <a:pPr lvl="1"/>
            <a:r>
              <a:rPr lang="zh-CN" altLang="en-US" sz="2000" dirty="0">
                <a:sym typeface="Symbol" panose="05050102010706020507" pitchFamily="18" charset="2"/>
              </a:rPr>
              <a:t>“所有语法正确的</a:t>
            </a:r>
            <a:r>
              <a:rPr lang="en-US" altLang="zh-CN" sz="2000" dirty="0">
                <a:sym typeface="Symbol" panose="05050102010706020507" pitchFamily="18" charset="2"/>
              </a:rPr>
              <a:t>C</a:t>
            </a:r>
            <a:r>
              <a:rPr lang="zh-CN" altLang="en-US" sz="2000" dirty="0">
                <a:sym typeface="Symbol" panose="05050102010706020507" pitchFamily="18" charset="2"/>
              </a:rPr>
              <a:t>程序集合，所有语法正确的英语句子集合” 这两种集合难以精确地描述。注意，</a:t>
            </a:r>
            <a:r>
              <a:rPr lang="zh-CN" altLang="en-US" sz="2000" dirty="0">
                <a:solidFill>
                  <a:schemeClr val="accent2"/>
                </a:solidFill>
                <a:sym typeface="Symbol" panose="05050102010706020507" pitchFamily="18" charset="2"/>
              </a:rPr>
              <a:t>语言这个定义并没有要求语言中的串一定具有某种“含义”</a:t>
            </a:r>
            <a:r>
              <a:rPr lang="zh-CN" altLang="en-US" sz="2000" dirty="0">
                <a:sym typeface="Symbol" panose="05050102010706020507" pitchFamily="18" charset="2"/>
              </a:rPr>
              <a:t>，定义串的“含义”的方法将在第四章“语法制导的翻译”中讨论。</a:t>
            </a:r>
            <a:endParaRPr lang="en-US" altLang="zh-CN" sz="2000" dirty="0">
              <a:sym typeface="Symbol" panose="05050102010706020507" pitchFamily="18" charset="2"/>
            </a:endParaRPr>
          </a:p>
          <a:p>
            <a:pPr lvl="1"/>
            <a:r>
              <a:rPr lang="zh-CN" altLang="en-US" sz="2000" dirty="0">
                <a:sym typeface="Symbol" panose="05050102010706020507" pitchFamily="18" charset="2"/>
              </a:rPr>
              <a:t>“所有</a:t>
            </a:r>
            <a:r>
              <a:rPr lang="en-US" altLang="zh-CN" sz="2000" dirty="0">
                <a:sym typeface="Symbol" panose="05050102010706020507" pitchFamily="18" charset="2"/>
              </a:rPr>
              <a:t>C</a:t>
            </a:r>
            <a:r>
              <a:rPr lang="zh-CN" altLang="en-US" sz="2000" dirty="0">
                <a:sym typeface="Symbol" panose="05050102010706020507" pitchFamily="18" charset="2"/>
              </a:rPr>
              <a:t>语言合法标识符的集合”，这个集合的“含义”比较简单，可以用</a:t>
            </a:r>
            <a:r>
              <a:rPr lang="zh-CN" altLang="en-US" sz="2000" dirty="0">
                <a:solidFill>
                  <a:schemeClr val="accent2"/>
                </a:solidFill>
                <a:sym typeface="Symbol" panose="05050102010706020507" pitchFamily="18" charset="2"/>
              </a:rPr>
              <a:t>正规式</a:t>
            </a:r>
            <a:r>
              <a:rPr lang="zh-CN" altLang="en-US" sz="2000" dirty="0">
                <a:sym typeface="Symbol" panose="05050102010706020507" pitchFamily="18" charset="2"/>
              </a:rPr>
              <a:t>来表示，本章会讨论。</a:t>
            </a:r>
          </a:p>
          <a:p>
            <a:r>
              <a:rPr lang="zh-CN" altLang="en-US" sz="2400" dirty="0">
                <a:sym typeface="Symbol" panose="05050102010706020507" pitchFamily="18" charset="2"/>
              </a:rPr>
              <a:t>某语言的</a:t>
            </a:r>
            <a:r>
              <a:rPr lang="zh-CN" altLang="en-US" sz="2400" dirty="0">
                <a:solidFill>
                  <a:schemeClr val="accent2"/>
                </a:solidFill>
                <a:sym typeface="Symbol" panose="05050102010706020507" pitchFamily="18" charset="2"/>
              </a:rPr>
              <a:t>句子</a:t>
            </a:r>
            <a:r>
              <a:rPr lang="zh-CN" altLang="en-US" sz="2400" dirty="0">
                <a:sym typeface="Symbol" panose="05050102010706020507" pitchFamily="18" charset="2"/>
              </a:rPr>
              <a:t>（</a:t>
            </a:r>
            <a:r>
              <a:rPr lang="en-US" altLang="zh-CN" sz="2400" dirty="0">
                <a:sym typeface="Symbol" panose="05050102010706020507" pitchFamily="18" charset="2"/>
              </a:rPr>
              <a:t>sentence</a:t>
            </a:r>
            <a:r>
              <a:rPr lang="zh-CN" altLang="en-US" sz="2400" dirty="0">
                <a:sym typeface="Symbol" panose="05050102010706020507" pitchFamily="18" charset="2"/>
              </a:rPr>
              <a:t>）或</a:t>
            </a:r>
            <a:r>
              <a:rPr lang="zh-CN" altLang="en-US" sz="2400" dirty="0">
                <a:solidFill>
                  <a:schemeClr val="accent2"/>
                </a:solidFill>
                <a:sym typeface="Symbol" panose="05050102010706020507" pitchFamily="18" charset="2"/>
              </a:rPr>
              <a:t>字</a:t>
            </a:r>
            <a:r>
              <a:rPr lang="zh-CN" altLang="en-US" sz="2400" dirty="0">
                <a:sym typeface="Symbol" panose="05050102010706020507" pitchFamily="18" charset="2"/>
              </a:rPr>
              <a:t>（</a:t>
            </a:r>
            <a:r>
              <a:rPr lang="en-US" altLang="zh-CN" sz="2400" dirty="0">
                <a:sym typeface="Symbol" panose="05050102010706020507" pitchFamily="18" charset="2"/>
              </a:rPr>
              <a:t>word</a:t>
            </a:r>
            <a:r>
              <a:rPr lang="zh-CN" altLang="en-US" sz="2400" dirty="0">
                <a:sym typeface="Symbol" panose="05050102010706020507" pitchFamily="18" charset="2"/>
              </a:rPr>
              <a:t>）：属于该语言的串。</a:t>
            </a:r>
          </a:p>
          <a:p>
            <a:endParaRPr lang="zh-CN" altLang="en-US" sz="2800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05C7AFB-AF2F-3763-D65B-B6B33F9570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617E59-17A0-46CF-8620-206D05C557DA}" type="datetime2">
              <a:rPr lang="zh-CN" altLang="en-US" smtClean="0"/>
              <a:t>2026年3月11日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6EE5445-C678-AF21-92A9-8A9D9F1EE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</a:t>
            </a:r>
            <a:r>
              <a:rPr lang="en-US" altLang="zh-CN"/>
              <a:t>2</a:t>
            </a:r>
            <a:r>
              <a:rPr lang="zh-CN" altLang="en-US"/>
              <a:t>章 词法分析</a:t>
            </a:r>
            <a:r>
              <a:rPr lang="en-US" altLang="zh-CN"/>
              <a:t>(1)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83111EE-278F-9372-B75F-6B4BEFA32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130620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482B894D-295F-4482-93F0-F3AC36BA512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8650" y="229136"/>
            <a:ext cx="7886700" cy="953133"/>
          </a:xfrm>
        </p:spPr>
        <p:txBody>
          <a:bodyPr>
            <a:normAutofit/>
          </a:bodyPr>
          <a:lstStyle/>
          <a:p>
            <a:r>
              <a:rPr lang="en-US" altLang="zh-CN"/>
              <a:t>2.2.1 </a:t>
            </a:r>
            <a:r>
              <a:rPr lang="zh-CN" altLang="en-US"/>
              <a:t>串和语言</a:t>
            </a:r>
            <a:endParaRPr lang="zh-CN" altLang="en-US" dirty="0"/>
          </a:p>
        </p:txBody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CC6E6673-B103-4B4D-BBB7-DBE5A09EA69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28650" y="1257300"/>
            <a:ext cx="7886700" cy="4919663"/>
          </a:xfrm>
        </p:spPr>
        <p:txBody>
          <a:bodyPr/>
          <a:lstStyle/>
          <a:p>
            <a:r>
              <a:rPr lang="zh-CN" altLang="en-US" dirty="0">
                <a:sym typeface="Symbol" panose="05050102010706020507" pitchFamily="18" charset="2"/>
              </a:rPr>
              <a:t>语言的运算：</a:t>
            </a:r>
          </a:p>
          <a:p>
            <a:pPr lvl="1"/>
            <a:r>
              <a:rPr lang="zh-CN" altLang="en-US" dirty="0">
                <a:solidFill>
                  <a:schemeClr val="accent2"/>
                </a:solidFill>
              </a:rPr>
              <a:t>并</a:t>
            </a:r>
            <a:r>
              <a:rPr lang="zh-CN" altLang="en-US" dirty="0"/>
              <a:t>（</a:t>
            </a:r>
            <a:r>
              <a:rPr lang="en-US" altLang="zh-CN" dirty="0"/>
              <a:t>union</a:t>
            </a:r>
            <a:r>
              <a:rPr lang="zh-CN" altLang="en-US" dirty="0"/>
              <a:t>）：</a:t>
            </a:r>
            <a:r>
              <a:rPr lang="en-US" altLang="zh-CN" b="1" i="1" dirty="0"/>
              <a:t>L</a:t>
            </a:r>
            <a:r>
              <a:rPr lang="en-US" altLang="zh-CN" b="1" dirty="0"/>
              <a:t> </a:t>
            </a:r>
            <a:r>
              <a:rPr lang="en-US" altLang="zh-CN" b="1" dirty="0">
                <a:sym typeface="Symbol" panose="05050102010706020507" pitchFamily="18" charset="2"/>
              </a:rPr>
              <a:t> </a:t>
            </a:r>
            <a:r>
              <a:rPr lang="en-US" altLang="zh-CN" b="1" i="1" dirty="0"/>
              <a:t>M</a:t>
            </a:r>
            <a:r>
              <a:rPr lang="en-US" altLang="zh-CN" b="1" dirty="0"/>
              <a:t> = {</a:t>
            </a:r>
            <a:r>
              <a:rPr lang="en-US" altLang="zh-CN" b="1" i="1" dirty="0"/>
              <a:t>s</a:t>
            </a:r>
            <a:r>
              <a:rPr lang="en-US" altLang="zh-CN" b="1" dirty="0"/>
              <a:t> | </a:t>
            </a:r>
            <a:r>
              <a:rPr lang="en-US" altLang="zh-CN" b="1" i="1" dirty="0"/>
              <a:t>s</a:t>
            </a:r>
            <a:r>
              <a:rPr lang="en-US" altLang="zh-CN" b="1" dirty="0"/>
              <a:t> </a:t>
            </a:r>
            <a:r>
              <a:rPr lang="en-US" altLang="zh-CN" b="1" dirty="0">
                <a:sym typeface="Symbol" panose="05050102010706020507" pitchFamily="18" charset="2"/>
              </a:rPr>
              <a:t></a:t>
            </a:r>
            <a:r>
              <a:rPr lang="en-US" altLang="zh-CN" b="1" i="1" dirty="0"/>
              <a:t>L</a:t>
            </a:r>
            <a:r>
              <a:rPr lang="en-US" altLang="zh-CN" b="1" dirty="0"/>
              <a:t> </a:t>
            </a:r>
            <a:r>
              <a:rPr lang="zh-CN" altLang="en-US" b="1" dirty="0"/>
              <a:t>或 </a:t>
            </a:r>
            <a:r>
              <a:rPr lang="en-US" altLang="zh-CN" b="1" i="1" dirty="0"/>
              <a:t>s</a:t>
            </a:r>
            <a:r>
              <a:rPr lang="en-US" altLang="zh-CN" b="1" dirty="0"/>
              <a:t> </a:t>
            </a:r>
            <a:r>
              <a:rPr lang="en-US" altLang="zh-CN" b="1" dirty="0">
                <a:sym typeface="Symbol" panose="05050102010706020507" pitchFamily="18" charset="2"/>
              </a:rPr>
              <a:t></a:t>
            </a:r>
            <a:r>
              <a:rPr lang="en-US" altLang="zh-CN" b="1" dirty="0"/>
              <a:t> </a:t>
            </a:r>
            <a:r>
              <a:rPr lang="en-US" altLang="zh-CN" b="1" i="1" dirty="0"/>
              <a:t>M</a:t>
            </a:r>
            <a:r>
              <a:rPr lang="en-US" altLang="zh-CN" b="1" dirty="0"/>
              <a:t> }</a:t>
            </a:r>
            <a:endParaRPr lang="en-US" altLang="zh-CN" b="1" dirty="0">
              <a:sym typeface="Symbol" panose="05050102010706020507" pitchFamily="18" charset="2"/>
            </a:endParaRPr>
          </a:p>
          <a:p>
            <a:endParaRPr lang="en-US" altLang="zh-CN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B53EF1D-EEC7-4FE8-89F4-CD2E3A105F4E}"/>
              </a:ext>
            </a:extLst>
          </p:cNvPr>
          <p:cNvSpPr txBox="1"/>
          <p:nvPr/>
        </p:nvSpPr>
        <p:spPr>
          <a:xfrm>
            <a:off x="1571819" y="2474893"/>
            <a:ext cx="6000361" cy="95410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CN" altLang="en-US" sz="2800" dirty="0"/>
              <a:t>例：语言</a:t>
            </a:r>
            <a:r>
              <a:rPr lang="en-US" altLang="zh-CN" sz="2800" dirty="0"/>
              <a:t>1{</a:t>
            </a:r>
            <a:r>
              <a:rPr lang="en-US" altLang="zh-CN" sz="2800" dirty="0" err="1"/>
              <a:t>aa,bb</a:t>
            </a:r>
            <a:r>
              <a:rPr lang="en-US" altLang="zh-CN" sz="2800" dirty="0"/>
              <a:t>}</a:t>
            </a:r>
            <a:r>
              <a:rPr lang="zh-CN" altLang="en-US" sz="2800" dirty="0"/>
              <a:t>，语言</a:t>
            </a:r>
            <a:r>
              <a:rPr lang="en-US" altLang="zh-CN" sz="2800" dirty="0"/>
              <a:t>2{</a:t>
            </a:r>
            <a:r>
              <a:rPr lang="en-US" altLang="zh-CN" sz="2800" dirty="0" err="1"/>
              <a:t>cc,dd</a:t>
            </a:r>
            <a:r>
              <a:rPr lang="en-US" altLang="zh-CN" sz="2800" dirty="0"/>
              <a:t>}</a:t>
            </a:r>
            <a:r>
              <a:rPr lang="zh-CN" altLang="en-US" sz="2800" dirty="0"/>
              <a:t>的并</a:t>
            </a:r>
            <a:endParaRPr lang="en-US" altLang="zh-CN" sz="2800" dirty="0"/>
          </a:p>
          <a:p>
            <a:r>
              <a:rPr lang="en-US" altLang="zh-CN" sz="2800" dirty="0"/>
              <a:t>	 {</a:t>
            </a:r>
            <a:r>
              <a:rPr lang="en-US" altLang="zh-CN" sz="2800" dirty="0" err="1"/>
              <a:t>aa,bb</a:t>
            </a:r>
            <a:r>
              <a:rPr lang="en-US" altLang="zh-CN" sz="2800" dirty="0"/>
              <a:t>}</a:t>
            </a:r>
            <a:r>
              <a:rPr lang="en-US" altLang="zh-CN" sz="2800" b="1" dirty="0">
                <a:sym typeface="Symbol" panose="05050102010706020507" pitchFamily="18" charset="2"/>
              </a:rPr>
              <a:t></a:t>
            </a:r>
            <a:r>
              <a:rPr lang="en-US" altLang="zh-CN" sz="2800" dirty="0">
                <a:sym typeface="Symbol" panose="05050102010706020507" pitchFamily="18" charset="2"/>
              </a:rPr>
              <a:t>{</a:t>
            </a:r>
            <a:r>
              <a:rPr lang="en-US" altLang="zh-CN" sz="2800" dirty="0" err="1">
                <a:sym typeface="Symbol" panose="05050102010706020507" pitchFamily="18" charset="2"/>
              </a:rPr>
              <a:t>cc,dd</a:t>
            </a:r>
            <a:r>
              <a:rPr lang="en-US" altLang="zh-CN" sz="2800" dirty="0">
                <a:sym typeface="Symbol" panose="05050102010706020507" pitchFamily="18" charset="2"/>
              </a:rPr>
              <a:t>} </a:t>
            </a:r>
            <a:r>
              <a:rPr lang="en-US" altLang="zh-CN" sz="2800" dirty="0"/>
              <a:t>={</a:t>
            </a:r>
            <a:r>
              <a:rPr lang="en-US" altLang="zh-CN" sz="2800" dirty="0" err="1"/>
              <a:t>aa,bb,cc,dd</a:t>
            </a:r>
            <a:r>
              <a:rPr lang="en-US" altLang="zh-CN" sz="2800" dirty="0"/>
              <a:t>}</a:t>
            </a:r>
            <a:endParaRPr lang="zh-CN" altLang="en-US" sz="2800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9AEFFE2-D45A-107F-42D1-6526FC00D7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CD10D-F453-4327-A743-EBF4168CEFB7}" type="datetime2">
              <a:rPr lang="zh-CN" altLang="en-US" smtClean="0"/>
              <a:t>2026年3月11日</a:t>
            </a:fld>
            <a:endParaRPr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F1C053A-0B35-CAD4-3CA3-DFB7DB8FC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</a:t>
            </a:r>
            <a:r>
              <a:rPr lang="en-US" altLang="zh-CN"/>
              <a:t>2</a:t>
            </a:r>
            <a:r>
              <a:rPr lang="zh-CN" altLang="en-US"/>
              <a:t>章 词法分析</a:t>
            </a:r>
            <a:r>
              <a:rPr lang="en-US" altLang="zh-CN"/>
              <a:t>(1)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D82B55E-8106-120C-3C6E-16805BB6B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29</a:t>
            </a:fld>
            <a:endParaRPr lang="zh-CN" alt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482B894D-295F-4482-93F0-F3AC36BA512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CN"/>
              <a:t>2.2.1 </a:t>
            </a:r>
            <a:r>
              <a:rPr lang="zh-CN" altLang="en-US"/>
              <a:t>串和语言</a:t>
            </a:r>
            <a:endParaRPr lang="zh-CN" altLang="en-US" dirty="0"/>
          </a:p>
        </p:txBody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CC6E6673-B103-4B4D-BBB7-DBE5A09EA69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语言的运算：</a:t>
            </a:r>
          </a:p>
          <a:p>
            <a:pPr lvl="1"/>
            <a:r>
              <a:rPr lang="zh-CN" altLang="en-US" dirty="0">
                <a:solidFill>
                  <a:schemeClr val="accent2"/>
                </a:solidFill>
                <a:latin typeface="宋体" panose="02010600030101010101" pitchFamily="2" charset="-122"/>
              </a:rPr>
              <a:t>并</a:t>
            </a:r>
            <a:r>
              <a:rPr lang="zh-CN" altLang="en-US" dirty="0">
                <a:latin typeface="宋体" panose="02010600030101010101" pitchFamily="2" charset="-122"/>
              </a:rPr>
              <a:t>（</a:t>
            </a:r>
            <a:r>
              <a:rPr lang="en-US" altLang="zh-CN" dirty="0"/>
              <a:t>union</a:t>
            </a:r>
            <a:r>
              <a:rPr lang="zh-CN" altLang="en-US" dirty="0">
                <a:latin typeface="宋体" panose="02010600030101010101" pitchFamily="2" charset="-122"/>
              </a:rPr>
              <a:t>）：</a:t>
            </a:r>
            <a:r>
              <a:rPr lang="en-US" altLang="zh-CN" b="1" i="1" dirty="0"/>
              <a:t>L</a:t>
            </a:r>
            <a:r>
              <a:rPr lang="en-US" altLang="zh-CN" b="1" dirty="0"/>
              <a:t> </a:t>
            </a:r>
            <a:r>
              <a:rPr lang="en-US" altLang="zh-CN" b="1" dirty="0">
                <a:sym typeface="Symbol" panose="05050102010706020507" pitchFamily="18" charset="2"/>
              </a:rPr>
              <a:t> </a:t>
            </a:r>
            <a:r>
              <a:rPr lang="en-US" altLang="zh-CN" b="1" i="1" dirty="0"/>
              <a:t>M</a:t>
            </a:r>
            <a:r>
              <a:rPr lang="en-US" altLang="zh-CN" b="1" dirty="0"/>
              <a:t> = {</a:t>
            </a:r>
            <a:r>
              <a:rPr lang="en-US" altLang="zh-CN" b="1" i="1" dirty="0"/>
              <a:t>s</a:t>
            </a:r>
            <a:r>
              <a:rPr lang="en-US" altLang="zh-CN" b="1" dirty="0"/>
              <a:t> | </a:t>
            </a:r>
            <a:r>
              <a:rPr lang="en-US" altLang="zh-CN" b="1" i="1" dirty="0"/>
              <a:t>s</a:t>
            </a:r>
            <a:r>
              <a:rPr lang="en-US" altLang="zh-CN" b="1" dirty="0"/>
              <a:t> </a:t>
            </a:r>
            <a:r>
              <a:rPr lang="en-US" altLang="zh-CN" b="1" dirty="0">
                <a:sym typeface="Symbol" panose="05050102010706020507" pitchFamily="18" charset="2"/>
              </a:rPr>
              <a:t></a:t>
            </a:r>
            <a:r>
              <a:rPr lang="en-US" altLang="zh-CN" b="1" i="1" dirty="0"/>
              <a:t>L</a:t>
            </a:r>
            <a:r>
              <a:rPr lang="en-US" altLang="zh-CN" b="1" dirty="0"/>
              <a:t> </a:t>
            </a:r>
            <a:r>
              <a:rPr lang="zh-CN" altLang="en-US" b="1" dirty="0"/>
              <a:t>或 </a:t>
            </a:r>
            <a:r>
              <a:rPr lang="en-US" altLang="zh-CN" b="1" i="1" dirty="0"/>
              <a:t>s</a:t>
            </a:r>
            <a:r>
              <a:rPr lang="en-US" altLang="zh-CN" b="1" dirty="0"/>
              <a:t> </a:t>
            </a:r>
            <a:r>
              <a:rPr lang="en-US" altLang="zh-CN" b="1" dirty="0">
                <a:sym typeface="Symbol" panose="05050102010706020507" pitchFamily="18" charset="2"/>
              </a:rPr>
              <a:t></a:t>
            </a:r>
            <a:r>
              <a:rPr lang="en-US" altLang="zh-CN" b="1" dirty="0"/>
              <a:t> </a:t>
            </a:r>
            <a:r>
              <a:rPr lang="en-US" altLang="zh-CN" b="1" i="1" dirty="0"/>
              <a:t>M</a:t>
            </a:r>
            <a:r>
              <a:rPr lang="en-US" altLang="zh-CN" b="1" dirty="0"/>
              <a:t> }</a:t>
            </a:r>
            <a:endParaRPr lang="en-US" altLang="zh-CN" b="1" dirty="0">
              <a:sym typeface="Symbol" panose="05050102010706020507" pitchFamily="18" charset="2"/>
            </a:endParaRPr>
          </a:p>
          <a:p>
            <a:pPr lvl="1"/>
            <a:r>
              <a:rPr lang="zh-CN" altLang="en-US" dirty="0">
                <a:solidFill>
                  <a:schemeClr val="accent2"/>
                </a:solidFill>
                <a:latin typeface="宋体" panose="02010600030101010101" pitchFamily="2" charset="-122"/>
              </a:rPr>
              <a:t>连接</a:t>
            </a:r>
            <a:r>
              <a:rPr lang="zh-CN" altLang="en-US" dirty="0">
                <a:latin typeface="宋体" panose="02010600030101010101" pitchFamily="2" charset="-122"/>
              </a:rPr>
              <a:t>（</a:t>
            </a:r>
            <a:r>
              <a:rPr lang="en-US" altLang="zh-CN" dirty="0"/>
              <a:t>concatenation</a:t>
            </a:r>
            <a:r>
              <a:rPr lang="zh-CN" altLang="en-US" dirty="0">
                <a:latin typeface="宋体" panose="02010600030101010101" pitchFamily="2" charset="-122"/>
              </a:rPr>
              <a:t>）：</a:t>
            </a:r>
            <a:r>
              <a:rPr lang="en-US" altLang="zh-CN" b="1" i="1" dirty="0">
                <a:latin typeface="Times New Roman" panose="02020603050405020304" pitchFamily="18" charset="0"/>
              </a:rPr>
              <a:t>LM </a:t>
            </a:r>
            <a:r>
              <a:rPr lang="en-US" altLang="zh-CN" b="1" dirty="0">
                <a:latin typeface="Times New Roman" panose="02020603050405020304" pitchFamily="18" charset="0"/>
              </a:rPr>
              <a:t>= {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st</a:t>
            </a:r>
            <a:r>
              <a:rPr lang="en-US" altLang="zh-CN" b="1" i="1" dirty="0">
                <a:latin typeface="Times New Roman" panose="02020603050405020304" pitchFamily="18" charset="0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</a:rPr>
              <a:t>| </a:t>
            </a:r>
            <a:r>
              <a:rPr lang="en-US" altLang="zh-CN" b="1" i="1" dirty="0">
                <a:latin typeface="Times New Roman" panose="02020603050405020304" pitchFamily="18" charset="0"/>
              </a:rPr>
              <a:t>s 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b="1" dirty="0">
                <a:latin typeface="Times New Roman" panose="02020603050405020304" pitchFamily="18" charset="0"/>
              </a:rPr>
              <a:t> </a:t>
            </a:r>
            <a:r>
              <a:rPr lang="en-US" altLang="zh-CN" b="1" i="1" dirty="0">
                <a:latin typeface="Times New Roman" panose="02020603050405020304" pitchFamily="18" charset="0"/>
              </a:rPr>
              <a:t>L </a:t>
            </a:r>
            <a:r>
              <a:rPr lang="zh-CN" altLang="en-US" b="1" dirty="0">
                <a:latin typeface="Times New Roman" panose="02020603050405020304" pitchFamily="18" charset="0"/>
              </a:rPr>
              <a:t>且 </a:t>
            </a:r>
            <a:r>
              <a:rPr lang="en-US" altLang="zh-CN" b="1" i="1" dirty="0">
                <a:latin typeface="Times New Roman" panose="02020603050405020304" pitchFamily="18" charset="0"/>
              </a:rPr>
              <a:t>t 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b="1" dirty="0">
                <a:latin typeface="Times New Roman" panose="02020603050405020304" pitchFamily="18" charset="0"/>
              </a:rPr>
              <a:t> </a:t>
            </a:r>
            <a:r>
              <a:rPr lang="en-US" altLang="zh-CN" b="1" i="1" dirty="0">
                <a:latin typeface="Times New Roman" panose="02020603050405020304" pitchFamily="18" charset="0"/>
              </a:rPr>
              <a:t>M</a:t>
            </a:r>
            <a:r>
              <a:rPr lang="en-US" altLang="zh-CN" b="1" dirty="0">
                <a:latin typeface="Times New Roman" panose="02020603050405020304" pitchFamily="18" charset="0"/>
              </a:rPr>
              <a:t>}</a:t>
            </a:r>
          </a:p>
          <a:p>
            <a:endParaRPr lang="en-US" altLang="zh-CN" b="1" dirty="0">
              <a:latin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DCADCB8-01A2-4C07-99FE-29DB7D03DCC3}"/>
              </a:ext>
            </a:extLst>
          </p:cNvPr>
          <p:cNvSpPr txBox="1"/>
          <p:nvPr/>
        </p:nvSpPr>
        <p:spPr>
          <a:xfrm>
            <a:off x="1239998" y="3337912"/>
            <a:ext cx="6664004" cy="95410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 rtlCol="0">
            <a:spAutoFit/>
          </a:bodyPr>
          <a:lstStyle>
            <a:defPPr>
              <a:defRPr lang="en-US"/>
            </a:defPPr>
            <a:lvl1pPr>
              <a:defRPr sz="3200"/>
            </a:lvl1pPr>
          </a:lstStyle>
          <a:p>
            <a:r>
              <a:rPr lang="zh-CN" altLang="en-US" sz="2800" dirty="0"/>
              <a:t>例</a:t>
            </a:r>
            <a:r>
              <a:rPr lang="zh-CN" altLang="en-US" sz="2800"/>
              <a:t>：语言</a:t>
            </a:r>
            <a:r>
              <a:rPr lang="en-US" altLang="zh-CN" sz="2800"/>
              <a:t>1{</a:t>
            </a:r>
            <a:r>
              <a:rPr lang="en-US" altLang="zh-CN" sz="2800" dirty="0" err="1"/>
              <a:t>aa</a:t>
            </a:r>
            <a:r>
              <a:rPr lang="en-US" altLang="zh-CN" sz="2800" err="1"/>
              <a:t>,</a:t>
            </a:r>
            <a:r>
              <a:rPr lang="en-US" altLang="zh-CN" sz="2800"/>
              <a:t>bb</a:t>
            </a:r>
            <a:r>
              <a:rPr lang="en-US" altLang="zh-CN" sz="2800" dirty="0"/>
              <a:t>}</a:t>
            </a:r>
            <a:r>
              <a:rPr lang="zh-CN" altLang="en-US" sz="2800"/>
              <a:t>，语言</a:t>
            </a:r>
            <a:r>
              <a:rPr lang="en-US" altLang="zh-CN" sz="2800"/>
              <a:t>2{</a:t>
            </a:r>
            <a:r>
              <a:rPr lang="en-US" altLang="zh-CN" sz="2800" dirty="0" err="1"/>
              <a:t>cc</a:t>
            </a:r>
            <a:r>
              <a:rPr lang="en-US" altLang="zh-CN" sz="2800" err="1"/>
              <a:t>,</a:t>
            </a:r>
            <a:r>
              <a:rPr lang="en-US" altLang="zh-CN" sz="2800"/>
              <a:t>dd</a:t>
            </a:r>
            <a:r>
              <a:rPr lang="en-US" altLang="zh-CN" sz="2800" dirty="0"/>
              <a:t>}</a:t>
            </a:r>
            <a:r>
              <a:rPr lang="zh-CN" altLang="en-US" sz="2800"/>
              <a:t>的连接</a:t>
            </a:r>
            <a:endParaRPr lang="en-US" altLang="zh-CN" sz="2800" dirty="0"/>
          </a:p>
          <a:p>
            <a:r>
              <a:rPr lang="en-US" altLang="zh-CN" sz="2800" dirty="0"/>
              <a:t>	</a:t>
            </a:r>
            <a:r>
              <a:rPr lang="en-US" altLang="zh-CN" sz="2800"/>
              <a:t> {</a:t>
            </a:r>
            <a:r>
              <a:rPr lang="en-US" altLang="zh-CN" sz="2800" dirty="0" err="1"/>
              <a:t>aa</a:t>
            </a:r>
            <a:r>
              <a:rPr lang="en-US" altLang="zh-CN" sz="2800" err="1"/>
              <a:t>,</a:t>
            </a:r>
            <a:r>
              <a:rPr lang="en-US" altLang="zh-CN" sz="2800"/>
              <a:t>bb} </a:t>
            </a:r>
            <a:r>
              <a:rPr lang="en-US" altLang="zh-CN" sz="2800">
                <a:sym typeface="Symbol" panose="05050102010706020507" pitchFamily="18" charset="2"/>
              </a:rPr>
              <a:t>{</a:t>
            </a:r>
            <a:r>
              <a:rPr lang="en-US" altLang="zh-CN" sz="2800" dirty="0" err="1">
                <a:sym typeface="Symbol" panose="05050102010706020507" pitchFamily="18" charset="2"/>
              </a:rPr>
              <a:t>cc</a:t>
            </a:r>
            <a:r>
              <a:rPr lang="en-US" altLang="zh-CN" sz="2800" err="1">
                <a:sym typeface="Symbol" panose="05050102010706020507" pitchFamily="18" charset="2"/>
              </a:rPr>
              <a:t>,</a:t>
            </a:r>
            <a:r>
              <a:rPr lang="en-US" altLang="zh-CN" sz="2800">
                <a:sym typeface="Symbol" panose="05050102010706020507" pitchFamily="18" charset="2"/>
              </a:rPr>
              <a:t>dd} </a:t>
            </a:r>
            <a:r>
              <a:rPr lang="en-US" altLang="zh-CN" sz="2800"/>
              <a:t>={</a:t>
            </a:r>
            <a:r>
              <a:rPr lang="en-US" altLang="zh-CN" sz="2800" dirty="0" err="1"/>
              <a:t>aacc,aadd,bbcc</a:t>
            </a:r>
            <a:r>
              <a:rPr lang="en-US" altLang="zh-CN" sz="2800" err="1"/>
              <a:t>,</a:t>
            </a:r>
            <a:r>
              <a:rPr lang="en-US" altLang="zh-CN" sz="2800"/>
              <a:t>bbdd</a:t>
            </a:r>
            <a:r>
              <a:rPr lang="en-US" altLang="zh-CN" sz="2800" dirty="0"/>
              <a:t>}</a:t>
            </a:r>
            <a:endParaRPr lang="zh-CN" altLang="en-US" sz="2800" dirty="0"/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8BABF42-F5B3-30B4-EBCA-E904FBC76D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FB169-6AC2-4870-BDA2-51B539396FFA}" type="datetime2">
              <a:rPr lang="zh-CN" altLang="en-US" smtClean="0"/>
              <a:t>2026年3月11日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15405A7-CB55-252B-526C-2EA81E2F15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</a:t>
            </a:r>
            <a:r>
              <a:rPr lang="en-US" altLang="zh-CN"/>
              <a:t>2</a:t>
            </a:r>
            <a:r>
              <a:rPr lang="zh-CN" altLang="en-US"/>
              <a:t>章 词法分析</a:t>
            </a:r>
            <a:r>
              <a:rPr lang="en-US" altLang="zh-CN"/>
              <a:t>(1)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AEC0435-2EEE-F025-D2BB-242DA416F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067006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482B894D-295F-4482-93F0-F3AC36BA512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CN" dirty="0"/>
              <a:t>2.2.1 </a:t>
            </a:r>
            <a:r>
              <a:rPr lang="zh-CN" altLang="en-US" dirty="0"/>
              <a:t>串和语言</a:t>
            </a:r>
          </a:p>
        </p:txBody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CC6E6673-B103-4B4D-BBB7-DBE5A09EA69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语言的运算：</a:t>
            </a:r>
          </a:p>
          <a:p>
            <a:pPr lvl="1"/>
            <a:r>
              <a:rPr lang="zh-CN" altLang="en-US" dirty="0">
                <a:solidFill>
                  <a:schemeClr val="accent2"/>
                </a:solidFill>
                <a:latin typeface="宋体" panose="02010600030101010101" pitchFamily="2" charset="-122"/>
              </a:rPr>
              <a:t>并</a:t>
            </a:r>
            <a:r>
              <a:rPr lang="zh-CN" altLang="en-US" dirty="0">
                <a:latin typeface="宋体" panose="02010600030101010101" pitchFamily="2" charset="-122"/>
              </a:rPr>
              <a:t>（</a:t>
            </a:r>
            <a:r>
              <a:rPr lang="en-US" altLang="zh-CN" dirty="0"/>
              <a:t>union</a:t>
            </a:r>
            <a:r>
              <a:rPr lang="zh-CN" altLang="en-US" dirty="0">
                <a:latin typeface="宋体" panose="02010600030101010101" pitchFamily="2" charset="-122"/>
              </a:rPr>
              <a:t>）：</a:t>
            </a:r>
            <a:r>
              <a:rPr lang="en-US" altLang="zh-CN" b="1" i="1" dirty="0"/>
              <a:t>L</a:t>
            </a:r>
            <a:r>
              <a:rPr lang="en-US" altLang="zh-CN" b="1" dirty="0"/>
              <a:t> </a:t>
            </a:r>
            <a:r>
              <a:rPr lang="en-US" altLang="zh-CN" b="1" dirty="0">
                <a:sym typeface="Symbol" panose="05050102010706020507" pitchFamily="18" charset="2"/>
              </a:rPr>
              <a:t> </a:t>
            </a:r>
            <a:r>
              <a:rPr lang="en-US" altLang="zh-CN" b="1" i="1" dirty="0"/>
              <a:t>M</a:t>
            </a:r>
            <a:r>
              <a:rPr lang="en-US" altLang="zh-CN" b="1" dirty="0"/>
              <a:t> = {</a:t>
            </a:r>
            <a:r>
              <a:rPr lang="en-US" altLang="zh-CN" b="1" i="1" dirty="0"/>
              <a:t>s</a:t>
            </a:r>
            <a:r>
              <a:rPr lang="en-US" altLang="zh-CN" b="1" dirty="0"/>
              <a:t> | </a:t>
            </a:r>
            <a:r>
              <a:rPr lang="en-US" altLang="zh-CN" b="1" i="1" dirty="0"/>
              <a:t>s</a:t>
            </a:r>
            <a:r>
              <a:rPr lang="en-US" altLang="zh-CN" b="1" dirty="0"/>
              <a:t> </a:t>
            </a:r>
            <a:r>
              <a:rPr lang="en-US" altLang="zh-CN" b="1" dirty="0">
                <a:sym typeface="Symbol" panose="05050102010706020507" pitchFamily="18" charset="2"/>
              </a:rPr>
              <a:t></a:t>
            </a:r>
            <a:r>
              <a:rPr lang="en-US" altLang="zh-CN" b="1" i="1" dirty="0"/>
              <a:t>L</a:t>
            </a:r>
            <a:r>
              <a:rPr lang="en-US" altLang="zh-CN" b="1" dirty="0"/>
              <a:t> </a:t>
            </a:r>
            <a:r>
              <a:rPr lang="zh-CN" altLang="en-US" b="1" dirty="0"/>
              <a:t>或 </a:t>
            </a:r>
            <a:r>
              <a:rPr lang="en-US" altLang="zh-CN" b="1" i="1" dirty="0"/>
              <a:t>s</a:t>
            </a:r>
            <a:r>
              <a:rPr lang="en-US" altLang="zh-CN" b="1" dirty="0"/>
              <a:t> </a:t>
            </a:r>
            <a:r>
              <a:rPr lang="en-US" altLang="zh-CN" b="1" dirty="0">
                <a:sym typeface="Symbol" panose="05050102010706020507" pitchFamily="18" charset="2"/>
              </a:rPr>
              <a:t></a:t>
            </a:r>
            <a:r>
              <a:rPr lang="en-US" altLang="zh-CN" b="1" dirty="0"/>
              <a:t> </a:t>
            </a:r>
            <a:r>
              <a:rPr lang="en-US" altLang="zh-CN" b="1" i="1" dirty="0"/>
              <a:t>M</a:t>
            </a:r>
            <a:r>
              <a:rPr lang="en-US" altLang="zh-CN" b="1" dirty="0"/>
              <a:t> }</a:t>
            </a:r>
            <a:endParaRPr lang="en-US" altLang="zh-CN" b="1" dirty="0">
              <a:sym typeface="Symbol" panose="05050102010706020507" pitchFamily="18" charset="2"/>
            </a:endParaRPr>
          </a:p>
          <a:p>
            <a:pPr lvl="1"/>
            <a:r>
              <a:rPr lang="zh-CN" altLang="en-US" dirty="0">
                <a:solidFill>
                  <a:schemeClr val="accent2"/>
                </a:solidFill>
                <a:latin typeface="宋体" panose="02010600030101010101" pitchFamily="2" charset="-122"/>
              </a:rPr>
              <a:t>连接</a:t>
            </a:r>
            <a:r>
              <a:rPr lang="zh-CN" altLang="en-US" dirty="0">
                <a:latin typeface="宋体" panose="02010600030101010101" pitchFamily="2" charset="-122"/>
              </a:rPr>
              <a:t>（</a:t>
            </a:r>
            <a:r>
              <a:rPr lang="en-US" altLang="zh-CN" dirty="0"/>
              <a:t>concatenation</a:t>
            </a:r>
            <a:r>
              <a:rPr lang="zh-CN" altLang="en-US" dirty="0">
                <a:latin typeface="宋体" panose="02010600030101010101" pitchFamily="2" charset="-122"/>
              </a:rPr>
              <a:t>）：</a:t>
            </a:r>
            <a:r>
              <a:rPr lang="en-US" altLang="zh-CN" b="1" i="1" dirty="0">
                <a:latin typeface="Times New Roman" panose="02020603050405020304" pitchFamily="18" charset="0"/>
              </a:rPr>
              <a:t>LM </a:t>
            </a:r>
            <a:r>
              <a:rPr lang="en-US" altLang="zh-CN" b="1" dirty="0">
                <a:latin typeface="Times New Roman" panose="02020603050405020304" pitchFamily="18" charset="0"/>
              </a:rPr>
              <a:t>= {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st</a:t>
            </a:r>
            <a:r>
              <a:rPr lang="en-US" altLang="zh-CN" b="1" i="1" dirty="0">
                <a:latin typeface="Times New Roman" panose="02020603050405020304" pitchFamily="18" charset="0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</a:rPr>
              <a:t>| </a:t>
            </a:r>
            <a:r>
              <a:rPr lang="en-US" altLang="zh-CN" b="1" i="1" dirty="0">
                <a:latin typeface="Times New Roman" panose="02020603050405020304" pitchFamily="18" charset="0"/>
              </a:rPr>
              <a:t>s 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b="1" dirty="0">
                <a:latin typeface="Times New Roman" panose="02020603050405020304" pitchFamily="18" charset="0"/>
              </a:rPr>
              <a:t> </a:t>
            </a:r>
            <a:r>
              <a:rPr lang="en-US" altLang="zh-CN" b="1" i="1" dirty="0">
                <a:latin typeface="Times New Roman" panose="02020603050405020304" pitchFamily="18" charset="0"/>
              </a:rPr>
              <a:t>L </a:t>
            </a:r>
            <a:r>
              <a:rPr lang="zh-CN" altLang="en-US" b="1" dirty="0">
                <a:latin typeface="Times New Roman" panose="02020603050405020304" pitchFamily="18" charset="0"/>
              </a:rPr>
              <a:t>且 </a:t>
            </a:r>
            <a:r>
              <a:rPr lang="en-US" altLang="zh-CN" b="1" i="1" dirty="0">
                <a:latin typeface="Times New Roman" panose="02020603050405020304" pitchFamily="18" charset="0"/>
              </a:rPr>
              <a:t>t 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b="1" dirty="0">
                <a:latin typeface="Times New Roman" panose="02020603050405020304" pitchFamily="18" charset="0"/>
              </a:rPr>
              <a:t> </a:t>
            </a:r>
            <a:r>
              <a:rPr lang="en-US" altLang="zh-CN" b="1" i="1" dirty="0">
                <a:latin typeface="Times New Roman" panose="02020603050405020304" pitchFamily="18" charset="0"/>
              </a:rPr>
              <a:t>M</a:t>
            </a:r>
            <a:r>
              <a:rPr lang="en-US" altLang="zh-CN" b="1" dirty="0">
                <a:latin typeface="Times New Roman" panose="02020603050405020304" pitchFamily="18" charset="0"/>
              </a:rPr>
              <a:t>}</a:t>
            </a:r>
          </a:p>
          <a:p>
            <a:pPr lvl="1"/>
            <a:r>
              <a:rPr lang="zh-CN" altLang="en-US" dirty="0">
                <a:solidFill>
                  <a:schemeClr val="accent2"/>
                </a:solidFill>
              </a:rPr>
              <a:t>指数、幂</a:t>
            </a:r>
            <a:r>
              <a:rPr lang="zh-CN" altLang="en-US" dirty="0"/>
              <a:t>：</a:t>
            </a:r>
            <a:r>
              <a:rPr lang="en-US" altLang="zh-CN" b="1" i="1" dirty="0">
                <a:latin typeface="Times New Roman" panose="02020603050405020304" pitchFamily="18" charset="0"/>
              </a:rPr>
              <a:t>L</a:t>
            </a:r>
            <a:r>
              <a:rPr lang="en-US" altLang="zh-CN" b="1" baseline="30000" dirty="0">
                <a:latin typeface="Times New Roman" panose="02020603050405020304" pitchFamily="18" charset="0"/>
              </a:rPr>
              <a:t>0</a:t>
            </a:r>
            <a:r>
              <a:rPr lang="zh-CN" altLang="en-US" b="1" dirty="0">
                <a:latin typeface="Times New Roman" panose="02020603050405020304" pitchFamily="18" charset="0"/>
              </a:rPr>
              <a:t>是</a:t>
            </a:r>
            <a:r>
              <a:rPr lang="en-US" altLang="zh-CN" b="1" dirty="0">
                <a:latin typeface="Times New Roman" panose="02020603050405020304" pitchFamily="18" charset="0"/>
              </a:rPr>
              <a:t>{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</a:t>
            </a:r>
            <a:r>
              <a:rPr lang="en-US" altLang="zh-CN" b="1" dirty="0">
                <a:latin typeface="Times New Roman" panose="02020603050405020304" pitchFamily="18" charset="0"/>
              </a:rPr>
              <a:t>}</a:t>
            </a:r>
            <a:r>
              <a:rPr lang="zh-CN" altLang="en-US" b="1" dirty="0">
                <a:latin typeface="Times New Roman" panose="02020603050405020304" pitchFamily="18" charset="0"/>
              </a:rPr>
              <a:t>，</a:t>
            </a:r>
            <a:r>
              <a:rPr lang="en-US" altLang="zh-CN" b="1" i="1" dirty="0">
                <a:latin typeface="Times New Roman" panose="02020603050405020304" pitchFamily="18" charset="0"/>
              </a:rPr>
              <a:t>L</a:t>
            </a:r>
            <a:r>
              <a:rPr lang="en-US" altLang="zh-CN" b="1" i="1" baseline="30000" dirty="0">
                <a:latin typeface="Times New Roman" panose="02020603050405020304" pitchFamily="18" charset="0"/>
              </a:rPr>
              <a:t>i</a:t>
            </a:r>
            <a:r>
              <a:rPr lang="zh-CN" altLang="en-US" b="1" dirty="0">
                <a:latin typeface="Times New Roman" panose="02020603050405020304" pitchFamily="18" charset="0"/>
              </a:rPr>
              <a:t>是</a:t>
            </a:r>
            <a:r>
              <a:rPr lang="en-US" altLang="zh-CN" b="1" i="1" dirty="0">
                <a:latin typeface="Times New Roman" panose="02020603050405020304" pitchFamily="18" charset="0"/>
              </a:rPr>
              <a:t>L</a:t>
            </a:r>
            <a:r>
              <a:rPr lang="en-US" altLang="zh-CN" b="1" i="1" baseline="30000" dirty="0">
                <a:latin typeface="Times New Roman" panose="02020603050405020304" pitchFamily="18" charset="0"/>
              </a:rPr>
              <a:t>i </a:t>
            </a:r>
            <a:r>
              <a:rPr lang="en-US" altLang="zh-CN" b="1" baseline="30000" dirty="0">
                <a:latin typeface="Times New Roman" panose="02020603050405020304" pitchFamily="18" charset="0"/>
              </a:rPr>
              <a:t>-1</a:t>
            </a:r>
            <a:r>
              <a:rPr lang="en-US" altLang="zh-CN" b="1" i="1" dirty="0">
                <a:latin typeface="Times New Roman" panose="02020603050405020304" pitchFamily="18" charset="0"/>
              </a:rPr>
              <a:t>L</a:t>
            </a:r>
            <a:r>
              <a:rPr lang="zh-CN" altLang="en-US" b="1" dirty="0">
                <a:latin typeface="Times New Roman" panose="02020603050405020304" pitchFamily="18" charset="0"/>
              </a:rPr>
              <a:t>（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i</a:t>
            </a:r>
            <a:r>
              <a:rPr lang="en-US" altLang="zh-CN" b="1" i="1" dirty="0">
                <a:latin typeface="Times New Roman" panose="02020603050405020304" pitchFamily="18" charset="0"/>
              </a:rPr>
              <a:t>  </a:t>
            </a:r>
            <a:r>
              <a:rPr lang="en-US" altLang="zh-CN" b="1" dirty="0">
                <a:latin typeface="Times New Roman" panose="02020603050405020304" pitchFamily="18" charset="0"/>
              </a:rPr>
              <a:t>&gt; 0</a:t>
            </a:r>
            <a:r>
              <a:rPr lang="zh-CN" altLang="en-US" b="1" dirty="0">
                <a:latin typeface="Times New Roman" panose="02020603050405020304" pitchFamily="18" charset="0"/>
              </a:rPr>
              <a:t>）</a:t>
            </a:r>
            <a:r>
              <a:rPr lang="zh-CN" altLang="en-US" dirty="0">
                <a:latin typeface="Times New Roman" panose="02020603050405020304" pitchFamily="18" charset="0"/>
              </a:rPr>
              <a:t> </a:t>
            </a:r>
            <a:endParaRPr lang="en-US" altLang="zh-CN" dirty="0">
              <a:latin typeface="Times New Roman" panose="02020603050405020304" pitchFamily="18" charset="0"/>
            </a:endParaRPr>
          </a:p>
          <a:p>
            <a:endParaRPr lang="en-US" altLang="zh-CN" b="1" dirty="0">
              <a:latin typeface="Times New Roman" panose="02020603050405020304" pitchFamily="18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E08B1C3-567E-4481-8BC6-1ECD486A7733}"/>
              </a:ext>
            </a:extLst>
          </p:cNvPr>
          <p:cNvSpPr txBox="1"/>
          <p:nvPr/>
        </p:nvSpPr>
        <p:spPr>
          <a:xfrm>
            <a:off x="1487886" y="3823437"/>
            <a:ext cx="6168227" cy="95410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 rtlCol="0">
            <a:spAutoFit/>
          </a:bodyPr>
          <a:lstStyle>
            <a:defPPr>
              <a:defRPr lang="en-US"/>
            </a:defPPr>
            <a:lvl1pPr>
              <a:defRPr sz="3200"/>
            </a:lvl1pPr>
          </a:lstStyle>
          <a:p>
            <a:r>
              <a:rPr lang="zh-CN" altLang="en-US" sz="2800" dirty="0"/>
              <a:t>例：语言</a:t>
            </a:r>
            <a:r>
              <a:rPr lang="en-US" altLang="zh-CN" sz="2800" dirty="0"/>
              <a:t>{0,1}3={0,1}{0,1}{0,1}</a:t>
            </a:r>
          </a:p>
          <a:p>
            <a:r>
              <a:rPr lang="en-US" altLang="zh-CN" sz="2800" dirty="0"/>
              <a:t>	 ={000,001,010,011,100,101,110,111}</a:t>
            </a:r>
            <a:endParaRPr lang="zh-CN" altLang="en-US" sz="2800" dirty="0"/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C959DCE-F4D8-CDE3-06F6-DBDEF2B8FC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6DE1C-31E1-4531-A96B-CC2EC03A6407}" type="datetime2">
              <a:rPr lang="zh-CN" altLang="en-US" smtClean="0"/>
              <a:t>2026年3月11日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C04DE79-C903-9A33-1911-D2810E620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</a:t>
            </a:r>
            <a:r>
              <a:rPr lang="en-US" altLang="zh-CN"/>
              <a:t>2</a:t>
            </a:r>
            <a:r>
              <a:rPr lang="zh-CN" altLang="en-US"/>
              <a:t>章 词法分析</a:t>
            </a:r>
            <a:r>
              <a:rPr lang="en-US" altLang="zh-CN"/>
              <a:t>(1)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C23E1BD-BE7F-6542-53F7-2F0BCE2D0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871228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482B894D-295F-4482-93F0-F3AC36BA512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CN" dirty="0"/>
              <a:t>2.2.1 </a:t>
            </a:r>
            <a:r>
              <a:rPr lang="zh-CN" altLang="en-US" dirty="0"/>
              <a:t>串和语言</a:t>
            </a:r>
          </a:p>
        </p:txBody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CC6E6673-B103-4B4D-BBB7-DBE5A09EA69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语言的运算：</a:t>
            </a:r>
          </a:p>
          <a:p>
            <a:pPr lvl="1"/>
            <a:r>
              <a:rPr lang="zh-CN" altLang="en-US" dirty="0">
                <a:solidFill>
                  <a:schemeClr val="accent2"/>
                </a:solidFill>
                <a:latin typeface="宋体" panose="02010600030101010101" pitchFamily="2" charset="-122"/>
              </a:rPr>
              <a:t>并</a:t>
            </a:r>
            <a:r>
              <a:rPr lang="zh-CN" altLang="en-US" dirty="0">
                <a:latin typeface="宋体" panose="02010600030101010101" pitchFamily="2" charset="-122"/>
              </a:rPr>
              <a:t>（</a:t>
            </a:r>
            <a:r>
              <a:rPr lang="en-US" altLang="zh-CN" dirty="0"/>
              <a:t>union</a:t>
            </a:r>
            <a:r>
              <a:rPr lang="zh-CN" altLang="en-US" dirty="0">
                <a:latin typeface="宋体" panose="02010600030101010101" pitchFamily="2" charset="-122"/>
              </a:rPr>
              <a:t>）：</a:t>
            </a:r>
            <a:r>
              <a:rPr lang="en-US" altLang="zh-CN" b="1" i="1" dirty="0">
                <a:latin typeface="Times New Roman" panose="02020603050405020304" pitchFamily="18" charset="0"/>
              </a:rPr>
              <a:t>L 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 </a:t>
            </a:r>
            <a:r>
              <a:rPr lang="en-US" altLang="zh-CN" b="1" i="1" dirty="0">
                <a:latin typeface="Times New Roman" panose="02020603050405020304" pitchFamily="18" charset="0"/>
              </a:rPr>
              <a:t>M </a:t>
            </a:r>
            <a:r>
              <a:rPr lang="en-US" altLang="zh-CN" b="1" dirty="0">
                <a:latin typeface="Times New Roman" panose="02020603050405020304" pitchFamily="18" charset="0"/>
              </a:rPr>
              <a:t>= {</a:t>
            </a:r>
            <a:r>
              <a:rPr lang="en-US" altLang="zh-CN" b="1" i="1" dirty="0">
                <a:latin typeface="Times New Roman" panose="02020603050405020304" pitchFamily="18" charset="0"/>
              </a:rPr>
              <a:t>s </a:t>
            </a:r>
            <a:r>
              <a:rPr lang="en-US" altLang="zh-CN" b="1" dirty="0">
                <a:latin typeface="Times New Roman" panose="02020603050405020304" pitchFamily="18" charset="0"/>
              </a:rPr>
              <a:t>| </a:t>
            </a:r>
            <a:r>
              <a:rPr lang="en-US" altLang="zh-CN" b="1" i="1" dirty="0">
                <a:latin typeface="Times New Roman" panose="02020603050405020304" pitchFamily="18" charset="0"/>
              </a:rPr>
              <a:t>s</a:t>
            </a:r>
            <a:r>
              <a:rPr lang="en-US" altLang="zh-CN" b="1" dirty="0">
                <a:latin typeface="Times New Roman" panose="02020603050405020304" pitchFamily="18" charset="0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b="1" i="1" dirty="0">
                <a:latin typeface="Times New Roman" panose="02020603050405020304" pitchFamily="18" charset="0"/>
              </a:rPr>
              <a:t>L </a:t>
            </a:r>
            <a:r>
              <a:rPr lang="zh-CN" altLang="en-US" b="1" dirty="0">
                <a:latin typeface="Times New Roman" panose="02020603050405020304" pitchFamily="18" charset="0"/>
              </a:rPr>
              <a:t>或 </a:t>
            </a:r>
            <a:r>
              <a:rPr lang="en-US" altLang="zh-CN" b="1" i="1" dirty="0">
                <a:latin typeface="Times New Roman" panose="02020603050405020304" pitchFamily="18" charset="0"/>
              </a:rPr>
              <a:t>s 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b="1" dirty="0">
                <a:latin typeface="Times New Roman" panose="02020603050405020304" pitchFamily="18" charset="0"/>
              </a:rPr>
              <a:t> </a:t>
            </a:r>
            <a:r>
              <a:rPr lang="en-US" altLang="zh-CN" b="1" i="1" dirty="0">
                <a:latin typeface="Times New Roman" panose="02020603050405020304" pitchFamily="18" charset="0"/>
              </a:rPr>
              <a:t>M</a:t>
            </a:r>
            <a:r>
              <a:rPr lang="en-US" altLang="zh-CN" b="1" dirty="0">
                <a:latin typeface="Times New Roman" panose="02020603050405020304" pitchFamily="18" charset="0"/>
              </a:rPr>
              <a:t> }</a:t>
            </a:r>
            <a:endParaRPr lang="en-US" altLang="zh-CN" b="1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lvl="1"/>
            <a:r>
              <a:rPr lang="zh-CN" altLang="en-US" dirty="0">
                <a:solidFill>
                  <a:schemeClr val="accent2"/>
                </a:solidFill>
                <a:latin typeface="宋体" panose="02010600030101010101" pitchFamily="2" charset="-122"/>
              </a:rPr>
              <a:t>连接</a:t>
            </a:r>
            <a:r>
              <a:rPr lang="zh-CN" altLang="en-US" dirty="0">
                <a:latin typeface="宋体" panose="02010600030101010101" pitchFamily="2" charset="-122"/>
              </a:rPr>
              <a:t>（</a:t>
            </a:r>
            <a:r>
              <a:rPr lang="en-US" altLang="zh-CN" dirty="0"/>
              <a:t>concatenation</a:t>
            </a:r>
            <a:r>
              <a:rPr lang="zh-CN" altLang="en-US" dirty="0">
                <a:latin typeface="宋体" panose="02010600030101010101" pitchFamily="2" charset="-122"/>
              </a:rPr>
              <a:t>）：</a:t>
            </a:r>
            <a:r>
              <a:rPr lang="en-US" altLang="zh-CN" b="1" i="1" dirty="0">
                <a:latin typeface="Times New Roman" panose="02020603050405020304" pitchFamily="18" charset="0"/>
              </a:rPr>
              <a:t>LM </a:t>
            </a:r>
            <a:r>
              <a:rPr lang="en-US" altLang="zh-CN" b="1" dirty="0">
                <a:latin typeface="Times New Roman" panose="02020603050405020304" pitchFamily="18" charset="0"/>
              </a:rPr>
              <a:t>= {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st</a:t>
            </a:r>
            <a:r>
              <a:rPr lang="en-US" altLang="zh-CN" b="1" i="1" dirty="0">
                <a:latin typeface="Times New Roman" panose="02020603050405020304" pitchFamily="18" charset="0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</a:rPr>
              <a:t>| </a:t>
            </a:r>
            <a:r>
              <a:rPr lang="en-US" altLang="zh-CN" b="1" i="1" dirty="0">
                <a:latin typeface="Times New Roman" panose="02020603050405020304" pitchFamily="18" charset="0"/>
              </a:rPr>
              <a:t>s 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b="1" dirty="0">
                <a:latin typeface="Times New Roman" panose="02020603050405020304" pitchFamily="18" charset="0"/>
              </a:rPr>
              <a:t> </a:t>
            </a:r>
            <a:r>
              <a:rPr lang="en-US" altLang="zh-CN" b="1" i="1" dirty="0">
                <a:latin typeface="Times New Roman" panose="02020603050405020304" pitchFamily="18" charset="0"/>
              </a:rPr>
              <a:t>L </a:t>
            </a:r>
            <a:r>
              <a:rPr lang="zh-CN" altLang="en-US" b="1" dirty="0">
                <a:latin typeface="Times New Roman" panose="02020603050405020304" pitchFamily="18" charset="0"/>
              </a:rPr>
              <a:t>且 </a:t>
            </a:r>
            <a:r>
              <a:rPr lang="en-US" altLang="zh-CN" b="1" i="1" dirty="0">
                <a:latin typeface="Times New Roman" panose="02020603050405020304" pitchFamily="18" charset="0"/>
              </a:rPr>
              <a:t>t 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b="1" dirty="0">
                <a:latin typeface="Times New Roman" panose="02020603050405020304" pitchFamily="18" charset="0"/>
              </a:rPr>
              <a:t> </a:t>
            </a:r>
            <a:r>
              <a:rPr lang="en-US" altLang="zh-CN" b="1" i="1" dirty="0">
                <a:latin typeface="Times New Roman" panose="02020603050405020304" pitchFamily="18" charset="0"/>
              </a:rPr>
              <a:t>M</a:t>
            </a:r>
            <a:r>
              <a:rPr lang="en-US" altLang="zh-CN" b="1" dirty="0">
                <a:latin typeface="Times New Roman" panose="02020603050405020304" pitchFamily="18" charset="0"/>
              </a:rPr>
              <a:t>}</a:t>
            </a:r>
          </a:p>
          <a:p>
            <a:pPr lvl="1"/>
            <a:r>
              <a:rPr lang="zh-CN" altLang="en-US" dirty="0">
                <a:solidFill>
                  <a:schemeClr val="accent2"/>
                </a:solidFill>
              </a:rPr>
              <a:t>指数、幂</a:t>
            </a:r>
            <a:r>
              <a:rPr lang="zh-CN" altLang="en-US" dirty="0"/>
              <a:t>：</a:t>
            </a:r>
            <a:r>
              <a:rPr lang="en-US" altLang="zh-CN" b="1" i="1" dirty="0">
                <a:latin typeface="Times New Roman" panose="02020603050405020304" pitchFamily="18" charset="0"/>
              </a:rPr>
              <a:t>L</a:t>
            </a:r>
            <a:r>
              <a:rPr lang="en-US" altLang="zh-CN" b="1" baseline="30000" dirty="0">
                <a:latin typeface="Times New Roman" panose="02020603050405020304" pitchFamily="18" charset="0"/>
              </a:rPr>
              <a:t>0</a:t>
            </a:r>
            <a:r>
              <a:rPr lang="zh-CN" altLang="en-US" b="1" dirty="0">
                <a:latin typeface="Times New Roman" panose="02020603050405020304" pitchFamily="18" charset="0"/>
              </a:rPr>
              <a:t>是</a:t>
            </a:r>
            <a:r>
              <a:rPr lang="en-US" altLang="zh-CN" b="1" dirty="0">
                <a:latin typeface="Times New Roman" panose="02020603050405020304" pitchFamily="18" charset="0"/>
              </a:rPr>
              <a:t>{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</a:t>
            </a:r>
            <a:r>
              <a:rPr lang="en-US" altLang="zh-CN" b="1" dirty="0">
                <a:latin typeface="Times New Roman" panose="02020603050405020304" pitchFamily="18" charset="0"/>
              </a:rPr>
              <a:t>}</a:t>
            </a:r>
            <a:r>
              <a:rPr lang="zh-CN" altLang="en-US" b="1" dirty="0">
                <a:latin typeface="Times New Roman" panose="02020603050405020304" pitchFamily="18" charset="0"/>
              </a:rPr>
              <a:t>，</a:t>
            </a:r>
            <a:r>
              <a:rPr lang="en-US" altLang="zh-CN" b="1" i="1" dirty="0">
                <a:latin typeface="Times New Roman" panose="02020603050405020304" pitchFamily="18" charset="0"/>
              </a:rPr>
              <a:t>L</a:t>
            </a:r>
            <a:r>
              <a:rPr lang="en-US" altLang="zh-CN" b="1" i="1" baseline="30000" dirty="0">
                <a:latin typeface="Times New Roman" panose="02020603050405020304" pitchFamily="18" charset="0"/>
              </a:rPr>
              <a:t>i</a:t>
            </a:r>
            <a:r>
              <a:rPr lang="zh-CN" altLang="en-US" b="1" dirty="0">
                <a:latin typeface="Times New Roman" panose="02020603050405020304" pitchFamily="18" charset="0"/>
              </a:rPr>
              <a:t>是</a:t>
            </a:r>
            <a:r>
              <a:rPr lang="en-US" altLang="zh-CN" b="1" i="1" dirty="0">
                <a:latin typeface="Times New Roman" panose="02020603050405020304" pitchFamily="18" charset="0"/>
              </a:rPr>
              <a:t>L</a:t>
            </a:r>
            <a:r>
              <a:rPr lang="en-US" altLang="zh-CN" b="1" i="1" baseline="30000" dirty="0">
                <a:latin typeface="Times New Roman" panose="02020603050405020304" pitchFamily="18" charset="0"/>
              </a:rPr>
              <a:t>i </a:t>
            </a:r>
            <a:r>
              <a:rPr lang="en-US" altLang="zh-CN" b="1" baseline="30000" dirty="0">
                <a:latin typeface="Times New Roman" panose="02020603050405020304" pitchFamily="18" charset="0"/>
              </a:rPr>
              <a:t>-1</a:t>
            </a:r>
            <a:r>
              <a:rPr lang="en-US" altLang="zh-CN" b="1" i="1" dirty="0">
                <a:latin typeface="Times New Roman" panose="02020603050405020304" pitchFamily="18" charset="0"/>
              </a:rPr>
              <a:t>L</a:t>
            </a:r>
            <a:r>
              <a:rPr lang="zh-CN" altLang="en-US" b="1" dirty="0">
                <a:latin typeface="Times New Roman" panose="02020603050405020304" pitchFamily="18" charset="0"/>
              </a:rPr>
              <a:t>（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i</a:t>
            </a:r>
            <a:r>
              <a:rPr lang="en-US" altLang="zh-CN" b="1" i="1" dirty="0">
                <a:latin typeface="Times New Roman" panose="02020603050405020304" pitchFamily="18" charset="0"/>
              </a:rPr>
              <a:t>  </a:t>
            </a:r>
            <a:r>
              <a:rPr lang="en-US" altLang="zh-CN" b="1" dirty="0">
                <a:latin typeface="Times New Roman" panose="02020603050405020304" pitchFamily="18" charset="0"/>
              </a:rPr>
              <a:t>&gt; 0</a:t>
            </a:r>
            <a:r>
              <a:rPr lang="zh-CN" altLang="en-US" b="1" dirty="0">
                <a:latin typeface="Times New Roman" panose="02020603050405020304" pitchFamily="18" charset="0"/>
              </a:rPr>
              <a:t>）</a:t>
            </a:r>
            <a:r>
              <a:rPr lang="zh-CN" altLang="en-US" dirty="0">
                <a:latin typeface="Times New Roman" panose="02020603050405020304" pitchFamily="18" charset="0"/>
              </a:rPr>
              <a:t> 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lvl="1"/>
            <a:r>
              <a:rPr lang="zh-CN" altLang="en-US" dirty="0">
                <a:solidFill>
                  <a:schemeClr val="accent2"/>
                </a:solidFill>
                <a:latin typeface="宋体" panose="02010600030101010101" pitchFamily="2" charset="-122"/>
              </a:rPr>
              <a:t>闭包</a:t>
            </a:r>
            <a:r>
              <a:rPr lang="zh-CN" altLang="en-US" dirty="0">
                <a:latin typeface="宋体" panose="02010600030101010101" pitchFamily="2" charset="-122"/>
              </a:rPr>
              <a:t>（</a:t>
            </a:r>
            <a:r>
              <a:rPr lang="en-US" altLang="zh-CN" dirty="0"/>
              <a:t>Kleene closure</a:t>
            </a:r>
            <a:r>
              <a:rPr lang="zh-CN" altLang="en-US" dirty="0">
                <a:latin typeface="宋体" panose="02010600030101010101" pitchFamily="2" charset="-122"/>
              </a:rPr>
              <a:t>）：</a:t>
            </a:r>
            <a:r>
              <a:rPr lang="en-US" altLang="zh-CN" b="1" i="1" dirty="0">
                <a:latin typeface="Times New Roman" panose="02020603050405020304" pitchFamily="18" charset="0"/>
              </a:rPr>
              <a:t>L</a:t>
            </a:r>
            <a:r>
              <a:rPr lang="en-US" altLang="zh-CN" b="1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en-US" altLang="zh-CN" b="1" dirty="0">
                <a:latin typeface="Times New Roman" panose="02020603050405020304" pitchFamily="18" charset="0"/>
              </a:rPr>
              <a:t> = </a:t>
            </a:r>
            <a:r>
              <a:rPr lang="en-US" altLang="zh-CN" b="1" i="1" dirty="0">
                <a:latin typeface="Times New Roman" panose="02020603050405020304" pitchFamily="18" charset="0"/>
              </a:rPr>
              <a:t>L</a:t>
            </a:r>
            <a:r>
              <a:rPr lang="en-US" altLang="zh-CN" b="1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0  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</a:t>
            </a:r>
            <a:r>
              <a:rPr lang="en-US" altLang="zh-CN" b="1" dirty="0">
                <a:latin typeface="Times New Roman" panose="02020603050405020304" pitchFamily="18" charset="0"/>
              </a:rPr>
              <a:t> </a:t>
            </a:r>
            <a:r>
              <a:rPr lang="en-US" altLang="zh-CN" b="1" i="1" dirty="0">
                <a:latin typeface="Times New Roman" panose="02020603050405020304" pitchFamily="18" charset="0"/>
              </a:rPr>
              <a:t>L</a:t>
            </a:r>
            <a:r>
              <a:rPr lang="en-US" altLang="zh-CN" b="1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1 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</a:t>
            </a:r>
            <a:r>
              <a:rPr lang="en-US" altLang="zh-CN" b="1" dirty="0">
                <a:latin typeface="Times New Roman" panose="02020603050405020304" pitchFamily="18" charset="0"/>
              </a:rPr>
              <a:t> </a:t>
            </a:r>
            <a:r>
              <a:rPr lang="en-US" altLang="zh-CN" b="1" i="1" dirty="0">
                <a:latin typeface="Times New Roman" panose="02020603050405020304" pitchFamily="18" charset="0"/>
              </a:rPr>
              <a:t>L</a:t>
            </a:r>
            <a:r>
              <a:rPr lang="en-US" altLang="zh-CN" b="1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2  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</a:t>
            </a:r>
            <a:r>
              <a:rPr lang="en-US" altLang="zh-CN" b="1" dirty="0">
                <a:latin typeface="Times New Roman" panose="02020603050405020304" pitchFamily="18" charset="0"/>
              </a:rPr>
              <a:t> …</a:t>
            </a:r>
          </a:p>
          <a:p>
            <a:endParaRPr lang="en-US" altLang="zh-CN" b="1" dirty="0">
              <a:latin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0D80C0F-1BA4-444B-B442-7CF1D2EC2FB0}"/>
              </a:ext>
            </a:extLst>
          </p:cNvPr>
          <p:cNvSpPr txBox="1"/>
          <p:nvPr/>
        </p:nvSpPr>
        <p:spPr>
          <a:xfrm>
            <a:off x="821871" y="4766198"/>
            <a:ext cx="7500258" cy="95410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 rtlCol="0">
            <a:spAutoFit/>
          </a:bodyPr>
          <a:lstStyle>
            <a:defPPr>
              <a:defRPr lang="en-US"/>
            </a:defPPr>
            <a:lvl1pPr>
              <a:defRPr sz="3200"/>
            </a:lvl1pPr>
          </a:lstStyle>
          <a:p>
            <a:r>
              <a:rPr lang="zh-CN" altLang="en-US" sz="2800" dirty="0"/>
              <a:t>例：语言</a:t>
            </a:r>
            <a:r>
              <a:rPr lang="en-US" altLang="zh-CN" sz="2800" dirty="0"/>
              <a:t>{0,1}*={</a:t>
            </a:r>
            <a:r>
              <a:rPr lang="en-US" altLang="zh-CN" sz="2800" dirty="0">
                <a:sym typeface="Symbol" panose="05050102010706020507" pitchFamily="18" charset="2"/>
              </a:rPr>
              <a:t></a:t>
            </a:r>
            <a:r>
              <a:rPr lang="en-US" altLang="zh-CN" sz="2800" dirty="0"/>
              <a:t>}</a:t>
            </a:r>
            <a:r>
              <a:rPr lang="en-US" altLang="zh-CN" sz="2800" dirty="0">
                <a:sym typeface="Symbol" panose="05050102010706020507" pitchFamily="18" charset="2"/>
              </a:rPr>
              <a:t></a:t>
            </a:r>
            <a:r>
              <a:rPr lang="en-US" altLang="zh-CN" sz="2800" dirty="0"/>
              <a:t>{0,1}</a:t>
            </a:r>
            <a:r>
              <a:rPr lang="en-US" altLang="zh-CN" sz="2800" dirty="0">
                <a:sym typeface="Symbol" panose="05050102010706020507" pitchFamily="18" charset="2"/>
              </a:rPr>
              <a:t> </a:t>
            </a:r>
            <a:r>
              <a:rPr lang="en-US" altLang="zh-CN" sz="2800" dirty="0"/>
              <a:t>{00,01,10,11}</a:t>
            </a:r>
            <a:r>
              <a:rPr lang="en-US" altLang="zh-CN" sz="2800" dirty="0">
                <a:sym typeface="Symbol" panose="05050102010706020507" pitchFamily="18" charset="2"/>
              </a:rPr>
              <a:t> </a:t>
            </a:r>
            <a:r>
              <a:rPr lang="en-US" altLang="zh-CN" sz="2800" dirty="0"/>
              <a:t>…</a:t>
            </a:r>
          </a:p>
          <a:p>
            <a:r>
              <a:rPr lang="en-US" altLang="zh-CN" sz="2800" dirty="0"/>
              <a:t>	 ={</a:t>
            </a:r>
            <a:r>
              <a:rPr lang="en-US" altLang="zh-CN" sz="2800" dirty="0">
                <a:sym typeface="Symbol" panose="05050102010706020507" pitchFamily="18" charset="2"/>
              </a:rPr>
              <a:t>,</a:t>
            </a:r>
            <a:r>
              <a:rPr lang="en-US" altLang="zh-CN" sz="2800" dirty="0"/>
              <a:t>0,1,00,01,10,11,…}</a:t>
            </a:r>
            <a:endParaRPr lang="zh-CN" altLang="en-US" sz="2800" dirty="0"/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D86207B-30C3-FB36-FF3B-C09E98537B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FC931-05D2-4702-9050-44D9E655EDF4}" type="datetime2">
              <a:rPr lang="zh-CN" altLang="en-US" smtClean="0"/>
              <a:t>2026年3月11日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0921148-F1A9-39E6-4FFB-3209E3BB9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</a:t>
            </a:r>
            <a:r>
              <a:rPr lang="en-US" altLang="zh-CN"/>
              <a:t>2</a:t>
            </a:r>
            <a:r>
              <a:rPr lang="zh-CN" altLang="en-US"/>
              <a:t>章 词法分析</a:t>
            </a:r>
            <a:r>
              <a:rPr lang="en-US" altLang="zh-CN"/>
              <a:t>(1)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AE78C60-D3D4-791A-30ED-4AB3754C7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934041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482B894D-295F-4482-93F0-F3AC36BA512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CN" dirty="0"/>
              <a:t>2.2.1 </a:t>
            </a:r>
            <a:r>
              <a:rPr lang="zh-CN" altLang="en-US" dirty="0"/>
              <a:t>串和语言</a:t>
            </a:r>
          </a:p>
        </p:txBody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CC6E6673-B103-4B4D-BBB7-DBE5A09EA69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语言的运算：</a:t>
            </a:r>
          </a:p>
          <a:p>
            <a:pPr lvl="1"/>
            <a:r>
              <a:rPr lang="zh-CN" altLang="en-US" dirty="0">
                <a:solidFill>
                  <a:schemeClr val="accent2"/>
                </a:solidFill>
                <a:latin typeface="宋体" panose="02010600030101010101" pitchFamily="2" charset="-122"/>
              </a:rPr>
              <a:t>并</a:t>
            </a:r>
            <a:r>
              <a:rPr lang="zh-CN" altLang="en-US" dirty="0">
                <a:latin typeface="宋体" panose="02010600030101010101" pitchFamily="2" charset="-122"/>
              </a:rPr>
              <a:t>（</a:t>
            </a:r>
            <a:r>
              <a:rPr lang="en-US" altLang="zh-CN" dirty="0"/>
              <a:t>union</a:t>
            </a:r>
            <a:r>
              <a:rPr lang="zh-CN" altLang="en-US" dirty="0">
                <a:latin typeface="宋体" panose="02010600030101010101" pitchFamily="2" charset="-122"/>
              </a:rPr>
              <a:t>）：</a:t>
            </a:r>
            <a:r>
              <a:rPr lang="en-US" altLang="zh-CN" b="1" i="1" dirty="0">
                <a:latin typeface="Times New Roman" panose="02020603050405020304" pitchFamily="18" charset="0"/>
              </a:rPr>
              <a:t>L 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 </a:t>
            </a:r>
            <a:r>
              <a:rPr lang="en-US" altLang="zh-CN" b="1" i="1" dirty="0">
                <a:latin typeface="Times New Roman" panose="02020603050405020304" pitchFamily="18" charset="0"/>
              </a:rPr>
              <a:t>M </a:t>
            </a:r>
            <a:r>
              <a:rPr lang="en-US" altLang="zh-CN" b="1" dirty="0">
                <a:latin typeface="Times New Roman" panose="02020603050405020304" pitchFamily="18" charset="0"/>
              </a:rPr>
              <a:t>= {</a:t>
            </a:r>
            <a:r>
              <a:rPr lang="en-US" altLang="zh-CN" b="1" i="1" dirty="0">
                <a:latin typeface="Times New Roman" panose="02020603050405020304" pitchFamily="18" charset="0"/>
              </a:rPr>
              <a:t>s </a:t>
            </a:r>
            <a:r>
              <a:rPr lang="en-US" altLang="zh-CN" b="1" dirty="0">
                <a:latin typeface="Times New Roman" panose="02020603050405020304" pitchFamily="18" charset="0"/>
              </a:rPr>
              <a:t>| </a:t>
            </a:r>
            <a:r>
              <a:rPr lang="en-US" altLang="zh-CN" b="1" i="1" dirty="0">
                <a:latin typeface="Times New Roman" panose="02020603050405020304" pitchFamily="18" charset="0"/>
              </a:rPr>
              <a:t>s</a:t>
            </a:r>
            <a:r>
              <a:rPr lang="en-US" altLang="zh-CN" b="1" dirty="0">
                <a:latin typeface="Times New Roman" panose="02020603050405020304" pitchFamily="18" charset="0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b="1" i="1" dirty="0">
                <a:latin typeface="Times New Roman" panose="02020603050405020304" pitchFamily="18" charset="0"/>
              </a:rPr>
              <a:t>L </a:t>
            </a:r>
            <a:r>
              <a:rPr lang="zh-CN" altLang="en-US" b="1" dirty="0">
                <a:latin typeface="Times New Roman" panose="02020603050405020304" pitchFamily="18" charset="0"/>
              </a:rPr>
              <a:t>或 </a:t>
            </a:r>
            <a:r>
              <a:rPr lang="en-US" altLang="zh-CN" b="1" i="1" dirty="0">
                <a:latin typeface="Times New Roman" panose="02020603050405020304" pitchFamily="18" charset="0"/>
              </a:rPr>
              <a:t>s 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b="1" dirty="0">
                <a:latin typeface="Times New Roman" panose="02020603050405020304" pitchFamily="18" charset="0"/>
              </a:rPr>
              <a:t> </a:t>
            </a:r>
            <a:r>
              <a:rPr lang="en-US" altLang="zh-CN" b="1" i="1" dirty="0">
                <a:latin typeface="Times New Roman" panose="02020603050405020304" pitchFamily="18" charset="0"/>
              </a:rPr>
              <a:t>M</a:t>
            </a:r>
            <a:r>
              <a:rPr lang="en-US" altLang="zh-CN" b="1" dirty="0">
                <a:latin typeface="Times New Roman" panose="02020603050405020304" pitchFamily="18" charset="0"/>
              </a:rPr>
              <a:t> }</a:t>
            </a:r>
          </a:p>
          <a:p>
            <a:pPr lvl="1"/>
            <a:r>
              <a:rPr lang="zh-CN" altLang="en-US" dirty="0">
                <a:solidFill>
                  <a:schemeClr val="accent2"/>
                </a:solidFill>
                <a:latin typeface="宋体" panose="02010600030101010101" pitchFamily="2" charset="-122"/>
              </a:rPr>
              <a:t>连接</a:t>
            </a:r>
            <a:r>
              <a:rPr lang="zh-CN" altLang="en-US" dirty="0">
                <a:latin typeface="宋体" panose="02010600030101010101" pitchFamily="2" charset="-122"/>
              </a:rPr>
              <a:t>（</a:t>
            </a:r>
            <a:r>
              <a:rPr lang="en-US" altLang="zh-CN" dirty="0"/>
              <a:t>concatenation</a:t>
            </a:r>
            <a:r>
              <a:rPr lang="zh-CN" altLang="en-US" dirty="0">
                <a:latin typeface="宋体" panose="02010600030101010101" pitchFamily="2" charset="-122"/>
              </a:rPr>
              <a:t>）：</a:t>
            </a:r>
            <a:r>
              <a:rPr lang="en-US" altLang="zh-CN" b="1" i="1" dirty="0">
                <a:latin typeface="Times New Roman" panose="02020603050405020304" pitchFamily="18" charset="0"/>
              </a:rPr>
              <a:t>LM </a:t>
            </a:r>
            <a:r>
              <a:rPr lang="en-US" altLang="zh-CN" b="1" dirty="0">
                <a:latin typeface="Times New Roman" panose="02020603050405020304" pitchFamily="18" charset="0"/>
              </a:rPr>
              <a:t>= {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st</a:t>
            </a:r>
            <a:r>
              <a:rPr lang="en-US" altLang="zh-CN" b="1" i="1" dirty="0">
                <a:latin typeface="Times New Roman" panose="02020603050405020304" pitchFamily="18" charset="0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</a:rPr>
              <a:t>| </a:t>
            </a:r>
            <a:r>
              <a:rPr lang="en-US" altLang="zh-CN" b="1" i="1" dirty="0">
                <a:latin typeface="Times New Roman" panose="02020603050405020304" pitchFamily="18" charset="0"/>
              </a:rPr>
              <a:t>s 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b="1" dirty="0">
                <a:latin typeface="Times New Roman" panose="02020603050405020304" pitchFamily="18" charset="0"/>
              </a:rPr>
              <a:t> </a:t>
            </a:r>
            <a:r>
              <a:rPr lang="en-US" altLang="zh-CN" b="1" i="1" dirty="0">
                <a:latin typeface="Times New Roman" panose="02020603050405020304" pitchFamily="18" charset="0"/>
              </a:rPr>
              <a:t>L </a:t>
            </a:r>
            <a:r>
              <a:rPr lang="zh-CN" altLang="en-US" b="1" dirty="0">
                <a:latin typeface="Times New Roman" panose="02020603050405020304" pitchFamily="18" charset="0"/>
              </a:rPr>
              <a:t>且 </a:t>
            </a:r>
            <a:r>
              <a:rPr lang="en-US" altLang="zh-CN" b="1" i="1" dirty="0">
                <a:latin typeface="Times New Roman" panose="02020603050405020304" pitchFamily="18" charset="0"/>
              </a:rPr>
              <a:t>t 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b="1" dirty="0">
                <a:latin typeface="Times New Roman" panose="02020603050405020304" pitchFamily="18" charset="0"/>
              </a:rPr>
              <a:t> </a:t>
            </a:r>
            <a:r>
              <a:rPr lang="en-US" altLang="zh-CN" b="1" i="1" dirty="0">
                <a:latin typeface="Times New Roman" panose="02020603050405020304" pitchFamily="18" charset="0"/>
              </a:rPr>
              <a:t>M</a:t>
            </a:r>
            <a:r>
              <a:rPr lang="en-US" altLang="zh-CN" b="1" dirty="0">
                <a:latin typeface="Times New Roman" panose="02020603050405020304" pitchFamily="18" charset="0"/>
              </a:rPr>
              <a:t>}</a:t>
            </a:r>
          </a:p>
          <a:p>
            <a:pPr lvl="1"/>
            <a:r>
              <a:rPr lang="zh-CN" altLang="en-US" dirty="0">
                <a:solidFill>
                  <a:schemeClr val="accent2"/>
                </a:solidFill>
              </a:rPr>
              <a:t>指数、幂</a:t>
            </a:r>
            <a:r>
              <a:rPr lang="zh-CN" altLang="en-US" dirty="0"/>
              <a:t>：</a:t>
            </a:r>
            <a:r>
              <a:rPr lang="en-US" altLang="zh-CN" b="1" i="1" dirty="0">
                <a:latin typeface="Times New Roman" panose="02020603050405020304" pitchFamily="18" charset="0"/>
              </a:rPr>
              <a:t>L</a:t>
            </a:r>
            <a:r>
              <a:rPr lang="en-US" altLang="zh-CN" b="1" baseline="30000" dirty="0">
                <a:latin typeface="Times New Roman" panose="02020603050405020304" pitchFamily="18" charset="0"/>
              </a:rPr>
              <a:t>0</a:t>
            </a:r>
            <a:r>
              <a:rPr lang="zh-CN" altLang="en-US" b="1" dirty="0">
                <a:latin typeface="Times New Roman" panose="02020603050405020304" pitchFamily="18" charset="0"/>
              </a:rPr>
              <a:t>是</a:t>
            </a:r>
            <a:r>
              <a:rPr lang="en-US" altLang="zh-CN" b="1" dirty="0">
                <a:latin typeface="Times New Roman" panose="02020603050405020304" pitchFamily="18" charset="0"/>
              </a:rPr>
              <a:t>{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</a:t>
            </a:r>
            <a:r>
              <a:rPr lang="en-US" altLang="zh-CN" b="1" dirty="0">
                <a:latin typeface="Times New Roman" panose="02020603050405020304" pitchFamily="18" charset="0"/>
              </a:rPr>
              <a:t>}</a:t>
            </a:r>
            <a:r>
              <a:rPr lang="zh-CN" altLang="en-US" b="1" dirty="0">
                <a:latin typeface="Times New Roman" panose="02020603050405020304" pitchFamily="18" charset="0"/>
              </a:rPr>
              <a:t>，</a:t>
            </a:r>
            <a:r>
              <a:rPr lang="en-US" altLang="zh-CN" b="1" i="1" dirty="0">
                <a:latin typeface="Times New Roman" panose="02020603050405020304" pitchFamily="18" charset="0"/>
              </a:rPr>
              <a:t>L</a:t>
            </a:r>
            <a:r>
              <a:rPr lang="en-US" altLang="zh-CN" b="1" i="1" baseline="30000" dirty="0">
                <a:latin typeface="Times New Roman" panose="02020603050405020304" pitchFamily="18" charset="0"/>
              </a:rPr>
              <a:t>i</a:t>
            </a:r>
            <a:r>
              <a:rPr lang="zh-CN" altLang="en-US" b="1" dirty="0">
                <a:latin typeface="Times New Roman" panose="02020603050405020304" pitchFamily="18" charset="0"/>
              </a:rPr>
              <a:t>是</a:t>
            </a:r>
            <a:r>
              <a:rPr lang="en-US" altLang="zh-CN" b="1" i="1" dirty="0">
                <a:latin typeface="Times New Roman" panose="02020603050405020304" pitchFamily="18" charset="0"/>
              </a:rPr>
              <a:t>L</a:t>
            </a:r>
            <a:r>
              <a:rPr lang="en-US" altLang="zh-CN" b="1" i="1" baseline="30000" dirty="0">
                <a:latin typeface="Times New Roman" panose="02020603050405020304" pitchFamily="18" charset="0"/>
              </a:rPr>
              <a:t>i </a:t>
            </a:r>
            <a:r>
              <a:rPr lang="en-US" altLang="zh-CN" b="1" baseline="30000" dirty="0">
                <a:latin typeface="Times New Roman" panose="02020603050405020304" pitchFamily="18" charset="0"/>
              </a:rPr>
              <a:t>-1</a:t>
            </a:r>
            <a:r>
              <a:rPr lang="en-US" altLang="zh-CN" b="1" i="1" dirty="0">
                <a:latin typeface="Times New Roman" panose="02020603050405020304" pitchFamily="18" charset="0"/>
              </a:rPr>
              <a:t>L</a:t>
            </a:r>
            <a:r>
              <a:rPr lang="zh-CN" altLang="en-US" b="1" dirty="0">
                <a:latin typeface="Times New Roman" panose="02020603050405020304" pitchFamily="18" charset="0"/>
              </a:rPr>
              <a:t>（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i</a:t>
            </a:r>
            <a:r>
              <a:rPr lang="en-US" altLang="zh-CN" b="1" i="1" dirty="0">
                <a:latin typeface="Times New Roman" panose="02020603050405020304" pitchFamily="18" charset="0"/>
              </a:rPr>
              <a:t>  </a:t>
            </a:r>
            <a:r>
              <a:rPr lang="en-US" altLang="zh-CN" b="1" dirty="0">
                <a:latin typeface="Times New Roman" panose="02020603050405020304" pitchFamily="18" charset="0"/>
              </a:rPr>
              <a:t>&gt; 0</a:t>
            </a:r>
            <a:r>
              <a:rPr lang="zh-CN" altLang="en-US" b="1" dirty="0">
                <a:latin typeface="Times New Roman" panose="02020603050405020304" pitchFamily="18" charset="0"/>
              </a:rPr>
              <a:t>）</a:t>
            </a:r>
            <a:r>
              <a:rPr lang="zh-CN" altLang="en-US" dirty="0">
                <a:latin typeface="Times New Roman" panose="02020603050405020304" pitchFamily="18" charset="0"/>
              </a:rPr>
              <a:t> </a:t>
            </a:r>
            <a:endParaRPr lang="en-US" altLang="zh-CN" b="1" dirty="0">
              <a:latin typeface="Times New Roman" panose="02020603050405020304" pitchFamily="18" charset="0"/>
            </a:endParaRPr>
          </a:p>
          <a:p>
            <a:pPr lvl="1"/>
            <a:r>
              <a:rPr lang="zh-CN" altLang="en-US" dirty="0">
                <a:solidFill>
                  <a:schemeClr val="accent2"/>
                </a:solidFill>
                <a:latin typeface="宋体" panose="02010600030101010101" pitchFamily="2" charset="-122"/>
              </a:rPr>
              <a:t>闭包</a:t>
            </a:r>
            <a:r>
              <a:rPr lang="zh-CN" altLang="en-US" dirty="0">
                <a:latin typeface="宋体" panose="02010600030101010101" pitchFamily="2" charset="-122"/>
              </a:rPr>
              <a:t>（</a:t>
            </a:r>
            <a:r>
              <a:rPr lang="en-US" altLang="zh-CN" dirty="0"/>
              <a:t>Kleene closure</a:t>
            </a:r>
            <a:r>
              <a:rPr lang="zh-CN" altLang="en-US" dirty="0">
                <a:latin typeface="宋体" panose="02010600030101010101" pitchFamily="2" charset="-122"/>
              </a:rPr>
              <a:t>）：</a:t>
            </a:r>
            <a:r>
              <a:rPr lang="en-US" altLang="zh-CN" b="1" i="1" dirty="0">
                <a:latin typeface="Times New Roman" panose="02020603050405020304" pitchFamily="18" charset="0"/>
              </a:rPr>
              <a:t>L</a:t>
            </a:r>
            <a:r>
              <a:rPr lang="en-US" altLang="zh-CN" b="1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en-US" altLang="zh-CN" b="1" dirty="0">
                <a:latin typeface="Times New Roman" panose="02020603050405020304" pitchFamily="18" charset="0"/>
              </a:rPr>
              <a:t> = </a:t>
            </a:r>
            <a:r>
              <a:rPr lang="en-US" altLang="zh-CN" b="1" i="1" dirty="0">
                <a:latin typeface="Times New Roman" panose="02020603050405020304" pitchFamily="18" charset="0"/>
              </a:rPr>
              <a:t>L</a:t>
            </a:r>
            <a:r>
              <a:rPr lang="en-US" altLang="zh-CN" b="1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0  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</a:t>
            </a:r>
            <a:r>
              <a:rPr lang="en-US" altLang="zh-CN" b="1" dirty="0">
                <a:latin typeface="Times New Roman" panose="02020603050405020304" pitchFamily="18" charset="0"/>
              </a:rPr>
              <a:t> </a:t>
            </a:r>
            <a:r>
              <a:rPr lang="en-US" altLang="zh-CN" b="1" i="1" dirty="0">
                <a:latin typeface="Times New Roman" panose="02020603050405020304" pitchFamily="18" charset="0"/>
              </a:rPr>
              <a:t>L</a:t>
            </a:r>
            <a:r>
              <a:rPr lang="en-US" altLang="zh-CN" b="1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1 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</a:t>
            </a:r>
            <a:r>
              <a:rPr lang="en-US" altLang="zh-CN" b="1" dirty="0">
                <a:latin typeface="Times New Roman" panose="02020603050405020304" pitchFamily="18" charset="0"/>
              </a:rPr>
              <a:t> </a:t>
            </a:r>
            <a:r>
              <a:rPr lang="en-US" altLang="zh-CN" b="1" i="1" dirty="0">
                <a:latin typeface="Times New Roman" panose="02020603050405020304" pitchFamily="18" charset="0"/>
              </a:rPr>
              <a:t>L</a:t>
            </a:r>
            <a:r>
              <a:rPr lang="en-US" altLang="zh-CN" b="1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2  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</a:t>
            </a:r>
            <a:r>
              <a:rPr lang="en-US" altLang="zh-CN" b="1" dirty="0">
                <a:latin typeface="Times New Roman" panose="02020603050405020304" pitchFamily="18" charset="0"/>
              </a:rPr>
              <a:t> …</a:t>
            </a:r>
          </a:p>
          <a:p>
            <a:pPr lvl="1"/>
            <a:r>
              <a:rPr lang="zh-CN" altLang="en-US" dirty="0">
                <a:solidFill>
                  <a:schemeClr val="accent2"/>
                </a:solidFill>
              </a:rPr>
              <a:t>正闭包</a:t>
            </a:r>
            <a:r>
              <a:rPr lang="zh-CN" altLang="en-US" dirty="0"/>
              <a:t>（</a:t>
            </a:r>
            <a:r>
              <a:rPr lang="en-US" altLang="zh-CN" dirty="0"/>
              <a:t>Positive closure</a:t>
            </a:r>
            <a:r>
              <a:rPr lang="zh-CN" altLang="en-US" dirty="0"/>
              <a:t>）： </a:t>
            </a:r>
            <a:r>
              <a:rPr lang="en-US" altLang="zh-CN" b="1" i="1" dirty="0">
                <a:latin typeface="Times New Roman" panose="02020603050405020304" pitchFamily="18" charset="0"/>
              </a:rPr>
              <a:t>L</a:t>
            </a:r>
            <a:r>
              <a:rPr lang="en-US" altLang="zh-CN" b="1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+</a:t>
            </a:r>
            <a:r>
              <a:rPr lang="en-US" altLang="zh-CN" b="1" dirty="0">
                <a:latin typeface="Times New Roman" panose="02020603050405020304" pitchFamily="18" charset="0"/>
              </a:rPr>
              <a:t> = </a:t>
            </a:r>
            <a:r>
              <a:rPr lang="en-US" altLang="zh-CN" b="1" i="1" dirty="0">
                <a:latin typeface="Times New Roman" panose="02020603050405020304" pitchFamily="18" charset="0"/>
              </a:rPr>
              <a:t>L</a:t>
            </a:r>
            <a:r>
              <a:rPr lang="en-US" altLang="zh-CN" b="1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1  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</a:t>
            </a:r>
            <a:r>
              <a:rPr lang="en-US" altLang="zh-CN" b="1" dirty="0">
                <a:latin typeface="Times New Roman" panose="02020603050405020304" pitchFamily="18" charset="0"/>
              </a:rPr>
              <a:t> </a:t>
            </a:r>
            <a:r>
              <a:rPr lang="en-US" altLang="zh-CN" b="1" i="1" dirty="0">
                <a:latin typeface="Times New Roman" panose="02020603050405020304" pitchFamily="18" charset="0"/>
              </a:rPr>
              <a:t>L</a:t>
            </a:r>
            <a:r>
              <a:rPr lang="en-US" altLang="zh-CN" b="1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2  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</a:t>
            </a:r>
            <a:r>
              <a:rPr lang="en-US" altLang="zh-CN" b="1" dirty="0">
                <a:latin typeface="Times New Roman" panose="02020603050405020304" pitchFamily="18" charset="0"/>
              </a:rPr>
              <a:t> …</a:t>
            </a:r>
          </a:p>
          <a:p>
            <a:pPr lvl="1" eaLnBrk="1" hangingPunct="1"/>
            <a:endParaRPr lang="en-US" altLang="zh-CN" b="1" dirty="0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23EF12D-B2EA-4239-9929-EA08B5861EA8}"/>
              </a:ext>
            </a:extLst>
          </p:cNvPr>
          <p:cNvSpPr txBox="1"/>
          <p:nvPr/>
        </p:nvSpPr>
        <p:spPr>
          <a:xfrm>
            <a:off x="1155295" y="5600700"/>
            <a:ext cx="6833409" cy="95410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 rtlCol="0">
            <a:spAutoFit/>
          </a:bodyPr>
          <a:lstStyle>
            <a:defPPr>
              <a:defRPr lang="en-US"/>
            </a:defPPr>
            <a:lvl1pPr>
              <a:defRPr sz="3200"/>
            </a:lvl1pPr>
          </a:lstStyle>
          <a:p>
            <a:r>
              <a:rPr lang="zh-CN" altLang="en-US" sz="2800" dirty="0"/>
              <a:t>例：语言</a:t>
            </a:r>
            <a:r>
              <a:rPr lang="en-US" altLang="zh-CN" sz="2800" dirty="0"/>
              <a:t>{0,1}+= {0,1}</a:t>
            </a:r>
            <a:r>
              <a:rPr lang="en-US" altLang="zh-CN" sz="2800" dirty="0">
                <a:sym typeface="Symbol" panose="05050102010706020507" pitchFamily="18" charset="2"/>
              </a:rPr>
              <a:t> </a:t>
            </a:r>
            <a:r>
              <a:rPr lang="en-US" altLang="zh-CN" sz="2800" dirty="0"/>
              <a:t>{00,01,10,11}</a:t>
            </a:r>
            <a:r>
              <a:rPr lang="en-US" altLang="zh-CN" sz="2800" dirty="0">
                <a:sym typeface="Symbol" panose="05050102010706020507" pitchFamily="18" charset="2"/>
              </a:rPr>
              <a:t> </a:t>
            </a:r>
            <a:r>
              <a:rPr lang="en-US" altLang="zh-CN" sz="2800" dirty="0"/>
              <a:t>…</a:t>
            </a:r>
          </a:p>
          <a:p>
            <a:r>
              <a:rPr lang="en-US" altLang="zh-CN" sz="2800" dirty="0"/>
              <a:t>	 ={0,1,00,01,10,11,…}</a:t>
            </a:r>
            <a:endParaRPr lang="zh-CN" altLang="en-US" sz="2800" dirty="0"/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1282C74-A35F-1A9A-34BB-764FC472F5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C2E46-225E-4BFF-870F-29888E4F4AA7}" type="datetime2">
              <a:rPr lang="zh-CN" altLang="en-US" smtClean="0"/>
              <a:t>2026年3月11日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570E2D1-0BF5-D8AB-20B7-72815CB91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</a:t>
            </a:r>
            <a:r>
              <a:rPr lang="en-US" altLang="zh-CN"/>
              <a:t>2</a:t>
            </a:r>
            <a:r>
              <a:rPr lang="zh-CN" altLang="en-US"/>
              <a:t>章 词法分析</a:t>
            </a:r>
            <a:r>
              <a:rPr lang="en-US" altLang="zh-CN"/>
              <a:t>(1)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ABEFFB9-C166-27B8-C92E-AF59797495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385004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EAC324D5-88F2-4609-B942-4861F65961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CN" dirty="0"/>
              <a:t>2.2.1 </a:t>
            </a:r>
            <a:r>
              <a:rPr lang="zh-CN" altLang="en-US" dirty="0"/>
              <a:t>串和语言</a:t>
            </a:r>
          </a:p>
        </p:txBody>
      </p:sp>
      <p:sp>
        <p:nvSpPr>
          <p:cNvPr id="40963" name="Rectangle 3">
            <a:extLst>
              <a:ext uri="{FF2B5EF4-FFF2-40B4-BE49-F238E27FC236}">
                <a16:creationId xmlns:a16="http://schemas.microsoft.com/office/drawing/2014/main" id="{2C89729F-EE1A-4A26-B5AB-B659060AECD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eaLnBrk="1" hangingPunct="1">
              <a:buNone/>
            </a:pPr>
            <a:r>
              <a:rPr lang="zh-CN" altLang="en-US" sz="2800" dirty="0"/>
              <a:t>例：</a:t>
            </a:r>
            <a:r>
              <a:rPr lang="zh-CN" altLang="en-US" sz="2800" dirty="0">
                <a:latin typeface="Times New Roman" panose="02020603050405020304" pitchFamily="18" charset="0"/>
              </a:rPr>
              <a:t>若语言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L,D</a:t>
            </a:r>
            <a:r>
              <a:rPr lang="zh-CN" altLang="en-US" sz="2800" dirty="0">
                <a:latin typeface="Times New Roman" panose="02020603050405020304" pitchFamily="18" charset="0"/>
              </a:rPr>
              <a:t>的定义如下</a:t>
            </a:r>
            <a:r>
              <a:rPr lang="zh-CN" altLang="en-US" sz="2800" b="1" i="1" dirty="0">
                <a:latin typeface="Times New Roman" panose="02020603050405020304" pitchFamily="18" charset="0"/>
              </a:rPr>
              <a:t>：</a:t>
            </a:r>
            <a:endParaRPr lang="en-US" altLang="zh-CN" sz="2800" b="1" i="1" dirty="0">
              <a:latin typeface="Times New Roman" panose="02020603050405020304" pitchFamily="18" charset="0"/>
            </a:endParaRPr>
          </a:p>
          <a:p>
            <a:pPr marL="0" indent="0" eaLnBrk="1" hangingPunct="1">
              <a:buNone/>
            </a:pPr>
            <a:r>
              <a:rPr lang="en-US" altLang="zh-CN" sz="2800" b="1" i="1" dirty="0">
                <a:latin typeface="Times New Roman" panose="02020603050405020304" pitchFamily="18" charset="0"/>
              </a:rPr>
              <a:t>L</a:t>
            </a:r>
            <a:r>
              <a:rPr lang="en-US" altLang="zh-CN" sz="2800" b="1" dirty="0">
                <a:latin typeface="Times New Roman" panose="02020603050405020304" pitchFamily="18" charset="0"/>
              </a:rPr>
              <a:t>:  {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B</a:t>
            </a:r>
            <a:r>
              <a:rPr lang="en-US" altLang="zh-CN" sz="2800" b="1" dirty="0">
                <a:latin typeface="Times New Roman" panose="02020603050405020304" pitchFamily="18" charset="0"/>
              </a:rPr>
              <a:t>, …,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Z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b</a:t>
            </a:r>
            <a:r>
              <a:rPr lang="en-US" altLang="zh-CN" sz="2800" b="1" dirty="0">
                <a:latin typeface="Times New Roman" panose="02020603050405020304" pitchFamily="18" charset="0"/>
              </a:rPr>
              <a:t>, …,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z </a:t>
            </a:r>
            <a:r>
              <a:rPr lang="en-US" altLang="zh-CN" sz="2800" b="1" dirty="0">
                <a:latin typeface="Times New Roman" panose="02020603050405020304" pitchFamily="18" charset="0"/>
              </a:rPr>
              <a:t>}, 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D</a:t>
            </a:r>
            <a:r>
              <a:rPr lang="en-US" altLang="zh-CN" sz="2800" b="1" dirty="0">
                <a:latin typeface="Times New Roman" panose="02020603050405020304" pitchFamily="18" charset="0"/>
              </a:rPr>
              <a:t>: { 0, 1, …, 9 }</a:t>
            </a:r>
          </a:p>
          <a:p>
            <a:pPr marL="0" indent="0" eaLnBrk="1" hangingPunct="1">
              <a:buNone/>
            </a:pPr>
            <a:r>
              <a:rPr lang="zh-CN" altLang="en-US" sz="2800" dirty="0">
                <a:latin typeface="Times New Roman" panose="02020603050405020304" pitchFamily="18" charset="0"/>
              </a:rPr>
              <a:t>则下列操作可得到哪些新语言？</a:t>
            </a:r>
            <a:endParaRPr lang="en-US" altLang="zh-CN" sz="2800" dirty="0">
              <a:latin typeface="Times New Roman" panose="02020603050405020304" pitchFamily="18" charset="0"/>
            </a:endParaRPr>
          </a:p>
          <a:p>
            <a:pPr marL="0" indent="0" eaLnBrk="1" hangingPunct="1">
              <a:buNone/>
            </a:pPr>
            <a:r>
              <a:rPr lang="en-US" altLang="zh-CN" sz="2800" b="1" i="1" dirty="0">
                <a:latin typeface="Times New Roman" panose="02020603050405020304" pitchFamily="18" charset="0"/>
              </a:rPr>
              <a:t>L 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</a:t>
            </a:r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D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LD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L</a:t>
            </a:r>
            <a:r>
              <a:rPr lang="en-US" altLang="zh-CN" sz="2800" b="1" baseline="30000" dirty="0">
                <a:latin typeface="Times New Roman" panose="02020603050405020304" pitchFamily="18" charset="0"/>
              </a:rPr>
              <a:t>6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L</a:t>
            </a:r>
            <a:r>
              <a:rPr lang="en-US" altLang="zh-CN" sz="2800" b="1" baseline="30000" dirty="0">
                <a:latin typeface="Times New Roman" panose="02020603050405020304" pitchFamily="18" charset="0"/>
              </a:rPr>
              <a:t>*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L</a:t>
            </a:r>
            <a:r>
              <a:rPr lang="en-US" altLang="zh-CN" sz="2800" b="1" dirty="0">
                <a:latin typeface="Times New Roman" panose="02020603050405020304" pitchFamily="18" charset="0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L 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</a:t>
            </a:r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D</a:t>
            </a:r>
            <a:r>
              <a:rPr lang="en-US" altLang="zh-CN" sz="2800" b="1" dirty="0">
                <a:latin typeface="Times New Roman" panose="02020603050405020304" pitchFamily="18" charset="0"/>
              </a:rPr>
              <a:t> )</a:t>
            </a:r>
            <a:r>
              <a:rPr lang="en-US" altLang="zh-CN" sz="2800" b="1" baseline="30000" dirty="0">
                <a:latin typeface="Times New Roman" panose="02020603050405020304" pitchFamily="18" charset="0"/>
              </a:rPr>
              <a:t>*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D</a:t>
            </a:r>
            <a:r>
              <a:rPr lang="en-US" altLang="zh-CN" sz="2800" b="1" baseline="30000" dirty="0">
                <a:latin typeface="Times New Roman" panose="02020603050405020304" pitchFamily="18" charset="0"/>
              </a:rPr>
              <a:t>+</a:t>
            </a:r>
            <a:endParaRPr lang="en-US" altLang="zh-CN" b="1" baseline="30000" dirty="0">
              <a:latin typeface="Times New Roman" panose="02020603050405020304" pitchFamily="18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A37224E-307C-4FA6-BE7A-F4DF29FB567B}"/>
              </a:ext>
            </a:extLst>
          </p:cNvPr>
          <p:cNvSpPr txBox="1"/>
          <p:nvPr/>
        </p:nvSpPr>
        <p:spPr>
          <a:xfrm>
            <a:off x="250028" y="3429000"/>
            <a:ext cx="8643943" cy="341632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>
              <a:defRPr sz="3200"/>
            </a:lvl1pPr>
          </a:lstStyle>
          <a:p>
            <a:r>
              <a:rPr lang="en-US" altLang="zh-CN" sz="2400" b="1" i="1" dirty="0"/>
              <a:t>L</a:t>
            </a:r>
            <a:r>
              <a:rPr lang="en-US" altLang="zh-CN" sz="2400" b="1" dirty="0">
                <a:sym typeface="Symbol" panose="05050102010706020507" pitchFamily="18" charset="2"/>
              </a:rPr>
              <a:t></a:t>
            </a:r>
            <a:r>
              <a:rPr lang="en-US" altLang="zh-CN" sz="2400" b="1" i="1" dirty="0"/>
              <a:t>D</a:t>
            </a:r>
            <a:r>
              <a:rPr lang="zh-CN" altLang="en-US" sz="2400" dirty="0"/>
              <a:t>是字母和数字的集合，严格来讲，这个语言包含</a:t>
            </a:r>
            <a:r>
              <a:rPr lang="en-US" altLang="zh-CN" sz="2400" dirty="0"/>
              <a:t>62</a:t>
            </a:r>
            <a:r>
              <a:rPr lang="zh-CN" altLang="en-US" sz="2400" dirty="0"/>
              <a:t>个长度为</a:t>
            </a:r>
            <a:r>
              <a:rPr lang="en-US" altLang="zh-CN" sz="2400" dirty="0"/>
              <a:t>1</a:t>
            </a:r>
            <a:r>
              <a:rPr lang="zh-CN" altLang="en-US" sz="2400" dirty="0"/>
              <a:t>的串，每个串是一个字母或一个数位。</a:t>
            </a:r>
            <a:endParaRPr lang="en-US" altLang="zh-CN" sz="2400" dirty="0"/>
          </a:p>
          <a:p>
            <a:r>
              <a:rPr lang="en-US" altLang="zh-CN" sz="2400" b="1" i="1" dirty="0"/>
              <a:t>LD</a:t>
            </a:r>
            <a:r>
              <a:rPr lang="zh-CN" altLang="en-US" sz="2400" dirty="0"/>
              <a:t>是所有由一个字母后跟随一个数字组成的串的集合。严格来讲，这个语言包含</a:t>
            </a:r>
            <a:r>
              <a:rPr lang="en-US" altLang="zh-CN" sz="2400" dirty="0"/>
              <a:t>520</a:t>
            </a:r>
            <a:r>
              <a:rPr lang="zh-CN" altLang="en-US" sz="2400" dirty="0"/>
              <a:t>个长度为</a:t>
            </a:r>
            <a:r>
              <a:rPr lang="en-US" altLang="zh-CN" sz="2400" dirty="0"/>
              <a:t>2</a:t>
            </a:r>
            <a:r>
              <a:rPr lang="zh-CN" altLang="en-US" sz="2400" dirty="0"/>
              <a:t>的串，每个串是一个字母后跟随一个数字。</a:t>
            </a:r>
            <a:endParaRPr lang="en-US" altLang="zh-CN" sz="2400" dirty="0"/>
          </a:p>
          <a:p>
            <a:r>
              <a:rPr lang="en-US" altLang="zh-CN" sz="2400" b="1" i="1" dirty="0"/>
              <a:t>L</a:t>
            </a:r>
            <a:r>
              <a:rPr lang="en-US" altLang="zh-CN" sz="2400" b="1" baseline="30000" dirty="0"/>
              <a:t>6</a:t>
            </a:r>
            <a:r>
              <a:rPr lang="zh-CN" altLang="en-US" sz="2400" dirty="0"/>
              <a:t>是所有由</a:t>
            </a:r>
            <a:r>
              <a:rPr lang="en-US" altLang="zh-CN" sz="2400" dirty="0"/>
              <a:t>6</a:t>
            </a:r>
            <a:r>
              <a:rPr lang="zh-CN" altLang="en-US" sz="2400" dirty="0"/>
              <a:t>个字母组成的串的集合。</a:t>
            </a:r>
            <a:endParaRPr lang="en-US" altLang="zh-CN" sz="2400" dirty="0"/>
          </a:p>
          <a:p>
            <a:r>
              <a:rPr lang="en-US" altLang="zh-CN" sz="2400" b="1" i="1" dirty="0"/>
              <a:t>L</a:t>
            </a:r>
            <a:r>
              <a:rPr lang="en-US" altLang="zh-CN" sz="2400" b="1" baseline="30000" dirty="0"/>
              <a:t>*</a:t>
            </a:r>
            <a:r>
              <a:rPr lang="zh-CN" altLang="en-US" sz="2400" dirty="0"/>
              <a:t>是所有字母串的集合，包含空串</a:t>
            </a:r>
            <a:r>
              <a:rPr lang="en-US" altLang="zh-CN" sz="2400" b="1" dirty="0">
                <a:sym typeface="Symbol" panose="05050102010706020507" pitchFamily="18" charset="2"/>
              </a:rPr>
              <a:t></a:t>
            </a:r>
            <a:r>
              <a:rPr lang="zh-CN" altLang="en-US" sz="2400" dirty="0"/>
              <a:t>。</a:t>
            </a:r>
            <a:endParaRPr lang="en-US" altLang="zh-CN" sz="2400" dirty="0"/>
          </a:p>
          <a:p>
            <a:r>
              <a:rPr lang="en-US" altLang="zh-CN" sz="2400" b="1" i="1" dirty="0"/>
              <a:t>L</a:t>
            </a:r>
            <a:r>
              <a:rPr lang="en-US" altLang="zh-CN" sz="2400" b="1" dirty="0"/>
              <a:t>(</a:t>
            </a:r>
            <a:r>
              <a:rPr lang="en-US" altLang="zh-CN" sz="2400" b="1" i="1" dirty="0"/>
              <a:t>L</a:t>
            </a:r>
            <a:r>
              <a:rPr lang="en-US" altLang="zh-CN" sz="2400" b="1" dirty="0">
                <a:sym typeface="Symbol" panose="05050102010706020507" pitchFamily="18" charset="2"/>
              </a:rPr>
              <a:t></a:t>
            </a:r>
            <a:r>
              <a:rPr lang="en-US" altLang="zh-CN" sz="2400" b="1" i="1" dirty="0"/>
              <a:t>D</a:t>
            </a:r>
            <a:r>
              <a:rPr lang="en-US" altLang="zh-CN" sz="2400" b="1" dirty="0"/>
              <a:t>)</a:t>
            </a:r>
            <a:r>
              <a:rPr lang="zh-CN" altLang="en-US" sz="2400" b="1" baseline="30000" dirty="0"/>
              <a:t>*</a:t>
            </a:r>
            <a:r>
              <a:rPr lang="zh-CN" altLang="en-US" sz="2400" dirty="0"/>
              <a:t>是所有以字母开头的、由字母和数位组成的串的集合。</a:t>
            </a:r>
            <a:endParaRPr lang="en-US" altLang="zh-CN" sz="2400" dirty="0"/>
          </a:p>
          <a:p>
            <a:r>
              <a:rPr lang="en-US" altLang="zh-CN" sz="2400" b="1" i="1" dirty="0"/>
              <a:t>D</a:t>
            </a:r>
            <a:r>
              <a:rPr lang="en-US" altLang="zh-CN" sz="2400" b="1" baseline="30000" dirty="0"/>
              <a:t>+</a:t>
            </a:r>
            <a:r>
              <a:rPr lang="zh-CN" altLang="en-US" sz="2400" dirty="0"/>
              <a:t>是一个或多个数字组成的串的集合，不含空串。</a:t>
            </a:r>
            <a:endParaRPr lang="en-US" altLang="zh-CN" sz="24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87C0893-8C9C-4076-B789-94897D161699}"/>
              </a:ext>
            </a:extLst>
          </p:cNvPr>
          <p:cNvSpPr txBox="1"/>
          <p:nvPr/>
        </p:nvSpPr>
        <p:spPr>
          <a:xfrm>
            <a:off x="5976278" y="582104"/>
            <a:ext cx="2768320" cy="120032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>
              <a:defRPr sz="3200"/>
            </a:lvl1pPr>
          </a:lstStyle>
          <a:p>
            <a:r>
              <a:rPr lang="zh-CN" altLang="en-US" sz="2400" dirty="0"/>
              <a:t>从基本集合开始，</a:t>
            </a:r>
            <a:endParaRPr lang="en-US" altLang="zh-CN" sz="2400" dirty="0"/>
          </a:p>
          <a:p>
            <a:r>
              <a:rPr lang="zh-CN" altLang="en-US" sz="2400" dirty="0"/>
              <a:t>利用语言上的运算可以定义新的语言。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2FB9FA8-BD45-1C43-B84B-24F8F42B97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3BA93-2131-4A49-9E8C-4D0F79FA35B2}" type="datetime2">
              <a:rPr lang="zh-CN" altLang="en-US" smtClean="0"/>
              <a:t>2026年3月11日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42F4BB2-BE0A-B500-F087-5DADAA9BAE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</a:t>
            </a:r>
            <a:r>
              <a:rPr lang="en-US" altLang="zh-CN"/>
              <a:t>2</a:t>
            </a:r>
            <a:r>
              <a:rPr lang="zh-CN" altLang="en-US"/>
              <a:t>章 词法分析</a:t>
            </a:r>
            <a:r>
              <a:rPr lang="en-US" altLang="zh-CN"/>
              <a:t>(1)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8726606-5D2A-E5A4-FE28-4DC4F01C2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2804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1D62663F-A010-4204-96C8-85AAB96DF02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8650" y="229136"/>
            <a:ext cx="7886700" cy="953133"/>
          </a:xfrm>
        </p:spPr>
        <p:txBody>
          <a:bodyPr>
            <a:normAutofit/>
          </a:bodyPr>
          <a:lstStyle/>
          <a:p>
            <a:r>
              <a:rPr lang="en-US" altLang="zh-CN"/>
              <a:t>2.2.2 </a:t>
            </a:r>
            <a:r>
              <a:rPr lang="zh-CN" altLang="en-US"/>
              <a:t>正规式</a:t>
            </a:r>
          </a:p>
        </p:txBody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BBC89334-A7EC-4391-92B5-45FE10957F3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28650" y="1257300"/>
            <a:ext cx="7886700" cy="4919663"/>
          </a:xfrm>
        </p:spPr>
        <p:txBody>
          <a:bodyPr>
            <a:normAutofit/>
          </a:bodyPr>
          <a:lstStyle/>
          <a:p>
            <a:r>
              <a:rPr lang="zh-CN" altLang="en-US" sz="2800" dirty="0">
                <a:solidFill>
                  <a:schemeClr val="accent2"/>
                </a:solidFill>
              </a:rPr>
              <a:t>正规式</a:t>
            </a:r>
            <a:r>
              <a:rPr lang="zh-CN" altLang="en-US" sz="2800" dirty="0"/>
              <a:t>（</a:t>
            </a:r>
            <a:r>
              <a:rPr lang="en-US" altLang="zh-CN" sz="2800" dirty="0"/>
              <a:t>regular expression</a:t>
            </a:r>
            <a:r>
              <a:rPr lang="zh-CN" altLang="en-US" sz="2800" dirty="0"/>
              <a:t>，缩写为</a:t>
            </a:r>
            <a:r>
              <a:rPr lang="en-US" altLang="zh-CN" sz="2800" dirty="0"/>
              <a:t>RE</a:t>
            </a:r>
            <a:r>
              <a:rPr lang="zh-CN" altLang="en-US" sz="2800" dirty="0"/>
              <a:t>，又称正则表达式）是一种特殊表达式，用于表示不太复杂的语言的“含义”。通常它按照一组定义规则，由较简单的正规式构成。（模式）</a:t>
            </a:r>
          </a:p>
          <a:p>
            <a:r>
              <a:rPr lang="zh-CN" altLang="en-US" sz="2800" dirty="0"/>
              <a:t>正规式表示的语言称为</a:t>
            </a:r>
            <a:r>
              <a:rPr lang="zh-CN" altLang="en-US" sz="2800" dirty="0">
                <a:solidFill>
                  <a:schemeClr val="accent2"/>
                </a:solidFill>
              </a:rPr>
              <a:t>正规语言</a:t>
            </a:r>
            <a:r>
              <a:rPr lang="zh-CN" altLang="en-US" sz="2800" dirty="0"/>
              <a:t>或</a:t>
            </a:r>
            <a:r>
              <a:rPr lang="zh-CN" altLang="en-US" sz="2800" dirty="0">
                <a:solidFill>
                  <a:schemeClr val="accent2"/>
                </a:solidFill>
              </a:rPr>
              <a:t>正规集</a:t>
            </a:r>
            <a:r>
              <a:rPr lang="zh-CN" altLang="en-US" sz="2800" dirty="0"/>
              <a:t>（</a:t>
            </a:r>
            <a:r>
              <a:rPr lang="en-US" altLang="zh-CN" sz="2800" dirty="0"/>
              <a:t>regular set</a:t>
            </a:r>
            <a:r>
              <a:rPr lang="zh-CN" altLang="en-US" sz="2800" dirty="0"/>
              <a:t>）。</a:t>
            </a:r>
          </a:p>
          <a:p>
            <a:r>
              <a:rPr lang="zh-CN" altLang="en-US" sz="2800" dirty="0"/>
              <a:t>我们约定正规式</a:t>
            </a:r>
            <a:r>
              <a:rPr lang="en-US" altLang="zh-CN" sz="2800" b="1" dirty="0"/>
              <a:t>r</a:t>
            </a:r>
            <a:r>
              <a:rPr lang="zh-CN" altLang="en-US" sz="2800" dirty="0"/>
              <a:t>表示的语言为</a:t>
            </a:r>
            <a:r>
              <a:rPr lang="en-US" altLang="zh-CN" sz="2800" b="1" dirty="0"/>
              <a:t>L(r)</a:t>
            </a:r>
            <a:r>
              <a:rPr lang="zh-CN" altLang="en-US" sz="2800" dirty="0"/>
              <a:t>。</a:t>
            </a:r>
            <a:endParaRPr lang="en-US" altLang="zh-CN" sz="2800" dirty="0"/>
          </a:p>
          <a:p>
            <a:r>
              <a:rPr lang="zh-CN" altLang="en-US" sz="2800" dirty="0"/>
              <a:t>正规式可以由较小的正规式按照特定规则</a:t>
            </a:r>
            <a:r>
              <a:rPr lang="zh-CN" altLang="en-US" sz="2800" dirty="0">
                <a:solidFill>
                  <a:schemeClr val="accent2"/>
                </a:solidFill>
              </a:rPr>
              <a:t>递归地</a:t>
            </a:r>
            <a:r>
              <a:rPr lang="zh-CN" altLang="en-US" sz="2800" dirty="0"/>
              <a:t>构建。</a:t>
            </a:r>
            <a:endParaRPr lang="en-US" altLang="zh-CN" sz="2800" dirty="0"/>
          </a:p>
          <a:p>
            <a:endParaRPr lang="zh-CN" altLang="en-US" sz="2800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D16E118-9E43-43FC-A4A7-10B240F31E20}"/>
              </a:ext>
            </a:extLst>
          </p:cNvPr>
          <p:cNvSpPr txBox="1"/>
          <p:nvPr/>
        </p:nvSpPr>
        <p:spPr>
          <a:xfrm>
            <a:off x="2179463" y="5653743"/>
            <a:ext cx="4785074" cy="5232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>
              <a:defRPr sz="2400"/>
            </a:lvl1pPr>
          </a:lstStyle>
          <a:p>
            <a:r>
              <a:rPr lang="zh-CN" altLang="en-US" sz="2800"/>
              <a:t>例：</a:t>
            </a:r>
            <a:r>
              <a:rPr lang="en-US" altLang="zh-CN" sz="2800" dirty="0"/>
              <a:t>r=</a:t>
            </a:r>
            <a:r>
              <a:rPr lang="en-US" altLang="zh-CN" sz="2800"/>
              <a:t>a(</a:t>
            </a:r>
            <a:r>
              <a:rPr lang="en-US" altLang="zh-CN" sz="2800" dirty="0" err="1"/>
              <a:t>a</a:t>
            </a:r>
            <a:r>
              <a:rPr lang="en-US" altLang="zh-CN" sz="2800" err="1"/>
              <a:t>|</a:t>
            </a:r>
            <a:r>
              <a:rPr lang="en-US" altLang="zh-CN" sz="2800"/>
              <a:t>b)*(</a:t>
            </a:r>
            <a:r>
              <a:rPr lang="en-US" altLang="zh-CN" sz="2800">
                <a:sym typeface="Symbol" panose="05050102010706020507" pitchFamily="18" charset="2"/>
              </a:rPr>
              <a:t>|(.|_)(</a:t>
            </a:r>
            <a:r>
              <a:rPr lang="en-US" altLang="zh-CN" sz="2800" dirty="0" err="1">
                <a:sym typeface="Symbol" panose="05050102010706020507" pitchFamily="18" charset="2"/>
              </a:rPr>
              <a:t>a</a:t>
            </a:r>
            <a:r>
              <a:rPr lang="en-US" altLang="zh-CN" sz="2800" err="1">
                <a:sym typeface="Symbol" panose="05050102010706020507" pitchFamily="18" charset="2"/>
              </a:rPr>
              <a:t>|</a:t>
            </a:r>
            <a:r>
              <a:rPr lang="en-US" altLang="zh-CN" sz="2800">
                <a:sym typeface="Symbol" panose="05050102010706020507" pitchFamily="18" charset="2"/>
              </a:rPr>
              <a:t>b)(</a:t>
            </a:r>
            <a:r>
              <a:rPr lang="en-US" altLang="zh-CN" sz="2800" dirty="0" err="1">
                <a:sym typeface="Symbol" panose="05050102010706020507" pitchFamily="18" charset="2"/>
              </a:rPr>
              <a:t>a</a:t>
            </a:r>
            <a:r>
              <a:rPr lang="en-US" altLang="zh-CN" sz="2800" err="1">
                <a:sym typeface="Symbol" panose="05050102010706020507" pitchFamily="18" charset="2"/>
              </a:rPr>
              <a:t>|</a:t>
            </a:r>
            <a:r>
              <a:rPr lang="en-US" altLang="zh-CN" sz="2800">
                <a:sym typeface="Symbol" panose="05050102010706020507" pitchFamily="18" charset="2"/>
              </a:rPr>
              <a:t>b)*</a:t>
            </a:r>
            <a:r>
              <a:rPr lang="en-US" altLang="zh-CN" sz="2800" dirty="0"/>
              <a:t>)</a:t>
            </a:r>
            <a:endParaRPr lang="zh-CN" altLang="en-US" sz="2800" dirty="0"/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C7E4C35-FAE2-7C7E-6EDF-E32F6EBAF9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84143-04DA-477B-AD1A-55D548FD4B8F}" type="datetime2">
              <a:rPr lang="zh-CN" altLang="en-US" smtClean="0"/>
              <a:t>2026年3月11日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490BA1E-0114-D89B-2CA7-DC48AECE9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</a:t>
            </a:r>
            <a:r>
              <a:rPr lang="en-US" altLang="zh-CN"/>
              <a:t>2</a:t>
            </a:r>
            <a:r>
              <a:rPr lang="zh-CN" altLang="en-US"/>
              <a:t>章 词法分析</a:t>
            </a:r>
            <a:r>
              <a:rPr lang="en-US" altLang="zh-CN"/>
              <a:t>(1)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FD61A49-8710-E205-71E9-7C15DAE32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35</a:t>
            </a:fld>
            <a:endParaRPr lang="zh-CN" alt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10BB3CD2-FBC1-4DD3-A501-211BBA37D7B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CN" dirty="0"/>
              <a:t>2.2.2 </a:t>
            </a:r>
            <a:r>
              <a:rPr lang="zh-CN" altLang="en-US" dirty="0"/>
              <a:t>正规式</a:t>
            </a:r>
          </a:p>
        </p:txBody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7516D8E2-0FAC-45AD-8A3B-8D39F1E5632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80000"/>
              </a:lnSpc>
              <a:buNone/>
            </a:pPr>
            <a:r>
              <a:rPr lang="zh-CN" altLang="en-US" dirty="0"/>
              <a:t>正规式的定义：</a:t>
            </a:r>
            <a:endParaRPr lang="en-US" altLang="zh-CN" dirty="0">
              <a:latin typeface="宋体" panose="02010600030101010101" pitchFamily="2" charset="-122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zh-CN" dirty="0">
              <a:latin typeface="宋体" panose="02010600030101010101" pitchFamily="2" charset="-122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dirty="0">
                <a:latin typeface="宋体" panose="02010600030101010101" pitchFamily="2" charset="-122"/>
              </a:rPr>
              <a:t>正规式	正规语言		备注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b="1" dirty="0">
                <a:latin typeface="宋体" panose="02010600030101010101" pitchFamily="2" charset="-122"/>
              </a:rPr>
              <a:t>	</a:t>
            </a:r>
            <a:r>
              <a:rPr lang="zh-CN" altLang="en-US" b="1" dirty="0">
                <a:sym typeface="Symbol" panose="05050102010706020507" pitchFamily="18" charset="2"/>
              </a:rPr>
              <a:t></a:t>
            </a:r>
            <a:r>
              <a:rPr lang="zh-CN" altLang="en-US" b="1" dirty="0">
                <a:latin typeface="宋体" panose="02010600030101010101" pitchFamily="2" charset="-122"/>
              </a:rPr>
              <a:t>		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b="1" dirty="0">
                <a:sym typeface="Symbol" panose="05050102010706020507" pitchFamily="18" charset="2"/>
              </a:rPr>
              <a:t>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altLang="zh-CN" b="1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b="1" dirty="0">
                <a:latin typeface="宋体" panose="02010600030101010101" pitchFamily="2" charset="-122"/>
              </a:rPr>
              <a:t>	</a:t>
            </a:r>
            <a:r>
              <a:rPr lang="en-US" altLang="zh-CN" b="1" i="1" dirty="0">
                <a:latin typeface="Times New Roman" panose="02020603050405020304" pitchFamily="18" charset="0"/>
              </a:rPr>
              <a:t>a</a:t>
            </a:r>
            <a:r>
              <a:rPr lang="en-US" altLang="zh-CN" b="1" dirty="0">
                <a:latin typeface="Times New Roman" panose="02020603050405020304" pitchFamily="18" charset="0"/>
              </a:rPr>
              <a:t>		{</a:t>
            </a:r>
            <a:r>
              <a:rPr lang="en-US" altLang="zh-CN" b="1" i="1" dirty="0">
                <a:latin typeface="Times New Roman" panose="02020603050405020304" pitchFamily="18" charset="0"/>
              </a:rPr>
              <a:t>a</a:t>
            </a:r>
            <a:r>
              <a:rPr lang="en-US" altLang="zh-CN" b="1" dirty="0">
                <a:latin typeface="Times New Roman" panose="02020603050405020304" pitchFamily="18" charset="0"/>
              </a:rPr>
              <a:t>}			 </a:t>
            </a:r>
            <a:r>
              <a:rPr lang="en-US" altLang="zh-CN" b="1" i="1" dirty="0">
                <a:latin typeface="Times New Roman" panose="02020603050405020304" pitchFamily="18" charset="0"/>
              </a:rPr>
              <a:t>a</a:t>
            </a:r>
            <a:r>
              <a:rPr lang="en-US" altLang="zh-CN" b="1" dirty="0">
                <a:latin typeface="Times New Roman" panose="02020603050405020304" pitchFamily="18" charset="0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 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zh-CN" b="1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	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)	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	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L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 			 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是正规式</a:t>
            </a:r>
            <a:endParaRPr lang="zh-CN" altLang="en-US" b="1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	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) | (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)	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L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)∪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L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) 	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	 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和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是正规式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	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)(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)	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L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r)L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		 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和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是正规式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	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altLang="zh-CN" b="1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*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		(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L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))</a:t>
            </a:r>
            <a:r>
              <a:rPr lang="en-US" altLang="zh-CN" b="1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*</a:t>
            </a:r>
            <a:r>
              <a:rPr lang="en-US" altLang="zh-CN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		 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是正规式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	</a:t>
            </a:r>
            <a:endParaRPr lang="en-US" altLang="zh-CN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zh-CN" altLang="en-US" dirty="0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0BDCCD5-69BD-8D5F-3631-6DF90D78B3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861C6-1E52-4722-A1E9-2F9829123FC9}" type="datetime2">
              <a:rPr lang="zh-CN" altLang="en-US" smtClean="0"/>
              <a:t>2026年3月11日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A54FF95-FBD5-F408-4613-344B4D2A22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</a:t>
            </a:r>
            <a:r>
              <a:rPr lang="en-US" altLang="zh-CN"/>
              <a:t>2</a:t>
            </a:r>
            <a:r>
              <a:rPr lang="zh-CN" altLang="en-US"/>
              <a:t>章 词法分析</a:t>
            </a:r>
            <a:r>
              <a:rPr lang="en-US" altLang="zh-CN"/>
              <a:t>(1)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4C6E655-4BCF-0B70-B113-99DD99019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36</a:t>
            </a:fld>
            <a:endParaRPr lang="zh-CN" alt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54FA84FA-CF32-4C66-BA8E-3AABEA84046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CN" dirty="0"/>
              <a:t>2.2.2 </a:t>
            </a:r>
            <a:r>
              <a:rPr lang="zh-CN" altLang="en-US" dirty="0"/>
              <a:t>正规式</a:t>
            </a:r>
          </a:p>
        </p:txBody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C18297F5-08B5-40BD-9042-94C20F09457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若约定：</a:t>
            </a:r>
          </a:p>
          <a:p>
            <a:pPr lvl="1" eaLnBrk="1" hangingPunct="1"/>
            <a:r>
              <a:rPr lang="zh-CN" altLang="en-US" dirty="0"/>
              <a:t>闭包运算（</a:t>
            </a:r>
            <a:r>
              <a:rPr lang="zh-CN" altLang="en-US" b="1" baseline="30000" dirty="0">
                <a:latin typeface="Times New Roman" panose="02020603050405020304" pitchFamily="18" charset="0"/>
              </a:rPr>
              <a:t>*</a:t>
            </a:r>
            <a:r>
              <a:rPr lang="zh-CN" altLang="en-US" dirty="0"/>
              <a:t>）优先级最高，且左结合；</a:t>
            </a:r>
          </a:p>
          <a:p>
            <a:pPr lvl="1" eaLnBrk="1" hangingPunct="1"/>
            <a:r>
              <a:rPr lang="zh-CN" altLang="en-US" dirty="0"/>
              <a:t>连接运算优先级次之，且左结合；</a:t>
            </a:r>
          </a:p>
          <a:p>
            <a:pPr lvl="1" eaLnBrk="1" hangingPunct="1"/>
            <a:r>
              <a:rPr lang="zh-CN" altLang="en-US" dirty="0"/>
              <a:t>或运算（</a:t>
            </a:r>
            <a:r>
              <a:rPr lang="en-US" altLang="zh-CN" dirty="0"/>
              <a:t>|</a:t>
            </a:r>
            <a:r>
              <a:rPr lang="zh-CN" altLang="en-US" dirty="0"/>
              <a:t>）优先级最低，且左结合，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dirty="0"/>
              <a:t>   则可省略不必要的括号，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dirty="0"/>
              <a:t>   如：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((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) (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altLang="zh-CN" b="1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*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)| (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可以写成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ab</a:t>
            </a:r>
            <a:r>
              <a:rPr lang="en-US" altLang="zh-CN" b="1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*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|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 c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0EB117F-A99E-4964-CC03-544EEB56C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D028D-036D-4F32-91A6-27FEBD31998C}" type="datetime2">
              <a:rPr lang="zh-CN" altLang="en-US" smtClean="0"/>
              <a:t>2026年3月11日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CF2AA8B-D304-CC52-AD09-CA3513CBA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</a:t>
            </a:r>
            <a:r>
              <a:rPr lang="en-US" altLang="zh-CN"/>
              <a:t>2</a:t>
            </a:r>
            <a:r>
              <a:rPr lang="zh-CN" altLang="en-US"/>
              <a:t>章 词法分析</a:t>
            </a:r>
            <a:r>
              <a:rPr lang="en-US" altLang="zh-CN"/>
              <a:t>(1)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3DA3082-4286-003B-28BE-A1A8D0B80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37</a:t>
            </a:fld>
            <a:endParaRPr lang="zh-CN" alt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1144928B-10AF-45A6-BA1D-A09C45D815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CN" dirty="0"/>
              <a:t>2.2.2 </a:t>
            </a:r>
            <a:r>
              <a:rPr lang="zh-CN" altLang="en-US" dirty="0"/>
              <a:t>正规式</a:t>
            </a:r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D726CA0E-26FD-48FC-803B-86FB70A8138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zh-CN" altLang="en-US" dirty="0"/>
              <a:t>正规式的例子： </a:t>
            </a:r>
            <a:r>
              <a:rPr lang="zh-CN" altLang="en-US" sz="2800" b="1" dirty="0">
                <a:latin typeface="宋体" panose="02010600030101010101" pitchFamily="2" charset="-122"/>
                <a:sym typeface="Symbol" panose="05050102010706020507" pitchFamily="18" charset="2"/>
              </a:rPr>
              <a:t></a:t>
            </a:r>
            <a:r>
              <a:rPr lang="zh-CN" altLang="en-US" sz="2800" b="1" dirty="0">
                <a:latin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宋体" panose="02010600030101010101" pitchFamily="2" charset="-122"/>
                <a:cs typeface="Times New Roman" panose="02020603050405020304" pitchFamily="18" charset="0"/>
              </a:rPr>
              <a:t>= </a:t>
            </a:r>
            <a:r>
              <a:rPr lang="en-US" altLang="zh-CN" sz="2800" b="1" dirty="0">
                <a:latin typeface="Times New Roman" panose="02020603050405020304" pitchFamily="18" charset="0"/>
              </a:rPr>
              <a:t>{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b</a:t>
            </a:r>
            <a:r>
              <a:rPr lang="en-US" altLang="zh-CN" sz="2800" b="1" dirty="0">
                <a:latin typeface="Times New Roman" panose="02020603050405020304" pitchFamily="18" charset="0"/>
              </a:rPr>
              <a:t>}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b="1" i="1" dirty="0">
                <a:latin typeface="Times New Roman" panose="02020603050405020304" pitchFamily="18" charset="0"/>
              </a:rPr>
              <a:t>a </a:t>
            </a:r>
            <a:r>
              <a:rPr lang="en-US" altLang="zh-CN" b="1" dirty="0">
                <a:latin typeface="Times New Roman" panose="02020603050405020304" pitchFamily="18" charset="0"/>
              </a:rPr>
              <a:t>| </a:t>
            </a:r>
            <a:r>
              <a:rPr lang="en-US" altLang="zh-CN" b="1" i="1" dirty="0">
                <a:latin typeface="Times New Roman" panose="02020603050405020304" pitchFamily="18" charset="0"/>
              </a:rPr>
              <a:t>b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  <a:r>
              <a:rPr lang="en-US" altLang="zh-CN" b="1" dirty="0">
                <a:latin typeface="Times New Roman" panose="02020603050405020304" pitchFamily="18" charset="0"/>
              </a:rPr>
              <a:t>{</a:t>
            </a:r>
            <a:r>
              <a:rPr lang="en-US" altLang="zh-CN" b="1" i="1" dirty="0">
                <a:latin typeface="Times New Roman" panose="02020603050405020304" pitchFamily="18" charset="0"/>
              </a:rPr>
              <a:t>a</a:t>
            </a:r>
            <a:r>
              <a:rPr lang="en-US" altLang="zh-CN" b="1" dirty="0">
                <a:latin typeface="Times New Roman" panose="02020603050405020304" pitchFamily="18" charset="0"/>
              </a:rPr>
              <a:t>, </a:t>
            </a:r>
            <a:r>
              <a:rPr lang="en-US" altLang="zh-CN" b="1" i="1" dirty="0">
                <a:latin typeface="Times New Roman" panose="02020603050405020304" pitchFamily="18" charset="0"/>
              </a:rPr>
              <a:t>b</a:t>
            </a:r>
            <a:r>
              <a:rPr lang="en-US" altLang="zh-CN" b="1" dirty="0">
                <a:latin typeface="Times New Roman" panose="02020603050405020304" pitchFamily="18" charset="0"/>
              </a:rPr>
              <a:t>}</a:t>
            </a:r>
            <a:endParaRPr lang="en-US" altLang="zh-CN" sz="1500" b="1" dirty="0"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b="1" dirty="0">
                <a:latin typeface="Times New Roman" panose="02020603050405020304" pitchFamily="18" charset="0"/>
              </a:rPr>
              <a:t>(</a:t>
            </a:r>
            <a:r>
              <a:rPr lang="en-US" altLang="zh-CN" b="1" i="1" dirty="0">
                <a:latin typeface="Times New Roman" panose="02020603050405020304" pitchFamily="18" charset="0"/>
              </a:rPr>
              <a:t>a </a:t>
            </a:r>
            <a:r>
              <a:rPr lang="en-US" altLang="zh-CN" b="1" dirty="0">
                <a:latin typeface="Times New Roman" panose="02020603050405020304" pitchFamily="18" charset="0"/>
              </a:rPr>
              <a:t>| </a:t>
            </a:r>
            <a:r>
              <a:rPr lang="en-US" altLang="zh-CN" b="1" i="1" dirty="0">
                <a:latin typeface="Times New Roman" panose="02020603050405020304" pitchFamily="18" charset="0"/>
              </a:rPr>
              <a:t>b</a:t>
            </a:r>
            <a:r>
              <a:rPr lang="en-US" altLang="zh-CN" b="1" dirty="0">
                <a:latin typeface="Times New Roman" panose="02020603050405020304" pitchFamily="18" charset="0"/>
              </a:rPr>
              <a:t>) (</a:t>
            </a:r>
            <a:r>
              <a:rPr lang="en-US" altLang="zh-CN" b="1" i="1" dirty="0">
                <a:latin typeface="Times New Roman" panose="02020603050405020304" pitchFamily="18" charset="0"/>
              </a:rPr>
              <a:t>a </a:t>
            </a:r>
            <a:r>
              <a:rPr lang="en-US" altLang="zh-CN" b="1" dirty="0">
                <a:latin typeface="Times New Roman" panose="02020603050405020304" pitchFamily="18" charset="0"/>
              </a:rPr>
              <a:t>| </a:t>
            </a:r>
            <a:r>
              <a:rPr lang="en-US" altLang="zh-CN" b="1" i="1" dirty="0">
                <a:latin typeface="Times New Roman" panose="02020603050405020304" pitchFamily="18" charset="0"/>
              </a:rPr>
              <a:t>b </a:t>
            </a:r>
            <a:r>
              <a:rPr lang="en-US" altLang="zh-CN" b="1" dirty="0">
                <a:latin typeface="Times New Roman" panose="02020603050405020304" pitchFamily="18" charset="0"/>
              </a:rPr>
              <a:t>)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altLang="zh-CN" b="1" dirty="0">
                <a:latin typeface="Times New Roman" panose="02020603050405020304" pitchFamily="18" charset="0"/>
              </a:rPr>
              <a:t>{</a:t>
            </a:r>
            <a:r>
              <a:rPr lang="en-US" altLang="zh-CN" b="1" i="1" dirty="0">
                <a:latin typeface="Times New Roman" panose="02020603050405020304" pitchFamily="18" charset="0"/>
              </a:rPr>
              <a:t>aa</a:t>
            </a:r>
            <a:r>
              <a:rPr lang="en-US" altLang="zh-CN" b="1" dirty="0">
                <a:latin typeface="Times New Roman" panose="02020603050405020304" pitchFamily="18" charset="0"/>
              </a:rPr>
              <a:t>, </a:t>
            </a:r>
            <a:r>
              <a:rPr lang="en-US" altLang="zh-CN" b="1" i="1" dirty="0">
                <a:latin typeface="Times New Roman" panose="02020603050405020304" pitchFamily="18" charset="0"/>
              </a:rPr>
              <a:t>ab</a:t>
            </a:r>
            <a:r>
              <a:rPr lang="en-US" altLang="zh-CN" b="1" dirty="0">
                <a:latin typeface="Times New Roman" panose="02020603050405020304" pitchFamily="18" charset="0"/>
              </a:rPr>
              <a:t>, 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ba</a:t>
            </a:r>
            <a:r>
              <a:rPr lang="en-US" altLang="zh-CN" b="1" dirty="0">
                <a:latin typeface="Times New Roman" panose="02020603050405020304" pitchFamily="18" charset="0"/>
              </a:rPr>
              <a:t>, </a:t>
            </a:r>
            <a:r>
              <a:rPr lang="en-US" altLang="zh-CN" b="1" i="1" dirty="0">
                <a:latin typeface="Times New Roman" panose="02020603050405020304" pitchFamily="18" charset="0"/>
              </a:rPr>
              <a:t>bb</a:t>
            </a:r>
            <a:r>
              <a:rPr lang="en-US" altLang="zh-CN" b="1" dirty="0">
                <a:latin typeface="Times New Roman" panose="02020603050405020304" pitchFamily="18" charset="0"/>
              </a:rPr>
              <a:t>}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b="1" i="1" dirty="0">
                <a:latin typeface="Times New Roman" panose="02020603050405020304" pitchFamily="18" charset="0"/>
              </a:rPr>
              <a:t>aa </a:t>
            </a:r>
            <a:r>
              <a:rPr lang="en-US" altLang="zh-CN" b="1" dirty="0">
                <a:latin typeface="Times New Roman" panose="02020603050405020304" pitchFamily="18" charset="0"/>
              </a:rPr>
              <a:t>| </a:t>
            </a:r>
            <a:r>
              <a:rPr lang="en-US" altLang="zh-CN" b="1" i="1" dirty="0">
                <a:latin typeface="Times New Roman" panose="02020603050405020304" pitchFamily="18" charset="0"/>
              </a:rPr>
              <a:t>ab </a:t>
            </a:r>
            <a:r>
              <a:rPr lang="en-US" altLang="zh-CN" b="1" dirty="0">
                <a:latin typeface="Times New Roman" panose="02020603050405020304" pitchFamily="18" charset="0"/>
              </a:rPr>
              <a:t>| 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ba</a:t>
            </a:r>
            <a:r>
              <a:rPr lang="en-US" altLang="zh-CN" b="1" i="1" dirty="0">
                <a:latin typeface="Times New Roman" panose="02020603050405020304" pitchFamily="18" charset="0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</a:rPr>
              <a:t>| </a:t>
            </a:r>
            <a:r>
              <a:rPr lang="en-US" altLang="zh-CN" b="1" i="1" dirty="0">
                <a:latin typeface="Times New Roman" panose="02020603050405020304" pitchFamily="18" charset="0"/>
              </a:rPr>
              <a:t>bb	</a:t>
            </a:r>
            <a:r>
              <a:rPr lang="en-US" altLang="zh-CN" b="1" dirty="0">
                <a:latin typeface="Times New Roman" panose="02020603050405020304" pitchFamily="18" charset="0"/>
              </a:rPr>
              <a:t>{</a:t>
            </a:r>
            <a:r>
              <a:rPr lang="en-US" altLang="zh-CN" b="1" i="1" dirty="0">
                <a:latin typeface="Times New Roman" panose="02020603050405020304" pitchFamily="18" charset="0"/>
              </a:rPr>
              <a:t>aa</a:t>
            </a:r>
            <a:r>
              <a:rPr lang="en-US" altLang="zh-CN" b="1" dirty="0">
                <a:latin typeface="Times New Roman" panose="02020603050405020304" pitchFamily="18" charset="0"/>
              </a:rPr>
              <a:t>, </a:t>
            </a:r>
            <a:r>
              <a:rPr lang="en-US" altLang="zh-CN" b="1" i="1" dirty="0">
                <a:latin typeface="Times New Roman" panose="02020603050405020304" pitchFamily="18" charset="0"/>
              </a:rPr>
              <a:t>ab</a:t>
            </a:r>
            <a:r>
              <a:rPr lang="en-US" altLang="zh-CN" b="1" dirty="0">
                <a:latin typeface="Times New Roman" panose="02020603050405020304" pitchFamily="18" charset="0"/>
              </a:rPr>
              <a:t>, 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ba</a:t>
            </a:r>
            <a:r>
              <a:rPr lang="en-US" altLang="zh-CN" b="1" dirty="0">
                <a:latin typeface="Times New Roman" panose="02020603050405020304" pitchFamily="18" charset="0"/>
              </a:rPr>
              <a:t>, </a:t>
            </a:r>
            <a:r>
              <a:rPr lang="en-US" altLang="zh-CN" b="1" i="1" dirty="0">
                <a:latin typeface="Times New Roman" panose="02020603050405020304" pitchFamily="18" charset="0"/>
              </a:rPr>
              <a:t>bb</a:t>
            </a:r>
            <a:r>
              <a:rPr lang="en-US" altLang="zh-CN" b="1" dirty="0">
                <a:latin typeface="Times New Roman" panose="02020603050405020304" pitchFamily="18" charset="0"/>
              </a:rPr>
              <a:t>}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b="1" i="1" dirty="0">
                <a:latin typeface="Times New Roman" panose="02020603050405020304" pitchFamily="18" charset="0"/>
              </a:rPr>
              <a:t>a</a:t>
            </a:r>
            <a:r>
              <a:rPr lang="en-US" altLang="zh-CN" b="1" baseline="30000" dirty="0">
                <a:latin typeface="Times New Roman" panose="02020603050405020304" pitchFamily="18" charset="0"/>
              </a:rPr>
              <a:t>*			</a:t>
            </a:r>
            <a:r>
              <a:rPr lang="zh-CN" altLang="en-US" dirty="0">
                <a:latin typeface="Times New Roman" panose="02020603050405020304" pitchFamily="18" charset="0"/>
              </a:rPr>
              <a:t>由字母</a:t>
            </a:r>
            <a:r>
              <a:rPr lang="en-US" altLang="zh-CN" b="1" i="1" dirty="0"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</a:rPr>
              <a:t>构成的所有串集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b="1" dirty="0">
                <a:latin typeface="Times New Roman" panose="02020603050405020304" pitchFamily="18" charset="0"/>
              </a:rPr>
              <a:t>(</a:t>
            </a:r>
            <a:r>
              <a:rPr lang="en-US" altLang="zh-CN" b="1" i="1" dirty="0">
                <a:latin typeface="Times New Roman" panose="02020603050405020304" pitchFamily="18" charset="0"/>
              </a:rPr>
              <a:t>a </a:t>
            </a:r>
            <a:r>
              <a:rPr lang="en-US" altLang="zh-CN" b="1" dirty="0">
                <a:latin typeface="Times New Roman" panose="02020603050405020304" pitchFamily="18" charset="0"/>
              </a:rPr>
              <a:t>| </a:t>
            </a:r>
            <a:r>
              <a:rPr lang="en-US" altLang="zh-CN" b="1" i="1" dirty="0">
                <a:latin typeface="Times New Roman" panose="02020603050405020304" pitchFamily="18" charset="0"/>
              </a:rPr>
              <a:t>b</a:t>
            </a:r>
            <a:r>
              <a:rPr lang="en-US" altLang="zh-CN" b="1" dirty="0">
                <a:latin typeface="Times New Roman" panose="02020603050405020304" pitchFamily="18" charset="0"/>
              </a:rPr>
              <a:t>)</a:t>
            </a:r>
            <a:r>
              <a:rPr lang="en-US" altLang="zh-CN" b="1" baseline="30000" dirty="0">
                <a:latin typeface="Times New Roman" panose="02020603050405020304" pitchFamily="18" charset="0"/>
              </a:rPr>
              <a:t>*			</a:t>
            </a:r>
            <a:r>
              <a:rPr lang="zh-CN" altLang="en-US" dirty="0">
                <a:latin typeface="Times New Roman" panose="02020603050405020304" pitchFamily="18" charset="0"/>
              </a:rPr>
              <a:t>由</a:t>
            </a:r>
            <a:r>
              <a:rPr lang="en-US" altLang="zh-CN" b="1" i="1" dirty="0"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</a:rPr>
              <a:t>和</a:t>
            </a:r>
            <a:r>
              <a:rPr lang="en-US" altLang="zh-CN" b="1" i="1" dirty="0">
                <a:latin typeface="Times New Roman" panose="02020603050405020304" pitchFamily="18" charset="0"/>
              </a:rPr>
              <a:t>b</a:t>
            </a:r>
            <a:r>
              <a:rPr lang="zh-CN" altLang="en-US" dirty="0">
                <a:latin typeface="Times New Roman" panose="02020603050405020304" pitchFamily="18" charset="0"/>
              </a:rPr>
              <a:t>构成的所有</a:t>
            </a:r>
            <a:r>
              <a:rPr lang="zh-CN" altLang="en-US" dirty="0">
                <a:latin typeface="宋体" panose="02010600030101010101" pitchFamily="2" charset="-122"/>
              </a:rPr>
              <a:t>串集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dirty="0"/>
              <a:t>复杂的例子</a:t>
            </a:r>
          </a:p>
          <a:p>
            <a:pPr lvl="1"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b="1" dirty="0">
                <a:latin typeface="Times New Roman" panose="02020603050405020304" pitchFamily="18" charset="0"/>
              </a:rPr>
              <a:t>(  00  |  11 |  </a:t>
            </a:r>
            <a:r>
              <a:rPr lang="en-US" altLang="zh-CN" b="1" dirty="0">
                <a:solidFill>
                  <a:srgbClr val="008000"/>
                </a:solidFill>
                <a:latin typeface="Times New Roman" panose="02020603050405020304" pitchFamily="18" charset="0"/>
              </a:rPr>
              <a:t>( (01 | 10) (00 | 11)</a:t>
            </a:r>
            <a:r>
              <a:rPr lang="en-US" altLang="zh-CN" b="1" baseline="30000" dirty="0">
                <a:solidFill>
                  <a:srgbClr val="008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b="1" baseline="30000" dirty="0">
                <a:solidFill>
                  <a:srgbClr val="008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en-US" altLang="zh-CN" b="1" dirty="0">
                <a:solidFill>
                  <a:srgbClr val="008000"/>
                </a:solidFill>
                <a:latin typeface="Times New Roman" panose="02020603050405020304" pitchFamily="18" charset="0"/>
              </a:rPr>
              <a:t> (01 | 10) )</a:t>
            </a:r>
            <a:r>
              <a:rPr lang="en-US" altLang="zh-CN" b="1" dirty="0">
                <a:latin typeface="Times New Roman" panose="02020603050405020304" pitchFamily="18" charset="0"/>
              </a:rPr>
              <a:t>  )</a:t>
            </a:r>
            <a:r>
              <a:rPr lang="en-US" altLang="zh-CN" b="1" baseline="30000" dirty="0">
                <a:latin typeface="Times New Roman" panose="02020603050405020304" pitchFamily="18" charset="0"/>
              </a:rPr>
              <a:t> </a:t>
            </a:r>
            <a:r>
              <a:rPr lang="en-US" altLang="zh-CN" b="1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</a:t>
            </a:r>
          </a:p>
          <a:p>
            <a:pPr lvl="1"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dirty="0"/>
              <a:t>句子：</a:t>
            </a:r>
            <a:r>
              <a:rPr lang="en-US" altLang="zh-CN" b="1" dirty="0">
                <a:solidFill>
                  <a:srgbClr val="FF3399"/>
                </a:solidFill>
                <a:latin typeface="Times New Roman" panose="02020603050405020304" pitchFamily="18" charset="0"/>
              </a:rPr>
              <a:t>01001101</a:t>
            </a:r>
            <a:r>
              <a:rPr lang="en-US" altLang="zh-CN" b="1" dirty="0">
                <a:latin typeface="Times New Roman" panose="02020603050405020304" pitchFamily="18" charset="0"/>
              </a:rPr>
              <a:t>00</a:t>
            </a:r>
            <a:r>
              <a:rPr lang="en-US" altLang="zh-CN" b="1" dirty="0">
                <a:solidFill>
                  <a:srgbClr val="FF3399"/>
                </a:solidFill>
                <a:latin typeface="Times New Roman" panose="02020603050405020304" pitchFamily="18" charset="0"/>
              </a:rPr>
              <a:t>00</a:t>
            </a:r>
            <a:r>
              <a:rPr lang="en-US" altLang="zh-CN" b="1" dirty="0">
                <a:latin typeface="Times New Roman" panose="02020603050405020304" pitchFamily="18" charset="0"/>
              </a:rPr>
              <a:t>10000010</a:t>
            </a:r>
            <a:r>
              <a:rPr lang="en-US" altLang="zh-CN" b="1" dirty="0">
                <a:solidFill>
                  <a:srgbClr val="FF3399"/>
                </a:solidFill>
                <a:latin typeface="Times New Roman" panose="02020603050405020304" pitchFamily="18" charset="0"/>
              </a:rPr>
              <a:t>11</a:t>
            </a:r>
            <a:r>
              <a:rPr lang="en-US" altLang="zh-CN" b="1" dirty="0">
                <a:latin typeface="Times New Roman" panose="02020603050405020304" pitchFamily="18" charset="0"/>
              </a:rPr>
              <a:t>1001</a:t>
            </a:r>
          </a:p>
          <a:p>
            <a:pPr eaLnBrk="1" hangingPunct="1">
              <a:lnSpc>
                <a:spcPct val="90000"/>
              </a:lnSpc>
            </a:pPr>
            <a:endParaRPr lang="en-US" altLang="zh-CN" b="1" dirty="0">
              <a:latin typeface="Times New Roman" panose="02020603050405020304" pitchFamily="18" charset="0"/>
            </a:endParaRP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7298DBA-4958-DE71-6662-2331EC362D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5A0843-3762-4401-BE24-E01133D60DC7}" type="datetime2">
              <a:rPr lang="zh-CN" altLang="en-US" smtClean="0"/>
              <a:t>2026年3月11日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C1B7EE0-A8D1-63B3-B8A0-7A94ACC97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</a:t>
            </a:r>
            <a:r>
              <a:rPr lang="en-US" altLang="zh-CN"/>
              <a:t>2</a:t>
            </a:r>
            <a:r>
              <a:rPr lang="zh-CN" altLang="en-US"/>
              <a:t>章 词法分析</a:t>
            </a:r>
            <a:r>
              <a:rPr lang="en-US" altLang="zh-CN"/>
              <a:t>(1)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CB1BCBD-8248-477F-6564-A860AA257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38</a:t>
            </a:fld>
            <a:endParaRPr lang="zh-CN" alt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75AC822-0F59-57FC-1553-0FBA872AD08F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0" y="11113"/>
            <a:ext cx="3086100" cy="179387"/>
          </a:xfrm>
        </p:spPr>
        <p:txBody>
          <a:bodyPr/>
          <a:lstStyle/>
          <a:p>
            <a:fld id="{F32F6E0A-8AD4-47EB-8BA8-99175B083CAA}" type="datetime2">
              <a:rPr lang="zh-CN" altLang="en-US" smtClean="0"/>
              <a:t>2026年3月11日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F5A2AB9-6FBB-6334-346A-D5B02AAE37EE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7086600" y="11113"/>
            <a:ext cx="2057400" cy="179387"/>
          </a:xfrm>
        </p:spPr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</a:t>
            </a:r>
            <a:r>
              <a:rPr lang="en-US" altLang="zh-CN"/>
              <a:t>2</a:t>
            </a:r>
            <a:r>
              <a:rPr lang="zh-CN" altLang="en-US"/>
              <a:t>章 词法分析</a:t>
            </a:r>
            <a:r>
              <a:rPr lang="en-US" altLang="zh-CN"/>
              <a:t>(1)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F0C57E7-9EE4-0161-A4AA-13B9B94765F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0" y="11113"/>
            <a:ext cx="2060575" cy="179387"/>
          </a:xfrm>
        </p:spPr>
        <p:txBody>
          <a:bodyPr/>
          <a:lstStyle/>
          <a:p>
            <a:fld id="{094DEB03-EFC6-4C20-8FC8-295189A5386F}" type="slidenum">
              <a:rPr lang="zh-CN" altLang="en-US" smtClean="0"/>
              <a:pPr/>
              <a:t>39</a:t>
            </a:fld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68478F9-EC3D-5912-0AAA-02BA8F6B90C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914400" y="787082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zh-CN" altLang="en-US" sz="3600" dirty="0"/>
              <a:t>（多选题）假设</a:t>
            </a:r>
            <a:r>
              <a:rPr lang="zh-CN" altLang="en-US" sz="3600" b="1" dirty="0">
                <a:sym typeface="Symbol" panose="05050102010706020507" pitchFamily="18" charset="2"/>
              </a:rPr>
              <a:t></a:t>
            </a:r>
            <a:r>
              <a:rPr lang="en-US" altLang="zh-CN" sz="3600" b="1" dirty="0">
                <a:sym typeface="Symbol" panose="05050102010706020507" pitchFamily="18" charset="2"/>
              </a:rPr>
              <a:t>={a, b}</a:t>
            </a:r>
            <a:r>
              <a:rPr lang="zh-CN" altLang="en-US" sz="3600" dirty="0">
                <a:sym typeface="Symbol" panose="05050102010706020507" pitchFamily="18" charset="2"/>
              </a:rPr>
              <a:t>，</a:t>
            </a:r>
            <a:r>
              <a:rPr lang="zh-CN" altLang="en-US" sz="3600" dirty="0"/>
              <a:t>请叙述下列正规式所描述的语言：</a:t>
            </a:r>
            <a:r>
              <a:rPr lang="en-US" altLang="zh-CN" sz="3600" b="1" dirty="0"/>
              <a:t>(</a:t>
            </a:r>
            <a:r>
              <a:rPr lang="en-US" altLang="zh-CN" sz="3600" b="1" dirty="0" err="1"/>
              <a:t>a|b</a:t>
            </a:r>
            <a:r>
              <a:rPr lang="en-US" altLang="zh-CN" sz="3600" b="1" dirty="0"/>
              <a:t>)*a(</a:t>
            </a:r>
            <a:r>
              <a:rPr lang="en-US" altLang="zh-CN" sz="3600" b="1" dirty="0" err="1"/>
              <a:t>a|b</a:t>
            </a:r>
            <a:r>
              <a:rPr lang="en-US" altLang="zh-CN" sz="3600" b="1" dirty="0"/>
              <a:t>)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52B7B8D-1034-3C28-629C-FC31C889F23B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828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800" dirty="0">
                <a:latin typeface="Arial" panose="020B0604020202020204" pitchFamily="34" charset="0"/>
              </a:rPr>
              <a:t>以</a:t>
            </a:r>
            <a:r>
              <a:rPr lang="en-US" altLang="zh-CN" sz="2800" dirty="0">
                <a:latin typeface="Arial" panose="020B0604020202020204" pitchFamily="34" charset="0"/>
              </a:rPr>
              <a:t>aa</a:t>
            </a:r>
            <a:r>
              <a:rPr lang="zh-CN" altLang="en-US" sz="2800" dirty="0">
                <a:latin typeface="Arial" panose="020B0604020202020204" pitchFamily="34" charset="0"/>
              </a:rPr>
              <a:t>或</a:t>
            </a:r>
            <a:r>
              <a:rPr lang="en-US" altLang="zh-CN" sz="2800" dirty="0">
                <a:latin typeface="Arial" panose="020B0604020202020204" pitchFamily="34" charset="0"/>
              </a:rPr>
              <a:t>ab</a:t>
            </a:r>
            <a:r>
              <a:rPr lang="zh-CN" altLang="en-US" sz="2800" dirty="0">
                <a:latin typeface="Arial" panose="020B0604020202020204" pitchFamily="34" charset="0"/>
              </a:rPr>
              <a:t>结尾的</a:t>
            </a:r>
            <a:r>
              <a:rPr lang="en-US" altLang="zh-CN" sz="2800" dirty="0">
                <a:latin typeface="Arial" panose="020B0604020202020204" pitchFamily="34" charset="0"/>
              </a:rPr>
              <a:t>a</a:t>
            </a:r>
            <a:r>
              <a:rPr lang="zh-CN" altLang="en-US" sz="2800" dirty="0">
                <a:latin typeface="Arial" panose="020B0604020202020204" pitchFamily="34" charset="0"/>
              </a:rPr>
              <a:t>和</a:t>
            </a:r>
            <a:r>
              <a:rPr lang="en-US" altLang="zh-CN" sz="2800" dirty="0">
                <a:latin typeface="Arial" panose="020B0604020202020204" pitchFamily="34" charset="0"/>
              </a:rPr>
              <a:t>b</a:t>
            </a:r>
            <a:r>
              <a:rPr lang="zh-CN" altLang="en-US" sz="2800" dirty="0">
                <a:latin typeface="Arial" panose="020B0604020202020204" pitchFamily="34" charset="0"/>
              </a:rPr>
              <a:t>组成的串</a:t>
            </a:r>
            <a:endParaRPr lang="en-US" altLang="zh-CN" sz="2800" dirty="0">
              <a:latin typeface="Arial" panose="020B0604020202020204" pitchFamily="34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9F118BD-0B1D-0761-6036-4711B4FD655E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828800" y="36433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的数量比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多一个的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和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组成的串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09D4719-01A1-24E3-04F4-C1CA79448885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828800" y="45005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800" dirty="0">
                <a:latin typeface="Arial" panose="020B0604020202020204" pitchFamily="34" charset="0"/>
              </a:rPr>
              <a:t>倒数第二个符号是</a:t>
            </a:r>
            <a:r>
              <a:rPr lang="en-US" altLang="zh-CN" sz="2800" dirty="0">
                <a:latin typeface="Arial" panose="020B0604020202020204" pitchFamily="34" charset="0"/>
              </a:rPr>
              <a:t>a</a:t>
            </a:r>
            <a:r>
              <a:rPr lang="zh-CN" altLang="en-US" sz="2800" dirty="0">
                <a:latin typeface="Arial" panose="020B0604020202020204" pitchFamily="34" charset="0"/>
              </a:rPr>
              <a:t>的</a:t>
            </a:r>
            <a:r>
              <a:rPr lang="en-US" altLang="zh-CN" sz="2800" dirty="0">
                <a:latin typeface="Arial" panose="020B0604020202020204" pitchFamily="34" charset="0"/>
              </a:rPr>
              <a:t>a</a:t>
            </a:r>
            <a:r>
              <a:rPr lang="zh-CN" altLang="en-US" sz="2800" dirty="0">
                <a:latin typeface="Arial" panose="020B0604020202020204" pitchFamily="34" charset="0"/>
              </a:rPr>
              <a:t>和</a:t>
            </a:r>
            <a:r>
              <a:rPr lang="en-US" altLang="zh-CN" sz="2800" dirty="0">
                <a:latin typeface="Arial" panose="020B0604020202020204" pitchFamily="34" charset="0"/>
              </a:rPr>
              <a:t>b</a:t>
            </a:r>
            <a:r>
              <a:rPr lang="zh-CN" altLang="en-US" sz="2800" dirty="0">
                <a:latin typeface="Arial" panose="020B0604020202020204" pitchFamily="34" charset="0"/>
              </a:rPr>
              <a:t>组成的串</a:t>
            </a:r>
            <a:endParaRPr lang="zh-CN" altLang="en-US" sz="28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59FA668-64F1-6338-EC39-C74D1A532B4A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828800" y="53578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任意长度的由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和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组成的串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EA6C263-B565-12B4-53CA-6769D806D6CC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114425" y="285035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49D15E3-95C8-4881-DD72-341E13631F53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114425" y="3707606"/>
            <a:ext cx="514350" cy="514350"/>
          </a:xfrm>
          <a:prstGeom prst="rect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917057C-2BE0-3790-681B-827007F41DB4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114425" y="456485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196EE4B-B190-CD8D-2DBC-4D40D1E87E4F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114425" y="5422106"/>
            <a:ext cx="514350" cy="514350"/>
          </a:xfrm>
          <a:prstGeom prst="rect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F7C6C7D0-F13D-EA52-51B2-C9DDAF34EC93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63E125CF-AB44-E8C2-0C28-F1D18DEE1E4D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9" name="TitleBackground">
              <a:extLst>
                <a:ext uri="{FF2B5EF4-FFF2-40B4-BE49-F238E27FC236}">
                  <a16:creationId xmlns:a16="http://schemas.microsoft.com/office/drawing/2014/main" id="{4656D122-F221-11E4-9267-189CBC395939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ColorBlock">
              <a:extLst>
                <a:ext uri="{FF2B5EF4-FFF2-40B4-BE49-F238E27FC236}">
                  <a16:creationId xmlns:a16="http://schemas.microsoft.com/office/drawing/2014/main" id="{2CF8B9FA-AC95-1B6E-D463-264B0C5B0ED1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TypeText">
              <a:extLst>
                <a:ext uri="{FF2B5EF4-FFF2-40B4-BE49-F238E27FC236}">
                  <a16:creationId xmlns:a16="http://schemas.microsoft.com/office/drawing/2014/main" id="{CD438CBE-D242-1EC3-C4D5-206D068B2B73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多选题</a:t>
              </a:r>
            </a:p>
          </p:txBody>
        </p:sp>
        <p:sp>
          <p:nvSpPr>
            <p:cNvPr id="26" name="TipText">
              <a:extLst>
                <a:ext uri="{FF2B5EF4-FFF2-40B4-BE49-F238E27FC236}">
                  <a16:creationId xmlns:a16="http://schemas.microsoft.com/office/drawing/2014/main" id="{93772822-B686-9815-8504-F23F7CB4F952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8" name="图片 7">
            <a:extLst>
              <a:ext uri="{FF2B5EF4-FFF2-40B4-BE49-F238E27FC236}">
                <a16:creationId xmlns:a16="http://schemas.microsoft.com/office/drawing/2014/main" id="{E7ED155D-FAC8-A9F3-4DBC-BF2215694B51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52571565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098A37-3060-CB54-D255-5DED0DFFE6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2172984-E478-14B9-432E-EE2B49E61187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0" y="11113"/>
            <a:ext cx="3086100" cy="179387"/>
          </a:xfrm>
        </p:spPr>
        <p:txBody>
          <a:bodyPr/>
          <a:lstStyle/>
          <a:p>
            <a:fld id="{F32F6E0A-8AD4-47EB-8BA8-99175B083CAA}" type="datetime2">
              <a:rPr lang="zh-CN" altLang="en-US" smtClean="0"/>
              <a:t>2026年3月11日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A7D3965-24F3-AE3D-EC42-81CE13139665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7086600" y="11113"/>
            <a:ext cx="2057400" cy="179387"/>
          </a:xfrm>
        </p:spPr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</a:t>
            </a:r>
            <a:r>
              <a:rPr lang="en-US" altLang="zh-CN"/>
              <a:t>2</a:t>
            </a:r>
            <a:r>
              <a:rPr lang="zh-CN" altLang="en-US"/>
              <a:t>章 词法分析</a:t>
            </a:r>
            <a:r>
              <a:rPr lang="en-US" altLang="zh-CN"/>
              <a:t>(1)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B700FC6-B68C-885A-BED3-1183706F00D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0" y="11113"/>
            <a:ext cx="2060575" cy="179387"/>
          </a:xfrm>
        </p:spPr>
        <p:txBody>
          <a:bodyPr/>
          <a:lstStyle/>
          <a:p>
            <a:fld id="{094DEB03-EFC6-4C20-8FC8-295189A5386F}" type="slidenum">
              <a:rPr lang="zh-CN" altLang="en-US" smtClean="0"/>
              <a:pPr/>
              <a:t>40</a:t>
            </a:fld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0EF9EB1-0F69-362E-FBD2-BA5963569D9B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914400" y="787082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zh-CN" altLang="en-US" sz="3600" dirty="0"/>
              <a:t>（单选题）假设</a:t>
            </a:r>
            <a:r>
              <a:rPr lang="zh-CN" altLang="en-US" sz="3600" b="1" dirty="0">
                <a:sym typeface="Symbol" panose="05050102010706020507" pitchFamily="18" charset="2"/>
              </a:rPr>
              <a:t></a:t>
            </a:r>
            <a:r>
              <a:rPr lang="en-US" altLang="zh-CN" sz="3600" b="1" dirty="0">
                <a:sym typeface="Symbol" panose="05050102010706020507" pitchFamily="18" charset="2"/>
              </a:rPr>
              <a:t>={a, b}</a:t>
            </a:r>
            <a:r>
              <a:rPr lang="zh-CN" altLang="en-US" sz="3600" dirty="0">
                <a:sym typeface="Symbol" panose="05050102010706020507" pitchFamily="18" charset="2"/>
              </a:rPr>
              <a:t>，</a:t>
            </a:r>
            <a:r>
              <a:rPr lang="zh-CN" altLang="en-US" sz="3600" dirty="0"/>
              <a:t>请叙述下列正规式所描述的语言：</a:t>
            </a:r>
            <a:r>
              <a:rPr lang="en-US" altLang="zh-CN" sz="3600" b="1" dirty="0"/>
              <a:t>a*</a:t>
            </a:r>
            <a:r>
              <a:rPr lang="en-US" altLang="zh-CN" sz="3600" b="1" dirty="0" err="1"/>
              <a:t>ba</a:t>
            </a:r>
            <a:r>
              <a:rPr lang="en-US" altLang="zh-CN" sz="3600" b="1" dirty="0"/>
              <a:t>*</a:t>
            </a:r>
            <a:r>
              <a:rPr lang="en-US" altLang="zh-CN" sz="3600" b="1" dirty="0" err="1"/>
              <a:t>ba</a:t>
            </a:r>
            <a:r>
              <a:rPr lang="en-US" altLang="zh-CN" sz="3600" b="1" dirty="0"/>
              <a:t>*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F7A889B-A73D-0385-BA4E-476E47B9E3F2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828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800" dirty="0">
                <a:latin typeface="Arial" panose="020B0604020202020204" pitchFamily="34" charset="0"/>
              </a:rPr>
              <a:t>以</a:t>
            </a:r>
            <a:r>
              <a:rPr lang="en-US" altLang="zh-CN" sz="2800" dirty="0" err="1">
                <a:latin typeface="Arial" panose="020B0604020202020204" pitchFamily="34" charset="0"/>
              </a:rPr>
              <a:t>ba</a:t>
            </a:r>
            <a:r>
              <a:rPr lang="zh-CN" altLang="en-US" sz="2800" dirty="0">
                <a:latin typeface="Arial" panose="020B0604020202020204" pitchFamily="34" charset="0"/>
              </a:rPr>
              <a:t>或</a:t>
            </a:r>
            <a:r>
              <a:rPr lang="en-US" altLang="zh-CN" sz="2800" dirty="0">
                <a:latin typeface="Arial" panose="020B0604020202020204" pitchFamily="34" charset="0"/>
              </a:rPr>
              <a:t>aa</a:t>
            </a:r>
            <a:r>
              <a:rPr lang="zh-CN" altLang="en-US" sz="2800" dirty="0">
                <a:latin typeface="Arial" panose="020B0604020202020204" pitchFamily="34" charset="0"/>
              </a:rPr>
              <a:t>结尾的</a:t>
            </a:r>
            <a:r>
              <a:rPr lang="en-US" altLang="zh-CN" sz="2800" dirty="0">
                <a:latin typeface="Arial" panose="020B0604020202020204" pitchFamily="34" charset="0"/>
              </a:rPr>
              <a:t>a</a:t>
            </a:r>
            <a:r>
              <a:rPr lang="zh-CN" altLang="en-US" sz="2800" dirty="0">
                <a:latin typeface="Arial" panose="020B0604020202020204" pitchFamily="34" charset="0"/>
              </a:rPr>
              <a:t>和</a:t>
            </a:r>
            <a:r>
              <a:rPr lang="en-US" altLang="zh-CN" sz="2800" dirty="0">
                <a:latin typeface="Arial" panose="020B0604020202020204" pitchFamily="34" charset="0"/>
              </a:rPr>
              <a:t>b</a:t>
            </a:r>
            <a:r>
              <a:rPr lang="zh-CN" altLang="en-US" sz="2800" dirty="0">
                <a:latin typeface="Arial" panose="020B0604020202020204" pitchFamily="34" charset="0"/>
              </a:rPr>
              <a:t>组成的串</a:t>
            </a:r>
            <a:endParaRPr lang="en-US" altLang="zh-CN" sz="2800" dirty="0">
              <a:latin typeface="Arial" panose="020B0604020202020204" pitchFamily="34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17CE88A-894B-705C-D7E7-A304C92CC47D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828800" y="36433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只含有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个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的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和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组成的串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C918119-67F0-1A24-3881-37D1B1AC463B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828800" y="45005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800" dirty="0">
                <a:latin typeface="Arial" panose="020B0604020202020204" pitchFamily="34" charset="0"/>
              </a:rPr>
              <a:t>倒数第二个符号是</a:t>
            </a:r>
            <a:r>
              <a:rPr lang="en-US" altLang="zh-CN" sz="2800" dirty="0">
                <a:latin typeface="Arial" panose="020B0604020202020204" pitchFamily="34" charset="0"/>
              </a:rPr>
              <a:t>b</a:t>
            </a:r>
            <a:r>
              <a:rPr lang="zh-CN" altLang="en-US" sz="2800" dirty="0">
                <a:latin typeface="Arial" panose="020B0604020202020204" pitchFamily="34" charset="0"/>
              </a:rPr>
              <a:t>的</a:t>
            </a:r>
            <a:r>
              <a:rPr lang="en-US" altLang="zh-CN" sz="2800" dirty="0">
                <a:latin typeface="Arial" panose="020B0604020202020204" pitchFamily="34" charset="0"/>
              </a:rPr>
              <a:t>a</a:t>
            </a:r>
            <a:r>
              <a:rPr lang="zh-CN" altLang="en-US" sz="2800" dirty="0">
                <a:latin typeface="Arial" panose="020B0604020202020204" pitchFamily="34" charset="0"/>
              </a:rPr>
              <a:t>和</a:t>
            </a:r>
            <a:r>
              <a:rPr lang="en-US" altLang="zh-CN" sz="2800" dirty="0">
                <a:latin typeface="Arial" panose="020B0604020202020204" pitchFamily="34" charset="0"/>
              </a:rPr>
              <a:t>b</a:t>
            </a:r>
            <a:r>
              <a:rPr lang="zh-CN" altLang="en-US" sz="2800" dirty="0">
                <a:latin typeface="Arial" panose="020B0604020202020204" pitchFamily="34" charset="0"/>
              </a:rPr>
              <a:t>组成的串</a:t>
            </a:r>
            <a:endParaRPr lang="zh-CN" altLang="en-US" sz="28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BA39476-4B2D-90CB-5296-28A7B5D5513F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828800" y="53578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任意长度的由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和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组成的串</a:t>
            </a: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C095A6AE-67DA-65E5-8FBE-1815CCB0DC8B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114425" y="28503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90596EA4-BD29-3F14-D20E-660649A43009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114425" y="370760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62A82429-B854-59E1-2009-2BF1025EEE6C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114425" y="45648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909A0DE0-8B4F-7C75-4F9A-AFB40F104C01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114425" y="54221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74C8C708-CCD1-581E-A935-D770FBCC68DC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D3EF9235-DC16-F61C-96DA-D5DF57DD8C02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9" name="TitleBackground">
              <a:extLst>
                <a:ext uri="{FF2B5EF4-FFF2-40B4-BE49-F238E27FC236}">
                  <a16:creationId xmlns:a16="http://schemas.microsoft.com/office/drawing/2014/main" id="{EB70DF58-9713-939B-0316-031734FF65B5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ColorBlock">
              <a:extLst>
                <a:ext uri="{FF2B5EF4-FFF2-40B4-BE49-F238E27FC236}">
                  <a16:creationId xmlns:a16="http://schemas.microsoft.com/office/drawing/2014/main" id="{C5DA38A8-D7C4-772F-4103-25F83315FDA2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TypeText">
              <a:extLst>
                <a:ext uri="{FF2B5EF4-FFF2-40B4-BE49-F238E27FC236}">
                  <a16:creationId xmlns:a16="http://schemas.microsoft.com/office/drawing/2014/main" id="{9CB49596-B2EE-0A68-0EAC-1245DF420205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3" name="TipText">
              <a:extLst>
                <a:ext uri="{FF2B5EF4-FFF2-40B4-BE49-F238E27FC236}">
                  <a16:creationId xmlns:a16="http://schemas.microsoft.com/office/drawing/2014/main" id="{3084D371-1F63-4D7A-83FC-AD58AC104509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8" name="图片 7">
            <a:extLst>
              <a:ext uri="{FF2B5EF4-FFF2-40B4-BE49-F238E27FC236}">
                <a16:creationId xmlns:a16="http://schemas.microsoft.com/office/drawing/2014/main" id="{B1DFB24A-B12A-4E51-FFB4-C80F8EDC9686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92599027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id="{B64E21BA-487E-415F-B985-E42EDF4D66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CN" dirty="0"/>
              <a:t>2.2.2 </a:t>
            </a:r>
            <a:r>
              <a:rPr lang="zh-CN" altLang="en-US" dirty="0"/>
              <a:t>正规式</a:t>
            </a:r>
          </a:p>
        </p:txBody>
      </p:sp>
      <p:sp>
        <p:nvSpPr>
          <p:cNvPr id="47107" name="Rectangle 3">
            <a:extLst>
              <a:ext uri="{FF2B5EF4-FFF2-40B4-BE49-F238E27FC236}">
                <a16:creationId xmlns:a16="http://schemas.microsoft.com/office/drawing/2014/main" id="{ECE85CF2-318F-4E85-8D1C-ADC56316A6D1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eaLnBrk="1" hangingPunct="1">
              <a:lnSpc>
                <a:spcPct val="120000"/>
              </a:lnSpc>
            </a:pPr>
            <a:r>
              <a:rPr lang="zh-CN" altLang="en-US" dirty="0"/>
              <a:t>正规式的代数定律：可用于正规式的等价变换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dirty="0"/>
              <a:t>  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r</a:t>
            </a:r>
            <a:r>
              <a:rPr lang="en-US" altLang="zh-CN" b="1" dirty="0" err="1">
                <a:latin typeface="Times New Roman" panose="02020603050405020304" pitchFamily="18" charset="0"/>
              </a:rPr>
              <a:t>|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s</a:t>
            </a:r>
            <a:r>
              <a:rPr lang="en-US" altLang="zh-CN" b="1" i="1" dirty="0">
                <a:latin typeface="Times New Roman" panose="02020603050405020304" pitchFamily="18" charset="0"/>
              </a:rPr>
              <a:t> = 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s|r</a:t>
            </a:r>
            <a:r>
              <a:rPr lang="en-US" altLang="zh-CN" b="1" i="1" dirty="0">
                <a:latin typeface="Times New Roman" panose="02020603050405020304" pitchFamily="18" charset="0"/>
              </a:rPr>
              <a:t>                             | </a:t>
            </a:r>
            <a:r>
              <a:rPr lang="zh-CN" altLang="en-US" dirty="0">
                <a:latin typeface="Times New Roman" panose="02020603050405020304" pitchFamily="18" charset="0"/>
              </a:rPr>
              <a:t>可交换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b="1" i="1" dirty="0">
                <a:latin typeface="Times New Roman" panose="02020603050405020304" pitchFamily="18" charset="0"/>
              </a:rPr>
              <a:t>  </a:t>
            </a:r>
            <a:r>
              <a:rPr lang="en-US" altLang="zh-CN" b="1" i="1" dirty="0">
                <a:latin typeface="Times New Roman" panose="02020603050405020304" pitchFamily="18" charset="0"/>
              </a:rPr>
              <a:t>r|</a:t>
            </a:r>
            <a:r>
              <a:rPr lang="en-US" altLang="zh-CN" b="1" dirty="0">
                <a:latin typeface="Times New Roman" panose="02020603050405020304" pitchFamily="18" charset="0"/>
              </a:rPr>
              <a:t>(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s|t</a:t>
            </a:r>
            <a:r>
              <a:rPr lang="en-US" altLang="zh-CN" b="1" dirty="0">
                <a:latin typeface="Times New Roman" panose="02020603050405020304" pitchFamily="18" charset="0"/>
              </a:rPr>
              <a:t>) </a:t>
            </a:r>
            <a:r>
              <a:rPr lang="en-US" altLang="zh-CN" b="1" i="1" dirty="0">
                <a:latin typeface="Times New Roman" panose="02020603050405020304" pitchFamily="18" charset="0"/>
              </a:rPr>
              <a:t>= </a:t>
            </a:r>
            <a:r>
              <a:rPr lang="en-US" altLang="zh-CN" b="1" dirty="0">
                <a:latin typeface="Times New Roman" panose="02020603050405020304" pitchFamily="18" charset="0"/>
              </a:rPr>
              <a:t>(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r|s</a:t>
            </a:r>
            <a:r>
              <a:rPr lang="en-US" altLang="zh-CN" b="1" dirty="0">
                <a:latin typeface="Times New Roman" panose="02020603050405020304" pitchFamily="18" charset="0"/>
              </a:rPr>
              <a:t>)</a:t>
            </a:r>
            <a:r>
              <a:rPr lang="en-US" altLang="zh-CN" b="1" i="1" dirty="0">
                <a:latin typeface="Times New Roman" panose="02020603050405020304" pitchFamily="18" charset="0"/>
              </a:rPr>
              <a:t>|t                    | </a:t>
            </a:r>
            <a:r>
              <a:rPr lang="zh-CN" altLang="en-US" dirty="0">
                <a:latin typeface="Times New Roman" panose="02020603050405020304" pitchFamily="18" charset="0"/>
              </a:rPr>
              <a:t>可结合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b="1" i="1" dirty="0">
                <a:latin typeface="Times New Roman" panose="02020603050405020304" pitchFamily="18" charset="0"/>
              </a:rPr>
              <a:t>  </a:t>
            </a:r>
            <a:r>
              <a:rPr lang="en-US" altLang="zh-CN" b="1" dirty="0">
                <a:latin typeface="Times New Roman" panose="02020603050405020304" pitchFamily="18" charset="0"/>
              </a:rPr>
              <a:t>(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rs</a:t>
            </a:r>
            <a:r>
              <a:rPr lang="en-US" altLang="zh-CN" b="1" dirty="0">
                <a:latin typeface="Times New Roman" panose="02020603050405020304" pitchFamily="18" charset="0"/>
              </a:rPr>
              <a:t>)</a:t>
            </a:r>
            <a:r>
              <a:rPr lang="en-US" altLang="zh-CN" b="1" i="1" dirty="0">
                <a:latin typeface="Times New Roman" panose="02020603050405020304" pitchFamily="18" charset="0"/>
              </a:rPr>
              <a:t>t = r</a:t>
            </a:r>
            <a:r>
              <a:rPr lang="en-US" altLang="zh-CN" b="1" dirty="0">
                <a:latin typeface="Times New Roman" panose="02020603050405020304" pitchFamily="18" charset="0"/>
              </a:rPr>
              <a:t>(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st</a:t>
            </a:r>
            <a:r>
              <a:rPr lang="en-US" altLang="zh-CN" b="1" dirty="0">
                <a:latin typeface="Times New Roman" panose="02020603050405020304" pitchFamily="18" charset="0"/>
              </a:rPr>
              <a:t>) </a:t>
            </a:r>
            <a:r>
              <a:rPr lang="en-US" altLang="zh-CN" b="1" i="1" dirty="0">
                <a:latin typeface="Times New Roman" panose="02020603050405020304" pitchFamily="18" charset="0"/>
              </a:rPr>
              <a:t>                      </a:t>
            </a:r>
            <a:r>
              <a:rPr lang="zh-CN" altLang="en-US" dirty="0">
                <a:latin typeface="Times New Roman" panose="02020603050405020304" pitchFamily="18" charset="0"/>
              </a:rPr>
              <a:t>连接可结合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b="1" i="1" dirty="0">
                <a:latin typeface="Times New Roman" panose="02020603050405020304" pitchFamily="18" charset="0"/>
              </a:rPr>
              <a:t>  </a:t>
            </a:r>
            <a:r>
              <a:rPr lang="en-US" altLang="zh-CN" b="1" i="1" dirty="0">
                <a:latin typeface="Times New Roman" panose="02020603050405020304" pitchFamily="18" charset="0"/>
              </a:rPr>
              <a:t>r</a:t>
            </a:r>
            <a:r>
              <a:rPr lang="en-US" altLang="zh-CN" b="1" dirty="0">
                <a:latin typeface="Times New Roman" panose="02020603050405020304" pitchFamily="18" charset="0"/>
              </a:rPr>
              <a:t>(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s|t</a:t>
            </a:r>
            <a:r>
              <a:rPr lang="en-US" altLang="zh-CN" b="1" dirty="0">
                <a:latin typeface="Times New Roman" panose="02020603050405020304" pitchFamily="18" charset="0"/>
              </a:rPr>
              <a:t>) </a:t>
            </a:r>
            <a:r>
              <a:rPr lang="en-US" altLang="zh-CN" b="1" i="1" dirty="0">
                <a:latin typeface="Times New Roman" panose="02020603050405020304" pitchFamily="18" charset="0"/>
              </a:rPr>
              <a:t>= 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rs|rt</a:t>
            </a:r>
            <a:r>
              <a:rPr lang="en-US" altLang="zh-CN" b="1" dirty="0">
                <a:latin typeface="Times New Roman" panose="02020603050405020304" pitchFamily="18" charset="0"/>
              </a:rPr>
              <a:t>;</a:t>
            </a:r>
            <a:r>
              <a:rPr lang="en-US" altLang="zh-CN" b="1" i="1" dirty="0">
                <a:latin typeface="Times New Roman" panose="02020603050405020304" pitchFamily="18" charset="0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</a:rPr>
              <a:t>(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s|t</a:t>
            </a:r>
            <a:r>
              <a:rPr lang="en-US" altLang="zh-CN" b="1" dirty="0">
                <a:latin typeface="Times New Roman" panose="02020603050405020304" pitchFamily="18" charset="0"/>
              </a:rPr>
              <a:t>)</a:t>
            </a:r>
            <a:r>
              <a:rPr lang="en-US" altLang="zh-CN" b="1" i="1" dirty="0">
                <a:latin typeface="Times New Roman" panose="02020603050405020304" pitchFamily="18" charset="0"/>
              </a:rPr>
              <a:t>r=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sr|tr</a:t>
            </a:r>
            <a:r>
              <a:rPr lang="en-US" altLang="zh-CN" b="1" i="1" dirty="0">
                <a:latin typeface="Times New Roman" panose="02020603050405020304" pitchFamily="18" charset="0"/>
              </a:rPr>
              <a:t>   </a:t>
            </a:r>
            <a:r>
              <a:rPr lang="zh-CN" altLang="en-US" dirty="0">
                <a:latin typeface="Times New Roman" panose="02020603050405020304" pitchFamily="18" charset="0"/>
              </a:rPr>
              <a:t>连接对 </a:t>
            </a:r>
            <a:r>
              <a:rPr lang="en-US" altLang="zh-CN" b="1" dirty="0">
                <a:latin typeface="Times New Roman" panose="02020603050405020304" pitchFamily="18" charset="0"/>
              </a:rPr>
              <a:t>| </a:t>
            </a:r>
            <a:r>
              <a:rPr lang="zh-CN" altLang="en-US" dirty="0">
                <a:latin typeface="Times New Roman" panose="02020603050405020304" pitchFamily="18" charset="0"/>
              </a:rPr>
              <a:t>可分配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b="1" i="1" dirty="0">
                <a:latin typeface="Times New Roman" panose="02020603050405020304" pitchFamily="18" charset="0"/>
              </a:rPr>
              <a:t>  </a:t>
            </a:r>
            <a:r>
              <a:rPr lang="zh-CN" altLang="en-US" b="1" dirty="0">
                <a:sym typeface="Symbol" panose="05050102010706020507" pitchFamily="18" charset="2"/>
              </a:rPr>
              <a:t>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r = r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;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 r</a:t>
            </a:r>
            <a:r>
              <a:rPr lang="en-US" altLang="zh-CN" b="1" dirty="0">
                <a:sym typeface="Symbol" panose="05050102010706020507" pitchFamily="18" charset="2"/>
              </a:rPr>
              <a:t>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 = r                     </a:t>
            </a:r>
            <a:r>
              <a:rPr lang="en-US" altLang="zh-CN" b="1" dirty="0">
                <a:sym typeface="Symbol" panose="05050102010706020507" pitchFamily="18" charset="2"/>
              </a:rPr>
              <a:t></a:t>
            </a:r>
            <a:r>
              <a:rPr lang="zh-CN" altLang="en-US" dirty="0">
                <a:sym typeface="Symbol" panose="05050102010706020507" pitchFamily="18" charset="2"/>
              </a:rPr>
              <a:t>是连接的恒等元素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  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b="1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* 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= (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| )</a:t>
            </a:r>
            <a:r>
              <a:rPr lang="en-US" altLang="zh-CN" b="1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*                  </a:t>
            </a:r>
            <a:r>
              <a:rPr lang="en-US" altLang="zh-CN" b="1" dirty="0">
                <a:sym typeface="Symbol" panose="05050102010706020507" pitchFamily="18" charset="2"/>
              </a:rPr>
              <a:t>             </a:t>
            </a:r>
            <a:r>
              <a:rPr lang="zh-CN" altLang="en-US" dirty="0">
                <a:sym typeface="Symbol" panose="05050102010706020507" pitchFamily="18" charset="2"/>
              </a:rPr>
              <a:t>肯定出现在一个闭包中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b="1" dirty="0">
                <a:sym typeface="Symbol" panose="05050102010706020507" pitchFamily="18" charset="2"/>
              </a:rPr>
              <a:t>  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b="1" i="1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** 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= r</a:t>
            </a:r>
            <a:r>
              <a:rPr lang="en-US" altLang="zh-CN" b="1" i="1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*</a:t>
            </a:r>
            <a:r>
              <a:rPr lang="en-US" altLang="zh-CN" b="1" dirty="0">
                <a:sym typeface="Symbol" panose="05050102010706020507" pitchFamily="18" charset="2"/>
              </a:rPr>
              <a:t>                              </a:t>
            </a:r>
            <a:r>
              <a:rPr lang="en-US" altLang="zh-CN" b="1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*</a:t>
            </a:r>
            <a:r>
              <a:rPr lang="zh-CN" altLang="en-US" dirty="0">
                <a:sym typeface="Symbol" panose="05050102010706020507" pitchFamily="18" charset="2"/>
              </a:rPr>
              <a:t>是幂等的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endParaRPr lang="zh-CN" altLang="en-US" b="1" dirty="0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5226CDE-3817-5D78-E8D5-DBED26DE5C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4C51F-9ED6-4A91-8CFB-8520BBBA7657}" type="datetime2">
              <a:rPr lang="zh-CN" altLang="en-US" smtClean="0"/>
              <a:t>2026年3月11日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4D6183F-371A-7778-DCE6-30E9C93EF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</a:t>
            </a:r>
            <a:r>
              <a:rPr lang="en-US" altLang="zh-CN"/>
              <a:t>2</a:t>
            </a:r>
            <a:r>
              <a:rPr lang="zh-CN" altLang="en-US"/>
              <a:t>章 词法分析</a:t>
            </a:r>
            <a:r>
              <a:rPr lang="en-US" altLang="zh-CN"/>
              <a:t>(1)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2BE5080-0FFE-56BF-726E-F11371F08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41</a:t>
            </a:fld>
            <a:endParaRPr lang="zh-CN" alt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6EBD64B9-4D0B-4533-86C3-F73BB39BE67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CN" dirty="0"/>
              <a:t>2.2.2 </a:t>
            </a:r>
            <a:r>
              <a:rPr lang="zh-CN" altLang="en-US" dirty="0"/>
              <a:t>正规式</a:t>
            </a:r>
          </a:p>
        </p:txBody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47EF6474-5FD6-4D62-AE78-C0676048B88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正规式不是串，也不是符号，它是一种</a:t>
            </a:r>
            <a:r>
              <a:rPr lang="zh-CN" altLang="en-US" dirty="0">
                <a:solidFill>
                  <a:schemeClr val="accent2"/>
                </a:solidFill>
              </a:rPr>
              <a:t>模式</a:t>
            </a:r>
            <a:r>
              <a:rPr lang="zh-CN" altLang="en-US" dirty="0"/>
              <a:t>，匹配该模式的所有串组成了一个语言（正规集）。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9B1C043-BADC-5141-FD64-12701FEF0C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FCA3D-4387-4A03-9DB9-65B3A3E5EC13}" type="datetime2">
              <a:rPr lang="zh-CN" altLang="en-US" smtClean="0"/>
              <a:t>2026年3月11日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B76399B-A775-7E8E-CC02-A3CF829FC8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</a:t>
            </a:r>
            <a:r>
              <a:rPr lang="en-US" altLang="zh-CN"/>
              <a:t>2</a:t>
            </a:r>
            <a:r>
              <a:rPr lang="zh-CN" altLang="en-US"/>
              <a:t>章 词法分析</a:t>
            </a:r>
            <a:r>
              <a:rPr lang="en-US" altLang="zh-CN"/>
              <a:t>(1)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F29276D-0202-5F6C-F7A1-62FDA61BF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42</a:t>
            </a:fld>
            <a:endParaRPr lang="zh-CN" alt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>
            <a:extLst>
              <a:ext uri="{FF2B5EF4-FFF2-40B4-BE49-F238E27FC236}">
                <a16:creationId xmlns:a16="http://schemas.microsoft.com/office/drawing/2014/main" id="{414A75FE-4280-406F-AABF-53A182C34C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CN"/>
              <a:t>2.2.3 </a:t>
            </a:r>
            <a:r>
              <a:rPr lang="zh-CN" altLang="en-US"/>
              <a:t>正规定义</a:t>
            </a:r>
          </a:p>
        </p:txBody>
      </p:sp>
      <p:sp>
        <p:nvSpPr>
          <p:cNvPr id="51203" name="Rectangle 3">
            <a:extLst>
              <a:ext uri="{FF2B5EF4-FFF2-40B4-BE49-F238E27FC236}">
                <a16:creationId xmlns:a16="http://schemas.microsoft.com/office/drawing/2014/main" id="{6DD5109E-061B-4D29-A765-DB304C9B4BC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zh-CN" altLang="en-US" sz="2000" dirty="0"/>
              <a:t>正规定义（</a:t>
            </a:r>
            <a:r>
              <a:rPr lang="en-US" altLang="zh-CN" sz="2000" dirty="0"/>
              <a:t>regular definition</a:t>
            </a:r>
            <a:r>
              <a:rPr lang="zh-CN" altLang="en-US" sz="2000" dirty="0"/>
              <a:t>）就是为正规式命名，以求得表示上的简洁。</a:t>
            </a:r>
          </a:p>
          <a:p>
            <a:pPr eaLnBrk="1" hangingPunct="1"/>
            <a:r>
              <a:rPr lang="zh-CN" altLang="en-US" sz="2000" dirty="0"/>
              <a:t>如果</a:t>
            </a:r>
            <a:r>
              <a:rPr lang="zh-CN" altLang="en-US" sz="2000" b="1" dirty="0">
                <a:sym typeface="Symbol" panose="05050102010706020507" pitchFamily="18" charset="2"/>
              </a:rPr>
              <a:t></a:t>
            </a:r>
            <a:r>
              <a:rPr lang="zh-CN" altLang="en-US" sz="2000" dirty="0">
                <a:sym typeface="Symbol" panose="05050102010706020507" pitchFamily="18" charset="2"/>
              </a:rPr>
              <a:t>是基本符号的字母表，则</a:t>
            </a:r>
            <a:r>
              <a:rPr lang="zh-CN" altLang="en-US" sz="2000" dirty="0">
                <a:solidFill>
                  <a:schemeClr val="accent2"/>
                </a:solidFill>
                <a:sym typeface="Symbol" panose="05050102010706020507" pitchFamily="18" charset="2"/>
              </a:rPr>
              <a:t>正规定义</a:t>
            </a:r>
            <a:r>
              <a:rPr lang="zh-CN" altLang="en-US" sz="2000" dirty="0">
                <a:sym typeface="Symbol" panose="05050102010706020507" pitchFamily="18" charset="2"/>
              </a:rPr>
              <a:t>是形式为</a:t>
            </a:r>
            <a:endParaRPr lang="zh-CN" altLang="en-US" sz="200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000" b="1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000" b="1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altLang="zh-CN" sz="2000" b="1" dirty="0">
              <a:latin typeface="Times New Roman" panose="02020603050405020304" pitchFamily="18" charset="0"/>
            </a:endParaRP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d</a:t>
            </a:r>
            <a:r>
              <a:rPr lang="en-US" altLang="zh-CN" sz="2000" b="1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000" b="1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altLang="zh-CN" sz="2000" b="1" dirty="0">
              <a:latin typeface="Times New Roman" panose="02020603050405020304" pitchFamily="18" charset="0"/>
            </a:endParaRP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. . .</a:t>
            </a:r>
            <a:endParaRPr lang="en-US" altLang="zh-CN" sz="2000" b="1" dirty="0">
              <a:latin typeface="Times New Roman" panose="02020603050405020304" pitchFamily="18" charset="0"/>
            </a:endParaRP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CN" sz="2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000" b="1" i="1" baseline="-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000" b="1" i="1" baseline="-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endParaRPr lang="en-US" altLang="zh-CN" sz="2000" b="1" dirty="0">
              <a:latin typeface="Times New Roman" panose="02020603050405020304" pitchFamily="18" charset="0"/>
            </a:endParaRP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zh-CN" sz="2000" dirty="0">
                <a:latin typeface="宋体" panose="02010600030101010101" pitchFamily="2" charset="-122"/>
              </a:rPr>
              <a:t> </a:t>
            </a:r>
            <a:r>
              <a:rPr lang="zh-CN" altLang="en-US" sz="2000" dirty="0">
                <a:latin typeface="宋体" panose="02010600030101010101" pitchFamily="2" charset="-122"/>
              </a:rPr>
              <a:t>的定义序列。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zh-CN" altLang="en-US" sz="2000" dirty="0">
                <a:latin typeface="宋体" panose="02010600030101010101" pitchFamily="2" charset="-122"/>
              </a:rPr>
              <a:t> 各个</a:t>
            </a:r>
            <a:r>
              <a:rPr lang="en-US" altLang="zh-CN" sz="2000" b="1" i="1" dirty="0">
                <a:latin typeface="Times New Roman" panose="02020603050405020304" pitchFamily="18" charset="0"/>
              </a:rPr>
              <a:t>d</a:t>
            </a:r>
            <a:r>
              <a:rPr lang="en-US" altLang="zh-CN" sz="2000" b="1" i="1" baseline="-25000" dirty="0">
                <a:latin typeface="Times New Roman" panose="02020603050405020304" pitchFamily="18" charset="0"/>
              </a:rPr>
              <a:t>i</a:t>
            </a:r>
            <a:r>
              <a:rPr lang="zh-CN" altLang="en-US" sz="2000" dirty="0">
                <a:latin typeface="宋体" panose="02010600030101010101" pitchFamily="2" charset="-122"/>
              </a:rPr>
              <a:t>的名字都不同，且不属于</a:t>
            </a:r>
            <a:r>
              <a:rPr lang="zh-CN" altLang="en-US" sz="2000" b="1" dirty="0">
                <a:sym typeface="Symbol" panose="05050102010706020507" pitchFamily="18" charset="2"/>
              </a:rPr>
              <a:t></a:t>
            </a:r>
            <a:endParaRPr lang="zh-CN" altLang="en-US" sz="2000" dirty="0">
              <a:latin typeface="宋体" panose="02010600030101010101" pitchFamily="2" charset="-122"/>
            </a:endParaRP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zh-CN" altLang="en-US" sz="2000" dirty="0">
                <a:latin typeface="宋体" panose="02010600030101010101" pitchFamily="2" charset="-122"/>
              </a:rPr>
              <a:t> 每个</a:t>
            </a:r>
            <a:r>
              <a:rPr lang="en-US" altLang="zh-CN" sz="2000" b="1" i="1" dirty="0" err="1">
                <a:latin typeface="Times New Roman" panose="02020603050405020304" pitchFamily="18" charset="0"/>
              </a:rPr>
              <a:t>r</a:t>
            </a:r>
            <a:r>
              <a:rPr lang="en-US" altLang="zh-CN" sz="2000" b="1" i="1" baseline="-25000" dirty="0" err="1">
                <a:latin typeface="Times New Roman" panose="02020603050405020304" pitchFamily="18" charset="0"/>
              </a:rPr>
              <a:t>i</a:t>
            </a:r>
            <a:r>
              <a:rPr lang="zh-CN" altLang="en-US" sz="2000" dirty="0">
                <a:latin typeface="宋体" panose="02010600030101010101" pitchFamily="2" charset="-122"/>
              </a:rPr>
              <a:t>都是</a:t>
            </a:r>
            <a:r>
              <a:rPr lang="zh-CN" altLang="en-US" sz="20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 </a:t>
            </a:r>
            <a:r>
              <a:rPr lang="en-US" altLang="zh-CN" sz="2000" b="1" dirty="0">
                <a:latin typeface="Times New Roman" panose="02020603050405020304" pitchFamily="18" charset="0"/>
              </a:rPr>
              <a:t>{</a:t>
            </a:r>
            <a:r>
              <a:rPr lang="en-US" altLang="zh-CN" sz="2000" b="1" i="1" dirty="0">
                <a:latin typeface="Times New Roman" panose="02020603050405020304" pitchFamily="18" charset="0"/>
              </a:rPr>
              <a:t>d</a:t>
            </a:r>
            <a:r>
              <a:rPr lang="en-US" altLang="zh-CN" sz="2000" b="1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sz="2000" b="1" dirty="0">
                <a:latin typeface="Times New Roman" panose="02020603050405020304" pitchFamily="18" charset="0"/>
              </a:rPr>
              <a:t>, </a:t>
            </a:r>
            <a:r>
              <a:rPr lang="en-US" altLang="zh-CN" sz="2000" b="1" i="1" dirty="0">
                <a:latin typeface="Times New Roman" panose="02020603050405020304" pitchFamily="18" charset="0"/>
              </a:rPr>
              <a:t>d</a:t>
            </a:r>
            <a:r>
              <a:rPr lang="en-US" altLang="zh-CN" sz="2000" b="1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sz="2000" b="1" dirty="0">
                <a:latin typeface="Times New Roman" panose="02020603050405020304" pitchFamily="18" charset="0"/>
              </a:rPr>
              <a:t>, …, </a:t>
            </a:r>
            <a:r>
              <a:rPr lang="en-US" altLang="zh-CN" sz="2000" b="1" i="1" dirty="0">
                <a:latin typeface="Times New Roman" panose="02020603050405020304" pitchFamily="18" charset="0"/>
              </a:rPr>
              <a:t>d</a:t>
            </a:r>
            <a:r>
              <a:rPr lang="en-US" altLang="zh-CN" sz="2000" b="1" i="1" baseline="-25000" dirty="0">
                <a:latin typeface="Times New Roman" panose="02020603050405020304" pitchFamily="18" charset="0"/>
              </a:rPr>
              <a:t>i</a:t>
            </a:r>
            <a:r>
              <a:rPr lang="en-US" altLang="zh-CN" sz="2000" b="1" baseline="-25000" dirty="0">
                <a:latin typeface="Times New Roman" panose="02020603050405020304" pitchFamily="18" charset="0"/>
              </a:rPr>
              <a:t>-1</a:t>
            </a:r>
            <a:r>
              <a:rPr lang="en-US" altLang="zh-CN" sz="2000" b="1" dirty="0">
                <a:latin typeface="Times New Roman" panose="02020603050405020304" pitchFamily="18" charset="0"/>
              </a:rPr>
              <a:t> }</a:t>
            </a:r>
            <a:r>
              <a:rPr lang="zh-CN" altLang="en-US" sz="2000" dirty="0">
                <a:latin typeface="宋体" panose="02010600030101010101" pitchFamily="2" charset="-122"/>
              </a:rPr>
              <a:t>上的正规式。</a:t>
            </a:r>
            <a:endParaRPr lang="zh-CN" altLang="en-US" sz="2000" dirty="0">
              <a:cs typeface="Times New Roman" panose="02020603050405020304" pitchFamily="18" charset="0"/>
            </a:endParaRPr>
          </a:p>
          <a:p>
            <a:pPr eaLnBrk="1" hangingPunct="1"/>
            <a:r>
              <a:rPr lang="zh-CN" altLang="en-US" sz="2000" dirty="0"/>
              <a:t>为区别名字和符号，下面用</a:t>
            </a:r>
            <a:r>
              <a:rPr lang="zh-CN" altLang="en-US" sz="2000" dirty="0">
                <a:solidFill>
                  <a:srgbClr val="008000"/>
                </a:solidFill>
              </a:rPr>
              <a:t>绿色</a:t>
            </a:r>
            <a:r>
              <a:rPr lang="zh-CN" altLang="en-US" sz="2000" dirty="0"/>
              <a:t>表示名字。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C5B74A6-6BF5-763A-00D3-3B5676473E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5E22F-BD48-45D7-B899-FCFF50F18D19}" type="datetime2">
              <a:rPr lang="zh-CN" altLang="en-US" smtClean="0"/>
              <a:t>2026年3月11日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97D451B-23E0-96D9-DBF2-A8881A6EE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</a:t>
            </a:r>
            <a:r>
              <a:rPr lang="en-US" altLang="zh-CN"/>
              <a:t>2</a:t>
            </a:r>
            <a:r>
              <a:rPr lang="zh-CN" altLang="en-US"/>
              <a:t>章 词法分析</a:t>
            </a:r>
            <a:r>
              <a:rPr lang="en-US" altLang="zh-CN"/>
              <a:t>(1)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10BD2C4-C9A6-C51D-44E2-414605254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43</a:t>
            </a:fld>
            <a:endParaRPr lang="zh-CN" alt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>
            <a:extLst>
              <a:ext uri="{FF2B5EF4-FFF2-40B4-BE49-F238E27FC236}">
                <a16:creationId xmlns:a16="http://schemas.microsoft.com/office/drawing/2014/main" id="{1965AF1D-22DD-48FB-9D4D-B66C68DF02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CN" dirty="0"/>
              <a:t>2.2.3 </a:t>
            </a:r>
            <a:r>
              <a:rPr lang="zh-CN" altLang="en-US" dirty="0"/>
              <a:t>正规定义</a:t>
            </a:r>
          </a:p>
        </p:txBody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A4F1901C-30DE-4899-A7EF-3F8AAA4CA19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zh-CN" altLang="en-US" dirty="0"/>
              <a:t>正规定义的例子（例</a:t>
            </a:r>
            <a:r>
              <a:rPr lang="en-US" altLang="zh-CN" dirty="0"/>
              <a:t>2.4</a:t>
            </a:r>
            <a:r>
              <a:rPr lang="zh-CN" altLang="en-US" dirty="0"/>
              <a:t>）</a:t>
            </a:r>
            <a:endParaRPr lang="zh-CN" altLang="en-US" b="1" dirty="0"/>
          </a:p>
          <a:p>
            <a:pPr lvl="1"/>
            <a:r>
              <a:rPr lang="en-US" altLang="zh-CN" b="1" dirty="0">
                <a:latin typeface="Times New Roman" panose="02020603050405020304" pitchFamily="18" charset="0"/>
              </a:rPr>
              <a:t>C</a:t>
            </a:r>
            <a:r>
              <a:rPr lang="zh-CN" altLang="en-US" dirty="0">
                <a:latin typeface="Times New Roman" panose="02020603050405020304" pitchFamily="18" charset="0"/>
              </a:rPr>
              <a:t>语言的标识符（字母、数字、下划线组成的串）集合：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en-US" altLang="zh-CN" b="1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letter_</a:t>
            </a:r>
            <a:r>
              <a:rPr lang="en-US" altLang="zh-CN" b="1" dirty="0">
                <a:latin typeface="Times New Roman" panose="02020603050405020304" pitchFamily="18" charset="0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| … | 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|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 | _</a:t>
            </a:r>
          </a:p>
          <a:p>
            <a:pPr marL="457200" lvl="1" indent="0">
              <a:buNone/>
            </a:pPr>
            <a:r>
              <a:rPr lang="en-US" altLang="zh-CN" b="1" dirty="0">
                <a:solidFill>
                  <a:srgbClr val="008000"/>
                </a:solidFill>
                <a:latin typeface="Times New Roman" panose="02020603050405020304" pitchFamily="18" charset="0"/>
              </a:rPr>
              <a:t>   digit</a:t>
            </a:r>
            <a:r>
              <a:rPr lang="en-US" altLang="zh-CN" b="1" dirty="0">
                <a:latin typeface="Times New Roman" panose="02020603050405020304" pitchFamily="18" charset="0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0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1 | … | 9</a:t>
            </a:r>
          </a:p>
          <a:p>
            <a:pPr marL="457200" lvl="1" indent="0">
              <a:buNone/>
            </a:pPr>
            <a:r>
              <a:rPr lang="en-US" altLang="zh-CN" b="1" dirty="0">
                <a:solidFill>
                  <a:srgbClr val="008000"/>
                </a:solidFill>
                <a:latin typeface="Times New Roman" panose="02020603050405020304" pitchFamily="18" charset="0"/>
              </a:rPr>
              <a:t>   id</a:t>
            </a:r>
            <a:r>
              <a:rPr lang="en-US" altLang="zh-CN" b="1" dirty="0">
                <a:latin typeface="Times New Roman" panose="02020603050405020304" pitchFamily="18" charset="0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b="1" dirty="0">
                <a:latin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008000"/>
                </a:solidFill>
                <a:latin typeface="Times New Roman" panose="02020603050405020304" pitchFamily="18" charset="0"/>
              </a:rPr>
              <a:t>letter_</a:t>
            </a:r>
            <a:r>
              <a:rPr lang="en-US" altLang="zh-CN" b="1" dirty="0">
                <a:latin typeface="Times New Roman" panose="02020603050405020304" pitchFamily="18" charset="0"/>
              </a:rPr>
              <a:t>(</a:t>
            </a:r>
            <a:r>
              <a:rPr lang="en-US" altLang="zh-CN" b="1" dirty="0" err="1">
                <a:solidFill>
                  <a:srgbClr val="008000"/>
                </a:solidFill>
                <a:latin typeface="Times New Roman" panose="02020603050405020304" pitchFamily="18" charset="0"/>
              </a:rPr>
              <a:t>letter_</a:t>
            </a:r>
            <a:r>
              <a:rPr lang="en-US" altLang="zh-CN" b="1" dirty="0" err="1">
                <a:latin typeface="Times New Roman" panose="02020603050405020304" pitchFamily="18" charset="0"/>
              </a:rPr>
              <a:t>|</a:t>
            </a:r>
            <a:r>
              <a:rPr lang="en-US" altLang="zh-CN" b="1" dirty="0" err="1">
                <a:solidFill>
                  <a:srgbClr val="008000"/>
                </a:solidFill>
                <a:latin typeface="Times New Roman" panose="02020603050405020304" pitchFamily="18" charset="0"/>
              </a:rPr>
              <a:t>digit</a:t>
            </a:r>
            <a:r>
              <a:rPr lang="en-US" altLang="zh-CN" b="1" dirty="0">
                <a:latin typeface="Times New Roman" panose="02020603050405020304" pitchFamily="18" charset="0"/>
              </a:rPr>
              <a:t>)</a:t>
            </a:r>
            <a:r>
              <a:rPr lang="en-US" altLang="zh-CN" b="1" baseline="30000" dirty="0">
                <a:latin typeface="Times New Roman" panose="02020603050405020304" pitchFamily="18" charset="0"/>
              </a:rPr>
              <a:t>*</a:t>
            </a:r>
            <a:r>
              <a:rPr lang="en-US" altLang="zh-CN" dirty="0"/>
              <a:t> </a:t>
            </a:r>
          </a:p>
          <a:p>
            <a:pPr eaLnBrk="1" hangingPunct="1"/>
            <a:endParaRPr lang="en-US" altLang="zh-CN" dirty="0"/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3E4E74E-BBF1-422E-18F2-A96DE47CD8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131431-D42F-48DE-B9EC-A43DFAB664A0}" type="datetime2">
              <a:rPr lang="zh-CN" altLang="en-US" smtClean="0"/>
              <a:t>2026年3月11日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155D80E-9A6A-2838-00EB-E29945A06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</a:t>
            </a:r>
            <a:r>
              <a:rPr lang="en-US" altLang="zh-CN"/>
              <a:t>2</a:t>
            </a:r>
            <a:r>
              <a:rPr lang="zh-CN" altLang="en-US"/>
              <a:t>章 词法分析</a:t>
            </a:r>
            <a:r>
              <a:rPr lang="en-US" altLang="zh-CN"/>
              <a:t>(1)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EA853B0-B07A-7D35-3EED-D10826BD1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44</a:t>
            </a:fld>
            <a:endParaRPr lang="zh-CN" alt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>
            <a:extLst>
              <a:ext uri="{FF2B5EF4-FFF2-40B4-BE49-F238E27FC236}">
                <a16:creationId xmlns:a16="http://schemas.microsoft.com/office/drawing/2014/main" id="{1C832218-E820-4AFE-89D8-F516D40A4A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CN" dirty="0"/>
              <a:t>2.2.3 </a:t>
            </a:r>
            <a:r>
              <a:rPr lang="zh-CN" altLang="en-US" dirty="0"/>
              <a:t>正规定义</a:t>
            </a:r>
          </a:p>
        </p:txBody>
      </p:sp>
      <p:sp>
        <p:nvSpPr>
          <p:cNvPr id="53251" name="Rectangle 3">
            <a:extLst>
              <a:ext uri="{FF2B5EF4-FFF2-40B4-BE49-F238E27FC236}">
                <a16:creationId xmlns:a16="http://schemas.microsoft.com/office/drawing/2014/main" id="{E69A544B-C824-4735-B6EE-4E83AB6685A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正规定义的例子（例</a:t>
            </a:r>
            <a:r>
              <a:rPr lang="en-US" altLang="zh-CN" dirty="0"/>
              <a:t>2.5</a:t>
            </a:r>
            <a:r>
              <a:rPr lang="zh-CN" altLang="en-US" dirty="0"/>
              <a:t>）</a:t>
            </a:r>
          </a:p>
          <a:p>
            <a:pPr lvl="1"/>
            <a:endParaRPr lang="en-US" altLang="zh-CN" sz="2400" dirty="0">
              <a:latin typeface="Times New Roman" panose="02020603050405020304" pitchFamily="18" charset="0"/>
            </a:endParaRPr>
          </a:p>
          <a:p>
            <a:pPr lvl="1"/>
            <a:r>
              <a:rPr lang="zh-CN" altLang="en-US" sz="2400" dirty="0">
                <a:latin typeface="Times New Roman" panose="02020603050405020304" pitchFamily="18" charset="0"/>
              </a:rPr>
              <a:t>无符号数（整数、浮点数）集合，例</a:t>
            </a:r>
            <a:r>
              <a:rPr lang="en-US" altLang="zh-CN" sz="2400" b="1" dirty="0">
                <a:latin typeface="Times New Roman" panose="02020603050405020304" pitchFamily="18" charset="0"/>
              </a:rPr>
              <a:t>1946, 11.28, 63E8, 1.99E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400" b="1" dirty="0">
                <a:latin typeface="Times New Roman" panose="02020603050405020304" pitchFamily="18" charset="0"/>
              </a:rPr>
              <a:t>6 </a:t>
            </a:r>
            <a:endParaRPr lang="en-US" altLang="zh-CN" sz="3600" b="1" dirty="0">
              <a:latin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en-US" altLang="zh-CN" sz="2400" b="1" dirty="0">
                <a:solidFill>
                  <a:srgbClr val="008000"/>
                </a:solidFill>
                <a:latin typeface="Times New Roman" panose="02020603050405020304" pitchFamily="18" charset="0"/>
              </a:rPr>
              <a:t>   digit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0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1 | … | 9</a:t>
            </a:r>
          </a:p>
          <a:p>
            <a:pPr marL="457200" lvl="1" indent="0">
              <a:buNone/>
            </a:pPr>
            <a:r>
              <a:rPr lang="en-US" altLang="zh-CN" sz="2400" b="1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CN" sz="2400" b="1" dirty="0">
                <a:solidFill>
                  <a:srgbClr val="008000"/>
                </a:solidFill>
                <a:latin typeface="Times New Roman" panose="02020603050405020304" pitchFamily="18" charset="0"/>
              </a:rPr>
              <a:t>digits</a:t>
            </a:r>
            <a:r>
              <a:rPr lang="en-US" altLang="zh-CN" sz="2400" b="1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solidFill>
                  <a:srgbClr val="008000"/>
                </a:solidFill>
                <a:latin typeface="Times New Roman" panose="02020603050405020304" pitchFamily="18" charset="0"/>
              </a:rPr>
              <a:t>digit</a:t>
            </a:r>
            <a:r>
              <a:rPr lang="en-US" altLang="zh-CN" sz="2400" b="1" dirty="0">
                <a:latin typeface="Times New Roman" panose="02020603050405020304" pitchFamily="18" charset="0"/>
              </a:rPr>
              <a:t> </a:t>
            </a:r>
            <a:r>
              <a:rPr lang="en-US" altLang="zh-CN" sz="2400" b="1" dirty="0">
                <a:solidFill>
                  <a:srgbClr val="008000"/>
                </a:solidFill>
                <a:latin typeface="Times New Roman" panose="02020603050405020304" pitchFamily="18" charset="0"/>
              </a:rPr>
              <a:t>digit</a:t>
            </a:r>
            <a:r>
              <a:rPr lang="en-US" altLang="zh-CN" sz="24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</a:p>
          <a:p>
            <a:pPr marL="457200" lvl="1" indent="0">
              <a:buNone/>
            </a:pPr>
            <a:r>
              <a:rPr lang="en-US" altLang="zh-CN" sz="2400" b="1" baseline="30000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2400" b="1" dirty="0" err="1">
                <a:solidFill>
                  <a:srgbClr val="008000"/>
                </a:solidFill>
                <a:latin typeface="Times New Roman" panose="02020603050405020304" pitchFamily="18" charset="0"/>
              </a:rPr>
              <a:t>optional_fraction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.</a:t>
            </a:r>
            <a:r>
              <a:rPr lang="en-US" altLang="zh-CN" sz="2400" b="1" dirty="0">
                <a:solidFill>
                  <a:srgbClr val="008000"/>
                </a:solidFill>
                <a:latin typeface="Times New Roman" panose="02020603050405020304" pitchFamily="18" charset="0"/>
              </a:rPr>
              <a:t>digits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</a:t>
            </a:r>
          </a:p>
          <a:p>
            <a:pPr marL="457200" lvl="1" indent="0">
              <a:buNone/>
            </a:pPr>
            <a:r>
              <a:rPr lang="en-US" altLang="zh-CN" sz="2400" b="1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</a:t>
            </a:r>
            <a:r>
              <a:rPr lang="en-US" altLang="zh-CN" sz="2400" b="1" dirty="0" err="1">
                <a:solidFill>
                  <a:srgbClr val="008000"/>
                </a:solidFill>
                <a:latin typeface="Times New Roman" panose="02020603050405020304" pitchFamily="18" charset="0"/>
              </a:rPr>
              <a:t>optional_exponent</a:t>
            </a:r>
            <a:r>
              <a:rPr lang="en-US" altLang="zh-CN" sz="2400" b="1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(E ( + |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|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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) </a:t>
            </a:r>
            <a:r>
              <a:rPr lang="en-US" altLang="zh-CN" sz="2400" b="1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digits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) |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</a:t>
            </a:r>
          </a:p>
          <a:p>
            <a:pPr marL="457200" lvl="1" indent="0">
              <a:buNone/>
            </a:pPr>
            <a:r>
              <a:rPr lang="en-US" altLang="zh-CN" sz="2400" b="1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</a:t>
            </a:r>
            <a:r>
              <a:rPr lang="en-US" altLang="zh-CN" sz="2400" b="1" dirty="0">
                <a:solidFill>
                  <a:srgbClr val="008000"/>
                </a:solidFill>
                <a:latin typeface="Times New Roman" panose="02020603050405020304" pitchFamily="18" charset="0"/>
              </a:rPr>
              <a:t>num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solidFill>
                  <a:srgbClr val="008000"/>
                </a:solidFill>
                <a:latin typeface="Times New Roman" panose="02020603050405020304" pitchFamily="18" charset="0"/>
              </a:rPr>
              <a:t>digits</a:t>
            </a:r>
            <a:r>
              <a:rPr lang="en-US" altLang="zh-CN" sz="2400" b="1" dirty="0">
                <a:latin typeface="Times New Roman" panose="02020603050405020304" pitchFamily="18" charset="0"/>
              </a:rPr>
              <a:t> </a:t>
            </a:r>
            <a:r>
              <a:rPr lang="en-US" altLang="zh-CN" sz="2400" b="1" dirty="0" err="1">
                <a:solidFill>
                  <a:srgbClr val="008000"/>
                </a:solidFill>
                <a:latin typeface="Times New Roman" panose="02020603050405020304" pitchFamily="18" charset="0"/>
              </a:rPr>
              <a:t>optional_fraction</a:t>
            </a:r>
            <a:r>
              <a:rPr lang="en-US" altLang="zh-CN" sz="2400" b="1" dirty="0">
                <a:latin typeface="Times New Roman" panose="02020603050405020304" pitchFamily="18" charset="0"/>
              </a:rPr>
              <a:t> </a:t>
            </a:r>
            <a:r>
              <a:rPr lang="en-US" altLang="zh-CN" sz="2400" b="1" dirty="0" err="1">
                <a:solidFill>
                  <a:srgbClr val="008000"/>
                </a:solidFill>
                <a:latin typeface="Times New Roman" panose="02020603050405020304" pitchFamily="18" charset="0"/>
              </a:rPr>
              <a:t>optional_exponent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C74ED73-0D50-470C-9326-4519198FA6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6F4FD-882C-486A-B313-44834BA84C0F}" type="datetime2">
              <a:rPr lang="zh-CN" altLang="en-US" smtClean="0"/>
              <a:t>2026年3月11日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692A6DE-7386-0299-BAA2-6655851FED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</a:t>
            </a:r>
            <a:r>
              <a:rPr lang="en-US" altLang="zh-CN"/>
              <a:t>2</a:t>
            </a:r>
            <a:r>
              <a:rPr lang="zh-CN" altLang="en-US"/>
              <a:t>章 词法分析</a:t>
            </a:r>
            <a:r>
              <a:rPr lang="en-US" altLang="zh-CN"/>
              <a:t>(1)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595C339-9A5A-2FB2-0873-6176F398D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45</a:t>
            </a:fld>
            <a:endParaRPr lang="zh-CN" alt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>
            <a:extLst>
              <a:ext uri="{FF2B5EF4-FFF2-40B4-BE49-F238E27FC236}">
                <a16:creationId xmlns:a16="http://schemas.microsoft.com/office/drawing/2014/main" id="{51094040-CA85-4561-B8F7-F7156D6A4C8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CN" dirty="0"/>
              <a:t>2.2.3 </a:t>
            </a:r>
            <a:r>
              <a:rPr lang="zh-CN" altLang="en-US" dirty="0"/>
              <a:t>正规定义</a:t>
            </a:r>
          </a:p>
        </p:txBody>
      </p:sp>
      <p:sp>
        <p:nvSpPr>
          <p:cNvPr id="54275" name="Rectangle 3">
            <a:extLst>
              <a:ext uri="{FF2B5EF4-FFF2-40B4-BE49-F238E27FC236}">
                <a16:creationId xmlns:a16="http://schemas.microsoft.com/office/drawing/2014/main" id="{52A263B7-08D5-4867-8930-642D51071031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zh-CN" altLang="en-US" dirty="0"/>
              <a:t>正规式的扩展</a:t>
            </a:r>
            <a:r>
              <a:rPr lang="zh-CN" altLang="en-US" dirty="0">
                <a:sym typeface="Wingdings" panose="05000000000000000000" pitchFamily="2" charset="2"/>
              </a:rPr>
              <a:t>：（</a:t>
            </a:r>
            <a:r>
              <a:rPr lang="en-US" altLang="zh-CN" dirty="0">
                <a:sym typeface="Wingdings" panose="05000000000000000000" pitchFamily="2" charset="2"/>
              </a:rPr>
              <a:t>syntactic sugar</a:t>
            </a:r>
            <a:r>
              <a:rPr lang="zh-CN" altLang="en-US" dirty="0">
                <a:sym typeface="Wingdings" panose="05000000000000000000" pitchFamily="2" charset="2"/>
              </a:rPr>
              <a:t>，语法糖。为了表示上的简洁）</a:t>
            </a:r>
            <a:endParaRPr lang="zh-CN" altLang="en-US" dirty="0"/>
          </a:p>
          <a:p>
            <a:pPr lvl="1" eaLnBrk="1" hangingPunct="1"/>
            <a:r>
              <a:rPr lang="zh-CN" altLang="en-US" dirty="0"/>
              <a:t>一个或多个实例：</a:t>
            </a:r>
            <a:r>
              <a:rPr lang="zh-CN" altLang="en-US" dirty="0">
                <a:latin typeface="Arial" panose="020B0604020202020204" pitchFamily="34" charset="0"/>
              </a:rPr>
              <a:t>“</a:t>
            </a:r>
            <a:r>
              <a:rPr lang="en-US" altLang="zh-CN" b="1" baseline="30000" dirty="0">
                <a:latin typeface="Times New Roman" panose="02020603050405020304" pitchFamily="18" charset="0"/>
              </a:rPr>
              <a:t>+</a:t>
            </a:r>
            <a:r>
              <a:rPr lang="en-US" altLang="zh-CN" dirty="0">
                <a:latin typeface="Arial" panose="020B0604020202020204" pitchFamily="34" charset="0"/>
              </a:rPr>
              <a:t>”</a:t>
            </a:r>
            <a:r>
              <a:rPr lang="zh-CN" altLang="en-US" dirty="0"/>
              <a:t>，即</a:t>
            </a:r>
            <a:r>
              <a:rPr lang="en-US" altLang="zh-CN" b="1" i="1" dirty="0">
                <a:latin typeface="Times New Roman" panose="02020603050405020304" pitchFamily="18" charset="0"/>
              </a:rPr>
              <a:t>a</a:t>
            </a:r>
            <a:r>
              <a:rPr lang="en-US" altLang="zh-CN" b="1" baseline="30000" dirty="0">
                <a:latin typeface="Times New Roman" panose="02020603050405020304" pitchFamily="18" charset="0"/>
              </a:rPr>
              <a:t>+</a:t>
            </a:r>
            <a:r>
              <a:rPr lang="zh-CN" altLang="en-US" dirty="0"/>
              <a:t>表示一个或多个</a:t>
            </a:r>
            <a:r>
              <a:rPr lang="en-US" altLang="zh-CN" b="1" i="1" dirty="0">
                <a:latin typeface="Times New Roman" panose="02020603050405020304" pitchFamily="18" charset="0"/>
              </a:rPr>
              <a:t>a</a:t>
            </a:r>
            <a:r>
              <a:rPr lang="zh-CN" altLang="en-US" dirty="0"/>
              <a:t>组成的所有串的集合。</a:t>
            </a:r>
          </a:p>
          <a:p>
            <a:pPr lvl="2" eaLnBrk="1" hangingPunct="1"/>
            <a:r>
              <a:rPr lang="zh-CN" altLang="en-US" dirty="0">
                <a:latin typeface="Times New Roman" panose="02020603050405020304" pitchFamily="18" charset="0"/>
              </a:rPr>
              <a:t>相关代数定律：</a:t>
            </a:r>
            <a:r>
              <a:rPr lang="en-US" altLang="zh-CN" b="1" i="1" dirty="0">
                <a:latin typeface="Times New Roman" panose="02020603050405020304" pitchFamily="18" charset="0"/>
              </a:rPr>
              <a:t>r*=r</a:t>
            </a:r>
            <a:r>
              <a:rPr lang="en-US" altLang="zh-CN" b="1" i="1" baseline="30000" dirty="0">
                <a:latin typeface="Times New Roman" panose="02020603050405020304" pitchFamily="18" charset="0"/>
              </a:rPr>
              <a:t>+</a:t>
            </a:r>
            <a:r>
              <a:rPr lang="en-US" altLang="zh-CN" b="1" i="1" dirty="0">
                <a:latin typeface="Times New Roman" panose="02020603050405020304" pitchFamily="18" charset="0"/>
              </a:rPr>
              <a:t>|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</a:t>
            </a:r>
            <a:r>
              <a:rPr lang="en-US" altLang="zh-CN" dirty="0"/>
              <a:t> </a:t>
            </a:r>
            <a:r>
              <a:rPr lang="zh-CN" altLang="en-US" dirty="0"/>
              <a:t>； </a:t>
            </a:r>
            <a:r>
              <a:rPr lang="en-US" altLang="zh-CN" b="1" i="1" dirty="0">
                <a:latin typeface="Times New Roman" panose="02020603050405020304" pitchFamily="18" charset="0"/>
              </a:rPr>
              <a:t>r</a:t>
            </a:r>
            <a:r>
              <a:rPr lang="en-US" altLang="zh-CN" b="1" i="1" baseline="30000" dirty="0">
                <a:latin typeface="Times New Roman" panose="02020603050405020304" pitchFamily="18" charset="0"/>
              </a:rPr>
              <a:t>+</a:t>
            </a:r>
            <a:r>
              <a:rPr lang="en-US" altLang="zh-CN" b="1" i="1" dirty="0">
                <a:latin typeface="Times New Roman" panose="02020603050405020304" pitchFamily="18" charset="0"/>
              </a:rPr>
              <a:t> = 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rr</a:t>
            </a:r>
            <a:r>
              <a:rPr lang="en-US" altLang="zh-CN" b="1" i="1" dirty="0">
                <a:latin typeface="Times New Roman" panose="02020603050405020304" pitchFamily="18" charset="0"/>
              </a:rPr>
              <a:t>*=r*r</a:t>
            </a:r>
            <a:r>
              <a:rPr lang="en-US" altLang="zh-CN" dirty="0"/>
              <a:t> </a:t>
            </a:r>
            <a:r>
              <a:rPr lang="zh-CN" altLang="en-US" dirty="0"/>
              <a:t>。</a:t>
            </a:r>
          </a:p>
          <a:p>
            <a:pPr lvl="1" eaLnBrk="1" hangingPunct="1"/>
            <a:r>
              <a:rPr lang="zh-CN" altLang="en-US" dirty="0"/>
              <a:t>零个或一个实例：</a:t>
            </a:r>
            <a:r>
              <a:rPr lang="zh-CN" altLang="en-US" dirty="0">
                <a:latin typeface="Arial" panose="020B0604020202020204" pitchFamily="34" charset="0"/>
              </a:rPr>
              <a:t>“</a:t>
            </a:r>
            <a:r>
              <a:rPr lang="en-US" altLang="zh-CN" b="1" dirty="0">
                <a:latin typeface="Times New Roman" panose="02020603050405020304" pitchFamily="18" charset="0"/>
              </a:rPr>
              <a:t>?</a:t>
            </a:r>
            <a:r>
              <a:rPr lang="en-US" altLang="zh-CN" dirty="0">
                <a:latin typeface="Arial" panose="020B0604020202020204" pitchFamily="34" charset="0"/>
              </a:rPr>
              <a:t>”</a:t>
            </a:r>
            <a:r>
              <a:rPr lang="zh-CN" altLang="en-US" dirty="0"/>
              <a:t>，即</a:t>
            </a:r>
            <a:r>
              <a:rPr lang="en-US" altLang="zh-CN" b="1" i="1" dirty="0">
                <a:latin typeface="Times New Roman" panose="02020603050405020304" pitchFamily="18" charset="0"/>
              </a:rPr>
              <a:t>r</a:t>
            </a:r>
            <a:r>
              <a:rPr lang="en-US" altLang="zh-CN" b="1" dirty="0">
                <a:latin typeface="Times New Roman" panose="02020603050405020304" pitchFamily="18" charset="0"/>
              </a:rPr>
              <a:t>?</a:t>
            </a:r>
            <a:r>
              <a:rPr lang="zh-CN" altLang="en-US" dirty="0"/>
              <a:t>是</a:t>
            </a:r>
            <a:r>
              <a:rPr lang="en-US" altLang="zh-CN" b="1" i="1" dirty="0">
                <a:latin typeface="Times New Roman" panose="02020603050405020304" pitchFamily="18" charset="0"/>
              </a:rPr>
              <a:t>r|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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的缩写。</a:t>
            </a:r>
          </a:p>
          <a:p>
            <a:pPr lvl="1" eaLnBrk="1" hangingPunct="1"/>
            <a:r>
              <a:rPr lang="zh-CN" altLang="en-US" dirty="0">
                <a:latin typeface="Arial" panose="020B0604020202020204" pitchFamily="34" charset="0"/>
              </a:rPr>
              <a:t>“</a:t>
            </a:r>
            <a:r>
              <a:rPr lang="en-US" altLang="zh-CN" b="1" baseline="30000" dirty="0">
                <a:latin typeface="Times New Roman" panose="02020603050405020304" pitchFamily="18" charset="0"/>
              </a:rPr>
              <a:t>+</a:t>
            </a:r>
            <a:r>
              <a:rPr lang="en-US" altLang="zh-CN" dirty="0">
                <a:latin typeface="Arial" panose="020B0604020202020204" pitchFamily="34" charset="0"/>
              </a:rPr>
              <a:t>”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和</a:t>
            </a:r>
            <a:r>
              <a:rPr lang="zh-CN" altLang="en-US" dirty="0">
                <a:latin typeface="Arial" panose="020B0604020202020204" pitchFamily="34" charset="0"/>
              </a:rPr>
              <a:t>“</a:t>
            </a:r>
            <a:r>
              <a:rPr lang="en-US" altLang="zh-CN" b="1" dirty="0">
                <a:latin typeface="Times New Roman" panose="02020603050405020304" pitchFamily="18" charset="0"/>
              </a:rPr>
              <a:t>?</a:t>
            </a:r>
            <a:r>
              <a:rPr lang="en-US" altLang="zh-CN" dirty="0">
                <a:latin typeface="Arial" panose="020B0604020202020204" pitchFamily="34" charset="0"/>
              </a:rPr>
              <a:t>”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的优先级与结合性与</a:t>
            </a:r>
            <a:r>
              <a:rPr lang="zh-CN" altLang="en-US" dirty="0">
                <a:latin typeface="Arial" panose="020B0604020202020204" pitchFamily="34" charset="0"/>
              </a:rPr>
              <a:t>“</a:t>
            </a:r>
            <a:r>
              <a:rPr lang="zh-CN" altLang="en-US" b="1" dirty="0">
                <a:latin typeface="Times New Roman" panose="02020603050405020304" pitchFamily="18" charset="0"/>
              </a:rPr>
              <a:t>*</a:t>
            </a:r>
            <a:r>
              <a:rPr lang="zh-CN" altLang="en-US" dirty="0">
                <a:latin typeface="Arial" panose="020B0604020202020204" pitchFamily="34" charset="0"/>
              </a:rPr>
              <a:t>”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相同。</a:t>
            </a:r>
            <a:endParaRPr lang="zh-CN" altLang="en-US" baseline="30000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lvl="1" eaLnBrk="1" hangingPunct="1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字符组：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[</a:t>
            </a:r>
            <a:r>
              <a:rPr lang="en-US" altLang="zh-CN" b="1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abc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]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表示正规式</a:t>
            </a:r>
            <a:r>
              <a:rPr lang="en-US" altLang="zh-CN" b="1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a|b|c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，缩写字符组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[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-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z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]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表示</a:t>
            </a:r>
            <a:r>
              <a:rPr lang="en-US" altLang="zh-CN" b="1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a|b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|…|z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等。</a:t>
            </a:r>
            <a:r>
              <a:rPr lang="en-US" altLang="zh-CN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[</a:t>
            </a:r>
            <a:r>
              <a:rPr lang="en-US" altLang="zh-CN" b="1" i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e</a:t>
            </a:r>
            <a:r>
              <a:rPr lang="en-US" altLang="zh-CN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-</a:t>
            </a:r>
            <a:r>
              <a:rPr lang="en-US" altLang="zh-CN" b="1" i="1" dirty="0" err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gi</a:t>
            </a:r>
            <a:r>
              <a:rPr lang="en-US" altLang="zh-CN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-</a:t>
            </a:r>
            <a:r>
              <a:rPr lang="en-US" altLang="zh-CN" b="1" i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k</a:t>
            </a:r>
            <a:r>
              <a:rPr lang="en-US" altLang="zh-CN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]</a:t>
            </a:r>
            <a:r>
              <a:rPr lang="zh-CN" alt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表示什么？</a:t>
            </a:r>
            <a:endParaRPr lang="zh-CN" altLang="en-US" b="1" i="1" dirty="0">
              <a:solidFill>
                <a:schemeClr val="accent2"/>
              </a:solidFill>
            </a:endParaRPr>
          </a:p>
          <a:p>
            <a:pPr lvl="1" eaLnBrk="1" hangingPunct="1"/>
            <a:endParaRPr lang="en-US" altLang="zh-CN" dirty="0"/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8D2E2DA-675E-7F36-A94C-1714C4A1CD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85ABE-0FBF-481B-807C-9BF44D1F3C51}" type="datetime2">
              <a:rPr lang="zh-CN" altLang="en-US" smtClean="0"/>
              <a:t>2026年3月11日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C5A2FB4-6F30-D2A0-746A-4CB4CBD25C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</a:t>
            </a:r>
            <a:r>
              <a:rPr lang="en-US" altLang="zh-CN"/>
              <a:t>2</a:t>
            </a:r>
            <a:r>
              <a:rPr lang="zh-CN" altLang="en-US"/>
              <a:t>章 词法分析</a:t>
            </a:r>
            <a:r>
              <a:rPr lang="en-US" altLang="zh-CN"/>
              <a:t>(1)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2F0AAC5-2017-4173-A7BD-B3A8F6962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46</a:t>
            </a:fld>
            <a:endParaRPr lang="zh-CN" alt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>
            <a:extLst>
              <a:ext uri="{FF2B5EF4-FFF2-40B4-BE49-F238E27FC236}">
                <a16:creationId xmlns:a16="http://schemas.microsoft.com/office/drawing/2014/main" id="{D1802F6D-08E1-41EB-B9B4-23764127EB3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CN" dirty="0"/>
              <a:t>2.2.3 </a:t>
            </a:r>
            <a:r>
              <a:rPr lang="zh-CN" altLang="en-US" dirty="0"/>
              <a:t>正规定义</a:t>
            </a:r>
          </a:p>
        </p:txBody>
      </p:sp>
      <p:sp>
        <p:nvSpPr>
          <p:cNvPr id="56323" name="Rectangle 3">
            <a:extLst>
              <a:ext uri="{FF2B5EF4-FFF2-40B4-BE49-F238E27FC236}">
                <a16:creationId xmlns:a16="http://schemas.microsoft.com/office/drawing/2014/main" id="{5983321F-43A3-457E-BB89-D556DCDE428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zh-CN" altLang="en-US" dirty="0">
                <a:latin typeface="Times New Roman" panose="02020603050405020304" pitchFamily="18" charset="0"/>
              </a:rPr>
              <a:t>例</a:t>
            </a:r>
            <a:r>
              <a:rPr lang="en-US" altLang="zh-CN" dirty="0">
                <a:latin typeface="Times New Roman" panose="02020603050405020304" pitchFamily="18" charset="0"/>
              </a:rPr>
              <a:t>2.5 </a:t>
            </a:r>
            <a:r>
              <a:rPr lang="zh-CN" altLang="en-US" dirty="0">
                <a:latin typeface="Times New Roman" panose="02020603050405020304" pitchFamily="18" charset="0"/>
              </a:rPr>
              <a:t>无符号数的简化表示：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b="1" dirty="0">
                <a:solidFill>
                  <a:srgbClr val="008000"/>
                </a:solidFill>
                <a:latin typeface="Times New Roman" panose="02020603050405020304" pitchFamily="18" charset="0"/>
              </a:rPr>
              <a:t> 	</a:t>
            </a:r>
            <a:r>
              <a:rPr lang="en-US" altLang="zh-CN" b="1" dirty="0">
                <a:solidFill>
                  <a:srgbClr val="008000"/>
                </a:solidFill>
                <a:latin typeface="Times New Roman" panose="02020603050405020304" pitchFamily="18" charset="0"/>
              </a:rPr>
              <a:t>digit</a:t>
            </a:r>
            <a:r>
              <a:rPr lang="en-US" altLang="zh-CN" b="1" dirty="0">
                <a:latin typeface="Times New Roman" panose="02020603050405020304" pitchFamily="18" charset="0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[0-9]</a:t>
            </a:r>
            <a:r>
              <a:rPr lang="en-US" altLang="zh-CN" b="1" dirty="0">
                <a:latin typeface="Times New Roman" panose="02020603050405020304" pitchFamily="18" charset="0"/>
              </a:rPr>
              <a:t> 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b="1" dirty="0">
                <a:solidFill>
                  <a:srgbClr val="008000"/>
                </a:solidFill>
                <a:latin typeface="Times New Roman" panose="02020603050405020304" pitchFamily="18" charset="0"/>
              </a:rPr>
              <a:t>	digits</a:t>
            </a:r>
            <a:r>
              <a:rPr lang="en-US" altLang="zh-CN" b="1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008000"/>
                </a:solidFill>
                <a:latin typeface="Times New Roman" panose="02020603050405020304" pitchFamily="18" charset="0"/>
              </a:rPr>
              <a:t>digit</a:t>
            </a:r>
            <a:r>
              <a:rPr lang="en-US" altLang="zh-CN" b="1" baseline="30000" dirty="0">
                <a:latin typeface="Times New Roman" panose="02020603050405020304" pitchFamily="18" charset="0"/>
              </a:rPr>
              <a:t>+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b="1" dirty="0">
                <a:solidFill>
                  <a:srgbClr val="008000"/>
                </a:solidFill>
                <a:latin typeface="Times New Roman" panose="02020603050405020304" pitchFamily="18" charset="0"/>
              </a:rPr>
              <a:t>	num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008000"/>
                </a:solidFill>
                <a:latin typeface="Times New Roman" panose="02020603050405020304" pitchFamily="18" charset="0"/>
              </a:rPr>
              <a:t>digits</a:t>
            </a:r>
            <a:r>
              <a:rPr lang="en-US" altLang="zh-CN" b="1" baseline="30000" dirty="0">
                <a:latin typeface="Times New Roman" panose="02020603050405020304" pitchFamily="18" charset="0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</a:rPr>
              <a:t>(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b="1" dirty="0">
                <a:solidFill>
                  <a:srgbClr val="008000"/>
                </a:solidFill>
                <a:latin typeface="Times New Roman" panose="02020603050405020304" pitchFamily="18" charset="0"/>
              </a:rPr>
              <a:t>digits</a:t>
            </a:r>
            <a:r>
              <a:rPr lang="en-US" altLang="zh-CN" b="1" dirty="0">
                <a:latin typeface="Times New Roman" panose="02020603050405020304" pitchFamily="18" charset="0"/>
              </a:rPr>
              <a:t>)? (E[+-]? </a:t>
            </a:r>
            <a:r>
              <a:rPr lang="en-US" altLang="zh-CN" b="1" dirty="0">
                <a:solidFill>
                  <a:srgbClr val="008000"/>
                </a:solidFill>
                <a:latin typeface="Times New Roman" panose="02020603050405020304" pitchFamily="18" charset="0"/>
              </a:rPr>
              <a:t>digits</a:t>
            </a:r>
            <a:r>
              <a:rPr lang="en-US" altLang="zh-CN" b="1" dirty="0">
                <a:latin typeface="Times New Roman" panose="02020603050405020304" pitchFamily="18" charset="0"/>
              </a:rPr>
              <a:t>)?</a:t>
            </a:r>
          </a:p>
          <a:p>
            <a:pPr algn="just" eaLnBrk="1" hangingPunct="1">
              <a:lnSpc>
                <a:spcPct val="90000"/>
              </a:lnSpc>
            </a:pPr>
            <a:r>
              <a:rPr lang="zh-CN" altLang="en-US" dirty="0">
                <a:latin typeface="Times New Roman" panose="02020603050405020304" pitchFamily="18" charset="0"/>
              </a:rPr>
              <a:t>例</a:t>
            </a:r>
            <a:r>
              <a:rPr lang="en-US" altLang="zh-CN" dirty="0">
                <a:latin typeface="Times New Roman" panose="02020603050405020304" pitchFamily="18" charset="0"/>
              </a:rPr>
              <a:t>2.4 </a:t>
            </a:r>
            <a:r>
              <a:rPr lang="zh-CN" altLang="en-US" dirty="0">
                <a:latin typeface="Times New Roman" panose="02020603050405020304" pitchFamily="18" charset="0"/>
              </a:rPr>
              <a:t>标识符的简化表示：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dirty="0">
                <a:latin typeface="Times New Roman" panose="02020603050405020304" pitchFamily="18" charset="0"/>
              </a:rPr>
              <a:t> 	</a:t>
            </a:r>
            <a:r>
              <a:rPr lang="en-US" altLang="zh-CN" b="1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letter_</a:t>
            </a:r>
            <a:r>
              <a:rPr lang="en-US" altLang="zh-CN" b="1" dirty="0">
                <a:latin typeface="Times New Roman" panose="02020603050405020304" pitchFamily="18" charset="0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[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Za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_]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</a:rPr>
              <a:t>		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b="1" dirty="0">
                <a:solidFill>
                  <a:srgbClr val="008000"/>
                </a:solidFill>
                <a:latin typeface="Times New Roman" panose="02020603050405020304" pitchFamily="18" charset="0"/>
              </a:rPr>
              <a:t>	digit</a:t>
            </a:r>
            <a:r>
              <a:rPr lang="en-US" altLang="zh-CN" b="1" dirty="0">
                <a:latin typeface="Times New Roman" panose="02020603050405020304" pitchFamily="18" charset="0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[0-9]</a:t>
            </a:r>
            <a:endParaRPr lang="en-US" altLang="zh-CN" b="1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b="1" dirty="0">
                <a:latin typeface="Times New Roman" panose="02020603050405020304" pitchFamily="18" charset="0"/>
              </a:rPr>
              <a:t>	</a:t>
            </a:r>
            <a:r>
              <a:rPr lang="en-US" altLang="zh-CN" b="1" dirty="0">
                <a:solidFill>
                  <a:srgbClr val="008000"/>
                </a:solidFill>
                <a:latin typeface="Times New Roman" panose="02020603050405020304" pitchFamily="18" charset="0"/>
              </a:rPr>
              <a:t>id</a:t>
            </a:r>
            <a:r>
              <a:rPr lang="en-US" altLang="zh-CN" b="1" dirty="0">
                <a:latin typeface="Times New Roman" panose="02020603050405020304" pitchFamily="18" charset="0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b="1" dirty="0">
                <a:latin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008000"/>
                </a:solidFill>
                <a:latin typeface="Times New Roman" panose="02020603050405020304" pitchFamily="18" charset="0"/>
              </a:rPr>
              <a:t>letter_</a:t>
            </a:r>
            <a:r>
              <a:rPr lang="en-US" altLang="zh-CN" b="1" dirty="0">
                <a:latin typeface="Times New Roman" panose="02020603050405020304" pitchFamily="18" charset="0"/>
              </a:rPr>
              <a:t>(</a:t>
            </a:r>
            <a:r>
              <a:rPr lang="en-US" altLang="zh-CN" b="1" dirty="0" err="1">
                <a:solidFill>
                  <a:srgbClr val="008000"/>
                </a:solidFill>
                <a:latin typeface="Times New Roman" panose="02020603050405020304" pitchFamily="18" charset="0"/>
              </a:rPr>
              <a:t>letter_</a:t>
            </a:r>
            <a:r>
              <a:rPr lang="en-US" altLang="zh-CN" b="1" dirty="0" err="1">
                <a:latin typeface="Times New Roman" panose="02020603050405020304" pitchFamily="18" charset="0"/>
              </a:rPr>
              <a:t>|</a:t>
            </a:r>
            <a:r>
              <a:rPr lang="en-US" altLang="zh-CN" b="1" dirty="0" err="1">
                <a:solidFill>
                  <a:srgbClr val="008000"/>
                </a:solidFill>
                <a:latin typeface="Times New Roman" panose="02020603050405020304" pitchFamily="18" charset="0"/>
              </a:rPr>
              <a:t>digit</a:t>
            </a:r>
            <a:r>
              <a:rPr lang="en-US" altLang="zh-CN" b="1" dirty="0">
                <a:latin typeface="Times New Roman" panose="02020603050405020304" pitchFamily="18" charset="0"/>
              </a:rPr>
              <a:t>)</a:t>
            </a:r>
            <a:r>
              <a:rPr lang="en-US" altLang="zh-CN" b="1" baseline="30000" dirty="0">
                <a:latin typeface="Times New Roman" panose="02020603050405020304" pitchFamily="18" charset="0"/>
              </a:rPr>
              <a:t>*</a:t>
            </a:r>
            <a:endParaRPr lang="en-US" altLang="zh-CN" b="1" i="1" dirty="0"/>
          </a:p>
          <a:p>
            <a:pPr lvl="1" eaLnBrk="1" hangingPunct="1">
              <a:lnSpc>
                <a:spcPct val="90000"/>
              </a:lnSpc>
            </a:pPr>
            <a:endParaRPr lang="en-US" altLang="zh-CN" dirty="0"/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A6B92CB-15D7-4ADE-E24A-B7BBE2135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EC55F8-7980-496B-A889-B4FCA3667D98}" type="datetime2">
              <a:rPr lang="zh-CN" altLang="en-US" smtClean="0"/>
              <a:t>2026年3月11日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102BDF0-DD1B-5A92-9F58-02F2104B64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</a:t>
            </a:r>
            <a:r>
              <a:rPr lang="en-US" altLang="zh-CN"/>
              <a:t>2</a:t>
            </a:r>
            <a:r>
              <a:rPr lang="zh-CN" altLang="en-US"/>
              <a:t>章 词法分析</a:t>
            </a:r>
            <a:r>
              <a:rPr lang="en-US" altLang="zh-CN"/>
              <a:t>(1)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36407DD-7F27-2FDD-CF2E-7DF53FC1D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47</a:t>
            </a:fld>
            <a:endParaRPr lang="zh-CN" alt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>
            <a:extLst>
              <a:ext uri="{FF2B5EF4-FFF2-40B4-BE49-F238E27FC236}">
                <a16:creationId xmlns:a16="http://schemas.microsoft.com/office/drawing/2014/main" id="{DD660286-E7B3-480C-AAF7-413BF5011A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CN"/>
              <a:t>2.2.4 </a:t>
            </a:r>
            <a:r>
              <a:rPr lang="zh-CN" altLang="en-US"/>
              <a:t>状态转换图</a:t>
            </a:r>
          </a:p>
        </p:txBody>
      </p:sp>
      <p:sp>
        <p:nvSpPr>
          <p:cNvPr id="57347" name="Rectangle 3">
            <a:extLst>
              <a:ext uri="{FF2B5EF4-FFF2-40B4-BE49-F238E27FC236}">
                <a16:creationId xmlns:a16="http://schemas.microsoft.com/office/drawing/2014/main" id="{F851B7F2-A5FC-4B5F-89B9-D6DE0F8D3F8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前面关于正规式和正规定义的章节讨论</a:t>
            </a:r>
            <a:r>
              <a:rPr lang="zh-CN" altLang="en-US" dirty="0">
                <a:solidFill>
                  <a:schemeClr val="hlink"/>
                </a:solidFill>
              </a:rPr>
              <a:t>怎样描述单词</a:t>
            </a:r>
            <a:r>
              <a:rPr lang="zh-CN" altLang="en-US" dirty="0"/>
              <a:t>，而本章节讨论</a:t>
            </a:r>
            <a:r>
              <a:rPr lang="zh-CN" altLang="en-US" dirty="0">
                <a:solidFill>
                  <a:schemeClr val="hlink"/>
                </a:solidFill>
              </a:rPr>
              <a:t>怎样识别记号</a:t>
            </a:r>
            <a:r>
              <a:rPr lang="zh-CN" altLang="en-US" dirty="0"/>
              <a:t>。</a:t>
            </a:r>
          </a:p>
          <a:p>
            <a:pPr eaLnBrk="1" hangingPunct="1"/>
            <a:r>
              <a:rPr lang="zh-CN" altLang="en-US" dirty="0"/>
              <a:t>识别记号是由</a:t>
            </a:r>
            <a:r>
              <a:rPr lang="zh-CN" altLang="en-US" dirty="0">
                <a:solidFill>
                  <a:schemeClr val="accent2"/>
                </a:solidFill>
              </a:rPr>
              <a:t>词法分析器</a:t>
            </a:r>
            <a:r>
              <a:rPr lang="zh-CN" altLang="en-US" dirty="0"/>
              <a:t>进行的，而制作</a:t>
            </a:r>
            <a:r>
              <a:rPr lang="zh-CN" altLang="en-US" dirty="0">
                <a:solidFill>
                  <a:schemeClr val="accent2"/>
                </a:solidFill>
              </a:rPr>
              <a:t>状态转换图</a:t>
            </a:r>
            <a:r>
              <a:rPr lang="zh-CN" altLang="en-US" dirty="0"/>
              <a:t>是手工构造词法分析器的第一步。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478BD1F-EB70-8859-EC35-7C0C1F0024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7AA0C-C805-4169-A582-D1EDFE3755FD}" type="datetime2">
              <a:rPr lang="zh-CN" altLang="en-US" smtClean="0"/>
              <a:t>2026年3月11日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A97FF3C-9564-5FD0-A18C-DA24338E5B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</a:t>
            </a:r>
            <a:r>
              <a:rPr lang="en-US" altLang="zh-CN"/>
              <a:t>2</a:t>
            </a:r>
            <a:r>
              <a:rPr lang="zh-CN" altLang="en-US"/>
              <a:t>章 词法分析</a:t>
            </a:r>
            <a:r>
              <a:rPr lang="en-US" altLang="zh-CN"/>
              <a:t>(1)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FA9E293-A99B-B5A3-081A-D5B1F48F6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48</a:t>
            </a:fld>
            <a:endParaRPr lang="zh-CN" alt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>
            <a:extLst>
              <a:ext uri="{FF2B5EF4-FFF2-40B4-BE49-F238E27FC236}">
                <a16:creationId xmlns:a16="http://schemas.microsoft.com/office/drawing/2014/main" id="{8591CA58-B046-4D9B-97DC-35BE322F2B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CN" dirty="0"/>
              <a:t>2.2.4 </a:t>
            </a:r>
            <a:r>
              <a:rPr lang="zh-CN" altLang="en-US" dirty="0"/>
              <a:t>状态转换图</a:t>
            </a:r>
          </a:p>
        </p:txBody>
      </p:sp>
      <p:sp>
        <p:nvSpPr>
          <p:cNvPr id="58371" name="Rectangle 3">
            <a:extLst>
              <a:ext uri="{FF2B5EF4-FFF2-40B4-BE49-F238E27FC236}">
                <a16:creationId xmlns:a16="http://schemas.microsoft.com/office/drawing/2014/main" id="{1B04B1B4-C070-47E4-BB77-E60463763E31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solidFill>
                  <a:schemeClr val="accent2"/>
                </a:solidFill>
              </a:rPr>
              <a:t>状态转换图（</a:t>
            </a:r>
            <a:r>
              <a:rPr lang="en-US" altLang="zh-CN" dirty="0">
                <a:solidFill>
                  <a:schemeClr val="accent2"/>
                </a:solidFill>
              </a:rPr>
              <a:t>Transition Diagrams</a:t>
            </a:r>
            <a:r>
              <a:rPr lang="zh-CN" altLang="en-US" dirty="0">
                <a:solidFill>
                  <a:schemeClr val="accent2"/>
                </a:solidFill>
              </a:rPr>
              <a:t>）</a:t>
            </a:r>
            <a:r>
              <a:rPr lang="zh-CN" altLang="en-US" dirty="0"/>
              <a:t>描绘语法分析器为得到下一个记号而调用词法分析器时，词法分析器所做的动作。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143D124-F336-760A-052E-104F73B6D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95375-1FFD-41DE-8AB6-FB384996CFEF}" type="datetime2">
              <a:rPr lang="zh-CN" altLang="en-US" smtClean="0"/>
              <a:t>2026年3月11日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BF8D397-AC05-45C4-A5E5-A7880F204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</a:t>
            </a:r>
            <a:r>
              <a:rPr lang="en-US" altLang="zh-CN"/>
              <a:t>2</a:t>
            </a:r>
            <a:r>
              <a:rPr lang="zh-CN" altLang="en-US"/>
              <a:t>章 词法分析</a:t>
            </a:r>
            <a:r>
              <a:rPr lang="en-US" altLang="zh-CN"/>
              <a:t>(1)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2F57533-6CC9-68A7-00AB-D36E2E5BB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49</a:t>
            </a:fld>
            <a:endParaRPr lang="zh-CN" alt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>
            <a:extLst>
              <a:ext uri="{FF2B5EF4-FFF2-40B4-BE49-F238E27FC236}">
                <a16:creationId xmlns:a16="http://schemas.microsoft.com/office/drawing/2014/main" id="{D37A82FC-F2BA-48CD-870F-3F73CDC7DF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CN" dirty="0"/>
              <a:t>2.2.4 </a:t>
            </a:r>
            <a:r>
              <a:rPr lang="zh-CN" altLang="en-US" dirty="0"/>
              <a:t>状态转换图</a:t>
            </a:r>
          </a:p>
        </p:txBody>
      </p:sp>
      <p:sp>
        <p:nvSpPr>
          <p:cNvPr id="59395" name="Rectangle 3">
            <a:extLst>
              <a:ext uri="{FF2B5EF4-FFF2-40B4-BE49-F238E27FC236}">
                <a16:creationId xmlns:a16="http://schemas.microsoft.com/office/drawing/2014/main" id="{BF4445B4-E3FE-4D9C-8CBE-258CD7CDD09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eaLnBrk="1" hangingPunct="1">
              <a:lnSpc>
                <a:spcPct val="110000"/>
              </a:lnSpc>
            </a:pPr>
            <a:r>
              <a:rPr lang="zh-CN" altLang="en-US" sz="2800" dirty="0"/>
              <a:t>本小节的讨论基于这样一个正规定义</a:t>
            </a:r>
            <a:r>
              <a:rPr lang="zh-CN" altLang="en-US" sz="2800" b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</a:rPr>
              <a:t>(</a:t>
            </a:r>
            <a:r>
              <a:rPr lang="zh-CN" altLang="en-US" sz="2800" dirty="0">
                <a:latin typeface="Times New Roman" panose="02020603050405020304" pitchFamily="18" charset="0"/>
              </a:rPr>
              <a:t>例</a:t>
            </a:r>
            <a:r>
              <a:rPr lang="en-US" altLang="zh-CN" sz="2800" b="1" dirty="0">
                <a:latin typeface="Times New Roman" panose="02020603050405020304" pitchFamily="18" charset="0"/>
              </a:rPr>
              <a:t>2.6)   	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sz="2800" b="1" dirty="0">
                <a:solidFill>
                  <a:srgbClr val="008000"/>
                </a:solidFill>
                <a:latin typeface="Times New Roman" panose="02020603050405020304" pitchFamily="18" charset="0"/>
              </a:rPr>
              <a:t>	while</a:t>
            </a:r>
            <a:r>
              <a:rPr lang="en-US" altLang="zh-CN" sz="2800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800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</a:rPr>
              <a:t>while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sz="2800" b="1" dirty="0">
                <a:latin typeface="Times New Roman" panose="02020603050405020304" pitchFamily="18" charset="0"/>
              </a:rPr>
              <a:t>	</a:t>
            </a:r>
            <a:r>
              <a:rPr lang="en-US" altLang="zh-CN" sz="2800" b="1" dirty="0">
                <a:solidFill>
                  <a:srgbClr val="008000"/>
                </a:solidFill>
                <a:latin typeface="Times New Roman" panose="02020603050405020304" pitchFamily="18" charset="0"/>
              </a:rPr>
              <a:t>do</a:t>
            </a:r>
            <a:r>
              <a:rPr lang="en-US" altLang="zh-CN" sz="2800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800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</a:rPr>
              <a:t>do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sz="2800" b="1" dirty="0">
                <a:latin typeface="Times New Roman" panose="02020603050405020304" pitchFamily="18" charset="0"/>
              </a:rPr>
              <a:t>	</a:t>
            </a:r>
            <a:r>
              <a:rPr lang="en-US" altLang="zh-CN" sz="2800" b="1" dirty="0" err="1">
                <a:solidFill>
                  <a:srgbClr val="008000"/>
                </a:solidFill>
                <a:latin typeface="Times New Roman" panose="02020603050405020304" pitchFamily="18" charset="0"/>
              </a:rPr>
              <a:t>relop</a:t>
            </a:r>
            <a:r>
              <a:rPr lang="en-US" altLang="zh-CN" sz="2800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800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</a:rPr>
              <a:t>&lt; | &lt;= | = | &lt;&gt; | &gt; | &gt;=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sz="2800" b="1" dirty="0">
                <a:solidFill>
                  <a:srgbClr val="008000"/>
                </a:solidFill>
                <a:latin typeface="Times New Roman" panose="02020603050405020304" pitchFamily="18" charset="0"/>
              </a:rPr>
              <a:t>	letter</a:t>
            </a:r>
            <a:r>
              <a:rPr lang="en-US" altLang="zh-CN" sz="2800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800" b="1" dirty="0">
                <a:latin typeface="Times New Roman" panose="02020603050405020304" pitchFamily="18" charset="0"/>
              </a:rPr>
              <a:t> [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</a:rPr>
              <a:t>-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Za</a:t>
            </a:r>
            <a:r>
              <a:rPr lang="en-US" altLang="zh-CN" sz="2800" b="1" dirty="0">
                <a:latin typeface="Times New Roman" panose="02020603050405020304" pitchFamily="18" charset="0"/>
              </a:rPr>
              <a:t>-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z</a:t>
            </a:r>
            <a:r>
              <a:rPr lang="en-US" altLang="zh-CN" sz="2800" b="1" dirty="0">
                <a:latin typeface="Times New Roman" panose="02020603050405020304" pitchFamily="18" charset="0"/>
              </a:rPr>
              <a:t>]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sz="2800" b="1" dirty="0">
                <a:latin typeface="Times New Roman" panose="02020603050405020304" pitchFamily="18" charset="0"/>
              </a:rPr>
              <a:t> 	</a:t>
            </a:r>
            <a:r>
              <a:rPr lang="en-US" altLang="zh-CN" sz="2800" b="1" dirty="0">
                <a:solidFill>
                  <a:srgbClr val="008000"/>
                </a:solidFill>
                <a:latin typeface="Times New Roman" panose="02020603050405020304" pitchFamily="18" charset="0"/>
              </a:rPr>
              <a:t>digit</a:t>
            </a:r>
            <a:r>
              <a:rPr lang="en-US" altLang="zh-CN" sz="2800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 [0-9]</a:t>
            </a:r>
            <a:endParaRPr lang="en-US" altLang="zh-CN" sz="2800" b="1" dirty="0">
              <a:latin typeface="Times New Roman" panose="02020603050405020304" pitchFamily="18" charset="0"/>
            </a:endParaRPr>
          </a:p>
          <a:p>
            <a:pPr algn="just"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sz="2800" b="1" dirty="0">
                <a:latin typeface="Times New Roman" panose="02020603050405020304" pitchFamily="18" charset="0"/>
              </a:rPr>
              <a:t>	</a:t>
            </a:r>
            <a:r>
              <a:rPr lang="en-US" altLang="zh-CN" sz="2800" b="1" dirty="0">
                <a:solidFill>
                  <a:srgbClr val="008000"/>
                </a:solidFill>
                <a:latin typeface="Times New Roman" panose="02020603050405020304" pitchFamily="18" charset="0"/>
              </a:rPr>
              <a:t>id</a:t>
            </a:r>
            <a:r>
              <a:rPr lang="en-US" altLang="zh-CN" sz="2800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solidFill>
                  <a:srgbClr val="008000"/>
                </a:solidFill>
                <a:latin typeface="Times New Roman" panose="02020603050405020304" pitchFamily="18" charset="0"/>
              </a:rPr>
              <a:t>letter</a:t>
            </a:r>
            <a:r>
              <a:rPr lang="en-US" altLang="zh-CN" sz="2800" b="1" dirty="0">
                <a:latin typeface="Times New Roman" panose="02020603050405020304" pitchFamily="18" charset="0"/>
              </a:rPr>
              <a:t> (</a:t>
            </a:r>
            <a:r>
              <a:rPr lang="en-US" altLang="zh-CN" sz="2800" b="1" dirty="0">
                <a:solidFill>
                  <a:srgbClr val="008000"/>
                </a:solidFill>
                <a:latin typeface="Times New Roman" panose="02020603050405020304" pitchFamily="18" charset="0"/>
              </a:rPr>
              <a:t>letter</a:t>
            </a:r>
            <a:r>
              <a:rPr lang="en-US" altLang="zh-CN" sz="2800" b="1" dirty="0">
                <a:latin typeface="Times New Roman" panose="02020603050405020304" pitchFamily="18" charset="0"/>
              </a:rPr>
              <a:t> | </a:t>
            </a:r>
            <a:r>
              <a:rPr lang="en-US" altLang="zh-CN" sz="2800" b="1" dirty="0">
                <a:solidFill>
                  <a:srgbClr val="008000"/>
                </a:solidFill>
                <a:latin typeface="Times New Roman" panose="02020603050405020304" pitchFamily="18" charset="0"/>
              </a:rPr>
              <a:t>digit</a:t>
            </a:r>
            <a:r>
              <a:rPr lang="en-US" altLang="zh-CN" sz="2800" b="1" dirty="0">
                <a:latin typeface="Times New Roman" panose="02020603050405020304" pitchFamily="18" charset="0"/>
              </a:rPr>
              <a:t> )</a:t>
            </a:r>
            <a:r>
              <a:rPr lang="en-US" altLang="zh-CN" sz="2800" b="1" baseline="30000" dirty="0">
                <a:latin typeface="Times New Roman" panose="02020603050405020304" pitchFamily="18" charset="0"/>
              </a:rPr>
              <a:t>*</a:t>
            </a:r>
            <a:endParaRPr lang="en-US" altLang="zh-CN" sz="2800" b="1" dirty="0">
              <a:latin typeface="Times New Roman" panose="02020603050405020304" pitchFamily="18" charset="0"/>
            </a:endParaRPr>
          </a:p>
          <a:p>
            <a:pPr algn="just"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sz="2800" b="1" dirty="0">
                <a:latin typeface="Times New Roman" panose="02020603050405020304" pitchFamily="18" charset="0"/>
              </a:rPr>
              <a:t>	</a:t>
            </a:r>
            <a:r>
              <a:rPr lang="en-US" altLang="zh-CN" sz="2800" b="1" dirty="0">
                <a:solidFill>
                  <a:srgbClr val="008000"/>
                </a:solidFill>
                <a:latin typeface="Times New Roman" panose="02020603050405020304" pitchFamily="18" charset="0"/>
              </a:rPr>
              <a:t>num</a:t>
            </a:r>
            <a:r>
              <a:rPr lang="en-US" altLang="zh-CN" sz="2800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800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solidFill>
                  <a:srgbClr val="008000"/>
                </a:solidFill>
                <a:latin typeface="Times New Roman" panose="02020603050405020304" pitchFamily="18" charset="0"/>
              </a:rPr>
              <a:t>digit</a:t>
            </a:r>
            <a:r>
              <a:rPr lang="en-US" altLang="zh-CN" sz="2800" b="1" baseline="30000" dirty="0">
                <a:latin typeface="Times New Roman" panose="02020603050405020304" pitchFamily="18" charset="0"/>
              </a:rPr>
              <a:t>+ </a:t>
            </a:r>
            <a:r>
              <a:rPr lang="en-US" altLang="zh-CN" sz="2800" b="1" dirty="0">
                <a:latin typeface="Times New Roman" panose="02020603050405020304" pitchFamily="18" charset="0"/>
              </a:rPr>
              <a:t>(.</a:t>
            </a:r>
            <a:r>
              <a:rPr lang="en-US" altLang="zh-CN" sz="2800" b="1" dirty="0">
                <a:solidFill>
                  <a:srgbClr val="008000"/>
                </a:solidFill>
                <a:latin typeface="Times New Roman" panose="02020603050405020304" pitchFamily="18" charset="0"/>
              </a:rPr>
              <a:t>digit</a:t>
            </a:r>
            <a:r>
              <a:rPr lang="en-US" altLang="zh-CN" sz="2800" b="1" baseline="30000" dirty="0">
                <a:latin typeface="Times New Roman" panose="02020603050405020304" pitchFamily="18" charset="0"/>
              </a:rPr>
              <a:t>+</a:t>
            </a:r>
            <a:r>
              <a:rPr lang="en-US" altLang="zh-CN" sz="2800" b="1" dirty="0">
                <a:latin typeface="Times New Roman" panose="02020603050405020304" pitchFamily="18" charset="0"/>
              </a:rPr>
              <a:t>)? (E</a:t>
            </a:r>
            <a:r>
              <a:rPr lang="en-US" altLang="zh-CN" sz="2800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</a:rPr>
              <a:t>(+ | 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800" b="1" dirty="0">
                <a:latin typeface="Times New Roman" panose="02020603050405020304" pitchFamily="18" charset="0"/>
              </a:rPr>
              <a:t>)?</a:t>
            </a:r>
            <a:r>
              <a:rPr lang="en-US" altLang="zh-CN" sz="2800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solidFill>
                  <a:srgbClr val="008000"/>
                </a:solidFill>
                <a:latin typeface="Times New Roman" panose="02020603050405020304" pitchFamily="18" charset="0"/>
              </a:rPr>
              <a:t>digit</a:t>
            </a:r>
            <a:r>
              <a:rPr lang="en-US" altLang="zh-CN" sz="2800" b="1" baseline="30000" dirty="0">
                <a:latin typeface="Times New Roman" panose="02020603050405020304" pitchFamily="18" charset="0"/>
              </a:rPr>
              <a:t>+</a:t>
            </a:r>
            <a:r>
              <a:rPr lang="en-US" altLang="zh-CN" sz="2800" b="1" dirty="0">
                <a:latin typeface="Times New Roman" panose="02020603050405020304" pitchFamily="18" charset="0"/>
              </a:rPr>
              <a:t>)?</a:t>
            </a:r>
          </a:p>
          <a:p>
            <a:pPr algn="just"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endParaRPr lang="en-US" altLang="zh-CN" sz="2800" b="1" dirty="0">
              <a:latin typeface="Times New Roman" panose="02020603050405020304" pitchFamily="18" charset="0"/>
            </a:endParaRPr>
          </a:p>
          <a:p>
            <a:pPr algn="just"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sz="2800" b="1" dirty="0">
                <a:solidFill>
                  <a:srgbClr val="008000"/>
                </a:solidFill>
                <a:latin typeface="Times New Roman" panose="02020603050405020304" pitchFamily="18" charset="0"/>
              </a:rPr>
              <a:t>	</a:t>
            </a:r>
            <a:r>
              <a:rPr lang="en-US" altLang="zh-CN" sz="2800" b="1" dirty="0" err="1">
                <a:solidFill>
                  <a:srgbClr val="008000"/>
                </a:solidFill>
                <a:latin typeface="Times New Roman" panose="02020603050405020304" pitchFamily="18" charset="0"/>
              </a:rPr>
              <a:t>delim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b="1" dirty="0">
                <a:solidFill>
                  <a:srgbClr val="008000"/>
                </a:solidFill>
                <a:latin typeface="Times New Roman" panose="02020603050405020304" pitchFamily="18" charset="0"/>
              </a:rPr>
              <a:t>blank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| </a:t>
            </a:r>
            <a:r>
              <a:rPr lang="en-US" altLang="zh-CN" sz="2800" b="1" dirty="0">
                <a:solidFill>
                  <a:srgbClr val="008000"/>
                </a:solidFill>
                <a:latin typeface="Times New Roman" panose="02020603050405020304" pitchFamily="18" charset="0"/>
              </a:rPr>
              <a:t>tab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| </a:t>
            </a:r>
            <a:r>
              <a:rPr lang="en-US" altLang="zh-CN" sz="2800" b="1" dirty="0">
                <a:solidFill>
                  <a:srgbClr val="008000"/>
                </a:solidFill>
                <a:latin typeface="Times New Roman" panose="02020603050405020304" pitchFamily="18" charset="0"/>
              </a:rPr>
              <a:t>newline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sz="2800" b="1" dirty="0">
                <a:solidFill>
                  <a:srgbClr val="008000"/>
                </a:solidFill>
                <a:latin typeface="Times New Roman" panose="02020603050405020304" pitchFamily="18" charset="0"/>
              </a:rPr>
              <a:t>	</a:t>
            </a:r>
            <a:r>
              <a:rPr lang="en-US" altLang="zh-CN" sz="2800" b="1" dirty="0" err="1">
                <a:solidFill>
                  <a:srgbClr val="008000"/>
                </a:solidFill>
                <a:latin typeface="Times New Roman" panose="02020603050405020304" pitchFamily="18" charset="0"/>
              </a:rPr>
              <a:t>ws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b="1" dirty="0" err="1">
                <a:solidFill>
                  <a:srgbClr val="008000"/>
                </a:solidFill>
                <a:latin typeface="Times New Roman" panose="02020603050405020304" pitchFamily="18" charset="0"/>
              </a:rPr>
              <a:t>delim</a:t>
            </a:r>
            <a:r>
              <a:rPr lang="en-US" altLang="zh-CN" sz="28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endParaRPr lang="en-US" altLang="zh-CN" sz="2800" dirty="0">
              <a:latin typeface="Times New Roman" panose="02020603050405020304" pitchFamily="18" charset="0"/>
            </a:endParaRP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2A41F99-F5AB-B4DB-CBC4-E976353BE4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B925F-6CD8-4A79-9216-A291D099E8D9}" type="datetime2">
              <a:rPr lang="zh-CN" altLang="en-US" smtClean="0"/>
              <a:t>2026年3月11日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2C9FFFB-14E3-85E0-6DF2-169535897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</a:t>
            </a:r>
            <a:r>
              <a:rPr lang="en-US" altLang="zh-CN"/>
              <a:t>2</a:t>
            </a:r>
            <a:r>
              <a:rPr lang="zh-CN" altLang="en-US"/>
              <a:t>章 词法分析</a:t>
            </a:r>
            <a:r>
              <a:rPr lang="en-US" altLang="zh-CN"/>
              <a:t>(1)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86A8A33-4BD6-9473-19EC-88F8E6468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50</a:t>
            </a:fld>
            <a:endParaRPr lang="zh-CN" alt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>
            <a:extLst>
              <a:ext uri="{FF2B5EF4-FFF2-40B4-BE49-F238E27FC236}">
                <a16:creationId xmlns:a16="http://schemas.microsoft.com/office/drawing/2014/main" id="{EE2DE5F2-4C47-4D56-9448-90B9E8554A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CN" dirty="0"/>
              <a:t>2.2.4 </a:t>
            </a:r>
            <a:r>
              <a:rPr lang="zh-CN" altLang="en-US" dirty="0"/>
              <a:t>状态转换图</a:t>
            </a:r>
          </a:p>
        </p:txBody>
      </p:sp>
      <p:sp>
        <p:nvSpPr>
          <p:cNvPr id="2" name="内容占位符 1">
            <a:extLst>
              <a:ext uri="{FF2B5EF4-FFF2-40B4-BE49-F238E27FC236}">
                <a16:creationId xmlns:a16="http://schemas.microsoft.com/office/drawing/2014/main" id="{81536F97-761F-4432-9D93-98462C40C2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正规式、记号名和属性的对应</a:t>
            </a:r>
          </a:p>
        </p:txBody>
      </p:sp>
      <p:graphicFrame>
        <p:nvGraphicFramePr>
          <p:cNvPr id="5" name="Group 51">
            <a:extLst>
              <a:ext uri="{FF2B5EF4-FFF2-40B4-BE49-F238E27FC236}">
                <a16:creationId xmlns:a16="http://schemas.microsoft.com/office/drawing/2014/main" id="{AE8124CA-45E7-44B1-B1C4-2BC6A7602D4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76858184"/>
              </p:ext>
            </p:extLst>
          </p:nvPr>
        </p:nvGraphicFramePr>
        <p:xfrm>
          <a:off x="792683" y="2196109"/>
          <a:ext cx="7558633" cy="3692963"/>
        </p:xfrm>
        <a:graphic>
          <a:graphicData uri="http://schemas.openxmlformats.org/drawingml/2006/table">
            <a:tbl>
              <a:tblPr/>
              <a:tblGrid>
                <a:gridCol w="15611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11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364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85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2" charset="-122"/>
                        </a:rPr>
                        <a:t>正规式</a:t>
                      </a:r>
                    </a:p>
                  </a:txBody>
                  <a:tcPr marL="52244" marR="52244" marT="27870" marB="2787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2" charset="-122"/>
                        </a:rPr>
                        <a:t>记号名</a:t>
                      </a:r>
                    </a:p>
                  </a:txBody>
                  <a:tcPr marL="52244" marR="52244" marT="27870" marB="2787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2" charset="-122"/>
                        </a:rPr>
                        <a:t>属性值</a:t>
                      </a:r>
                    </a:p>
                  </a:txBody>
                  <a:tcPr marL="52244" marR="52244" marT="27870" marB="2787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85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700" b="1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  ws</a:t>
                      </a:r>
                    </a:p>
                  </a:txBody>
                  <a:tcPr marL="52244" marR="52244" marT="27870" marB="2787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2" charset="-122"/>
                        </a:rPr>
                        <a:t>－</a:t>
                      </a:r>
                    </a:p>
                  </a:txBody>
                  <a:tcPr marL="52244" marR="52244" marT="27870" marB="2787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2" charset="-122"/>
                        </a:rPr>
                        <a:t>－</a:t>
                      </a:r>
                    </a:p>
                  </a:txBody>
                  <a:tcPr marL="52244" marR="52244" marT="27870" marB="2787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85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700" b="1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  while</a:t>
                      </a:r>
                    </a:p>
                  </a:txBody>
                  <a:tcPr marL="52244" marR="52244" marT="27870" marB="2787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  while</a:t>
                      </a:r>
                    </a:p>
                  </a:txBody>
                  <a:tcPr marL="52244" marR="52244" marT="27870" marB="2787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2" charset="-122"/>
                        </a:rPr>
                        <a:t>－</a:t>
                      </a:r>
                    </a:p>
                  </a:txBody>
                  <a:tcPr marL="52244" marR="52244" marT="27870" marB="2787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85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700" b="1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  do</a:t>
                      </a:r>
                    </a:p>
                  </a:txBody>
                  <a:tcPr marL="52244" marR="52244" marT="27870" marB="2787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  do</a:t>
                      </a:r>
                    </a:p>
                  </a:txBody>
                  <a:tcPr marL="52244" marR="52244" marT="27870" marB="2787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2" charset="-122"/>
                        </a:rPr>
                        <a:t>－</a:t>
                      </a:r>
                    </a:p>
                  </a:txBody>
                  <a:tcPr marL="52244" marR="52244" marT="27870" marB="2787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85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700" b="1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  id</a:t>
                      </a:r>
                    </a:p>
                  </a:txBody>
                  <a:tcPr marL="52244" marR="52244" marT="27870" marB="2787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  id</a:t>
                      </a:r>
                    </a:p>
                  </a:txBody>
                  <a:tcPr marL="52244" marR="52244" marT="27870" marB="2787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2" charset="-122"/>
                        </a:rPr>
                        <a:t>符号表条目的指针</a:t>
                      </a:r>
                    </a:p>
                  </a:txBody>
                  <a:tcPr marL="52244" marR="52244" marT="27870" marB="2787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85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700" b="1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  num</a:t>
                      </a:r>
                    </a:p>
                  </a:txBody>
                  <a:tcPr marL="52244" marR="52244" marT="27870" marB="2787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  number</a:t>
                      </a:r>
                    </a:p>
                  </a:txBody>
                  <a:tcPr marL="52244" marR="52244" marT="27870" marB="2787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2" charset="-122"/>
                        </a:rPr>
                        <a:t>数字的值</a:t>
                      </a:r>
                    </a:p>
                  </a:txBody>
                  <a:tcPr marL="52244" marR="52244" marT="27870" marB="2787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8143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700" b="1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  relop</a:t>
                      </a:r>
                    </a:p>
                  </a:txBody>
                  <a:tcPr marL="52244" marR="52244" marT="27870" marB="2787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  </a:t>
                      </a:r>
                      <a:r>
                        <a:rPr kumimoji="0" lang="en-US" altLang="zh-CN" sz="27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relop</a:t>
                      </a:r>
                      <a:endParaRPr kumimoji="0" lang="en-US" altLang="zh-CN" sz="2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黑体" pitchFamily="2" charset="-122"/>
                      </a:endParaRPr>
                    </a:p>
                  </a:txBody>
                  <a:tcPr marL="52244" marR="52244" marT="27870" marB="2787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LT</a:t>
                      </a:r>
                      <a:r>
                        <a:rPr kumimoji="0" lang="zh-CN" altLang="en-US" sz="2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、</a:t>
                      </a:r>
                      <a:r>
                        <a:rPr kumimoji="0" lang="en-US" altLang="zh-CN" sz="2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LE</a:t>
                      </a:r>
                      <a:r>
                        <a:rPr kumimoji="0" lang="zh-CN" altLang="en-US" sz="2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、</a:t>
                      </a:r>
                      <a:r>
                        <a:rPr kumimoji="0" lang="en-US" altLang="zh-CN" sz="2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EQ</a:t>
                      </a:r>
                      <a:r>
                        <a:rPr kumimoji="0" lang="zh-CN" altLang="en-US" sz="2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、</a:t>
                      </a:r>
                      <a:r>
                        <a:rPr kumimoji="0" lang="en-US" altLang="zh-CN" sz="2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NE</a:t>
                      </a:r>
                      <a:r>
                        <a:rPr kumimoji="0" lang="zh-CN" altLang="en-US" sz="2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、</a:t>
                      </a:r>
                      <a:r>
                        <a:rPr kumimoji="0" lang="en-US" altLang="zh-CN" sz="2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GT</a:t>
                      </a:r>
                      <a:r>
                        <a:rPr kumimoji="0" lang="zh-CN" altLang="en-US" sz="2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黑体" pitchFamily="2" charset="-122"/>
                        </a:rPr>
                        <a:t>或</a:t>
                      </a:r>
                      <a:r>
                        <a:rPr kumimoji="0" lang="en-US" altLang="zh-CN" sz="2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GE</a:t>
                      </a:r>
                    </a:p>
                  </a:txBody>
                  <a:tcPr marL="52244" marR="52244" marT="27870" marB="2787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5A1F27D-CD42-E8D9-53CF-AFA7ED2B43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C0952-D09D-47E0-9BED-61A66E8684BB}" type="datetime2">
              <a:rPr lang="zh-CN" altLang="en-US" smtClean="0"/>
              <a:t>2026年3月11日</a:t>
            </a:fld>
            <a:endParaRPr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B1B7A81-4947-0CC0-6E3E-81D735123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</a:t>
            </a:r>
            <a:r>
              <a:rPr lang="en-US" altLang="zh-CN"/>
              <a:t>2</a:t>
            </a:r>
            <a:r>
              <a:rPr lang="zh-CN" altLang="en-US"/>
              <a:t>章 词法分析</a:t>
            </a:r>
            <a:r>
              <a:rPr lang="en-US" altLang="zh-CN"/>
              <a:t>(1)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86E29D2-5971-263F-365C-A3622CFD63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51</a:t>
            </a:fld>
            <a:endParaRPr lang="zh-CN" alt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>
            <a:extLst>
              <a:ext uri="{FF2B5EF4-FFF2-40B4-BE49-F238E27FC236}">
                <a16:creationId xmlns:a16="http://schemas.microsoft.com/office/drawing/2014/main" id="{0390FEB0-86BD-42CE-AC36-55009CF47C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CN" dirty="0"/>
              <a:t>2.2.4 </a:t>
            </a:r>
            <a:r>
              <a:rPr lang="zh-CN" altLang="en-US" dirty="0"/>
              <a:t>状态转换图</a:t>
            </a:r>
          </a:p>
        </p:txBody>
      </p:sp>
      <p:sp>
        <p:nvSpPr>
          <p:cNvPr id="62467" name="Rectangle 3">
            <a:extLst>
              <a:ext uri="{FF2B5EF4-FFF2-40B4-BE49-F238E27FC236}">
                <a16:creationId xmlns:a16="http://schemas.microsoft.com/office/drawing/2014/main" id="{B9FCD506-5B32-4104-9D38-3B53AB2D007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识别关系算符</a:t>
            </a:r>
            <a:r>
              <a:rPr lang="en-US" altLang="zh-CN" b="1" dirty="0" err="1">
                <a:latin typeface="Times New Roman" panose="02020603050405020304" pitchFamily="18" charset="0"/>
              </a:rPr>
              <a:t>relop</a:t>
            </a:r>
            <a:r>
              <a:rPr lang="zh-CN" altLang="en-US" dirty="0"/>
              <a:t>的转换图</a:t>
            </a:r>
          </a:p>
        </p:txBody>
      </p:sp>
      <p:grpSp>
        <p:nvGrpSpPr>
          <p:cNvPr id="62468" name="Group 4">
            <a:extLst>
              <a:ext uri="{FF2B5EF4-FFF2-40B4-BE49-F238E27FC236}">
                <a16:creationId xmlns:a16="http://schemas.microsoft.com/office/drawing/2014/main" id="{96E4FD4D-3D3E-4BD7-9C25-F505ADE22FB5}"/>
              </a:ext>
            </a:extLst>
          </p:cNvPr>
          <p:cNvGrpSpPr>
            <a:grpSpLocks/>
          </p:cNvGrpSpPr>
          <p:nvPr/>
        </p:nvGrpSpPr>
        <p:grpSpPr bwMode="auto">
          <a:xfrm>
            <a:off x="1428750" y="2243552"/>
            <a:ext cx="6286500" cy="3246834"/>
            <a:chOff x="240" y="1290"/>
            <a:chExt cx="5280" cy="2727"/>
          </a:xfrm>
        </p:grpSpPr>
        <p:sp>
          <p:nvSpPr>
            <p:cNvPr id="62477" name="Rectangle 5" descr="Green marble">
              <a:extLst>
                <a:ext uri="{FF2B5EF4-FFF2-40B4-BE49-F238E27FC236}">
                  <a16:creationId xmlns:a16="http://schemas.microsoft.com/office/drawing/2014/main" id="{ECF299AD-C276-4F2A-ABA9-A6F6117641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41" y="1490"/>
              <a:ext cx="2775" cy="2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tIns="270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2478" name="Rectangle 6" descr="Green marble">
              <a:extLst>
                <a:ext uri="{FF2B5EF4-FFF2-40B4-BE49-F238E27FC236}">
                  <a16:creationId xmlns:a16="http://schemas.microsoft.com/office/drawing/2014/main" id="{CC713771-78D7-481D-B9B1-BF5D140656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69" y="1490"/>
              <a:ext cx="2919" cy="3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tIns="270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75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 </a:t>
              </a:r>
              <a:endParaRPr lang="en-US" altLang="zh-CN" sz="195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2479" name="Oval 7">
              <a:extLst>
                <a:ext uri="{FF2B5EF4-FFF2-40B4-BE49-F238E27FC236}">
                  <a16:creationId xmlns:a16="http://schemas.microsoft.com/office/drawing/2014/main" id="{591E961C-912B-44F4-8B30-7F1FB01F65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1" y="2621"/>
              <a:ext cx="354" cy="323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59400" tIns="2700" rIns="67500" bIns="351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</a:p>
          </p:txBody>
        </p:sp>
        <p:grpSp>
          <p:nvGrpSpPr>
            <p:cNvPr id="62480" name="Group 8">
              <a:extLst>
                <a:ext uri="{FF2B5EF4-FFF2-40B4-BE49-F238E27FC236}">
                  <a16:creationId xmlns:a16="http://schemas.microsoft.com/office/drawing/2014/main" id="{EB72D281-D4A3-47CE-B16D-C5AD37EB98A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74" y="2702"/>
              <a:ext cx="354" cy="322"/>
              <a:chOff x="7120" y="12162"/>
              <a:chExt cx="425" cy="425"/>
            </a:xfrm>
          </p:grpSpPr>
          <p:sp>
            <p:nvSpPr>
              <p:cNvPr id="62524" name="Oval 9">
                <a:extLst>
                  <a:ext uri="{FF2B5EF4-FFF2-40B4-BE49-F238E27FC236}">
                    <a16:creationId xmlns:a16="http://schemas.microsoft.com/office/drawing/2014/main" id="{8E2ADBAC-A25F-4451-9A4F-FBBE77EC53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20" y="12162"/>
                <a:ext cx="425" cy="425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59400" tIns="2700" rIns="67500" bIns="35100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75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2525" name="Oval 10">
                <a:extLst>
                  <a:ext uri="{FF2B5EF4-FFF2-40B4-BE49-F238E27FC236}">
                    <a16:creationId xmlns:a16="http://schemas.microsoft.com/office/drawing/2014/main" id="{3BB5B9A4-C3C4-44D7-B65E-A7D225EE6F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80" y="12218"/>
                <a:ext cx="312" cy="312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32400" tIns="2700" rIns="48600" bIns="2700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5</a:t>
                </a:r>
              </a:p>
            </p:txBody>
          </p:sp>
        </p:grpSp>
        <p:sp>
          <p:nvSpPr>
            <p:cNvPr id="62481" name="Oval 11">
              <a:extLst>
                <a:ext uri="{FF2B5EF4-FFF2-40B4-BE49-F238E27FC236}">
                  <a16:creationId xmlns:a16="http://schemas.microsoft.com/office/drawing/2014/main" id="{A2469392-4F25-4065-83EF-D2486EC50B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86" y="1825"/>
              <a:ext cx="354" cy="323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59400" tIns="2700" rIns="67500" bIns="351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62482" name="Oval 12">
              <a:extLst>
                <a:ext uri="{FF2B5EF4-FFF2-40B4-BE49-F238E27FC236}">
                  <a16:creationId xmlns:a16="http://schemas.microsoft.com/office/drawing/2014/main" id="{C3934E8A-5032-4437-ACF5-116D7D9C85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86" y="3378"/>
              <a:ext cx="354" cy="323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59400" tIns="2700" rIns="67500" bIns="351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6</a:t>
              </a:r>
            </a:p>
          </p:txBody>
        </p:sp>
        <p:grpSp>
          <p:nvGrpSpPr>
            <p:cNvPr id="62483" name="Group 13">
              <a:extLst>
                <a:ext uri="{FF2B5EF4-FFF2-40B4-BE49-F238E27FC236}">
                  <a16:creationId xmlns:a16="http://schemas.microsoft.com/office/drawing/2014/main" id="{ABE1AE13-F004-4F25-9A1B-8BC83B4DF41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24" y="1334"/>
              <a:ext cx="354" cy="323"/>
              <a:chOff x="7120" y="12162"/>
              <a:chExt cx="425" cy="425"/>
            </a:xfrm>
          </p:grpSpPr>
          <p:sp>
            <p:nvSpPr>
              <p:cNvPr id="62522" name="Oval 14">
                <a:extLst>
                  <a:ext uri="{FF2B5EF4-FFF2-40B4-BE49-F238E27FC236}">
                    <a16:creationId xmlns:a16="http://schemas.microsoft.com/office/drawing/2014/main" id="{69BFFF0D-06F2-4422-AC2A-71DFEBC09D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20" y="12162"/>
                <a:ext cx="425" cy="425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59400" tIns="2700" rIns="67500" bIns="35100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75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2523" name="Oval 15">
                <a:extLst>
                  <a:ext uri="{FF2B5EF4-FFF2-40B4-BE49-F238E27FC236}">
                    <a16:creationId xmlns:a16="http://schemas.microsoft.com/office/drawing/2014/main" id="{D73D3485-2ECC-4C4A-BB5A-5BBD4497BA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80" y="12218"/>
                <a:ext cx="312" cy="312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32400" tIns="2700" rIns="48600" bIns="2700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2</a:t>
                </a:r>
              </a:p>
            </p:txBody>
          </p:sp>
        </p:grpSp>
        <p:grpSp>
          <p:nvGrpSpPr>
            <p:cNvPr id="62484" name="Group 16">
              <a:extLst>
                <a:ext uri="{FF2B5EF4-FFF2-40B4-BE49-F238E27FC236}">
                  <a16:creationId xmlns:a16="http://schemas.microsoft.com/office/drawing/2014/main" id="{F8487E9C-2DA2-491B-A79D-B42209BCFA4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36" y="2270"/>
              <a:ext cx="354" cy="323"/>
              <a:chOff x="7120" y="12162"/>
              <a:chExt cx="425" cy="425"/>
            </a:xfrm>
          </p:grpSpPr>
          <p:sp>
            <p:nvSpPr>
              <p:cNvPr id="62520" name="Oval 17">
                <a:extLst>
                  <a:ext uri="{FF2B5EF4-FFF2-40B4-BE49-F238E27FC236}">
                    <a16:creationId xmlns:a16="http://schemas.microsoft.com/office/drawing/2014/main" id="{487ECBA1-60C7-4EEC-B51F-7C49E994C8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20" y="12162"/>
                <a:ext cx="425" cy="425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59400" tIns="2700" rIns="67500" bIns="35100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75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2521" name="Oval 18">
                <a:extLst>
                  <a:ext uri="{FF2B5EF4-FFF2-40B4-BE49-F238E27FC236}">
                    <a16:creationId xmlns:a16="http://schemas.microsoft.com/office/drawing/2014/main" id="{17FAA49C-5070-4BD7-BC4F-E638D48EC3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80" y="12218"/>
                <a:ext cx="312" cy="312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32400" tIns="2700" rIns="48600" bIns="2700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4</a:t>
                </a:r>
              </a:p>
            </p:txBody>
          </p:sp>
        </p:grpSp>
        <p:grpSp>
          <p:nvGrpSpPr>
            <p:cNvPr id="62485" name="Group 19">
              <a:extLst>
                <a:ext uri="{FF2B5EF4-FFF2-40B4-BE49-F238E27FC236}">
                  <a16:creationId xmlns:a16="http://schemas.microsoft.com/office/drawing/2014/main" id="{6FD16CAC-2FBB-4E9C-9AFF-6F684940418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61" y="3694"/>
              <a:ext cx="354" cy="323"/>
              <a:chOff x="7120" y="12162"/>
              <a:chExt cx="425" cy="425"/>
            </a:xfrm>
          </p:grpSpPr>
          <p:sp>
            <p:nvSpPr>
              <p:cNvPr id="62518" name="Oval 20">
                <a:extLst>
                  <a:ext uri="{FF2B5EF4-FFF2-40B4-BE49-F238E27FC236}">
                    <a16:creationId xmlns:a16="http://schemas.microsoft.com/office/drawing/2014/main" id="{1E8E18C5-B165-4FED-8DB6-A36274EE27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20" y="12162"/>
                <a:ext cx="425" cy="425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59400" tIns="2700" rIns="67500" bIns="35100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75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2519" name="Oval 21">
                <a:extLst>
                  <a:ext uri="{FF2B5EF4-FFF2-40B4-BE49-F238E27FC236}">
                    <a16:creationId xmlns:a16="http://schemas.microsoft.com/office/drawing/2014/main" id="{A6644CAA-7DEE-4364-8DB9-382B5C761A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80" y="12218"/>
                <a:ext cx="312" cy="312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32400" tIns="2700" rIns="48600" bIns="2700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8</a:t>
                </a:r>
              </a:p>
            </p:txBody>
          </p:sp>
        </p:grpSp>
        <p:grpSp>
          <p:nvGrpSpPr>
            <p:cNvPr id="62486" name="Group 22">
              <a:extLst>
                <a:ext uri="{FF2B5EF4-FFF2-40B4-BE49-F238E27FC236}">
                  <a16:creationId xmlns:a16="http://schemas.microsoft.com/office/drawing/2014/main" id="{C356C6F7-CF90-4877-B600-D182DD4EFA8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24" y="1802"/>
              <a:ext cx="354" cy="323"/>
              <a:chOff x="7120" y="12162"/>
              <a:chExt cx="425" cy="425"/>
            </a:xfrm>
          </p:grpSpPr>
          <p:sp>
            <p:nvSpPr>
              <p:cNvPr id="62516" name="Oval 23">
                <a:extLst>
                  <a:ext uri="{FF2B5EF4-FFF2-40B4-BE49-F238E27FC236}">
                    <a16:creationId xmlns:a16="http://schemas.microsoft.com/office/drawing/2014/main" id="{9327CD88-7E2B-4A16-AD59-90E5DC4FF9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20" y="12162"/>
                <a:ext cx="425" cy="425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59400" tIns="2700" rIns="67500" bIns="35100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75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2517" name="Oval 24">
                <a:extLst>
                  <a:ext uri="{FF2B5EF4-FFF2-40B4-BE49-F238E27FC236}">
                    <a16:creationId xmlns:a16="http://schemas.microsoft.com/office/drawing/2014/main" id="{7B2DB040-ADB6-4C03-8E09-0B8E7D6A34B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80" y="12218"/>
                <a:ext cx="312" cy="312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32400" tIns="2700" rIns="48600" bIns="2700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3</a:t>
                </a:r>
              </a:p>
            </p:txBody>
          </p:sp>
        </p:grpSp>
        <p:grpSp>
          <p:nvGrpSpPr>
            <p:cNvPr id="62487" name="Group 25">
              <a:extLst>
                <a:ext uri="{FF2B5EF4-FFF2-40B4-BE49-F238E27FC236}">
                  <a16:creationId xmlns:a16="http://schemas.microsoft.com/office/drawing/2014/main" id="{2B4C99EC-E095-4F91-8C0A-2D1F014B6E6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36" y="3181"/>
              <a:ext cx="354" cy="322"/>
              <a:chOff x="7120" y="12162"/>
              <a:chExt cx="425" cy="425"/>
            </a:xfrm>
          </p:grpSpPr>
          <p:sp>
            <p:nvSpPr>
              <p:cNvPr id="62514" name="Oval 26">
                <a:extLst>
                  <a:ext uri="{FF2B5EF4-FFF2-40B4-BE49-F238E27FC236}">
                    <a16:creationId xmlns:a16="http://schemas.microsoft.com/office/drawing/2014/main" id="{93C72C96-CADB-4149-A7A0-3639854A9A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20" y="12162"/>
                <a:ext cx="425" cy="425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59400" tIns="2700" rIns="67500" bIns="35100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75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2515" name="Oval 27">
                <a:extLst>
                  <a:ext uri="{FF2B5EF4-FFF2-40B4-BE49-F238E27FC236}">
                    <a16:creationId xmlns:a16="http://schemas.microsoft.com/office/drawing/2014/main" id="{88F0B55B-0E82-4508-915F-4F6F69B168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80" y="12218"/>
                <a:ext cx="312" cy="312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32400" tIns="2700" rIns="48600" bIns="2700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7</a:t>
                </a:r>
              </a:p>
            </p:txBody>
          </p:sp>
        </p:grpSp>
        <p:sp>
          <p:nvSpPr>
            <p:cNvPr id="62488" name="Line 28">
              <a:extLst>
                <a:ext uri="{FF2B5EF4-FFF2-40B4-BE49-F238E27FC236}">
                  <a16:creationId xmlns:a16="http://schemas.microsoft.com/office/drawing/2014/main" id="{3D0C8492-826D-4164-BAD9-2296C3EB35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0" y="2781"/>
              <a:ext cx="66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7500" tIns="2700" rIns="67500" bIns="35100"/>
            <a:lstStyle/>
            <a:p>
              <a:endParaRPr lang="zh-CN" altLang="en-US" sz="1350"/>
            </a:p>
          </p:txBody>
        </p:sp>
        <p:sp>
          <p:nvSpPr>
            <p:cNvPr id="62489" name="Line 29">
              <a:extLst>
                <a:ext uri="{FF2B5EF4-FFF2-40B4-BE49-F238E27FC236}">
                  <a16:creationId xmlns:a16="http://schemas.microsoft.com/office/drawing/2014/main" id="{F56397CC-6B04-40FA-9EC5-DC790DC8642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90" y="2066"/>
              <a:ext cx="913" cy="57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7500" tIns="2700" rIns="67500" bIns="35100"/>
            <a:lstStyle/>
            <a:p>
              <a:endParaRPr lang="zh-CN" altLang="en-US" sz="1350"/>
            </a:p>
          </p:txBody>
        </p:sp>
        <p:sp>
          <p:nvSpPr>
            <p:cNvPr id="62490" name="Line 30">
              <a:extLst>
                <a:ext uri="{FF2B5EF4-FFF2-40B4-BE49-F238E27FC236}">
                  <a16:creationId xmlns:a16="http://schemas.microsoft.com/office/drawing/2014/main" id="{5290F90E-A6F7-44EF-A92D-1D5A2E23875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90" y="1508"/>
              <a:ext cx="1038" cy="36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7500" tIns="2700" rIns="67500" bIns="35100"/>
            <a:lstStyle/>
            <a:p>
              <a:endParaRPr lang="zh-CN" altLang="en-US" sz="1350"/>
            </a:p>
          </p:txBody>
        </p:sp>
        <p:sp>
          <p:nvSpPr>
            <p:cNvPr id="62491" name="Line 31">
              <a:extLst>
                <a:ext uri="{FF2B5EF4-FFF2-40B4-BE49-F238E27FC236}">
                  <a16:creationId xmlns:a16="http://schemas.microsoft.com/office/drawing/2014/main" id="{2D45083A-8ECB-4F12-863E-1DB23F9A08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53" y="1986"/>
              <a:ext cx="97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7500" tIns="2700" rIns="67500" bIns="35100"/>
            <a:lstStyle/>
            <a:p>
              <a:endParaRPr lang="zh-CN" altLang="en-US" sz="1350"/>
            </a:p>
          </p:txBody>
        </p:sp>
        <p:sp>
          <p:nvSpPr>
            <p:cNvPr id="62492" name="Line 32">
              <a:extLst>
                <a:ext uri="{FF2B5EF4-FFF2-40B4-BE49-F238E27FC236}">
                  <a16:creationId xmlns:a16="http://schemas.microsoft.com/office/drawing/2014/main" id="{C4B80A75-D62A-451E-A85B-13F8D6E895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28" y="2078"/>
              <a:ext cx="1012" cy="36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7500" tIns="2700" rIns="67500" bIns="35100"/>
            <a:lstStyle/>
            <a:p>
              <a:endParaRPr lang="zh-CN" altLang="en-US" sz="1350"/>
            </a:p>
          </p:txBody>
        </p:sp>
        <p:sp>
          <p:nvSpPr>
            <p:cNvPr id="62493" name="Line 33">
              <a:extLst>
                <a:ext uri="{FF2B5EF4-FFF2-40B4-BE49-F238E27FC236}">
                  <a16:creationId xmlns:a16="http://schemas.microsoft.com/office/drawing/2014/main" id="{F591001B-14BF-40E1-8A83-7A6056F10A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65" y="2807"/>
              <a:ext cx="83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7500" tIns="2700" rIns="67500" bIns="35100"/>
            <a:lstStyle/>
            <a:p>
              <a:endParaRPr lang="zh-CN" altLang="en-US" sz="1350"/>
            </a:p>
          </p:txBody>
        </p:sp>
        <p:sp>
          <p:nvSpPr>
            <p:cNvPr id="62494" name="Line 34">
              <a:extLst>
                <a:ext uri="{FF2B5EF4-FFF2-40B4-BE49-F238E27FC236}">
                  <a16:creationId xmlns:a16="http://schemas.microsoft.com/office/drawing/2014/main" id="{F6F3786D-09AF-4F8B-A1F8-B5FE1D2046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0" y="2874"/>
              <a:ext cx="875" cy="57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7500" tIns="2700" rIns="67500" bIns="35100"/>
            <a:lstStyle/>
            <a:p>
              <a:endParaRPr lang="zh-CN" altLang="en-US" sz="1350"/>
            </a:p>
          </p:txBody>
        </p:sp>
        <p:sp>
          <p:nvSpPr>
            <p:cNvPr id="62495" name="Line 35">
              <a:extLst>
                <a:ext uri="{FF2B5EF4-FFF2-40B4-BE49-F238E27FC236}">
                  <a16:creationId xmlns:a16="http://schemas.microsoft.com/office/drawing/2014/main" id="{C4A28FAD-322E-43D9-BD8B-C122157874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40" y="3593"/>
              <a:ext cx="1025" cy="25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7500" tIns="2700" rIns="67500" bIns="35100"/>
            <a:lstStyle/>
            <a:p>
              <a:endParaRPr lang="zh-CN" altLang="en-US" sz="1350"/>
            </a:p>
          </p:txBody>
        </p:sp>
        <p:sp>
          <p:nvSpPr>
            <p:cNvPr id="62496" name="Line 36">
              <a:extLst>
                <a:ext uri="{FF2B5EF4-FFF2-40B4-BE49-F238E27FC236}">
                  <a16:creationId xmlns:a16="http://schemas.microsoft.com/office/drawing/2014/main" id="{FDE00BAE-1A75-408B-8889-FB41C6C1E11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53" y="3308"/>
              <a:ext cx="1000" cy="21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7500" tIns="2700" rIns="67500" bIns="35100"/>
            <a:lstStyle/>
            <a:p>
              <a:endParaRPr lang="zh-CN" altLang="en-US" sz="1350"/>
            </a:p>
          </p:txBody>
        </p:sp>
        <p:sp>
          <p:nvSpPr>
            <p:cNvPr id="62497" name="Rectangle 37">
              <a:extLst>
                <a:ext uri="{FF2B5EF4-FFF2-40B4-BE49-F238E27FC236}">
                  <a16:creationId xmlns:a16="http://schemas.microsoft.com/office/drawing/2014/main" id="{DB741574-2677-421A-8280-7CBABC5DF7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28" y="1290"/>
              <a:ext cx="1692" cy="3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700" rIns="40500" bIns="216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return(relop, LE)</a:t>
              </a:r>
            </a:p>
          </p:txBody>
        </p:sp>
        <p:sp>
          <p:nvSpPr>
            <p:cNvPr id="62498" name="Rectangle 38">
              <a:extLst>
                <a:ext uri="{FF2B5EF4-FFF2-40B4-BE49-F238E27FC236}">
                  <a16:creationId xmlns:a16="http://schemas.microsoft.com/office/drawing/2014/main" id="{9911AF0B-DEBE-4982-98B4-ED2EAB667A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3" y="1758"/>
              <a:ext cx="1619" cy="3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700" rIns="40500" bIns="216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return(relop, NE)</a:t>
              </a:r>
              <a:endParaRPr lang="en-US" altLang="zh-CN" sz="75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2499" name="Rectangle 39">
              <a:extLst>
                <a:ext uri="{FF2B5EF4-FFF2-40B4-BE49-F238E27FC236}">
                  <a16:creationId xmlns:a16="http://schemas.microsoft.com/office/drawing/2014/main" id="{F7D09EE3-0636-49B0-8FB0-1C0985EE6C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0" y="2194"/>
              <a:ext cx="1584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700" rIns="40500" bIns="216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return(relop, LT)</a:t>
              </a:r>
            </a:p>
          </p:txBody>
        </p:sp>
        <p:sp>
          <p:nvSpPr>
            <p:cNvPr id="62500" name="Rectangle 40">
              <a:extLst>
                <a:ext uri="{FF2B5EF4-FFF2-40B4-BE49-F238E27FC236}">
                  <a16:creationId xmlns:a16="http://schemas.microsoft.com/office/drawing/2014/main" id="{A01EA342-B1CE-436A-94D9-6EEFD261B6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65" y="3136"/>
              <a:ext cx="1607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700" rIns="40500" bIns="216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return(relop, GE)</a:t>
              </a:r>
            </a:p>
          </p:txBody>
        </p:sp>
        <p:sp>
          <p:nvSpPr>
            <p:cNvPr id="62501" name="Rectangle 41">
              <a:extLst>
                <a:ext uri="{FF2B5EF4-FFF2-40B4-BE49-F238E27FC236}">
                  <a16:creationId xmlns:a16="http://schemas.microsoft.com/office/drawing/2014/main" id="{DCEFDB25-B746-4BFF-9EEF-059EBF0B3F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65" y="3660"/>
              <a:ext cx="1607" cy="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700" rIns="40500" bIns="216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return(relop, GT)</a:t>
              </a:r>
            </a:p>
          </p:txBody>
        </p:sp>
        <p:sp>
          <p:nvSpPr>
            <p:cNvPr id="62502" name="Rectangle 42">
              <a:extLst>
                <a:ext uri="{FF2B5EF4-FFF2-40B4-BE49-F238E27FC236}">
                  <a16:creationId xmlns:a16="http://schemas.microsoft.com/office/drawing/2014/main" id="{D1098902-7244-4A43-88C8-13C5B5D21B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8" y="2692"/>
              <a:ext cx="1632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700" rIns="40500" bIns="216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return(relop, EQ)</a:t>
              </a:r>
            </a:p>
          </p:txBody>
        </p:sp>
        <p:sp>
          <p:nvSpPr>
            <p:cNvPr id="62503" name="Rectangle 43">
              <a:extLst>
                <a:ext uri="{FF2B5EF4-FFF2-40B4-BE49-F238E27FC236}">
                  <a16:creationId xmlns:a16="http://schemas.microsoft.com/office/drawing/2014/main" id="{CDF0C39F-A8C8-4CA7-91DB-21A48F485C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" y="2466"/>
              <a:ext cx="575" cy="2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700" rIns="40500" bIns="216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开始</a:t>
              </a:r>
            </a:p>
          </p:txBody>
        </p:sp>
        <p:sp>
          <p:nvSpPr>
            <p:cNvPr id="62504" name="Rectangle 44">
              <a:extLst>
                <a:ext uri="{FF2B5EF4-FFF2-40B4-BE49-F238E27FC236}">
                  <a16:creationId xmlns:a16="http://schemas.microsoft.com/office/drawing/2014/main" id="{0B9EAD55-2785-4962-A845-C31F507A0A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8" y="2104"/>
              <a:ext cx="192" cy="1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700" rIns="40500" bIns="216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&lt;</a:t>
              </a:r>
            </a:p>
          </p:txBody>
        </p:sp>
        <p:sp>
          <p:nvSpPr>
            <p:cNvPr id="62505" name="Rectangle 45">
              <a:extLst>
                <a:ext uri="{FF2B5EF4-FFF2-40B4-BE49-F238E27FC236}">
                  <a16:creationId xmlns:a16="http://schemas.microsoft.com/office/drawing/2014/main" id="{E3F5FF5B-A807-4430-AA6F-FD7CDE04B0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90" y="1457"/>
              <a:ext cx="238" cy="1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700" rIns="40500" bIns="216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=</a:t>
              </a:r>
            </a:p>
          </p:txBody>
        </p:sp>
        <p:sp>
          <p:nvSpPr>
            <p:cNvPr id="62506" name="Rectangle 46">
              <a:extLst>
                <a:ext uri="{FF2B5EF4-FFF2-40B4-BE49-F238E27FC236}">
                  <a16:creationId xmlns:a16="http://schemas.microsoft.com/office/drawing/2014/main" id="{9EED890D-5750-41EC-A1D9-D51C550A80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0" y="1742"/>
              <a:ext cx="192" cy="2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700" rIns="40500" bIns="216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&gt;</a:t>
              </a:r>
            </a:p>
          </p:txBody>
        </p:sp>
        <p:sp>
          <p:nvSpPr>
            <p:cNvPr id="62507" name="Rectangle 47">
              <a:extLst>
                <a:ext uri="{FF2B5EF4-FFF2-40B4-BE49-F238E27FC236}">
                  <a16:creationId xmlns:a16="http://schemas.microsoft.com/office/drawing/2014/main" id="{BC6B420D-B614-466B-ABFB-E109C03E11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4" y="2556"/>
              <a:ext cx="350" cy="2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700" rIns="40500" bIns="216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=</a:t>
              </a:r>
            </a:p>
          </p:txBody>
        </p:sp>
        <p:sp>
          <p:nvSpPr>
            <p:cNvPr id="62508" name="Rectangle 48">
              <a:extLst>
                <a:ext uri="{FF2B5EF4-FFF2-40B4-BE49-F238E27FC236}">
                  <a16:creationId xmlns:a16="http://schemas.microsoft.com/office/drawing/2014/main" id="{8B9CA7ED-8D0B-4130-89E2-F233202EC0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2" y="2918"/>
              <a:ext cx="294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700" rIns="40500" bIns="216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&gt;</a:t>
              </a:r>
            </a:p>
          </p:txBody>
        </p:sp>
        <p:sp>
          <p:nvSpPr>
            <p:cNvPr id="62509" name="Rectangle 49">
              <a:extLst>
                <a:ext uri="{FF2B5EF4-FFF2-40B4-BE49-F238E27FC236}">
                  <a16:creationId xmlns:a16="http://schemas.microsoft.com/office/drawing/2014/main" id="{039C8298-9B56-499E-BCF1-838389E249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65" y="3169"/>
              <a:ext cx="259" cy="2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700" rIns="40500" bIns="216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=</a:t>
              </a:r>
            </a:p>
          </p:txBody>
        </p:sp>
        <p:sp>
          <p:nvSpPr>
            <p:cNvPr id="62510" name="Rectangle 50">
              <a:extLst>
                <a:ext uri="{FF2B5EF4-FFF2-40B4-BE49-F238E27FC236}">
                  <a16:creationId xmlns:a16="http://schemas.microsoft.com/office/drawing/2014/main" id="{3A6EA124-484C-4BCB-B49B-3169346FA6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3" y="3543"/>
              <a:ext cx="137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700" rIns="40500" bIns="216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*</a:t>
              </a:r>
            </a:p>
          </p:txBody>
        </p:sp>
        <p:sp>
          <p:nvSpPr>
            <p:cNvPr id="62511" name="Rectangle 51">
              <a:extLst>
                <a:ext uri="{FF2B5EF4-FFF2-40B4-BE49-F238E27FC236}">
                  <a16:creationId xmlns:a16="http://schemas.microsoft.com/office/drawing/2014/main" id="{14DEAE5F-84CE-47B2-A357-29F109B3D1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6" y="2149"/>
              <a:ext cx="144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700" rIns="40500" bIns="216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*</a:t>
              </a:r>
            </a:p>
          </p:txBody>
        </p:sp>
        <p:sp>
          <p:nvSpPr>
            <p:cNvPr id="62512" name="Rectangle 52">
              <a:extLst>
                <a:ext uri="{FF2B5EF4-FFF2-40B4-BE49-F238E27FC236}">
                  <a16:creationId xmlns:a16="http://schemas.microsoft.com/office/drawing/2014/main" id="{043DB6E4-E55B-418C-AC37-9C7966790B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2" y="3460"/>
              <a:ext cx="637" cy="2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700" rIns="40500" bIns="216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other</a:t>
              </a:r>
            </a:p>
          </p:txBody>
        </p:sp>
        <p:sp>
          <p:nvSpPr>
            <p:cNvPr id="62513" name="Rectangle 53">
              <a:extLst>
                <a:ext uri="{FF2B5EF4-FFF2-40B4-BE49-F238E27FC236}">
                  <a16:creationId xmlns:a16="http://schemas.microsoft.com/office/drawing/2014/main" id="{D157C7DC-572F-4E06-9BAF-AC7CBFA7AD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0" y="2256"/>
              <a:ext cx="57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700" rIns="40500" bIns="216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other</a:t>
              </a:r>
            </a:p>
          </p:txBody>
        </p:sp>
      </p:grpSp>
      <p:sp>
        <p:nvSpPr>
          <p:cNvPr id="197686" name="AutoShape 54">
            <a:extLst>
              <a:ext uri="{FF2B5EF4-FFF2-40B4-BE49-F238E27FC236}">
                <a16:creationId xmlns:a16="http://schemas.microsoft.com/office/drawing/2014/main" id="{2009BC8A-C53D-4722-943F-07303DE2CA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86050" y="2404286"/>
            <a:ext cx="685800" cy="342900"/>
          </a:xfrm>
          <a:prstGeom prst="wedgeRoundRectCallout">
            <a:avLst>
              <a:gd name="adj1" fmla="val 88023"/>
              <a:gd name="adj2" fmla="val 117014"/>
              <a:gd name="adj3" fmla="val 16667"/>
            </a:avLst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500">
                <a:solidFill>
                  <a:srgbClr val="000000"/>
                </a:solidFill>
              </a:rPr>
              <a:t>状态</a:t>
            </a:r>
          </a:p>
        </p:txBody>
      </p:sp>
      <p:sp>
        <p:nvSpPr>
          <p:cNvPr id="197687" name="AutoShape 55">
            <a:extLst>
              <a:ext uri="{FF2B5EF4-FFF2-40B4-BE49-F238E27FC236}">
                <a16:creationId xmlns:a16="http://schemas.microsoft.com/office/drawing/2014/main" id="{744CA2A2-8572-47BA-A92B-1FB53AE4F5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0250" y="2804336"/>
            <a:ext cx="685800" cy="342900"/>
          </a:xfrm>
          <a:prstGeom prst="wedgeRoundRectCallout">
            <a:avLst>
              <a:gd name="adj1" fmla="val 140454"/>
              <a:gd name="adj2" fmla="val 102431"/>
              <a:gd name="adj3" fmla="val 16667"/>
            </a:avLst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500">
                <a:solidFill>
                  <a:srgbClr val="000000"/>
                </a:solidFill>
              </a:rPr>
              <a:t>边</a:t>
            </a:r>
          </a:p>
        </p:txBody>
      </p:sp>
      <p:sp>
        <p:nvSpPr>
          <p:cNvPr id="197688" name="AutoShape 56">
            <a:extLst>
              <a:ext uri="{FF2B5EF4-FFF2-40B4-BE49-F238E27FC236}">
                <a16:creationId xmlns:a16="http://schemas.microsoft.com/office/drawing/2014/main" id="{02C84E0D-E7A8-4FAD-95F0-02F8B74E88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3600" y="3718736"/>
            <a:ext cx="1885950" cy="742950"/>
          </a:xfrm>
          <a:prstGeom prst="wedgeRoundRectCallout">
            <a:avLst>
              <a:gd name="adj1" fmla="val -123611"/>
              <a:gd name="adj2" fmla="val -63782"/>
              <a:gd name="adj3" fmla="val 16667"/>
            </a:avLst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500">
                <a:solidFill>
                  <a:srgbClr val="000000"/>
                </a:solidFill>
              </a:rPr>
              <a:t>表示离开状态</a:t>
            </a:r>
            <a:r>
              <a:rPr lang="en-US" altLang="zh-CN" sz="1500">
                <a:solidFill>
                  <a:srgbClr val="000000"/>
                </a:solidFill>
              </a:rPr>
              <a:t>1</a:t>
            </a:r>
            <a:r>
              <a:rPr lang="zh-CN" altLang="en-US" sz="1500">
                <a:solidFill>
                  <a:srgbClr val="000000"/>
                </a:solidFill>
              </a:rPr>
              <a:t>的其它边所指示的字符以外的所有字符</a:t>
            </a:r>
          </a:p>
        </p:txBody>
      </p:sp>
      <p:sp>
        <p:nvSpPr>
          <p:cNvPr id="197689" name="AutoShape 57">
            <a:extLst>
              <a:ext uri="{FF2B5EF4-FFF2-40B4-BE49-F238E27FC236}">
                <a16:creationId xmlns:a16="http://schemas.microsoft.com/office/drawing/2014/main" id="{EE009A20-30E2-4523-BE9B-EC49524ACE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85900" y="4633136"/>
            <a:ext cx="1085850" cy="342900"/>
          </a:xfrm>
          <a:prstGeom prst="wedgeRoundRectCallout">
            <a:avLst>
              <a:gd name="adj1" fmla="val 28069"/>
              <a:gd name="adj2" fmla="val -163194"/>
              <a:gd name="adj3" fmla="val 16667"/>
            </a:avLst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500">
                <a:solidFill>
                  <a:srgbClr val="000000"/>
                </a:solidFill>
              </a:rPr>
              <a:t>开始状态</a:t>
            </a:r>
          </a:p>
        </p:txBody>
      </p:sp>
      <p:sp>
        <p:nvSpPr>
          <p:cNvPr id="197690" name="AutoShape 58">
            <a:extLst>
              <a:ext uri="{FF2B5EF4-FFF2-40B4-BE49-F238E27FC236}">
                <a16:creationId xmlns:a16="http://schemas.microsoft.com/office/drawing/2014/main" id="{8B4DAF80-4716-4025-AEBD-9A1D994805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15100" y="1375586"/>
            <a:ext cx="1085850" cy="342900"/>
          </a:xfrm>
          <a:prstGeom prst="wedgeRoundRectCallout">
            <a:avLst>
              <a:gd name="adj1" fmla="val -132236"/>
              <a:gd name="adj2" fmla="val 228819"/>
              <a:gd name="adj3" fmla="val 16667"/>
            </a:avLst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500">
                <a:solidFill>
                  <a:srgbClr val="000000"/>
                </a:solidFill>
              </a:rPr>
              <a:t>接受状态</a:t>
            </a:r>
          </a:p>
        </p:txBody>
      </p:sp>
      <p:sp>
        <p:nvSpPr>
          <p:cNvPr id="197691" name="AutoShape 59">
            <a:extLst>
              <a:ext uri="{FF2B5EF4-FFF2-40B4-BE49-F238E27FC236}">
                <a16:creationId xmlns:a16="http://schemas.microsoft.com/office/drawing/2014/main" id="{4379EEED-B36D-461A-B4F9-E8B2CC70B9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1832786"/>
            <a:ext cx="1657350" cy="342900"/>
          </a:xfrm>
          <a:prstGeom prst="wedgeRoundRectCallout">
            <a:avLst>
              <a:gd name="adj1" fmla="val -1079"/>
              <a:gd name="adj2" fmla="val 85417"/>
              <a:gd name="adj3" fmla="val 16667"/>
            </a:avLst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500">
                <a:solidFill>
                  <a:srgbClr val="000000"/>
                </a:solidFill>
              </a:rPr>
              <a:t>接受状态的动作</a:t>
            </a:r>
          </a:p>
        </p:txBody>
      </p:sp>
      <p:sp>
        <p:nvSpPr>
          <p:cNvPr id="197692" name="AutoShape 60">
            <a:extLst>
              <a:ext uri="{FF2B5EF4-FFF2-40B4-BE49-F238E27FC236}">
                <a16:creationId xmlns:a16="http://schemas.microsoft.com/office/drawing/2014/main" id="{7BA89204-ABD7-468C-9B03-3D11850A60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57900" y="4747436"/>
            <a:ext cx="1085850" cy="342900"/>
          </a:xfrm>
          <a:prstGeom prst="wedgeRoundRectCallout">
            <a:avLst>
              <a:gd name="adj1" fmla="val -80593"/>
              <a:gd name="adj2" fmla="val 30903"/>
              <a:gd name="adj3" fmla="val 16667"/>
            </a:avLst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500">
                <a:solidFill>
                  <a:srgbClr val="000000"/>
                </a:solidFill>
              </a:rPr>
              <a:t>表示回移</a:t>
            </a:r>
          </a:p>
        </p:txBody>
      </p:sp>
      <p:sp>
        <p:nvSpPr>
          <p:cNvPr id="62476" name="Text Box 61">
            <a:extLst>
              <a:ext uri="{FF2B5EF4-FFF2-40B4-BE49-F238E27FC236}">
                <a16:creationId xmlns:a16="http://schemas.microsoft.com/office/drawing/2014/main" id="{F80EE3D9-AC5E-40CF-9B84-ADCEB7184A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9700" y="5600700"/>
            <a:ext cx="1005121" cy="3206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40500" tIns="21600" rIns="40500" bIns="2160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dirty="0">
                <a:solidFill>
                  <a:srgbClr val="333399"/>
                </a:solidFill>
                <a:latin typeface="Times New Roman" panose="02020603050405020304" pitchFamily="18" charset="0"/>
                <a:hlinkClick r:id="rId2" action="ppaction://hlinksldjump"/>
              </a:rPr>
              <a:t>模拟程序</a:t>
            </a:r>
            <a:endParaRPr lang="zh-CN" altLang="en-US" sz="1800" dirty="0">
              <a:solidFill>
                <a:srgbClr val="3333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E85D609-CBC4-4C4A-3E5C-2A9B46123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BDB17-6B49-4237-ACC3-8E6066695D71}" type="datetime2">
              <a:rPr lang="zh-CN" altLang="en-US" smtClean="0"/>
              <a:t>2026年3月11日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47C534A-F57A-88ED-45F4-45FB1DFE1C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</a:t>
            </a:r>
            <a:r>
              <a:rPr lang="en-US" altLang="zh-CN"/>
              <a:t>2</a:t>
            </a:r>
            <a:r>
              <a:rPr lang="zh-CN" altLang="en-US"/>
              <a:t>章 词法分析</a:t>
            </a:r>
            <a:r>
              <a:rPr lang="en-US" altLang="zh-CN"/>
              <a:t>(1)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1CC92CC-8C94-7019-A466-E6E9997D95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52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97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976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976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976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97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97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97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7686" grpId="0" animBg="1"/>
      <p:bldP spid="197687" grpId="0" animBg="1"/>
      <p:bldP spid="197688" grpId="0" animBg="1"/>
      <p:bldP spid="197689" grpId="0" animBg="1"/>
      <p:bldP spid="197690" grpId="0" animBg="1"/>
      <p:bldP spid="197691" grpId="0" animBg="1"/>
      <p:bldP spid="197692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>
            <a:extLst>
              <a:ext uri="{FF2B5EF4-FFF2-40B4-BE49-F238E27FC236}">
                <a16:creationId xmlns:a16="http://schemas.microsoft.com/office/drawing/2014/main" id="{37BBEED6-13D4-41FB-99EE-8D7C4DD17DA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CN" dirty="0"/>
              <a:t>2.2.4 </a:t>
            </a:r>
            <a:r>
              <a:rPr lang="zh-CN" altLang="en-US" dirty="0"/>
              <a:t>状态转换图</a:t>
            </a:r>
          </a:p>
        </p:txBody>
      </p:sp>
      <p:sp>
        <p:nvSpPr>
          <p:cNvPr id="63491" name="Rectangle 3">
            <a:extLst>
              <a:ext uri="{FF2B5EF4-FFF2-40B4-BE49-F238E27FC236}">
                <a16:creationId xmlns:a16="http://schemas.microsoft.com/office/drawing/2014/main" id="{A829D2FB-4F1E-4210-B70E-E024191F38B0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识别标识符和关键字的转换图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endParaRPr lang="en-US" altLang="zh-CN" sz="2800" b="1" dirty="0">
              <a:solidFill>
                <a:srgbClr val="008000"/>
              </a:solidFill>
              <a:latin typeface="Times New Roman" panose="02020603050405020304" pitchFamily="18" charset="0"/>
            </a:endParaRP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zh-CN" sz="2800" b="1" dirty="0">
                <a:solidFill>
                  <a:srgbClr val="008000"/>
                </a:solidFill>
                <a:latin typeface="Times New Roman" panose="02020603050405020304" pitchFamily="18" charset="0"/>
              </a:rPr>
              <a:t>	while</a:t>
            </a:r>
            <a:r>
              <a:rPr lang="en-US" altLang="zh-CN" sz="2800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800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</a:rPr>
              <a:t>while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b="1" dirty="0">
                <a:solidFill>
                  <a:srgbClr val="008000"/>
                </a:solidFill>
                <a:latin typeface="Times New Roman" panose="02020603050405020304" pitchFamily="18" charset="0"/>
              </a:rPr>
              <a:t>	do</a:t>
            </a:r>
            <a:r>
              <a:rPr lang="en-US" altLang="zh-CN" sz="2800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800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</a:rPr>
              <a:t>do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zh-CN" sz="2800" b="1" dirty="0">
                <a:solidFill>
                  <a:srgbClr val="008000"/>
                </a:solidFill>
                <a:latin typeface="Times New Roman" panose="02020603050405020304" pitchFamily="18" charset="0"/>
              </a:rPr>
              <a:t>	id</a:t>
            </a:r>
            <a:r>
              <a:rPr lang="en-US" altLang="zh-CN" sz="2800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solidFill>
                  <a:srgbClr val="008000"/>
                </a:solidFill>
                <a:latin typeface="Times New Roman" panose="02020603050405020304" pitchFamily="18" charset="0"/>
              </a:rPr>
              <a:t>letter</a:t>
            </a:r>
            <a:r>
              <a:rPr lang="en-US" altLang="zh-CN" sz="2800" b="1" dirty="0">
                <a:latin typeface="Times New Roman" panose="02020603050405020304" pitchFamily="18" charset="0"/>
              </a:rPr>
              <a:t> (</a:t>
            </a:r>
            <a:r>
              <a:rPr lang="en-US" altLang="zh-CN" sz="2800" b="1" dirty="0">
                <a:solidFill>
                  <a:srgbClr val="008000"/>
                </a:solidFill>
                <a:latin typeface="Times New Roman" panose="02020603050405020304" pitchFamily="18" charset="0"/>
              </a:rPr>
              <a:t>letter</a:t>
            </a:r>
            <a:r>
              <a:rPr lang="en-US" altLang="zh-CN" sz="2800" b="1" dirty="0">
                <a:latin typeface="Times New Roman" panose="02020603050405020304" pitchFamily="18" charset="0"/>
              </a:rPr>
              <a:t> | </a:t>
            </a:r>
            <a:r>
              <a:rPr lang="en-US" altLang="zh-CN" sz="2800" b="1" dirty="0">
                <a:solidFill>
                  <a:srgbClr val="008000"/>
                </a:solidFill>
                <a:latin typeface="Times New Roman" panose="02020603050405020304" pitchFamily="18" charset="0"/>
              </a:rPr>
              <a:t>digit</a:t>
            </a:r>
            <a:r>
              <a:rPr lang="en-US" altLang="zh-CN" sz="2800" b="1" dirty="0">
                <a:latin typeface="Times New Roman" panose="02020603050405020304" pitchFamily="18" charset="0"/>
              </a:rPr>
              <a:t> )</a:t>
            </a:r>
            <a:r>
              <a:rPr lang="en-US" altLang="zh-CN" sz="2800" b="1" baseline="30000" dirty="0">
                <a:latin typeface="Times New Roman" panose="02020603050405020304" pitchFamily="18" charset="0"/>
              </a:rPr>
              <a:t>*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grpSp>
        <p:nvGrpSpPr>
          <p:cNvPr id="63492" name="Group 4">
            <a:extLst>
              <a:ext uri="{FF2B5EF4-FFF2-40B4-BE49-F238E27FC236}">
                <a16:creationId xmlns:a16="http://schemas.microsoft.com/office/drawing/2014/main" id="{DFFD7635-E372-4777-A4BD-D2E844DDF491}"/>
              </a:ext>
            </a:extLst>
          </p:cNvPr>
          <p:cNvGrpSpPr>
            <a:grpSpLocks/>
          </p:cNvGrpSpPr>
          <p:nvPr/>
        </p:nvGrpSpPr>
        <p:grpSpPr bwMode="auto">
          <a:xfrm>
            <a:off x="849909" y="4671699"/>
            <a:ext cx="6286500" cy="1204913"/>
            <a:chOff x="288" y="1680"/>
            <a:chExt cx="5280" cy="1012"/>
          </a:xfrm>
        </p:grpSpPr>
        <p:sp>
          <p:nvSpPr>
            <p:cNvPr id="63493" name="Oval 5">
              <a:extLst>
                <a:ext uri="{FF2B5EF4-FFF2-40B4-BE49-F238E27FC236}">
                  <a16:creationId xmlns:a16="http://schemas.microsoft.com/office/drawing/2014/main" id="{DA9AC9E2-E15D-4708-A622-1FBCF2D7BD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2" y="2301"/>
              <a:ext cx="374" cy="391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59400" tIns="21600" rIns="67500" bIns="351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9</a:t>
              </a:r>
            </a:p>
          </p:txBody>
        </p:sp>
        <p:sp>
          <p:nvSpPr>
            <p:cNvPr id="63494" name="Oval 6">
              <a:extLst>
                <a:ext uri="{FF2B5EF4-FFF2-40B4-BE49-F238E27FC236}">
                  <a16:creationId xmlns:a16="http://schemas.microsoft.com/office/drawing/2014/main" id="{1691BAC0-5D4F-4EB6-BFB1-15823C13B3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56" y="2301"/>
              <a:ext cx="374" cy="391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6200" tIns="21600" rIns="16200" bIns="351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10</a:t>
              </a:r>
            </a:p>
          </p:txBody>
        </p:sp>
        <p:grpSp>
          <p:nvGrpSpPr>
            <p:cNvPr id="63495" name="Group 7">
              <a:extLst>
                <a:ext uri="{FF2B5EF4-FFF2-40B4-BE49-F238E27FC236}">
                  <a16:creationId xmlns:a16="http://schemas.microsoft.com/office/drawing/2014/main" id="{B575EAE3-7D59-4420-A3B4-3C66282C5D4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03" y="2301"/>
              <a:ext cx="374" cy="391"/>
              <a:chOff x="7120" y="12162"/>
              <a:chExt cx="425" cy="425"/>
            </a:xfrm>
          </p:grpSpPr>
          <p:sp>
            <p:nvSpPr>
              <p:cNvPr id="63506" name="Oval 8">
                <a:extLst>
                  <a:ext uri="{FF2B5EF4-FFF2-40B4-BE49-F238E27FC236}">
                    <a16:creationId xmlns:a16="http://schemas.microsoft.com/office/drawing/2014/main" id="{7DB05F95-29AF-40F4-BE06-0AF5771803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20" y="12162"/>
                <a:ext cx="425" cy="425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5400" tIns="0" rIns="5400" bIns="0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75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3507" name="Oval 9">
                <a:extLst>
                  <a:ext uri="{FF2B5EF4-FFF2-40B4-BE49-F238E27FC236}">
                    <a16:creationId xmlns:a16="http://schemas.microsoft.com/office/drawing/2014/main" id="{8B3725C1-F6CB-4B64-BE07-A2D1295325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80" y="12218"/>
                <a:ext cx="312" cy="312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5400" tIns="0" rIns="5400" bIns="0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5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11</a:t>
                </a:r>
              </a:p>
            </p:txBody>
          </p:sp>
        </p:grpSp>
        <p:sp>
          <p:nvSpPr>
            <p:cNvPr id="63496" name="Line 10">
              <a:extLst>
                <a:ext uri="{FF2B5EF4-FFF2-40B4-BE49-F238E27FC236}">
                  <a16:creationId xmlns:a16="http://schemas.microsoft.com/office/drawing/2014/main" id="{F132D1EA-245E-4D59-B280-C8916E2C465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96" y="2496"/>
              <a:ext cx="75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59400" tIns="21600" rIns="67500" bIns="35100"/>
            <a:lstStyle/>
            <a:p>
              <a:endParaRPr lang="zh-CN" altLang="en-US" sz="1350"/>
            </a:p>
          </p:txBody>
        </p:sp>
        <p:sp>
          <p:nvSpPr>
            <p:cNvPr id="63497" name="Rectangle 11">
              <a:extLst>
                <a:ext uri="{FF2B5EF4-FFF2-40B4-BE49-F238E27FC236}">
                  <a16:creationId xmlns:a16="http://schemas.microsoft.com/office/drawing/2014/main" id="{95DEFB24-F0E7-4CB2-A4F4-23A526EDE9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" y="2160"/>
              <a:ext cx="606" cy="2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1600" rIns="40500" bIns="216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100">
                  <a:solidFill>
                    <a:srgbClr val="000000"/>
                  </a:solidFill>
                  <a:latin typeface="Times New Roman" panose="02020603050405020304" pitchFamily="18" charset="0"/>
                </a:rPr>
                <a:t>开始</a:t>
              </a:r>
            </a:p>
          </p:txBody>
        </p:sp>
        <p:sp>
          <p:nvSpPr>
            <p:cNvPr id="63498" name="Rectangle 12">
              <a:extLst>
                <a:ext uri="{FF2B5EF4-FFF2-40B4-BE49-F238E27FC236}">
                  <a16:creationId xmlns:a16="http://schemas.microsoft.com/office/drawing/2014/main" id="{6217DBA6-5EBC-46AF-BBD8-BDE6A8BE7C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2208"/>
              <a:ext cx="624" cy="2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1600" rIns="40500" bIns="216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100" b="1">
                  <a:solidFill>
                    <a:srgbClr val="008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letter</a:t>
              </a:r>
            </a:p>
          </p:txBody>
        </p:sp>
        <p:sp>
          <p:nvSpPr>
            <p:cNvPr id="63499" name="Line 13">
              <a:extLst>
                <a:ext uri="{FF2B5EF4-FFF2-40B4-BE49-F238E27FC236}">
                  <a16:creationId xmlns:a16="http://schemas.microsoft.com/office/drawing/2014/main" id="{673489B1-C3AE-4BA0-91E2-709FEBD09A5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43" y="2496"/>
              <a:ext cx="75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59400" tIns="21600" rIns="67500" bIns="35100"/>
            <a:lstStyle/>
            <a:p>
              <a:endParaRPr lang="zh-CN" altLang="en-US" sz="1350"/>
            </a:p>
          </p:txBody>
        </p:sp>
        <p:sp>
          <p:nvSpPr>
            <p:cNvPr id="63500" name="Rectangle 14">
              <a:extLst>
                <a:ext uri="{FF2B5EF4-FFF2-40B4-BE49-F238E27FC236}">
                  <a16:creationId xmlns:a16="http://schemas.microsoft.com/office/drawing/2014/main" id="{FDD178CB-C1B8-4D04-825E-C2DB66CFC9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4" y="2208"/>
              <a:ext cx="624" cy="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1600" rIns="40500" bIns="216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100" b="1">
                  <a:solidFill>
                    <a:srgbClr val="008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other</a:t>
              </a:r>
            </a:p>
          </p:txBody>
        </p:sp>
        <p:sp>
          <p:nvSpPr>
            <p:cNvPr id="63501" name="Rectangle 15">
              <a:extLst>
                <a:ext uri="{FF2B5EF4-FFF2-40B4-BE49-F238E27FC236}">
                  <a16:creationId xmlns:a16="http://schemas.microsoft.com/office/drawing/2014/main" id="{FC77DCFB-C71F-4B60-8A00-ED09234146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8" y="2112"/>
              <a:ext cx="190" cy="1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1600" rIns="40500" bIns="216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*</a:t>
              </a:r>
            </a:p>
          </p:txBody>
        </p:sp>
        <p:sp>
          <p:nvSpPr>
            <p:cNvPr id="63502" name="Rectangle 16">
              <a:extLst>
                <a:ext uri="{FF2B5EF4-FFF2-40B4-BE49-F238E27FC236}">
                  <a16:creationId xmlns:a16="http://schemas.microsoft.com/office/drawing/2014/main" id="{1050F96C-4D11-440B-BF10-37FA3F12C0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7" y="1680"/>
              <a:ext cx="1529" cy="3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1600" rIns="40500" bIns="216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100" b="1" dirty="0">
                  <a:solidFill>
                    <a:srgbClr val="008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letter</a:t>
              </a:r>
              <a:r>
                <a:rPr lang="zh-CN" altLang="en-US" sz="21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或</a:t>
              </a:r>
              <a:r>
                <a:rPr lang="en-US" altLang="zh-CN" sz="2100" b="1" dirty="0">
                  <a:solidFill>
                    <a:srgbClr val="008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digit</a:t>
              </a:r>
            </a:p>
          </p:txBody>
        </p:sp>
        <p:sp>
          <p:nvSpPr>
            <p:cNvPr id="63503" name="Rectangle 17">
              <a:extLst>
                <a:ext uri="{FF2B5EF4-FFF2-40B4-BE49-F238E27FC236}">
                  <a16:creationId xmlns:a16="http://schemas.microsoft.com/office/drawing/2014/main" id="{09E52EC6-570F-441D-A349-FAFCC444A8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8" y="2304"/>
              <a:ext cx="192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1600" rIns="40500" bIns="216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1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return(</a:t>
              </a:r>
              <a:r>
                <a:rPr lang="en-US" altLang="zh-CN" sz="2100" b="1" i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installID</a:t>
              </a:r>
              <a:r>
                <a:rPr lang="en-US" altLang="zh-CN" sz="21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( ))</a:t>
              </a:r>
            </a:p>
          </p:txBody>
        </p:sp>
        <p:sp>
          <p:nvSpPr>
            <p:cNvPr id="63504" name="Freeform 18">
              <a:extLst>
                <a:ext uri="{FF2B5EF4-FFF2-40B4-BE49-F238E27FC236}">
                  <a16:creationId xmlns:a16="http://schemas.microsoft.com/office/drawing/2014/main" id="{689C2B0C-FF3F-468E-837E-B0B4567174AA}"/>
                </a:ext>
              </a:extLst>
            </p:cNvPr>
            <p:cNvSpPr>
              <a:spLocks/>
            </p:cNvSpPr>
            <p:nvPr/>
          </p:nvSpPr>
          <p:spPr bwMode="auto">
            <a:xfrm>
              <a:off x="2100" y="2005"/>
              <a:ext cx="288" cy="306"/>
            </a:xfrm>
            <a:custGeom>
              <a:avLst/>
              <a:gdLst>
                <a:gd name="T0" fmla="*/ 47 w 327"/>
                <a:gd name="T1" fmla="*/ 109 h 333"/>
                <a:gd name="T2" fmla="*/ 61 w 327"/>
                <a:gd name="T3" fmla="*/ 40 h 333"/>
                <a:gd name="T4" fmla="*/ 33 w 327"/>
                <a:gd name="T5" fmla="*/ 3 h 333"/>
                <a:gd name="T6" fmla="*/ 4 w 327"/>
                <a:gd name="T7" fmla="*/ 47 h 333"/>
                <a:gd name="T8" fmla="*/ 14 w 327"/>
                <a:gd name="T9" fmla="*/ 109 h 33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7"/>
                <a:gd name="T16" fmla="*/ 0 h 333"/>
                <a:gd name="T17" fmla="*/ 327 w 327"/>
                <a:gd name="T18" fmla="*/ 333 h 33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7" h="333">
                  <a:moveTo>
                    <a:pt x="240" y="332"/>
                  </a:moveTo>
                  <a:cubicBezTo>
                    <a:pt x="252" y="297"/>
                    <a:pt x="327" y="178"/>
                    <a:pt x="315" y="123"/>
                  </a:cubicBezTo>
                  <a:cubicBezTo>
                    <a:pt x="303" y="68"/>
                    <a:pt x="215" y="0"/>
                    <a:pt x="165" y="3"/>
                  </a:cubicBezTo>
                  <a:cubicBezTo>
                    <a:pt x="115" y="6"/>
                    <a:pt x="30" y="83"/>
                    <a:pt x="15" y="138"/>
                  </a:cubicBezTo>
                  <a:cubicBezTo>
                    <a:pt x="0" y="193"/>
                    <a:pt x="63" y="293"/>
                    <a:pt x="75" y="333"/>
                  </a:cubicBezTo>
                </a:path>
              </a:pathLst>
            </a:custGeom>
            <a:noFill/>
            <a:ln w="25400" cap="flat" cmpd="sng">
              <a:solidFill>
                <a:schemeClr val="tx1"/>
              </a:solidFill>
              <a:prstDash val="solid"/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59400" tIns="21600" rIns="67500" bIns="35100"/>
            <a:lstStyle/>
            <a:p>
              <a:endParaRPr lang="zh-CN" altLang="en-US" sz="1350"/>
            </a:p>
          </p:txBody>
        </p:sp>
        <p:sp>
          <p:nvSpPr>
            <p:cNvPr id="63505" name="Line 19">
              <a:extLst>
                <a:ext uri="{FF2B5EF4-FFF2-40B4-BE49-F238E27FC236}">
                  <a16:creationId xmlns:a16="http://schemas.microsoft.com/office/drawing/2014/main" id="{88E64021-873E-4C67-BD5F-0EE50A732EE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4" y="2496"/>
              <a:ext cx="51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59400" tIns="21600" rIns="67500" bIns="35100"/>
            <a:lstStyle/>
            <a:p>
              <a:endParaRPr lang="zh-CN" altLang="en-US" sz="1350"/>
            </a:p>
          </p:txBody>
        </p:sp>
      </p:grpSp>
      <p:sp>
        <p:nvSpPr>
          <p:cNvPr id="20" name="文本框 19">
            <a:extLst>
              <a:ext uri="{FF2B5EF4-FFF2-40B4-BE49-F238E27FC236}">
                <a16:creationId xmlns:a16="http://schemas.microsoft.com/office/drawing/2014/main" id="{D6E5C70B-F17D-4BFE-8B04-9FE358DAD73F}"/>
              </a:ext>
            </a:extLst>
          </p:cNvPr>
          <p:cNvSpPr txBox="1"/>
          <p:nvPr/>
        </p:nvSpPr>
        <p:spPr>
          <a:xfrm>
            <a:off x="5218154" y="1875138"/>
            <a:ext cx="3582946" cy="34163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lvl="0">
              <a:defRPr/>
            </a:pP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把关键字从标识符中分离出来的简单办法是建立一张关键字表。</a:t>
            </a:r>
            <a:endParaRPr lang="en-US" altLang="zh-CN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lvl="0">
              <a:defRPr/>
            </a:pP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使用</a:t>
            </a:r>
            <a:r>
              <a:rPr lang="en-US" altLang="zh-CN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installID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()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函数来判断返回的字符串是否是关键字，如果是，则返回关键词的词法记号。</a:t>
            </a:r>
            <a:endParaRPr lang="en-US" altLang="zh-CN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lvl="0">
              <a:defRPr/>
            </a:pP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如果不是，则查阅符号表，如果在表中发现该单词已存在，则返回相应的条目指针。</a:t>
            </a:r>
            <a:endParaRPr lang="en-US" altLang="zh-CN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lvl="0">
              <a:defRPr/>
            </a:pP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如果符号表中没有找到该单词，则把该单词的词法记号和属性值填入符号表，并返回新建条目的指针。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CEED882-6597-23AD-B817-4A8BF3A413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A7A0E0-8BEF-4A79-B673-BDC12A7495BE}" type="datetime2">
              <a:rPr lang="zh-CN" altLang="en-US" smtClean="0"/>
              <a:t>2026年3月11日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1EFFEA6-D970-615B-3B44-38C99472B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</a:t>
            </a:r>
            <a:r>
              <a:rPr lang="en-US" altLang="zh-CN"/>
              <a:t>2</a:t>
            </a:r>
            <a:r>
              <a:rPr lang="zh-CN" altLang="en-US"/>
              <a:t>章 词法分析</a:t>
            </a:r>
            <a:r>
              <a:rPr lang="en-US" altLang="zh-CN"/>
              <a:t>(1)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77F9FC3-45AE-EAAF-EEB7-E0B3894A3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53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>
            <a:extLst>
              <a:ext uri="{FF2B5EF4-FFF2-40B4-BE49-F238E27FC236}">
                <a16:creationId xmlns:a16="http://schemas.microsoft.com/office/drawing/2014/main" id="{AF554D7E-2BC8-43A8-8087-E6B323F339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CN" dirty="0"/>
              <a:t>2.2.4 </a:t>
            </a:r>
            <a:r>
              <a:rPr lang="zh-CN" altLang="en-US" dirty="0"/>
              <a:t>状态转换图</a:t>
            </a:r>
          </a:p>
        </p:txBody>
      </p:sp>
      <p:sp>
        <p:nvSpPr>
          <p:cNvPr id="65539" name="Rectangle 3">
            <a:extLst>
              <a:ext uri="{FF2B5EF4-FFF2-40B4-BE49-F238E27FC236}">
                <a16:creationId xmlns:a16="http://schemas.microsoft.com/office/drawing/2014/main" id="{1B9E352D-ADE1-4D33-B1FC-E8EDA6B059C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识别无符号数的转换图</a:t>
            </a:r>
          </a:p>
          <a:p>
            <a:pPr>
              <a:buClrTx/>
              <a:buSzTx/>
              <a:buFontTx/>
              <a:buNone/>
            </a:pPr>
            <a:r>
              <a:rPr lang="en-US" altLang="zh-CN" b="1" dirty="0">
                <a:solidFill>
                  <a:srgbClr val="008000"/>
                </a:solidFill>
                <a:latin typeface="Times New Roman" panose="02020603050405020304" pitchFamily="18" charset="0"/>
              </a:rPr>
              <a:t>num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008000"/>
                </a:solidFill>
                <a:latin typeface="Times New Roman" panose="02020603050405020304" pitchFamily="18" charset="0"/>
              </a:rPr>
              <a:t>digit</a:t>
            </a:r>
            <a:r>
              <a:rPr lang="en-US" altLang="zh-CN" b="1" baseline="30000" dirty="0">
                <a:latin typeface="Times New Roman" panose="02020603050405020304" pitchFamily="18" charset="0"/>
              </a:rPr>
              <a:t>+</a:t>
            </a:r>
            <a:r>
              <a:rPr lang="en-US" altLang="zh-CN" b="1" dirty="0">
                <a:latin typeface="Times New Roman" panose="02020603050405020304" pitchFamily="18" charset="0"/>
              </a:rPr>
              <a:t> (.</a:t>
            </a:r>
            <a:r>
              <a:rPr lang="en-US" altLang="zh-CN" b="1" dirty="0">
                <a:solidFill>
                  <a:srgbClr val="008000"/>
                </a:solidFill>
                <a:latin typeface="Times New Roman" panose="02020603050405020304" pitchFamily="18" charset="0"/>
              </a:rPr>
              <a:t>digit</a:t>
            </a:r>
            <a:r>
              <a:rPr lang="en-US" altLang="zh-CN" b="1" baseline="30000" dirty="0">
                <a:latin typeface="Times New Roman" panose="02020603050405020304" pitchFamily="18" charset="0"/>
              </a:rPr>
              <a:t>+</a:t>
            </a:r>
            <a:r>
              <a:rPr lang="en-US" altLang="zh-CN" b="1" dirty="0">
                <a:latin typeface="Times New Roman" panose="02020603050405020304" pitchFamily="18" charset="0"/>
              </a:rPr>
              <a:t>)? (E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</a:rPr>
              <a:t>(+ | 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b="1" dirty="0">
                <a:latin typeface="Times New Roman" panose="02020603050405020304" pitchFamily="18" charset="0"/>
              </a:rPr>
              <a:t>)?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008000"/>
                </a:solidFill>
                <a:latin typeface="Times New Roman" panose="02020603050405020304" pitchFamily="18" charset="0"/>
              </a:rPr>
              <a:t>digit</a:t>
            </a:r>
            <a:r>
              <a:rPr lang="en-US" altLang="zh-CN" b="1" baseline="30000" dirty="0">
                <a:latin typeface="Times New Roman" panose="02020603050405020304" pitchFamily="18" charset="0"/>
              </a:rPr>
              <a:t>+</a:t>
            </a:r>
            <a:r>
              <a:rPr lang="en-US" altLang="zh-CN" b="1" dirty="0">
                <a:latin typeface="Times New Roman" panose="02020603050405020304" pitchFamily="18" charset="0"/>
              </a:rPr>
              <a:t>)?</a:t>
            </a:r>
            <a:r>
              <a:rPr lang="en-US" altLang="zh-CN" i="1" dirty="0"/>
              <a:t> </a:t>
            </a:r>
          </a:p>
          <a:p>
            <a:pPr eaLnBrk="1" hangingPunct="1"/>
            <a:endParaRPr lang="en-US" altLang="zh-CN" dirty="0"/>
          </a:p>
        </p:txBody>
      </p:sp>
      <p:grpSp>
        <p:nvGrpSpPr>
          <p:cNvPr id="65540" name="Group 4">
            <a:extLst>
              <a:ext uri="{FF2B5EF4-FFF2-40B4-BE49-F238E27FC236}">
                <a16:creationId xmlns:a16="http://schemas.microsoft.com/office/drawing/2014/main" id="{4BE85906-0532-4806-8F76-B54285EC49CC}"/>
              </a:ext>
            </a:extLst>
          </p:cNvPr>
          <p:cNvGrpSpPr>
            <a:grpSpLocks/>
          </p:cNvGrpSpPr>
          <p:nvPr/>
        </p:nvGrpSpPr>
        <p:grpSpPr bwMode="auto">
          <a:xfrm>
            <a:off x="1232892" y="2732567"/>
            <a:ext cx="6678216" cy="2686050"/>
            <a:chOff x="96" y="2064"/>
            <a:chExt cx="5609" cy="2256"/>
          </a:xfrm>
        </p:grpSpPr>
        <p:sp>
          <p:nvSpPr>
            <p:cNvPr id="65541" name="Rectangle 5">
              <a:extLst>
                <a:ext uri="{FF2B5EF4-FFF2-40B4-BE49-F238E27FC236}">
                  <a16:creationId xmlns:a16="http://schemas.microsoft.com/office/drawing/2014/main" id="{4A5DD9BA-8F91-4596-99CA-C7BF8F92AC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" y="2784"/>
              <a:ext cx="480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1600" rIns="40500" bIns="216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开始</a:t>
              </a:r>
            </a:p>
          </p:txBody>
        </p:sp>
        <p:sp>
          <p:nvSpPr>
            <p:cNvPr id="65542" name="Line 6">
              <a:extLst>
                <a:ext uri="{FF2B5EF4-FFF2-40B4-BE49-F238E27FC236}">
                  <a16:creationId xmlns:a16="http://schemas.microsoft.com/office/drawing/2014/main" id="{B1624856-190C-47E1-BE67-6F19BF6A016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67" y="3091"/>
              <a:ext cx="40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59400" tIns="21600" rIns="67500" bIns="35100"/>
            <a:lstStyle/>
            <a:p>
              <a:endParaRPr lang="zh-CN" altLang="en-US" sz="1350"/>
            </a:p>
          </p:txBody>
        </p:sp>
        <p:grpSp>
          <p:nvGrpSpPr>
            <p:cNvPr id="65543" name="Group 7">
              <a:extLst>
                <a:ext uri="{FF2B5EF4-FFF2-40B4-BE49-F238E27FC236}">
                  <a16:creationId xmlns:a16="http://schemas.microsoft.com/office/drawing/2014/main" id="{65E48687-6AAA-44FD-9AF7-6114BC2EDF4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51" y="3714"/>
              <a:ext cx="365" cy="366"/>
              <a:chOff x="7120" y="12162"/>
              <a:chExt cx="425" cy="425"/>
            </a:xfrm>
          </p:grpSpPr>
          <p:sp>
            <p:nvSpPr>
              <p:cNvPr id="65581" name="Oval 8">
                <a:extLst>
                  <a:ext uri="{FF2B5EF4-FFF2-40B4-BE49-F238E27FC236}">
                    <a16:creationId xmlns:a16="http://schemas.microsoft.com/office/drawing/2014/main" id="{9C22A00B-067E-469B-A592-A1B226AD95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20" y="12162"/>
                <a:ext cx="425" cy="425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5400" tIns="0" rIns="5400" bIns="0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75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5582" name="Oval 9">
                <a:extLst>
                  <a:ext uri="{FF2B5EF4-FFF2-40B4-BE49-F238E27FC236}">
                    <a16:creationId xmlns:a16="http://schemas.microsoft.com/office/drawing/2014/main" id="{F0A3F2F2-4BCF-40F0-BF3D-125B52B827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80" y="12218"/>
                <a:ext cx="312" cy="312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5400" tIns="0" rIns="5400" bIns="0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35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19</a:t>
                </a:r>
              </a:p>
            </p:txBody>
          </p:sp>
        </p:grpSp>
        <p:sp>
          <p:nvSpPr>
            <p:cNvPr id="65544" name="Oval 10">
              <a:extLst>
                <a:ext uri="{FF2B5EF4-FFF2-40B4-BE49-F238E27FC236}">
                  <a16:creationId xmlns:a16="http://schemas.microsoft.com/office/drawing/2014/main" id="{73E0A374-B1CE-43B3-BEE3-3BFD5CB8A5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6" y="2904"/>
              <a:ext cx="291" cy="323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6200" tIns="21600" rIns="16200" bIns="351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5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12</a:t>
              </a:r>
            </a:p>
          </p:txBody>
        </p:sp>
        <p:sp>
          <p:nvSpPr>
            <p:cNvPr id="65545" name="Oval 11">
              <a:extLst>
                <a:ext uri="{FF2B5EF4-FFF2-40B4-BE49-F238E27FC236}">
                  <a16:creationId xmlns:a16="http://schemas.microsoft.com/office/drawing/2014/main" id="{BFF9978A-1D2D-4953-A502-90EE3E9669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9" y="2928"/>
              <a:ext cx="291" cy="323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6200" tIns="21600" rIns="16200" bIns="351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5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13</a:t>
              </a:r>
            </a:p>
          </p:txBody>
        </p:sp>
        <p:sp>
          <p:nvSpPr>
            <p:cNvPr id="65546" name="Oval 12">
              <a:extLst>
                <a:ext uri="{FF2B5EF4-FFF2-40B4-BE49-F238E27FC236}">
                  <a16:creationId xmlns:a16="http://schemas.microsoft.com/office/drawing/2014/main" id="{DC3CE041-D626-423D-A5AC-C4F96343BC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4" y="2915"/>
              <a:ext cx="291" cy="324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6200" tIns="21600" rIns="16200" bIns="351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5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14</a:t>
              </a:r>
            </a:p>
          </p:txBody>
        </p:sp>
        <p:sp>
          <p:nvSpPr>
            <p:cNvPr id="65547" name="Oval 13">
              <a:extLst>
                <a:ext uri="{FF2B5EF4-FFF2-40B4-BE49-F238E27FC236}">
                  <a16:creationId xmlns:a16="http://schemas.microsoft.com/office/drawing/2014/main" id="{904EF219-29C9-4CAB-B2A5-3BEE9C3B8A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7" y="2928"/>
              <a:ext cx="291" cy="324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6200" tIns="21600" rIns="16200" bIns="351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5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15</a:t>
              </a:r>
            </a:p>
          </p:txBody>
        </p:sp>
        <p:sp>
          <p:nvSpPr>
            <p:cNvPr id="65548" name="Oval 14">
              <a:extLst>
                <a:ext uri="{FF2B5EF4-FFF2-40B4-BE49-F238E27FC236}">
                  <a16:creationId xmlns:a16="http://schemas.microsoft.com/office/drawing/2014/main" id="{AD9BE24E-EF30-4468-9B01-76046C767B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93" y="2928"/>
              <a:ext cx="291" cy="322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6200" tIns="21600" rIns="16200" bIns="351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5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16</a:t>
              </a:r>
            </a:p>
          </p:txBody>
        </p:sp>
        <p:sp>
          <p:nvSpPr>
            <p:cNvPr id="65549" name="Oval 15">
              <a:extLst>
                <a:ext uri="{FF2B5EF4-FFF2-40B4-BE49-F238E27FC236}">
                  <a16:creationId xmlns:a16="http://schemas.microsoft.com/office/drawing/2014/main" id="{C8AB04C5-74B9-449B-99D1-087F2C842B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20" y="2917"/>
              <a:ext cx="291" cy="322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6200" tIns="21600" rIns="16200" bIns="351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5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17</a:t>
              </a:r>
            </a:p>
          </p:txBody>
        </p:sp>
        <p:sp>
          <p:nvSpPr>
            <p:cNvPr id="65550" name="Oval 16">
              <a:extLst>
                <a:ext uri="{FF2B5EF4-FFF2-40B4-BE49-F238E27FC236}">
                  <a16:creationId xmlns:a16="http://schemas.microsoft.com/office/drawing/2014/main" id="{DEED5C32-4DD8-4098-B53D-DC6A113BBB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21" y="2917"/>
              <a:ext cx="291" cy="322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6200" tIns="21600" rIns="16200" bIns="351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5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18</a:t>
              </a:r>
            </a:p>
          </p:txBody>
        </p:sp>
        <p:sp>
          <p:nvSpPr>
            <p:cNvPr id="65551" name="Rectangle 17">
              <a:extLst>
                <a:ext uri="{FF2B5EF4-FFF2-40B4-BE49-F238E27FC236}">
                  <a16:creationId xmlns:a16="http://schemas.microsoft.com/office/drawing/2014/main" id="{76EF092A-2315-484D-8E70-94240AAE3D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" y="2832"/>
              <a:ext cx="487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1600" rIns="40500" bIns="216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8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digit</a:t>
              </a:r>
            </a:p>
          </p:txBody>
        </p:sp>
        <p:sp>
          <p:nvSpPr>
            <p:cNvPr id="65552" name="Rectangle 18">
              <a:extLst>
                <a:ext uri="{FF2B5EF4-FFF2-40B4-BE49-F238E27FC236}">
                  <a16:creationId xmlns:a16="http://schemas.microsoft.com/office/drawing/2014/main" id="{09BE1916-82D2-482B-9D4E-AB5421408D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" y="2425"/>
              <a:ext cx="501" cy="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1600" rIns="40500" bIns="216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8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digit</a:t>
              </a:r>
            </a:p>
          </p:txBody>
        </p:sp>
        <p:sp>
          <p:nvSpPr>
            <p:cNvPr id="65553" name="Rectangle 19">
              <a:extLst>
                <a:ext uri="{FF2B5EF4-FFF2-40B4-BE49-F238E27FC236}">
                  <a16:creationId xmlns:a16="http://schemas.microsoft.com/office/drawing/2014/main" id="{04786EB1-6F40-4A76-8D73-04AFFDAE14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16" y="2813"/>
              <a:ext cx="503" cy="3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1600" rIns="40500" bIns="216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8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digit</a:t>
              </a:r>
            </a:p>
          </p:txBody>
        </p:sp>
        <p:sp>
          <p:nvSpPr>
            <p:cNvPr id="65554" name="Rectangle 20">
              <a:extLst>
                <a:ext uri="{FF2B5EF4-FFF2-40B4-BE49-F238E27FC236}">
                  <a16:creationId xmlns:a16="http://schemas.microsoft.com/office/drawing/2014/main" id="{9B05ACF2-2C49-4014-AA7A-64F0E5B683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9" y="2448"/>
              <a:ext cx="504" cy="3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1600" rIns="40500" bIns="216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8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digit</a:t>
              </a:r>
            </a:p>
          </p:txBody>
        </p:sp>
        <p:sp>
          <p:nvSpPr>
            <p:cNvPr id="65555" name="Rectangle 21">
              <a:extLst>
                <a:ext uri="{FF2B5EF4-FFF2-40B4-BE49-F238E27FC236}">
                  <a16:creationId xmlns:a16="http://schemas.microsoft.com/office/drawing/2014/main" id="{353A9F07-F74A-4451-AF3E-EBD4E7BD6E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19" y="2800"/>
              <a:ext cx="503" cy="3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1600" rIns="40500" bIns="216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8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digit</a:t>
              </a:r>
            </a:p>
          </p:txBody>
        </p:sp>
        <p:sp>
          <p:nvSpPr>
            <p:cNvPr id="65556" name="Rectangle 22">
              <a:extLst>
                <a:ext uri="{FF2B5EF4-FFF2-40B4-BE49-F238E27FC236}">
                  <a16:creationId xmlns:a16="http://schemas.microsoft.com/office/drawing/2014/main" id="{42B53EAE-A973-41A1-B6D7-ED887B03BA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47" y="2425"/>
              <a:ext cx="503" cy="3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1600" rIns="40500" bIns="216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8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digit</a:t>
              </a:r>
            </a:p>
          </p:txBody>
        </p:sp>
        <p:sp>
          <p:nvSpPr>
            <p:cNvPr id="65557" name="Freeform 23">
              <a:extLst>
                <a:ext uri="{FF2B5EF4-FFF2-40B4-BE49-F238E27FC236}">
                  <a16:creationId xmlns:a16="http://schemas.microsoft.com/office/drawing/2014/main" id="{EFD484EC-7F7C-4444-B320-3B59F379D63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89" y="2688"/>
              <a:ext cx="224" cy="253"/>
            </a:xfrm>
            <a:custGeom>
              <a:avLst/>
              <a:gdLst>
                <a:gd name="T0" fmla="*/ 1 w 327"/>
                <a:gd name="T1" fmla="*/ 9 h 333"/>
                <a:gd name="T2" fmla="*/ 2 w 327"/>
                <a:gd name="T3" fmla="*/ 4 h 333"/>
                <a:gd name="T4" fmla="*/ 1 w 327"/>
                <a:gd name="T5" fmla="*/ 2 h 333"/>
                <a:gd name="T6" fmla="*/ 1 w 327"/>
                <a:gd name="T7" fmla="*/ 4 h 333"/>
                <a:gd name="T8" fmla="*/ 1 w 327"/>
                <a:gd name="T9" fmla="*/ 9 h 33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7"/>
                <a:gd name="T16" fmla="*/ 0 h 333"/>
                <a:gd name="T17" fmla="*/ 327 w 327"/>
                <a:gd name="T18" fmla="*/ 333 h 33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7" h="333">
                  <a:moveTo>
                    <a:pt x="240" y="332"/>
                  </a:moveTo>
                  <a:cubicBezTo>
                    <a:pt x="252" y="297"/>
                    <a:pt x="327" y="178"/>
                    <a:pt x="315" y="123"/>
                  </a:cubicBezTo>
                  <a:cubicBezTo>
                    <a:pt x="303" y="68"/>
                    <a:pt x="215" y="0"/>
                    <a:pt x="165" y="3"/>
                  </a:cubicBezTo>
                  <a:cubicBezTo>
                    <a:pt x="115" y="6"/>
                    <a:pt x="30" y="83"/>
                    <a:pt x="15" y="138"/>
                  </a:cubicBezTo>
                  <a:cubicBezTo>
                    <a:pt x="0" y="193"/>
                    <a:pt x="63" y="293"/>
                    <a:pt x="75" y="333"/>
                  </a:cubicBezTo>
                </a:path>
              </a:pathLst>
            </a:custGeom>
            <a:noFill/>
            <a:ln w="25400" cap="flat" cmpd="sng">
              <a:solidFill>
                <a:schemeClr val="tx1"/>
              </a:solidFill>
              <a:prstDash val="solid"/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59400" tIns="21600" rIns="67500" bIns="35100"/>
            <a:lstStyle/>
            <a:p>
              <a:endParaRPr lang="zh-CN" altLang="en-US" sz="1350"/>
            </a:p>
          </p:txBody>
        </p:sp>
        <p:sp>
          <p:nvSpPr>
            <p:cNvPr id="65558" name="Freeform 24">
              <a:extLst>
                <a:ext uri="{FF2B5EF4-FFF2-40B4-BE49-F238E27FC236}">
                  <a16:creationId xmlns:a16="http://schemas.microsoft.com/office/drawing/2014/main" id="{76A6A3B1-15C8-4243-A164-6480DA72915D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2" y="2672"/>
              <a:ext cx="224" cy="253"/>
            </a:xfrm>
            <a:custGeom>
              <a:avLst/>
              <a:gdLst>
                <a:gd name="T0" fmla="*/ 1 w 327"/>
                <a:gd name="T1" fmla="*/ 9 h 333"/>
                <a:gd name="T2" fmla="*/ 2 w 327"/>
                <a:gd name="T3" fmla="*/ 4 h 333"/>
                <a:gd name="T4" fmla="*/ 1 w 327"/>
                <a:gd name="T5" fmla="*/ 2 h 333"/>
                <a:gd name="T6" fmla="*/ 1 w 327"/>
                <a:gd name="T7" fmla="*/ 4 h 333"/>
                <a:gd name="T8" fmla="*/ 1 w 327"/>
                <a:gd name="T9" fmla="*/ 9 h 33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7"/>
                <a:gd name="T16" fmla="*/ 0 h 333"/>
                <a:gd name="T17" fmla="*/ 327 w 327"/>
                <a:gd name="T18" fmla="*/ 333 h 33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7" h="333">
                  <a:moveTo>
                    <a:pt x="240" y="332"/>
                  </a:moveTo>
                  <a:cubicBezTo>
                    <a:pt x="252" y="297"/>
                    <a:pt x="327" y="178"/>
                    <a:pt x="315" y="123"/>
                  </a:cubicBezTo>
                  <a:cubicBezTo>
                    <a:pt x="303" y="68"/>
                    <a:pt x="215" y="0"/>
                    <a:pt x="165" y="3"/>
                  </a:cubicBezTo>
                  <a:cubicBezTo>
                    <a:pt x="115" y="6"/>
                    <a:pt x="30" y="83"/>
                    <a:pt x="15" y="138"/>
                  </a:cubicBezTo>
                  <a:cubicBezTo>
                    <a:pt x="0" y="193"/>
                    <a:pt x="63" y="293"/>
                    <a:pt x="75" y="333"/>
                  </a:cubicBezTo>
                </a:path>
              </a:pathLst>
            </a:custGeom>
            <a:noFill/>
            <a:ln w="25400" cap="flat" cmpd="sng">
              <a:solidFill>
                <a:schemeClr val="tx1"/>
              </a:solidFill>
              <a:prstDash val="solid"/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59400" tIns="21600" rIns="67500" bIns="35100"/>
            <a:lstStyle/>
            <a:p>
              <a:endParaRPr lang="zh-CN" altLang="en-US" sz="1350"/>
            </a:p>
          </p:txBody>
        </p:sp>
        <p:sp>
          <p:nvSpPr>
            <p:cNvPr id="65559" name="Freeform 25">
              <a:extLst>
                <a:ext uri="{FF2B5EF4-FFF2-40B4-BE49-F238E27FC236}">
                  <a16:creationId xmlns:a16="http://schemas.microsoft.com/office/drawing/2014/main" id="{5563A693-5CF4-4757-9183-3B9317697102}"/>
                </a:ext>
              </a:extLst>
            </p:cNvPr>
            <p:cNvSpPr>
              <a:spLocks/>
            </p:cNvSpPr>
            <p:nvPr/>
          </p:nvSpPr>
          <p:spPr bwMode="auto">
            <a:xfrm>
              <a:off x="5245" y="2682"/>
              <a:ext cx="224" cy="254"/>
            </a:xfrm>
            <a:custGeom>
              <a:avLst/>
              <a:gdLst>
                <a:gd name="T0" fmla="*/ 1 w 327"/>
                <a:gd name="T1" fmla="*/ 10 h 333"/>
                <a:gd name="T2" fmla="*/ 2 w 327"/>
                <a:gd name="T3" fmla="*/ 4 h 333"/>
                <a:gd name="T4" fmla="*/ 1 w 327"/>
                <a:gd name="T5" fmla="*/ 2 h 333"/>
                <a:gd name="T6" fmla="*/ 1 w 327"/>
                <a:gd name="T7" fmla="*/ 4 h 333"/>
                <a:gd name="T8" fmla="*/ 1 w 327"/>
                <a:gd name="T9" fmla="*/ 10 h 33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7"/>
                <a:gd name="T16" fmla="*/ 0 h 333"/>
                <a:gd name="T17" fmla="*/ 327 w 327"/>
                <a:gd name="T18" fmla="*/ 333 h 33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7" h="333">
                  <a:moveTo>
                    <a:pt x="240" y="332"/>
                  </a:moveTo>
                  <a:cubicBezTo>
                    <a:pt x="252" y="297"/>
                    <a:pt x="327" y="178"/>
                    <a:pt x="315" y="123"/>
                  </a:cubicBezTo>
                  <a:cubicBezTo>
                    <a:pt x="303" y="68"/>
                    <a:pt x="215" y="0"/>
                    <a:pt x="165" y="3"/>
                  </a:cubicBezTo>
                  <a:cubicBezTo>
                    <a:pt x="115" y="6"/>
                    <a:pt x="30" y="83"/>
                    <a:pt x="15" y="138"/>
                  </a:cubicBezTo>
                  <a:cubicBezTo>
                    <a:pt x="0" y="193"/>
                    <a:pt x="63" y="293"/>
                    <a:pt x="75" y="333"/>
                  </a:cubicBezTo>
                </a:path>
              </a:pathLst>
            </a:custGeom>
            <a:noFill/>
            <a:ln w="25400" cap="flat" cmpd="sng">
              <a:solidFill>
                <a:schemeClr val="tx1"/>
              </a:solidFill>
              <a:prstDash val="solid"/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59400" tIns="21600" rIns="67500" bIns="35100"/>
            <a:lstStyle/>
            <a:p>
              <a:endParaRPr lang="zh-CN" altLang="en-US" sz="1350"/>
            </a:p>
          </p:txBody>
        </p:sp>
        <p:sp>
          <p:nvSpPr>
            <p:cNvPr id="65560" name="Line 26">
              <a:extLst>
                <a:ext uri="{FF2B5EF4-FFF2-40B4-BE49-F238E27FC236}">
                  <a16:creationId xmlns:a16="http://schemas.microsoft.com/office/drawing/2014/main" id="{976F1DC2-69E7-4C3E-BD43-B2F295E43C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" y="3060"/>
              <a:ext cx="31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59400" tIns="21600" rIns="67500" bIns="35100"/>
            <a:lstStyle/>
            <a:p>
              <a:endParaRPr lang="zh-CN" altLang="en-US" sz="1350"/>
            </a:p>
          </p:txBody>
        </p:sp>
        <p:sp>
          <p:nvSpPr>
            <p:cNvPr id="65561" name="Rectangle 27">
              <a:extLst>
                <a:ext uri="{FF2B5EF4-FFF2-40B4-BE49-F238E27FC236}">
                  <a16:creationId xmlns:a16="http://schemas.microsoft.com/office/drawing/2014/main" id="{5AB0D625-B81C-40AD-A71B-3AAE5D7493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9" y="3264"/>
              <a:ext cx="616" cy="3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1600" rIns="40500" bIns="216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other</a:t>
              </a:r>
            </a:p>
          </p:txBody>
        </p:sp>
        <p:sp>
          <p:nvSpPr>
            <p:cNvPr id="65562" name="Rectangle 28">
              <a:extLst>
                <a:ext uri="{FF2B5EF4-FFF2-40B4-BE49-F238E27FC236}">
                  <a16:creationId xmlns:a16="http://schemas.microsoft.com/office/drawing/2014/main" id="{DEB0B877-7AE3-41B7-B42F-865998435B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03" y="2819"/>
              <a:ext cx="267" cy="3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1600" rIns="40500" bIns="216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.</a:t>
              </a:r>
            </a:p>
          </p:txBody>
        </p:sp>
        <p:sp>
          <p:nvSpPr>
            <p:cNvPr id="65563" name="Rectangle 29">
              <a:extLst>
                <a:ext uri="{FF2B5EF4-FFF2-40B4-BE49-F238E27FC236}">
                  <a16:creationId xmlns:a16="http://schemas.microsoft.com/office/drawing/2014/main" id="{7FF45B3F-E33C-4492-B5EE-1F28438CA5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8" y="2803"/>
              <a:ext cx="472" cy="3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1600" rIns="40500" bIns="216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E</a:t>
              </a:r>
            </a:p>
          </p:txBody>
        </p:sp>
        <p:sp>
          <p:nvSpPr>
            <p:cNvPr id="65564" name="Rectangle 30">
              <a:extLst>
                <a:ext uri="{FF2B5EF4-FFF2-40B4-BE49-F238E27FC236}">
                  <a16:creationId xmlns:a16="http://schemas.microsoft.com/office/drawing/2014/main" id="{2919DDCD-9466-41DD-BEAF-FB9FC6BF6E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8" y="2803"/>
              <a:ext cx="472" cy="3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1600" rIns="40500" bIns="216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+/</a:t>
              </a: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</a:t>
              </a:r>
              <a:endParaRPr lang="en-US" altLang="zh-CN" sz="1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5565" name="Line 31">
              <a:extLst>
                <a:ext uri="{FF2B5EF4-FFF2-40B4-BE49-F238E27FC236}">
                  <a16:creationId xmlns:a16="http://schemas.microsoft.com/office/drawing/2014/main" id="{8F3B4D51-7E4E-436B-A6D4-3BCF8138C4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85" y="3254"/>
              <a:ext cx="0" cy="45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59400" tIns="21600" rIns="67500" bIns="35100"/>
            <a:lstStyle/>
            <a:p>
              <a:endParaRPr lang="zh-CN" altLang="en-US" sz="1350"/>
            </a:p>
          </p:txBody>
        </p:sp>
        <p:sp>
          <p:nvSpPr>
            <p:cNvPr id="65566" name="Line 32">
              <a:extLst>
                <a:ext uri="{FF2B5EF4-FFF2-40B4-BE49-F238E27FC236}">
                  <a16:creationId xmlns:a16="http://schemas.microsoft.com/office/drawing/2014/main" id="{6074A5FE-8CFB-4053-AFAE-256BEE78E2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87" y="3088"/>
              <a:ext cx="48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59400" tIns="21600" rIns="67500" bIns="35100"/>
            <a:lstStyle/>
            <a:p>
              <a:endParaRPr lang="zh-CN" altLang="en-US" sz="1350"/>
            </a:p>
          </p:txBody>
        </p:sp>
        <p:sp>
          <p:nvSpPr>
            <p:cNvPr id="65567" name="Line 33">
              <a:extLst>
                <a:ext uri="{FF2B5EF4-FFF2-40B4-BE49-F238E27FC236}">
                  <a16:creationId xmlns:a16="http://schemas.microsoft.com/office/drawing/2014/main" id="{889A5E05-ED65-4196-9E5D-5FA858EFF9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18" y="3075"/>
              <a:ext cx="484" cy="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59400" tIns="21600" rIns="67500" bIns="35100"/>
            <a:lstStyle/>
            <a:p>
              <a:endParaRPr lang="zh-CN" altLang="en-US" sz="1350"/>
            </a:p>
          </p:txBody>
        </p:sp>
        <p:sp>
          <p:nvSpPr>
            <p:cNvPr id="65568" name="Line 34">
              <a:extLst>
                <a:ext uri="{FF2B5EF4-FFF2-40B4-BE49-F238E27FC236}">
                  <a16:creationId xmlns:a16="http://schemas.microsoft.com/office/drawing/2014/main" id="{E578BE3C-6289-4433-B529-4BDCD66D0B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08" y="3077"/>
              <a:ext cx="485" cy="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59400" tIns="21600" rIns="67500" bIns="35100"/>
            <a:lstStyle/>
            <a:p>
              <a:endParaRPr lang="zh-CN" altLang="en-US" sz="1350"/>
            </a:p>
          </p:txBody>
        </p:sp>
        <p:sp>
          <p:nvSpPr>
            <p:cNvPr id="65569" name="Line 35">
              <a:extLst>
                <a:ext uri="{FF2B5EF4-FFF2-40B4-BE49-F238E27FC236}">
                  <a16:creationId xmlns:a16="http://schemas.microsoft.com/office/drawing/2014/main" id="{6BEAC43F-F721-46F0-B783-1D459AD6E7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20" y="3075"/>
              <a:ext cx="484" cy="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59400" tIns="21600" rIns="67500" bIns="35100"/>
            <a:lstStyle/>
            <a:p>
              <a:endParaRPr lang="zh-CN" altLang="en-US" sz="1350"/>
            </a:p>
          </p:txBody>
        </p:sp>
        <p:sp>
          <p:nvSpPr>
            <p:cNvPr id="65570" name="Line 36">
              <a:extLst>
                <a:ext uri="{FF2B5EF4-FFF2-40B4-BE49-F238E27FC236}">
                  <a16:creationId xmlns:a16="http://schemas.microsoft.com/office/drawing/2014/main" id="{6CA1D3B3-6EE3-4614-8F41-D088F2D9B1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31" y="3075"/>
              <a:ext cx="484" cy="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59400" tIns="21600" rIns="67500" bIns="35100"/>
            <a:lstStyle/>
            <a:p>
              <a:endParaRPr lang="zh-CN" altLang="en-US" sz="1350"/>
            </a:p>
          </p:txBody>
        </p:sp>
        <p:sp>
          <p:nvSpPr>
            <p:cNvPr id="65571" name="Freeform 37">
              <a:extLst>
                <a:ext uri="{FF2B5EF4-FFF2-40B4-BE49-F238E27FC236}">
                  <a16:creationId xmlns:a16="http://schemas.microsoft.com/office/drawing/2014/main" id="{68B7EF76-FAA0-4075-99C1-9237DA2BB486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7" y="2324"/>
              <a:ext cx="2198" cy="647"/>
            </a:xfrm>
            <a:custGeom>
              <a:avLst/>
              <a:gdLst>
                <a:gd name="T0" fmla="*/ 0 w 3210"/>
                <a:gd name="T1" fmla="*/ 25 h 849"/>
                <a:gd name="T2" fmla="*/ 5 w 3210"/>
                <a:gd name="T3" fmla="*/ 8 h 849"/>
                <a:gd name="T4" fmla="*/ 11 w 3210"/>
                <a:gd name="T5" fmla="*/ 2 h 849"/>
                <a:gd name="T6" fmla="*/ 17 w 3210"/>
                <a:gd name="T7" fmla="*/ 7 h 849"/>
                <a:gd name="T8" fmla="*/ 23 w 3210"/>
                <a:gd name="T9" fmla="*/ 23 h 84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10"/>
                <a:gd name="T16" fmla="*/ 0 h 849"/>
                <a:gd name="T17" fmla="*/ 3210 w 3210"/>
                <a:gd name="T18" fmla="*/ 849 h 84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10" h="849">
                  <a:moveTo>
                    <a:pt x="0" y="849"/>
                  </a:moveTo>
                  <a:cubicBezTo>
                    <a:pt x="125" y="757"/>
                    <a:pt x="493" y="435"/>
                    <a:pt x="750" y="295"/>
                  </a:cubicBezTo>
                  <a:cubicBezTo>
                    <a:pt x="1007" y="155"/>
                    <a:pt x="1273" y="20"/>
                    <a:pt x="1545" y="10"/>
                  </a:cubicBezTo>
                  <a:cubicBezTo>
                    <a:pt x="1817" y="0"/>
                    <a:pt x="2108" y="108"/>
                    <a:pt x="2385" y="235"/>
                  </a:cubicBezTo>
                  <a:cubicBezTo>
                    <a:pt x="2662" y="362"/>
                    <a:pt x="3038" y="663"/>
                    <a:pt x="3210" y="775"/>
                  </a:cubicBezTo>
                </a:path>
              </a:pathLst>
            </a:custGeom>
            <a:noFill/>
            <a:ln w="25400" cap="flat" cmpd="sng">
              <a:solidFill>
                <a:schemeClr val="tx1"/>
              </a:solidFill>
              <a:prstDash val="solid"/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59400" tIns="21600" rIns="67500" bIns="35100"/>
            <a:lstStyle/>
            <a:p>
              <a:endParaRPr lang="zh-CN" altLang="en-US" sz="1350"/>
            </a:p>
          </p:txBody>
        </p:sp>
        <p:sp>
          <p:nvSpPr>
            <p:cNvPr id="65572" name="Rectangle 38">
              <a:extLst>
                <a:ext uri="{FF2B5EF4-FFF2-40B4-BE49-F238E27FC236}">
                  <a16:creationId xmlns:a16="http://schemas.microsoft.com/office/drawing/2014/main" id="{CB023B93-65EB-4D75-A884-657C8EA51F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89" y="2064"/>
              <a:ext cx="336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1600" rIns="40500" bIns="216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E</a:t>
              </a:r>
            </a:p>
          </p:txBody>
        </p:sp>
        <p:sp>
          <p:nvSpPr>
            <p:cNvPr id="65573" name="Freeform 39">
              <a:extLst>
                <a:ext uri="{FF2B5EF4-FFF2-40B4-BE49-F238E27FC236}">
                  <a16:creationId xmlns:a16="http://schemas.microsoft.com/office/drawing/2014/main" id="{DD72B9F1-4283-49C9-9F53-1D6BFEA7C9E1}"/>
                </a:ext>
              </a:extLst>
            </p:cNvPr>
            <p:cNvSpPr>
              <a:spLocks/>
            </p:cNvSpPr>
            <p:nvPr/>
          </p:nvSpPr>
          <p:spPr bwMode="auto">
            <a:xfrm>
              <a:off x="3838" y="2558"/>
              <a:ext cx="1407" cy="401"/>
            </a:xfrm>
            <a:custGeom>
              <a:avLst/>
              <a:gdLst>
                <a:gd name="T0" fmla="*/ 0 w 2055"/>
                <a:gd name="T1" fmla="*/ 14 h 528"/>
                <a:gd name="T2" fmla="*/ 3 w 2055"/>
                <a:gd name="T3" fmla="*/ 5 h 528"/>
                <a:gd name="T4" fmla="*/ 8 w 2055"/>
                <a:gd name="T5" fmla="*/ 2 h 528"/>
                <a:gd name="T6" fmla="*/ 12 w 2055"/>
                <a:gd name="T7" fmla="*/ 5 h 528"/>
                <a:gd name="T8" fmla="*/ 15 w 2055"/>
                <a:gd name="T9" fmla="*/ 14 h 5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055"/>
                <a:gd name="T16" fmla="*/ 0 h 528"/>
                <a:gd name="T17" fmla="*/ 2055 w 2055"/>
                <a:gd name="T18" fmla="*/ 528 h 52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055" h="528">
                  <a:moveTo>
                    <a:pt x="0" y="483"/>
                  </a:moveTo>
                  <a:cubicBezTo>
                    <a:pt x="75" y="430"/>
                    <a:pt x="278" y="248"/>
                    <a:pt x="450" y="168"/>
                  </a:cubicBezTo>
                  <a:cubicBezTo>
                    <a:pt x="622" y="88"/>
                    <a:pt x="845" y="0"/>
                    <a:pt x="1035" y="2"/>
                  </a:cubicBezTo>
                  <a:cubicBezTo>
                    <a:pt x="1225" y="4"/>
                    <a:pt x="1420" y="95"/>
                    <a:pt x="1590" y="183"/>
                  </a:cubicBezTo>
                  <a:cubicBezTo>
                    <a:pt x="1760" y="271"/>
                    <a:pt x="1958" y="456"/>
                    <a:pt x="2055" y="528"/>
                  </a:cubicBezTo>
                </a:path>
              </a:pathLst>
            </a:custGeom>
            <a:noFill/>
            <a:ln w="25400" cap="flat" cmpd="sng">
              <a:solidFill>
                <a:schemeClr val="tx1"/>
              </a:solidFill>
              <a:prstDash val="solid"/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59400" tIns="21600" rIns="67500" bIns="35100"/>
            <a:lstStyle/>
            <a:p>
              <a:endParaRPr lang="zh-CN" altLang="en-US" sz="1350"/>
            </a:p>
          </p:txBody>
        </p:sp>
        <p:sp>
          <p:nvSpPr>
            <p:cNvPr id="65574" name="Rectangle 40">
              <a:extLst>
                <a:ext uri="{FF2B5EF4-FFF2-40B4-BE49-F238E27FC236}">
                  <a16:creationId xmlns:a16="http://schemas.microsoft.com/office/drawing/2014/main" id="{CFD1082D-ADD1-4A12-893F-A424514E8D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9" y="2286"/>
              <a:ext cx="503" cy="3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1600" rIns="40500" bIns="216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8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digit</a:t>
              </a:r>
            </a:p>
          </p:txBody>
        </p:sp>
        <p:sp>
          <p:nvSpPr>
            <p:cNvPr id="65575" name="Line 41">
              <a:extLst>
                <a:ext uri="{FF2B5EF4-FFF2-40B4-BE49-F238E27FC236}">
                  <a16:creationId xmlns:a16="http://schemas.microsoft.com/office/drawing/2014/main" id="{8D0F18BB-5657-4088-9187-82C7F44268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57" y="3187"/>
              <a:ext cx="2198" cy="63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59400" tIns="21600" rIns="67500" bIns="35100"/>
            <a:lstStyle/>
            <a:p>
              <a:endParaRPr lang="zh-CN" altLang="en-US" sz="1350"/>
            </a:p>
          </p:txBody>
        </p:sp>
        <p:sp>
          <p:nvSpPr>
            <p:cNvPr id="65576" name="Line 42">
              <a:extLst>
                <a:ext uri="{FF2B5EF4-FFF2-40B4-BE49-F238E27FC236}">
                  <a16:creationId xmlns:a16="http://schemas.microsoft.com/office/drawing/2014/main" id="{9D562D35-C89A-4334-AEF2-B1178B1D8A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55" y="3220"/>
              <a:ext cx="3810" cy="70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59400" tIns="21600" rIns="67500" bIns="35100"/>
            <a:lstStyle/>
            <a:p>
              <a:endParaRPr lang="zh-CN" altLang="en-US" sz="1350"/>
            </a:p>
          </p:txBody>
        </p:sp>
        <p:sp>
          <p:nvSpPr>
            <p:cNvPr id="65577" name="Rectangle 43">
              <a:extLst>
                <a:ext uri="{FF2B5EF4-FFF2-40B4-BE49-F238E27FC236}">
                  <a16:creationId xmlns:a16="http://schemas.microsoft.com/office/drawing/2014/main" id="{0E38800D-7163-4ADE-9E10-085D57C9DF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5" y="3280"/>
              <a:ext cx="617" cy="3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1600" rIns="40500" bIns="216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other</a:t>
              </a:r>
            </a:p>
          </p:txBody>
        </p:sp>
        <p:sp>
          <p:nvSpPr>
            <p:cNvPr id="65578" name="Rectangle 44">
              <a:extLst>
                <a:ext uri="{FF2B5EF4-FFF2-40B4-BE49-F238E27FC236}">
                  <a16:creationId xmlns:a16="http://schemas.microsoft.com/office/drawing/2014/main" id="{C8BA9CB3-6D39-413A-8DBA-185D65F278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9" y="3312"/>
              <a:ext cx="616" cy="3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1600" rIns="40500" bIns="216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other</a:t>
              </a:r>
            </a:p>
          </p:txBody>
        </p:sp>
        <p:sp>
          <p:nvSpPr>
            <p:cNvPr id="65579" name="Rectangle 45">
              <a:extLst>
                <a:ext uri="{FF2B5EF4-FFF2-40B4-BE49-F238E27FC236}">
                  <a16:creationId xmlns:a16="http://schemas.microsoft.com/office/drawing/2014/main" id="{9CEEE025-7DB2-4034-89CC-CFF7777286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5" y="4014"/>
              <a:ext cx="1996" cy="3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1600" rIns="40500" bIns="216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return( </a:t>
              </a:r>
              <a:r>
                <a:rPr lang="en-US" altLang="zh-CN" sz="1800" b="1" i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installNum</a:t>
              </a: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( ) )</a:t>
              </a:r>
            </a:p>
          </p:txBody>
        </p:sp>
        <p:sp>
          <p:nvSpPr>
            <p:cNvPr id="65580" name="Rectangle 46">
              <a:extLst>
                <a:ext uri="{FF2B5EF4-FFF2-40B4-BE49-F238E27FC236}">
                  <a16:creationId xmlns:a16="http://schemas.microsoft.com/office/drawing/2014/main" id="{0405431F-42A4-4C9C-AB0D-E7A3F71B5F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48" y="3548"/>
              <a:ext cx="257" cy="3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1600" rIns="40500" bIns="216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*</a:t>
              </a:r>
            </a:p>
          </p:txBody>
        </p:sp>
      </p:grp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9FE0B78-CA8F-E0C7-562B-F35DC6404C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AE27D-0C2E-4F9F-A67B-6BB7FFE1442B}" type="datetime2">
              <a:rPr lang="zh-CN" altLang="en-US" smtClean="0"/>
              <a:t>2026年3月11日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3757E14-1B46-8DAF-C8DB-D3656A8815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</a:t>
            </a:r>
            <a:r>
              <a:rPr lang="en-US" altLang="zh-CN"/>
              <a:t>2</a:t>
            </a:r>
            <a:r>
              <a:rPr lang="zh-CN" altLang="en-US"/>
              <a:t>章 词法分析</a:t>
            </a:r>
            <a:r>
              <a:rPr lang="en-US" altLang="zh-CN"/>
              <a:t>(1)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DFD92DA-D046-DFF8-A6E8-84E51930B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54</a:t>
            </a:fld>
            <a:endParaRPr lang="zh-CN" alt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>
            <a:extLst>
              <a:ext uri="{FF2B5EF4-FFF2-40B4-BE49-F238E27FC236}">
                <a16:creationId xmlns:a16="http://schemas.microsoft.com/office/drawing/2014/main" id="{B65D07EE-F6B3-40FB-92F9-CEAFF0FBD5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CN" dirty="0"/>
              <a:t>2.2.4 </a:t>
            </a:r>
            <a:r>
              <a:rPr lang="zh-CN" altLang="en-US" dirty="0"/>
              <a:t>状态转换图</a:t>
            </a:r>
          </a:p>
        </p:txBody>
      </p:sp>
      <p:sp>
        <p:nvSpPr>
          <p:cNvPr id="66563" name="Rectangle 3">
            <a:extLst>
              <a:ext uri="{FF2B5EF4-FFF2-40B4-BE49-F238E27FC236}">
                <a16:creationId xmlns:a16="http://schemas.microsoft.com/office/drawing/2014/main" id="{4032F83D-90B0-4A40-82C1-16C8012FF1E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识别空白的转换图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b="1">
                <a:solidFill>
                  <a:srgbClr val="008000"/>
                </a:solidFill>
                <a:latin typeface="Times New Roman" panose="02020603050405020304" pitchFamily="18" charset="0"/>
              </a:rPr>
              <a:t>    </a:t>
            </a:r>
            <a:r>
              <a:rPr lang="en-US" altLang="zh-CN" b="1">
                <a:solidFill>
                  <a:srgbClr val="008000"/>
                </a:solidFill>
                <a:latin typeface="Times New Roman" panose="02020603050405020304" pitchFamily="18" charset="0"/>
              </a:rPr>
              <a:t>delim</a:t>
            </a:r>
            <a:r>
              <a:rPr lang="en-US" altLang="zh-CN" b="1">
                <a:latin typeface="Times New Roman" panose="02020603050405020304" pitchFamily="18" charset="0"/>
              </a:rPr>
              <a:t> 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b="1">
                <a:latin typeface="Times New Roman" panose="02020603050405020304" pitchFamily="18" charset="0"/>
              </a:rPr>
              <a:t> </a:t>
            </a:r>
            <a:r>
              <a:rPr lang="en-US" altLang="zh-CN" b="1">
                <a:solidFill>
                  <a:srgbClr val="008000"/>
                </a:solidFill>
                <a:latin typeface="Times New Roman" panose="02020603050405020304" pitchFamily="18" charset="0"/>
              </a:rPr>
              <a:t>blank</a:t>
            </a:r>
            <a:r>
              <a:rPr lang="en-US" altLang="zh-CN" b="1">
                <a:latin typeface="Times New Roman" panose="02020603050405020304" pitchFamily="18" charset="0"/>
              </a:rPr>
              <a:t> | </a:t>
            </a:r>
            <a:r>
              <a:rPr lang="en-US" altLang="zh-CN" b="1">
                <a:solidFill>
                  <a:srgbClr val="008000"/>
                </a:solidFill>
                <a:latin typeface="Times New Roman" panose="02020603050405020304" pitchFamily="18" charset="0"/>
              </a:rPr>
              <a:t>tab</a:t>
            </a:r>
            <a:r>
              <a:rPr lang="en-US" altLang="zh-CN" b="1">
                <a:latin typeface="Times New Roman" panose="02020603050405020304" pitchFamily="18" charset="0"/>
              </a:rPr>
              <a:t> | </a:t>
            </a:r>
            <a:r>
              <a:rPr lang="en-US" altLang="zh-CN" b="1">
                <a:solidFill>
                  <a:srgbClr val="008000"/>
                </a:solidFill>
                <a:latin typeface="Times New Roman" panose="02020603050405020304" pitchFamily="18" charset="0"/>
              </a:rPr>
              <a:t>newline</a:t>
            </a:r>
            <a:r>
              <a:rPr lang="en-US" altLang="zh-CN" b="1">
                <a:latin typeface="Times New Roman" panose="02020603050405020304" pitchFamily="18" charset="0"/>
              </a:rPr>
              <a:t>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b="1">
                <a:solidFill>
                  <a:srgbClr val="008000"/>
                </a:solidFill>
                <a:latin typeface="Times New Roman" panose="02020603050405020304" pitchFamily="18" charset="0"/>
              </a:rPr>
              <a:t>    ws</a:t>
            </a:r>
            <a:r>
              <a:rPr lang="en-US" altLang="zh-CN" b="1">
                <a:latin typeface="Times New Roman" panose="02020603050405020304" pitchFamily="18" charset="0"/>
              </a:rPr>
              <a:t> 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b="1">
                <a:latin typeface="Times New Roman" panose="02020603050405020304" pitchFamily="18" charset="0"/>
              </a:rPr>
              <a:t> </a:t>
            </a:r>
            <a:r>
              <a:rPr lang="en-US" altLang="zh-CN" b="1">
                <a:solidFill>
                  <a:srgbClr val="008000"/>
                </a:solidFill>
                <a:latin typeface="Times New Roman" panose="02020603050405020304" pitchFamily="18" charset="0"/>
              </a:rPr>
              <a:t>delim</a:t>
            </a:r>
            <a:r>
              <a:rPr lang="en-US" altLang="zh-CN" b="1" baseline="30000">
                <a:latin typeface="Times New Roman" panose="02020603050405020304" pitchFamily="18" charset="0"/>
              </a:rPr>
              <a:t>+</a:t>
            </a:r>
            <a:endParaRPr lang="en-US" altLang="zh-CN" b="1" i="1" baseline="30000">
              <a:latin typeface="Times New Roman" panose="02020603050405020304" pitchFamily="18" charset="0"/>
            </a:endParaRPr>
          </a:p>
          <a:p>
            <a:pPr eaLnBrk="1" hangingPunct="1"/>
            <a:endParaRPr lang="en-US" altLang="zh-CN">
              <a:latin typeface="Times New Roman" panose="02020603050405020304" pitchFamily="18" charset="0"/>
            </a:endParaRPr>
          </a:p>
        </p:txBody>
      </p:sp>
      <p:grpSp>
        <p:nvGrpSpPr>
          <p:cNvPr id="66564" name="Group 4">
            <a:extLst>
              <a:ext uri="{FF2B5EF4-FFF2-40B4-BE49-F238E27FC236}">
                <a16:creationId xmlns:a16="http://schemas.microsoft.com/office/drawing/2014/main" id="{3F4D071B-6AB7-4A6C-ACCC-2CFBAABACFF5}"/>
              </a:ext>
            </a:extLst>
          </p:cNvPr>
          <p:cNvGrpSpPr>
            <a:grpSpLocks/>
          </p:cNvGrpSpPr>
          <p:nvPr/>
        </p:nvGrpSpPr>
        <p:grpSpPr bwMode="auto">
          <a:xfrm>
            <a:off x="1380904" y="3043570"/>
            <a:ext cx="5715000" cy="1428750"/>
            <a:chOff x="288" y="2304"/>
            <a:chExt cx="4800" cy="1200"/>
          </a:xfrm>
        </p:grpSpPr>
        <p:sp>
          <p:nvSpPr>
            <p:cNvPr id="66565" name="Oval 5">
              <a:extLst>
                <a:ext uri="{FF2B5EF4-FFF2-40B4-BE49-F238E27FC236}">
                  <a16:creationId xmlns:a16="http://schemas.microsoft.com/office/drawing/2014/main" id="{A0A40581-DFF1-4976-AA10-23F1EFCA22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05" y="2996"/>
              <a:ext cx="486" cy="508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6200" tIns="21600" rIns="16200" bIns="351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1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21</a:t>
              </a:r>
            </a:p>
          </p:txBody>
        </p:sp>
        <p:grpSp>
          <p:nvGrpSpPr>
            <p:cNvPr id="66566" name="Group 6">
              <a:extLst>
                <a:ext uri="{FF2B5EF4-FFF2-40B4-BE49-F238E27FC236}">
                  <a16:creationId xmlns:a16="http://schemas.microsoft.com/office/drawing/2014/main" id="{32856B48-7F27-4D0F-BC9A-F7C3B0CC1EB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97" y="2996"/>
              <a:ext cx="487" cy="508"/>
              <a:chOff x="7120" y="12162"/>
              <a:chExt cx="425" cy="425"/>
            </a:xfrm>
          </p:grpSpPr>
          <p:sp>
            <p:nvSpPr>
              <p:cNvPr id="66577" name="Oval 7">
                <a:extLst>
                  <a:ext uri="{FF2B5EF4-FFF2-40B4-BE49-F238E27FC236}">
                    <a16:creationId xmlns:a16="http://schemas.microsoft.com/office/drawing/2014/main" id="{AE56C5C3-52D1-4037-9D63-45E6E2BF9D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20" y="12162"/>
                <a:ext cx="425" cy="425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5400" tIns="0" rIns="5400" bIns="0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75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6578" name="Oval 8">
                <a:extLst>
                  <a:ext uri="{FF2B5EF4-FFF2-40B4-BE49-F238E27FC236}">
                    <a16:creationId xmlns:a16="http://schemas.microsoft.com/office/drawing/2014/main" id="{B8452A41-E2CE-400C-A4D5-BF00A5C8FA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80" y="12218"/>
                <a:ext cx="312" cy="312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5400" tIns="0" rIns="5400" bIns="0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1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22</a:t>
                </a:r>
              </a:p>
            </p:txBody>
          </p:sp>
        </p:grpSp>
        <p:sp>
          <p:nvSpPr>
            <p:cNvPr id="66567" name="Line 9">
              <a:extLst>
                <a:ext uri="{FF2B5EF4-FFF2-40B4-BE49-F238E27FC236}">
                  <a16:creationId xmlns:a16="http://schemas.microsoft.com/office/drawing/2014/main" id="{E76FDAEB-E37D-496C-82D3-15F9143167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" y="3214"/>
              <a:ext cx="1082" cy="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10800" tIns="21600" rIns="10800" bIns="35100"/>
            <a:lstStyle/>
            <a:p>
              <a:endParaRPr lang="zh-CN" altLang="en-US" sz="1350"/>
            </a:p>
          </p:txBody>
        </p:sp>
        <p:sp>
          <p:nvSpPr>
            <p:cNvPr id="66568" name="Line 10">
              <a:extLst>
                <a:ext uri="{FF2B5EF4-FFF2-40B4-BE49-F238E27FC236}">
                  <a16:creationId xmlns:a16="http://schemas.microsoft.com/office/drawing/2014/main" id="{3F496AC4-179A-4CCB-ACFD-744CD2D7520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14" y="3249"/>
              <a:ext cx="979" cy="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59400" tIns="21600" rIns="67500" bIns="35100"/>
            <a:lstStyle/>
            <a:p>
              <a:endParaRPr lang="zh-CN" altLang="en-US" sz="1350"/>
            </a:p>
          </p:txBody>
        </p:sp>
        <p:sp>
          <p:nvSpPr>
            <p:cNvPr id="66569" name="Rectangle 11">
              <a:extLst>
                <a:ext uri="{FF2B5EF4-FFF2-40B4-BE49-F238E27FC236}">
                  <a16:creationId xmlns:a16="http://schemas.microsoft.com/office/drawing/2014/main" id="{93457BC8-7CF5-4C03-A5C1-24F25E4702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8" y="2880"/>
              <a:ext cx="788" cy="4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1600" rIns="40500" bIns="216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100">
                  <a:solidFill>
                    <a:srgbClr val="000000"/>
                  </a:solidFill>
                  <a:latin typeface="Times New Roman" panose="02020603050405020304" pitchFamily="18" charset="0"/>
                </a:rPr>
                <a:t>开始</a:t>
              </a:r>
            </a:p>
          </p:txBody>
        </p:sp>
        <p:sp>
          <p:nvSpPr>
            <p:cNvPr id="66570" name="Rectangle 12">
              <a:extLst>
                <a:ext uri="{FF2B5EF4-FFF2-40B4-BE49-F238E27FC236}">
                  <a16:creationId xmlns:a16="http://schemas.microsoft.com/office/drawing/2014/main" id="{B91B2509-F4E2-4E6B-9ADC-12B7831087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6" y="2880"/>
              <a:ext cx="1030" cy="4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1600" rIns="40500" bIns="216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100" b="1" dirty="0" err="1">
                  <a:solidFill>
                    <a:srgbClr val="008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delim</a:t>
              </a:r>
              <a:endParaRPr lang="en-US" altLang="zh-CN" sz="2100" b="1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6571" name="Line 13">
              <a:extLst>
                <a:ext uri="{FF2B5EF4-FFF2-40B4-BE49-F238E27FC236}">
                  <a16:creationId xmlns:a16="http://schemas.microsoft.com/office/drawing/2014/main" id="{4EC7F7E4-7BA5-4B03-A95F-689B0E305A6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08" y="3249"/>
              <a:ext cx="979" cy="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59400" tIns="21600" rIns="67500" bIns="35100"/>
            <a:lstStyle/>
            <a:p>
              <a:endParaRPr lang="zh-CN" altLang="en-US" sz="1350"/>
            </a:p>
          </p:txBody>
        </p:sp>
        <p:sp>
          <p:nvSpPr>
            <p:cNvPr id="66572" name="Rectangle 14">
              <a:extLst>
                <a:ext uri="{FF2B5EF4-FFF2-40B4-BE49-F238E27FC236}">
                  <a16:creationId xmlns:a16="http://schemas.microsoft.com/office/drawing/2014/main" id="{B9ED5B82-10F2-443C-8F35-42F8207B83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2" y="2880"/>
              <a:ext cx="1030" cy="4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1600" rIns="40500" bIns="216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1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other</a:t>
              </a:r>
            </a:p>
          </p:txBody>
        </p:sp>
        <p:sp>
          <p:nvSpPr>
            <p:cNvPr id="66573" name="Rectangle 15">
              <a:extLst>
                <a:ext uri="{FF2B5EF4-FFF2-40B4-BE49-F238E27FC236}">
                  <a16:creationId xmlns:a16="http://schemas.microsoft.com/office/drawing/2014/main" id="{10AE55A6-4C9D-4B8D-9ACF-602F30071F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30" y="2742"/>
              <a:ext cx="358" cy="4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1600" rIns="40500" bIns="216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1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*</a:t>
              </a:r>
            </a:p>
          </p:txBody>
        </p:sp>
        <p:sp>
          <p:nvSpPr>
            <p:cNvPr id="66574" name="Rectangle 16">
              <a:extLst>
                <a:ext uri="{FF2B5EF4-FFF2-40B4-BE49-F238E27FC236}">
                  <a16:creationId xmlns:a16="http://schemas.microsoft.com/office/drawing/2014/main" id="{17B488FA-0F3E-4FAB-B043-001E89F780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2" y="2304"/>
              <a:ext cx="876" cy="3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40500" tIns="2700" rIns="40500" bIns="27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100" b="1">
                  <a:solidFill>
                    <a:srgbClr val="008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delim</a:t>
              </a:r>
            </a:p>
          </p:txBody>
        </p:sp>
        <p:sp>
          <p:nvSpPr>
            <p:cNvPr id="66575" name="Freeform 17">
              <a:extLst>
                <a:ext uri="{FF2B5EF4-FFF2-40B4-BE49-F238E27FC236}">
                  <a16:creationId xmlns:a16="http://schemas.microsoft.com/office/drawing/2014/main" id="{54D6D1D8-CA45-48F6-B479-89551BB999A0}"/>
                </a:ext>
              </a:extLst>
            </p:cNvPr>
            <p:cNvSpPr>
              <a:spLocks/>
            </p:cNvSpPr>
            <p:nvPr/>
          </p:nvSpPr>
          <p:spPr bwMode="auto">
            <a:xfrm>
              <a:off x="2962" y="2609"/>
              <a:ext cx="374" cy="399"/>
            </a:xfrm>
            <a:custGeom>
              <a:avLst/>
              <a:gdLst>
                <a:gd name="T0" fmla="*/ 1371 w 327"/>
                <a:gd name="T1" fmla="*/ 3490 h 333"/>
                <a:gd name="T2" fmla="*/ 1805 w 327"/>
                <a:gd name="T3" fmla="*/ 1287 h 333"/>
                <a:gd name="T4" fmla="*/ 949 w 327"/>
                <a:gd name="T5" fmla="*/ 35 h 333"/>
                <a:gd name="T6" fmla="*/ 83 w 327"/>
                <a:gd name="T7" fmla="*/ 1444 h 333"/>
                <a:gd name="T8" fmla="*/ 427 w 327"/>
                <a:gd name="T9" fmla="*/ 3494 h 33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7"/>
                <a:gd name="T16" fmla="*/ 0 h 333"/>
                <a:gd name="T17" fmla="*/ 327 w 327"/>
                <a:gd name="T18" fmla="*/ 333 h 33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7" h="333">
                  <a:moveTo>
                    <a:pt x="240" y="332"/>
                  </a:moveTo>
                  <a:cubicBezTo>
                    <a:pt x="252" y="297"/>
                    <a:pt x="327" y="178"/>
                    <a:pt x="315" y="123"/>
                  </a:cubicBezTo>
                  <a:cubicBezTo>
                    <a:pt x="303" y="68"/>
                    <a:pt x="215" y="0"/>
                    <a:pt x="165" y="3"/>
                  </a:cubicBezTo>
                  <a:cubicBezTo>
                    <a:pt x="115" y="6"/>
                    <a:pt x="30" y="83"/>
                    <a:pt x="15" y="138"/>
                  </a:cubicBezTo>
                  <a:cubicBezTo>
                    <a:pt x="0" y="193"/>
                    <a:pt x="63" y="293"/>
                    <a:pt x="75" y="333"/>
                  </a:cubicBezTo>
                </a:path>
              </a:pathLst>
            </a:custGeom>
            <a:noFill/>
            <a:ln w="25400" cap="flat" cmpd="sng">
              <a:solidFill>
                <a:schemeClr val="tx1"/>
              </a:solidFill>
              <a:prstDash val="solid"/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59400" tIns="21600" rIns="67500" bIns="35100"/>
            <a:lstStyle/>
            <a:p>
              <a:endParaRPr lang="zh-CN" altLang="en-US" sz="1350"/>
            </a:p>
          </p:txBody>
        </p:sp>
        <p:sp>
          <p:nvSpPr>
            <p:cNvPr id="66576" name="Oval 18">
              <a:extLst>
                <a:ext uri="{FF2B5EF4-FFF2-40B4-BE49-F238E27FC236}">
                  <a16:creationId xmlns:a16="http://schemas.microsoft.com/office/drawing/2014/main" id="{2664145D-7BE8-4575-9E92-B0A4823B4A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09" y="2977"/>
              <a:ext cx="487" cy="508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6200" tIns="21600" rIns="16200" bIns="351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1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20</a:t>
              </a:r>
            </a:p>
          </p:txBody>
        </p:sp>
      </p:grp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5B49973-49BA-FB3D-B0E8-06E5E047E5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2B2DF-90DD-4443-8EF3-EF3B44520608}" type="datetime2">
              <a:rPr lang="zh-CN" altLang="en-US" smtClean="0"/>
              <a:t>2026年3月11日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65EAAA1-91B9-760B-163B-0A339DE556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</a:t>
            </a:r>
            <a:r>
              <a:rPr lang="en-US" altLang="zh-CN"/>
              <a:t>2</a:t>
            </a:r>
            <a:r>
              <a:rPr lang="zh-CN" altLang="en-US"/>
              <a:t>章 词法分析</a:t>
            </a:r>
            <a:r>
              <a:rPr lang="en-US" altLang="zh-CN"/>
              <a:t>(1)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6CAB425-BF3F-EF89-7D22-71EEEBBDD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55</a:t>
            </a:fld>
            <a:endParaRPr lang="zh-CN" alt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>
            <a:extLst>
              <a:ext uri="{FF2B5EF4-FFF2-40B4-BE49-F238E27FC236}">
                <a16:creationId xmlns:a16="http://schemas.microsoft.com/office/drawing/2014/main" id="{9C442327-7428-45B6-BF6F-21A35C7BF5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CN" dirty="0"/>
              <a:t>2.2.4 </a:t>
            </a:r>
            <a:r>
              <a:rPr lang="zh-CN" altLang="en-US" dirty="0"/>
              <a:t>状态转换图</a:t>
            </a:r>
          </a:p>
        </p:txBody>
      </p:sp>
      <p:sp>
        <p:nvSpPr>
          <p:cNvPr id="67587" name="Rectangle 3">
            <a:extLst>
              <a:ext uri="{FF2B5EF4-FFF2-40B4-BE49-F238E27FC236}">
                <a16:creationId xmlns:a16="http://schemas.microsoft.com/office/drawing/2014/main" id="{0D410889-CC2E-4BE5-BD86-41DF1BACC11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状态转换图的合并：</a:t>
            </a:r>
          </a:p>
          <a:p>
            <a:pPr lvl="1" eaLnBrk="1" hangingPunct="1"/>
            <a:r>
              <a:rPr lang="zh-CN" altLang="en-US"/>
              <a:t>前三个合并：将开始状态合并成一个。</a:t>
            </a:r>
          </a:p>
          <a:p>
            <a:pPr lvl="1" eaLnBrk="1" hangingPunct="1"/>
            <a:r>
              <a:rPr lang="zh-CN" altLang="en-US"/>
              <a:t>合并识别空白的转换图：</a:t>
            </a:r>
          </a:p>
          <a:p>
            <a:pPr lvl="2" eaLnBrk="1" hangingPunct="1"/>
            <a:r>
              <a:rPr lang="zh-CN" altLang="en-US"/>
              <a:t>开始状态合并</a:t>
            </a:r>
          </a:p>
          <a:p>
            <a:pPr lvl="2" eaLnBrk="1" hangingPunct="1"/>
            <a:r>
              <a:rPr lang="zh-CN" altLang="en-US"/>
              <a:t>识别空白的转换图的接受状态动作为：回到开始状态，识别下一个记号。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79752BE-8709-229A-03AF-14E8C2FDF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C1AA5-0545-44C2-BDD8-BD56AE1F80E4}" type="datetime2">
              <a:rPr lang="zh-CN" altLang="en-US" smtClean="0"/>
              <a:t>2026年3月11日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5111071-2113-12F8-7105-9C6C175A3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</a:t>
            </a:r>
            <a:r>
              <a:rPr lang="en-US" altLang="zh-CN"/>
              <a:t>2</a:t>
            </a:r>
            <a:r>
              <a:rPr lang="zh-CN" altLang="en-US"/>
              <a:t>章 词法分析</a:t>
            </a:r>
            <a:r>
              <a:rPr lang="en-US" altLang="zh-CN"/>
              <a:t>(1)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2D01841-23B7-63AE-0E81-2D5CDE84E6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56</a:t>
            </a:fld>
            <a:endParaRPr lang="zh-CN" altLang="en-US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>
            <a:extLst>
              <a:ext uri="{FF2B5EF4-FFF2-40B4-BE49-F238E27FC236}">
                <a16:creationId xmlns:a16="http://schemas.microsoft.com/office/drawing/2014/main" id="{4799E3D1-9EF9-4CBA-B257-AB22F46D3F1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CN" dirty="0"/>
              <a:t>2.2.4 </a:t>
            </a:r>
            <a:r>
              <a:rPr lang="zh-CN" altLang="en-US" dirty="0"/>
              <a:t>状态转换图</a:t>
            </a:r>
          </a:p>
        </p:txBody>
      </p:sp>
      <p:sp>
        <p:nvSpPr>
          <p:cNvPr id="68611" name="Rectangle 3">
            <a:extLst>
              <a:ext uri="{FF2B5EF4-FFF2-40B4-BE49-F238E27FC236}">
                <a16:creationId xmlns:a16="http://schemas.microsoft.com/office/drawing/2014/main" id="{EBCCD790-27F7-4284-8C13-4A9B0F10588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zh-CN" altLang="en-US" dirty="0"/>
              <a:t>构造词法分析器的一种简单办法：</a:t>
            </a:r>
          </a:p>
          <a:p>
            <a:pPr lvl="1" eaLnBrk="1" hangingPunct="1"/>
            <a:r>
              <a:rPr lang="zh-CN" altLang="en-US" dirty="0"/>
              <a:t>用状态转换图描述源语言的词法记号结构；</a:t>
            </a:r>
          </a:p>
          <a:p>
            <a:pPr lvl="1" eaLnBrk="1" hangingPunct="1"/>
            <a:r>
              <a:rPr lang="zh-CN" altLang="en-US" dirty="0"/>
              <a:t>手工把这种状态转换图翻译成识别词法记号的程序。</a:t>
            </a:r>
          </a:p>
          <a:p>
            <a:pPr eaLnBrk="1" hangingPunct="1"/>
            <a:r>
              <a:rPr lang="zh-CN" altLang="en-US" dirty="0"/>
              <a:t>例如下面这段伪代码就模拟了上述识别</a:t>
            </a:r>
            <a:r>
              <a:rPr lang="en-US" altLang="zh-CN" dirty="0" err="1"/>
              <a:t>relop</a:t>
            </a:r>
            <a:r>
              <a:rPr lang="zh-CN" altLang="en-US" dirty="0"/>
              <a:t>的状态转换图的识别过程。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F9C0340-8C29-429F-E257-3BAB20D82A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D9C09A-60E1-4383-BD50-7DE068665DEA}" type="datetime2">
              <a:rPr lang="zh-CN" altLang="en-US" smtClean="0"/>
              <a:t>2026年3月11日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556DD46-9D37-D913-67BE-848B626687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</a:t>
            </a:r>
            <a:r>
              <a:rPr lang="en-US" altLang="zh-CN"/>
              <a:t>2</a:t>
            </a:r>
            <a:r>
              <a:rPr lang="zh-CN" altLang="en-US"/>
              <a:t>章 词法分析</a:t>
            </a:r>
            <a:r>
              <a:rPr lang="en-US" altLang="zh-CN"/>
              <a:t>(1)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9794E31-9C83-0BFD-C4A5-453650978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57</a:t>
            </a:fld>
            <a:endParaRPr lang="zh-CN" altLang="en-US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A432B7-B77D-421E-B9F5-8AF848629C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2.2.4 </a:t>
            </a:r>
            <a:r>
              <a:rPr lang="zh-CN" altLang="en-US" dirty="0"/>
              <a:t>状态转换图</a:t>
            </a:r>
          </a:p>
        </p:txBody>
      </p:sp>
      <p:sp>
        <p:nvSpPr>
          <p:cNvPr id="73730" name="Rectangle 3">
            <a:extLst>
              <a:ext uri="{FF2B5EF4-FFF2-40B4-BE49-F238E27FC236}">
                <a16:creationId xmlns:a16="http://schemas.microsoft.com/office/drawing/2014/main" id="{7B68C95B-415D-493D-B34C-E5746503E77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7374" y="1013909"/>
            <a:ext cx="6569104" cy="6233749"/>
          </a:xfrm>
          <a:noFill/>
        </p:spPr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500" b="1" dirty="0">
                <a:latin typeface="Courier New" panose="02070309020205020404" pitchFamily="49" charset="0"/>
              </a:rPr>
              <a:t>TOKEN </a:t>
            </a:r>
            <a:r>
              <a:rPr lang="en-US" altLang="zh-CN" sz="1500" b="1" dirty="0" err="1">
                <a:latin typeface="Courier New" panose="02070309020205020404" pitchFamily="49" charset="0"/>
              </a:rPr>
              <a:t>getRelop</a:t>
            </a:r>
            <a:r>
              <a:rPr lang="en-US" altLang="zh-CN" sz="1500" b="1" dirty="0">
                <a:latin typeface="Courier New" panose="02070309020205020404" pitchFamily="49" charset="0"/>
              </a:rPr>
              <a:t>(){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500" b="1" dirty="0">
                <a:latin typeface="Courier New" panose="02070309020205020404" pitchFamily="49" charset="0"/>
              </a:rPr>
              <a:t>  TOKEN </a:t>
            </a:r>
            <a:r>
              <a:rPr lang="en-US" altLang="zh-CN" sz="1500" b="1" dirty="0" err="1">
                <a:latin typeface="Courier New" panose="02070309020205020404" pitchFamily="49" charset="0"/>
              </a:rPr>
              <a:t>retToken</a:t>
            </a:r>
            <a:r>
              <a:rPr lang="en-US" altLang="zh-CN" sz="1500" b="1" dirty="0">
                <a:latin typeface="Courier New" panose="02070309020205020404" pitchFamily="49" charset="0"/>
              </a:rPr>
              <a:t> </a:t>
            </a:r>
            <a:r>
              <a:rPr lang="en-US" altLang="zh-CN" sz="1500" b="1" dirty="0">
                <a:solidFill>
                  <a:srgbClr val="008000"/>
                </a:solidFill>
                <a:latin typeface="Courier New" panose="02070309020205020404" pitchFamily="49" charset="0"/>
              </a:rPr>
              <a:t>=</a:t>
            </a:r>
            <a:r>
              <a:rPr lang="en-US" altLang="zh-CN" sz="1500" b="1" dirty="0">
                <a:latin typeface="Courier New" panose="02070309020205020404" pitchFamily="49" charset="0"/>
              </a:rPr>
              <a:t> </a:t>
            </a:r>
            <a:r>
              <a:rPr lang="en-US" altLang="zh-CN" sz="1500" b="1" dirty="0">
                <a:solidFill>
                  <a:schemeClr val="hlink"/>
                </a:solidFill>
                <a:latin typeface="Courier New" panose="02070309020205020404" pitchFamily="49" charset="0"/>
              </a:rPr>
              <a:t>new</a:t>
            </a:r>
            <a:r>
              <a:rPr lang="en-US" altLang="zh-CN" sz="1500" b="1" dirty="0">
                <a:latin typeface="Courier New" panose="02070309020205020404" pitchFamily="49" charset="0"/>
              </a:rPr>
              <a:t>(RELOP);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500" b="1" dirty="0">
                <a:latin typeface="Courier New" panose="02070309020205020404" pitchFamily="49" charset="0"/>
              </a:rPr>
              <a:t>  </a:t>
            </a:r>
            <a:r>
              <a:rPr lang="en-US" altLang="zh-CN" sz="1500" b="1" dirty="0">
                <a:solidFill>
                  <a:schemeClr val="folHlink"/>
                </a:solidFill>
                <a:latin typeface="Courier New" panose="02070309020205020404" pitchFamily="49" charset="0"/>
              </a:rPr>
              <a:t>while</a:t>
            </a:r>
            <a:r>
              <a:rPr lang="en-US" altLang="zh-CN" sz="1500" b="1" dirty="0">
                <a:latin typeface="Courier New" panose="02070309020205020404" pitchFamily="49" charset="0"/>
              </a:rPr>
              <a:t>(</a:t>
            </a:r>
            <a:r>
              <a:rPr lang="en-US" altLang="zh-CN" sz="1500" b="1" dirty="0">
                <a:solidFill>
                  <a:schemeClr val="hlink"/>
                </a:solidFill>
                <a:latin typeface="Courier New" panose="02070309020205020404" pitchFamily="49" charset="0"/>
              </a:rPr>
              <a:t>1</a:t>
            </a:r>
            <a:r>
              <a:rPr lang="en-US" altLang="zh-CN" sz="1500" b="1" dirty="0">
                <a:latin typeface="Courier New" panose="02070309020205020404" pitchFamily="49" charset="0"/>
              </a:rPr>
              <a:t>) { </a:t>
            </a:r>
            <a:r>
              <a:rPr lang="en-US" altLang="zh-CN" sz="1500" b="1" dirty="0">
                <a:solidFill>
                  <a:srgbClr val="009999"/>
                </a:solidFill>
                <a:latin typeface="Courier New" panose="02070309020205020404" pitchFamily="49" charset="0"/>
              </a:rPr>
              <a:t>/* repeat character processing until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500" b="1" dirty="0">
                <a:solidFill>
                  <a:srgbClr val="009999"/>
                </a:solidFill>
                <a:latin typeface="Courier New" panose="02070309020205020404" pitchFamily="49" charset="0"/>
              </a:rPr>
              <a:t>                a return or failure occurs */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500" b="1" dirty="0">
                <a:latin typeface="Courier New" panose="02070309020205020404" pitchFamily="49" charset="0"/>
              </a:rPr>
              <a:t>    </a:t>
            </a:r>
            <a:r>
              <a:rPr lang="en-US" altLang="zh-CN" sz="1500" b="1" dirty="0">
                <a:solidFill>
                  <a:schemeClr val="folHlink"/>
                </a:solidFill>
                <a:latin typeface="Courier New" panose="02070309020205020404" pitchFamily="49" charset="0"/>
              </a:rPr>
              <a:t>switch</a:t>
            </a:r>
            <a:r>
              <a:rPr lang="en-US" altLang="zh-CN" sz="1500" b="1" dirty="0">
                <a:latin typeface="Courier New" panose="02070309020205020404" pitchFamily="49" charset="0"/>
              </a:rPr>
              <a:t>(state){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500" b="1" dirty="0">
                <a:latin typeface="Courier New" panose="02070309020205020404" pitchFamily="49" charset="0"/>
              </a:rPr>
              <a:t>      </a:t>
            </a:r>
            <a:r>
              <a:rPr lang="en-US" altLang="zh-CN" sz="1500" b="1" dirty="0">
                <a:solidFill>
                  <a:schemeClr val="folHlink"/>
                </a:solidFill>
                <a:latin typeface="Courier New" panose="02070309020205020404" pitchFamily="49" charset="0"/>
              </a:rPr>
              <a:t>case</a:t>
            </a:r>
            <a:r>
              <a:rPr lang="en-US" altLang="zh-CN" sz="1500" b="1" dirty="0">
                <a:latin typeface="Courier New" panose="02070309020205020404" pitchFamily="49" charset="0"/>
              </a:rPr>
              <a:t> </a:t>
            </a:r>
            <a:r>
              <a:rPr lang="en-US" altLang="zh-CN" sz="1500" b="1" dirty="0">
                <a:solidFill>
                  <a:schemeClr val="hlink"/>
                </a:solidFill>
                <a:latin typeface="Courier New" panose="02070309020205020404" pitchFamily="49" charset="0"/>
              </a:rPr>
              <a:t>0</a:t>
            </a:r>
            <a:r>
              <a:rPr lang="en-US" altLang="zh-CN" sz="1500" b="1" dirty="0">
                <a:latin typeface="Courier New" panose="02070309020205020404" pitchFamily="49" charset="0"/>
              </a:rPr>
              <a:t>: c </a:t>
            </a:r>
            <a:r>
              <a:rPr lang="en-US" altLang="zh-CN" sz="1500" b="1" dirty="0">
                <a:solidFill>
                  <a:srgbClr val="008000"/>
                </a:solidFill>
                <a:latin typeface="Courier New" panose="02070309020205020404" pitchFamily="49" charset="0"/>
              </a:rPr>
              <a:t>=</a:t>
            </a:r>
            <a:r>
              <a:rPr lang="en-US" altLang="zh-CN" sz="1500" b="1" dirty="0">
                <a:latin typeface="Courier New" panose="02070309020205020404" pitchFamily="49" charset="0"/>
              </a:rPr>
              <a:t> </a:t>
            </a:r>
            <a:r>
              <a:rPr lang="en-US" altLang="zh-CN" sz="1500" b="1" dirty="0" err="1">
                <a:latin typeface="Courier New" panose="02070309020205020404" pitchFamily="49" charset="0"/>
              </a:rPr>
              <a:t>nextChar</a:t>
            </a:r>
            <a:r>
              <a:rPr lang="en-US" altLang="zh-CN" sz="1500" b="1" dirty="0">
                <a:latin typeface="Courier New" panose="02070309020205020404" pitchFamily="49" charset="0"/>
              </a:rPr>
              <a:t>();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500" b="1" dirty="0">
                <a:latin typeface="Courier New" panose="02070309020205020404" pitchFamily="49" charset="0"/>
              </a:rPr>
              <a:t>              </a:t>
            </a:r>
            <a:r>
              <a:rPr lang="en-US" altLang="zh-CN" sz="1500" b="1" dirty="0">
                <a:solidFill>
                  <a:schemeClr val="folHlink"/>
                </a:solidFill>
                <a:latin typeface="Courier New" panose="02070309020205020404" pitchFamily="49" charset="0"/>
              </a:rPr>
              <a:t>if </a:t>
            </a:r>
            <a:r>
              <a:rPr lang="en-US" altLang="zh-CN" sz="1500" b="1" dirty="0">
                <a:latin typeface="Courier New" panose="02070309020205020404" pitchFamily="49" charset="0"/>
              </a:rPr>
              <a:t>(c </a:t>
            </a:r>
            <a:r>
              <a:rPr lang="en-US" altLang="zh-CN" sz="1500" b="1" dirty="0">
                <a:solidFill>
                  <a:srgbClr val="008000"/>
                </a:solidFill>
                <a:latin typeface="Courier New" panose="02070309020205020404" pitchFamily="49" charset="0"/>
              </a:rPr>
              <a:t>==</a:t>
            </a:r>
            <a:r>
              <a:rPr lang="en-US" altLang="zh-CN" sz="1500" b="1" dirty="0">
                <a:latin typeface="Courier New" panose="02070309020205020404" pitchFamily="49" charset="0"/>
              </a:rPr>
              <a:t> </a:t>
            </a:r>
            <a:r>
              <a:rPr lang="en-US" altLang="zh-CN" sz="1500" b="1" dirty="0">
                <a:solidFill>
                  <a:srgbClr val="5F5F5F"/>
                </a:solidFill>
                <a:latin typeface="Courier New" panose="02070309020205020404" pitchFamily="49" charset="0"/>
              </a:rPr>
              <a:t>'&lt;'</a:t>
            </a:r>
            <a:r>
              <a:rPr lang="en-US" altLang="zh-CN" sz="1500" b="1" dirty="0">
                <a:latin typeface="Courier New" panose="02070309020205020404" pitchFamily="49" charset="0"/>
              </a:rPr>
              <a:t>) state = </a:t>
            </a:r>
            <a:r>
              <a:rPr lang="en-US" altLang="zh-CN" sz="1500" b="1" dirty="0">
                <a:solidFill>
                  <a:schemeClr val="hlink"/>
                </a:solidFill>
                <a:latin typeface="Courier New" panose="02070309020205020404" pitchFamily="49" charset="0"/>
              </a:rPr>
              <a:t>1</a:t>
            </a:r>
            <a:r>
              <a:rPr lang="en-US" altLang="zh-CN" sz="1500" b="1" dirty="0">
                <a:latin typeface="Courier New" panose="02070309020205020404" pitchFamily="49" charset="0"/>
              </a:rPr>
              <a:t>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500" b="1" dirty="0">
                <a:latin typeface="Courier New" panose="02070309020205020404" pitchFamily="49" charset="0"/>
              </a:rPr>
              <a:t>              </a:t>
            </a:r>
            <a:r>
              <a:rPr lang="en-US" altLang="zh-CN" sz="1500" b="1" dirty="0">
                <a:solidFill>
                  <a:schemeClr val="folHlink"/>
                </a:solidFill>
                <a:latin typeface="Courier New" panose="02070309020205020404" pitchFamily="49" charset="0"/>
              </a:rPr>
              <a:t>else if</a:t>
            </a:r>
            <a:r>
              <a:rPr lang="en-US" altLang="zh-CN" sz="1500" b="1" dirty="0">
                <a:latin typeface="Courier New" panose="02070309020205020404" pitchFamily="49" charset="0"/>
              </a:rPr>
              <a:t> (c </a:t>
            </a:r>
            <a:r>
              <a:rPr lang="en-US" altLang="zh-CN" sz="1500" b="1" dirty="0">
                <a:solidFill>
                  <a:srgbClr val="008000"/>
                </a:solidFill>
                <a:latin typeface="Courier New" panose="02070309020205020404" pitchFamily="49" charset="0"/>
              </a:rPr>
              <a:t>==</a:t>
            </a:r>
            <a:r>
              <a:rPr lang="en-US" altLang="zh-CN" sz="1500" b="1" dirty="0">
                <a:latin typeface="Courier New" panose="02070309020205020404" pitchFamily="49" charset="0"/>
              </a:rPr>
              <a:t> </a:t>
            </a:r>
            <a:r>
              <a:rPr lang="en-US" altLang="zh-CN" sz="1500" b="1" dirty="0">
                <a:solidFill>
                  <a:srgbClr val="5F5F5F"/>
                </a:solidFill>
                <a:latin typeface="Courier New" panose="02070309020205020404" pitchFamily="49" charset="0"/>
              </a:rPr>
              <a:t>'='</a:t>
            </a:r>
            <a:r>
              <a:rPr lang="en-US" altLang="zh-CN" sz="1500" b="1" dirty="0">
                <a:latin typeface="Courier New" panose="02070309020205020404" pitchFamily="49" charset="0"/>
              </a:rPr>
              <a:t>) state = </a:t>
            </a:r>
            <a:r>
              <a:rPr lang="en-US" altLang="zh-CN" sz="1500" b="1" dirty="0">
                <a:solidFill>
                  <a:schemeClr val="hlink"/>
                </a:solidFill>
                <a:latin typeface="Courier New" panose="02070309020205020404" pitchFamily="49" charset="0"/>
              </a:rPr>
              <a:t>5</a:t>
            </a:r>
            <a:r>
              <a:rPr lang="en-US" altLang="zh-CN" sz="1500" b="1" dirty="0">
                <a:latin typeface="Courier New" panose="02070309020205020404" pitchFamily="49" charset="0"/>
              </a:rPr>
              <a:t>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500" b="1" dirty="0">
                <a:latin typeface="Courier New" panose="02070309020205020404" pitchFamily="49" charset="0"/>
              </a:rPr>
              <a:t>              </a:t>
            </a:r>
            <a:r>
              <a:rPr lang="en-US" altLang="zh-CN" sz="1500" b="1" dirty="0">
                <a:solidFill>
                  <a:schemeClr val="folHlink"/>
                </a:solidFill>
                <a:latin typeface="Courier New" panose="02070309020205020404" pitchFamily="49" charset="0"/>
              </a:rPr>
              <a:t>else if</a:t>
            </a:r>
            <a:r>
              <a:rPr lang="en-US" altLang="zh-CN" sz="1500" b="1" dirty="0">
                <a:latin typeface="Courier New" panose="02070309020205020404" pitchFamily="49" charset="0"/>
              </a:rPr>
              <a:t> (c </a:t>
            </a:r>
            <a:r>
              <a:rPr lang="en-US" altLang="zh-CN" sz="1500" b="1" dirty="0">
                <a:solidFill>
                  <a:srgbClr val="008000"/>
                </a:solidFill>
                <a:latin typeface="Courier New" panose="02070309020205020404" pitchFamily="49" charset="0"/>
              </a:rPr>
              <a:t>==</a:t>
            </a:r>
            <a:r>
              <a:rPr lang="en-US" altLang="zh-CN" sz="1500" b="1" dirty="0">
                <a:latin typeface="Courier New" panose="02070309020205020404" pitchFamily="49" charset="0"/>
              </a:rPr>
              <a:t> </a:t>
            </a:r>
            <a:r>
              <a:rPr lang="en-US" altLang="zh-CN" sz="1500" b="1" dirty="0">
                <a:solidFill>
                  <a:srgbClr val="5F5F5F"/>
                </a:solidFill>
                <a:latin typeface="Courier New" panose="02070309020205020404" pitchFamily="49" charset="0"/>
              </a:rPr>
              <a:t>'&gt;'</a:t>
            </a:r>
            <a:r>
              <a:rPr lang="en-US" altLang="zh-CN" sz="1500" b="1" dirty="0">
                <a:latin typeface="Courier New" panose="02070309020205020404" pitchFamily="49" charset="0"/>
              </a:rPr>
              <a:t>) state = </a:t>
            </a:r>
            <a:r>
              <a:rPr lang="en-US" altLang="zh-CN" sz="1500" b="1" dirty="0">
                <a:solidFill>
                  <a:schemeClr val="hlink"/>
                </a:solidFill>
                <a:latin typeface="Courier New" panose="02070309020205020404" pitchFamily="49" charset="0"/>
              </a:rPr>
              <a:t>6</a:t>
            </a:r>
            <a:r>
              <a:rPr lang="en-US" altLang="zh-CN" sz="1500" b="1" dirty="0">
                <a:latin typeface="Courier New" panose="02070309020205020404" pitchFamily="49" charset="0"/>
              </a:rPr>
              <a:t>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500" b="1" dirty="0">
                <a:latin typeface="Courier New" panose="02070309020205020404" pitchFamily="49" charset="0"/>
              </a:rPr>
              <a:t>              </a:t>
            </a:r>
            <a:r>
              <a:rPr lang="en-US" altLang="zh-CN" sz="1500" b="1" dirty="0">
                <a:solidFill>
                  <a:schemeClr val="folHlink"/>
                </a:solidFill>
                <a:latin typeface="Courier New" panose="02070309020205020404" pitchFamily="49" charset="0"/>
              </a:rPr>
              <a:t>else fail</a:t>
            </a:r>
            <a:r>
              <a:rPr lang="en-US" altLang="zh-CN" sz="1500" b="1" dirty="0">
                <a:latin typeface="Courier New" panose="02070309020205020404" pitchFamily="49" charset="0"/>
              </a:rPr>
              <a:t> (); </a:t>
            </a:r>
            <a:r>
              <a:rPr lang="en-US" altLang="zh-CN" sz="1500" b="1" dirty="0">
                <a:solidFill>
                  <a:srgbClr val="009999"/>
                </a:solidFill>
                <a:latin typeface="Courier New" panose="02070309020205020404" pitchFamily="49" charset="0"/>
              </a:rPr>
              <a:t>/* lexeme is not a </a:t>
            </a:r>
            <a:r>
              <a:rPr lang="en-US" altLang="zh-CN" sz="1500" b="1" dirty="0" err="1">
                <a:solidFill>
                  <a:srgbClr val="009999"/>
                </a:solidFill>
                <a:latin typeface="Courier New" panose="02070309020205020404" pitchFamily="49" charset="0"/>
              </a:rPr>
              <a:t>relop</a:t>
            </a:r>
            <a:r>
              <a:rPr lang="en-US" altLang="zh-CN" sz="1500" b="1" dirty="0">
                <a:solidFill>
                  <a:srgbClr val="009999"/>
                </a:solidFill>
                <a:latin typeface="Courier New" panose="02070309020205020404" pitchFamily="49" charset="0"/>
              </a:rPr>
              <a:t> */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500" b="1" dirty="0">
                <a:latin typeface="Courier New" panose="02070309020205020404" pitchFamily="49" charset="0"/>
              </a:rPr>
              <a:t>              break;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500" b="1" dirty="0">
                <a:latin typeface="Courier New" panose="02070309020205020404" pitchFamily="49" charset="0"/>
              </a:rPr>
              <a:t>      </a:t>
            </a:r>
            <a:r>
              <a:rPr lang="en-US" altLang="zh-CN" sz="1500" b="1" dirty="0">
                <a:solidFill>
                  <a:schemeClr val="folHlink"/>
                </a:solidFill>
                <a:latin typeface="Courier New" panose="02070309020205020404" pitchFamily="49" charset="0"/>
              </a:rPr>
              <a:t>case </a:t>
            </a:r>
            <a:r>
              <a:rPr lang="en-US" altLang="zh-CN" sz="1500" b="1" dirty="0">
                <a:solidFill>
                  <a:schemeClr val="hlink"/>
                </a:solidFill>
                <a:latin typeface="Courier New" panose="02070309020205020404" pitchFamily="49" charset="0"/>
              </a:rPr>
              <a:t>1</a:t>
            </a:r>
            <a:r>
              <a:rPr lang="en-US" altLang="zh-CN" sz="1500" b="1" dirty="0">
                <a:latin typeface="Courier New" panose="02070309020205020404" pitchFamily="49" charset="0"/>
              </a:rPr>
              <a:t>: ...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500" b="1" dirty="0">
                <a:latin typeface="Courier New" panose="02070309020205020404" pitchFamily="49" charset="0"/>
              </a:rPr>
              <a:t>        ...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500" b="1" dirty="0">
                <a:latin typeface="Courier New" panose="02070309020205020404" pitchFamily="49" charset="0"/>
              </a:rPr>
              <a:t>     </a:t>
            </a:r>
            <a:r>
              <a:rPr lang="en-US" altLang="zh-CN" sz="1500" b="1" dirty="0">
                <a:solidFill>
                  <a:schemeClr val="folHlink"/>
                </a:solidFill>
                <a:latin typeface="Courier New" panose="02070309020205020404" pitchFamily="49" charset="0"/>
              </a:rPr>
              <a:t> case</a:t>
            </a:r>
            <a:r>
              <a:rPr lang="en-US" altLang="zh-CN" sz="1500" b="1" dirty="0">
                <a:latin typeface="Courier New" panose="02070309020205020404" pitchFamily="49" charset="0"/>
              </a:rPr>
              <a:t> </a:t>
            </a:r>
            <a:r>
              <a:rPr lang="en-US" altLang="zh-CN" sz="1500" b="1" dirty="0">
                <a:solidFill>
                  <a:schemeClr val="hlink"/>
                </a:solidFill>
                <a:latin typeface="Courier New" panose="02070309020205020404" pitchFamily="49" charset="0"/>
              </a:rPr>
              <a:t>8</a:t>
            </a:r>
            <a:r>
              <a:rPr lang="en-US" altLang="zh-CN" sz="1500" b="1" dirty="0">
                <a:latin typeface="Courier New" panose="02070309020205020404" pitchFamily="49" charset="0"/>
              </a:rPr>
              <a:t>: retract();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500" b="1" dirty="0">
                <a:latin typeface="Courier New" panose="02070309020205020404" pitchFamily="49" charset="0"/>
              </a:rPr>
              <a:t>              </a:t>
            </a:r>
            <a:r>
              <a:rPr lang="en-US" altLang="zh-CN" sz="1500" b="1" dirty="0" err="1">
                <a:latin typeface="Courier New" panose="02070309020205020404" pitchFamily="49" charset="0"/>
              </a:rPr>
              <a:t>retToken.attribute</a:t>
            </a:r>
            <a:r>
              <a:rPr lang="en-US" altLang="zh-CN" sz="1500" b="1" dirty="0">
                <a:latin typeface="Courier New" panose="02070309020205020404" pitchFamily="49" charset="0"/>
              </a:rPr>
              <a:t> </a:t>
            </a:r>
            <a:r>
              <a:rPr lang="en-US" altLang="zh-CN" sz="1500" b="1" dirty="0">
                <a:solidFill>
                  <a:srgbClr val="008000"/>
                </a:solidFill>
                <a:latin typeface="Courier New" panose="02070309020205020404" pitchFamily="49" charset="0"/>
              </a:rPr>
              <a:t>=</a:t>
            </a:r>
            <a:r>
              <a:rPr lang="en-US" altLang="zh-CN" sz="1500" b="1" dirty="0">
                <a:latin typeface="Courier New" panose="02070309020205020404" pitchFamily="49" charset="0"/>
              </a:rPr>
              <a:t> GT;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500" b="1" dirty="0">
                <a:latin typeface="Courier New" panose="02070309020205020404" pitchFamily="49" charset="0"/>
              </a:rPr>
              <a:t>              return(</a:t>
            </a:r>
            <a:r>
              <a:rPr lang="en-US" altLang="zh-CN" sz="1500" b="1" dirty="0" err="1">
                <a:latin typeface="Courier New" panose="02070309020205020404" pitchFamily="49" charset="0"/>
              </a:rPr>
              <a:t>retToken</a:t>
            </a:r>
            <a:r>
              <a:rPr lang="en-US" altLang="zh-CN" sz="1500" b="1" dirty="0">
                <a:latin typeface="Courier New" panose="02070309020205020404" pitchFamily="49" charset="0"/>
              </a:rPr>
              <a:t>) 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500" b="1" dirty="0">
                <a:latin typeface="Courier New" panose="02070309020205020404" pitchFamily="49" charset="0"/>
              </a:rPr>
              <a:t>    }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500" b="1" dirty="0">
                <a:latin typeface="Courier New" panose="02070309020205020404" pitchFamily="49" charset="0"/>
              </a:rPr>
              <a:t>  }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500" b="1" dirty="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73732" name="Text Box 5">
            <a:extLst>
              <a:ext uri="{FF2B5EF4-FFF2-40B4-BE49-F238E27FC236}">
                <a16:creationId xmlns:a16="http://schemas.microsoft.com/office/drawing/2014/main" id="{2F48963A-B2FE-41BC-A467-AB83AD289B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73620" y="5477304"/>
            <a:ext cx="1428313" cy="366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40500" tIns="21600" rIns="40500" bIns="2160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100" dirty="0">
                <a:solidFill>
                  <a:srgbClr val="333399"/>
                </a:solidFill>
                <a:latin typeface="Times New Roman" panose="02020603050405020304" pitchFamily="18" charset="0"/>
                <a:hlinkClick r:id="rId2" action="ppaction://hlinksldjump"/>
              </a:rPr>
              <a:t>状态转换图</a:t>
            </a:r>
            <a:endParaRPr lang="zh-CN" altLang="en-US" sz="2100" dirty="0">
              <a:solidFill>
                <a:srgbClr val="3333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07831A0-D08B-15A3-EF08-8A5BC62CA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AE750-5067-47DF-A09A-4461FCDE662E}" type="datetime2">
              <a:rPr lang="zh-CN" altLang="en-US" smtClean="0"/>
              <a:t>2026年3月11日</a:t>
            </a:fld>
            <a:endParaRPr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3CE9BF9-6DD4-3FEF-22B0-38D01E821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</a:t>
            </a:r>
            <a:r>
              <a:rPr lang="en-US" altLang="zh-CN"/>
              <a:t>2</a:t>
            </a:r>
            <a:r>
              <a:rPr lang="zh-CN" altLang="en-US"/>
              <a:t>章 词法分析</a:t>
            </a:r>
            <a:r>
              <a:rPr lang="en-US" altLang="zh-CN"/>
              <a:t>(1)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0DC2025-4405-E727-5B41-09FEF5FED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58</a:t>
            </a:fld>
            <a:endParaRPr lang="zh-CN" altLang="en-US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196273-F07B-4CBA-B42A-3D4EE1655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2.2.4 </a:t>
            </a:r>
            <a:r>
              <a:rPr lang="zh-CN" altLang="en-US" dirty="0"/>
              <a:t>状态转换图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F6AEBDA-230F-4981-922F-FC8760B445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110000"/>
              </a:lnSpc>
            </a:pPr>
            <a:r>
              <a:rPr lang="zh-CN" altLang="en-US" dirty="0"/>
              <a:t>根据正规式构造成转换图后，基于这样直观的转换图，编写程序来进行词法分析就不是一件困难的事情了</a:t>
            </a:r>
            <a:endParaRPr lang="en-US" altLang="zh-CN" dirty="0"/>
          </a:p>
          <a:p>
            <a:pPr>
              <a:lnSpc>
                <a:spcPct val="110000"/>
              </a:lnSpc>
            </a:pPr>
            <a:r>
              <a:rPr lang="zh-CN" altLang="en-US" dirty="0"/>
              <a:t>状态转换图只是一个概念，便于让大家接受下节有限自动机的概念（有限自动机就是一种转换图）</a:t>
            </a:r>
            <a:endParaRPr lang="en-US" altLang="zh-CN" dirty="0"/>
          </a:p>
          <a:p>
            <a:pPr>
              <a:lnSpc>
                <a:spcPct val="110000"/>
              </a:lnSpc>
            </a:pPr>
            <a:endParaRPr lang="en-US" altLang="zh-CN" dirty="0"/>
          </a:p>
          <a:p>
            <a:pPr>
              <a:lnSpc>
                <a:spcPct val="110000"/>
              </a:lnSpc>
            </a:pPr>
            <a:r>
              <a:rPr lang="zh-CN" altLang="en-US" dirty="0"/>
              <a:t>有限自动机：</a:t>
            </a:r>
            <a:r>
              <a:rPr lang="en-US" altLang="zh-CN" dirty="0"/>
              <a:t>NFA</a:t>
            </a:r>
            <a:r>
              <a:rPr lang="zh-CN" altLang="en-US" dirty="0"/>
              <a:t>和</a:t>
            </a:r>
            <a:r>
              <a:rPr lang="en-US" altLang="zh-CN" dirty="0"/>
              <a:t>DFA</a:t>
            </a:r>
          </a:p>
          <a:p>
            <a:pPr>
              <a:lnSpc>
                <a:spcPct val="110000"/>
              </a:lnSpc>
            </a:pPr>
            <a:r>
              <a:rPr lang="zh-CN" altLang="en-US" dirty="0"/>
              <a:t>从正规式构造</a:t>
            </a:r>
            <a:r>
              <a:rPr lang="en-US" altLang="zh-CN" dirty="0"/>
              <a:t>NFA</a:t>
            </a:r>
            <a:r>
              <a:rPr lang="zh-CN" altLang="en-US" dirty="0"/>
              <a:t>，再把</a:t>
            </a:r>
            <a:r>
              <a:rPr lang="en-US" altLang="zh-CN" dirty="0"/>
              <a:t>NFA</a:t>
            </a:r>
            <a:r>
              <a:rPr lang="zh-CN" altLang="en-US" dirty="0"/>
              <a:t>转成</a:t>
            </a:r>
            <a:r>
              <a:rPr lang="en-US" altLang="zh-CN" dirty="0"/>
              <a:t>DFA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BDCE1C8-D70B-C5A8-BBC7-077D72326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923F0-1863-4A9E-919B-E73E2AF2D05B}" type="datetime2">
              <a:rPr lang="zh-CN" altLang="en-US" smtClean="0"/>
              <a:t>2026年3月11日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DF3A516-C9F0-386C-4CA5-9FAF5A922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</a:t>
            </a:r>
            <a:r>
              <a:rPr lang="en-US" altLang="zh-CN"/>
              <a:t>2</a:t>
            </a:r>
            <a:r>
              <a:rPr lang="zh-CN" altLang="en-US"/>
              <a:t>章 词法分析</a:t>
            </a:r>
            <a:r>
              <a:rPr lang="en-US" altLang="zh-CN"/>
              <a:t>(1)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A799F54-16D5-5A62-B7CC-0B5334451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59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380247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>
            <a:extLst>
              <a:ext uri="{FF2B5EF4-FFF2-40B4-BE49-F238E27FC236}">
                <a16:creationId xmlns:a16="http://schemas.microsoft.com/office/drawing/2014/main" id="{D297D0C9-AF1A-4839-9C8A-3442BD6EE7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课堂练习</a:t>
            </a:r>
          </a:p>
        </p:txBody>
      </p:sp>
      <p:sp>
        <p:nvSpPr>
          <p:cNvPr id="49155" name="Rectangle 3">
            <a:extLst>
              <a:ext uri="{FF2B5EF4-FFF2-40B4-BE49-F238E27FC236}">
                <a16:creationId xmlns:a16="http://schemas.microsoft.com/office/drawing/2014/main" id="{6B4CD33C-302C-4015-A7F3-CF129B06C851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zh-CN" altLang="en-US" dirty="0"/>
              <a:t>请写出下列语言的正规式。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dirty="0"/>
              <a:t>所有十进制偶数（注意：除</a:t>
            </a:r>
            <a:r>
              <a:rPr lang="en-US" altLang="zh-CN" dirty="0"/>
              <a:t>0</a:t>
            </a:r>
            <a:r>
              <a:rPr lang="zh-CN" altLang="en-US" dirty="0"/>
              <a:t>以外，首位不能为</a:t>
            </a:r>
            <a:r>
              <a:rPr lang="en-US" altLang="zh-CN" dirty="0"/>
              <a:t>0</a:t>
            </a:r>
            <a:r>
              <a:rPr lang="zh-CN" altLang="en-US" dirty="0"/>
              <a:t>，即</a:t>
            </a:r>
            <a:r>
              <a:rPr lang="en-US" altLang="zh-CN" dirty="0"/>
              <a:t>04</a:t>
            </a:r>
            <a:r>
              <a:rPr lang="zh-CN" altLang="en-US" dirty="0"/>
              <a:t>，</a:t>
            </a:r>
            <a:r>
              <a:rPr lang="en-US" altLang="zh-CN" dirty="0"/>
              <a:t>00</a:t>
            </a:r>
            <a:r>
              <a:rPr lang="zh-CN" altLang="en-US" dirty="0"/>
              <a:t>这种都不合法）。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dirty="0"/>
              <a:t>所有二进制偶数。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521C681-99CD-4B9A-96BC-ED6B8FD8189E}"/>
              </a:ext>
            </a:extLst>
          </p:cNvPr>
          <p:cNvSpPr txBox="1"/>
          <p:nvPr/>
        </p:nvSpPr>
        <p:spPr>
          <a:xfrm>
            <a:off x="413792" y="3270100"/>
            <a:ext cx="8316415" cy="138499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2800" dirty="0">
                <a:latin typeface="Arial" panose="020B0604020202020204" pitchFamily="34" charset="0"/>
              </a:rPr>
              <a:t>答案：</a:t>
            </a:r>
            <a:endParaRPr lang="en-US" altLang="zh-CN" sz="2800" dirty="0">
              <a:latin typeface="Arial" panose="020B0604020202020204" pitchFamily="34" charset="0"/>
            </a:endParaRPr>
          </a:p>
          <a:p>
            <a:r>
              <a:rPr lang="en-US" altLang="zh-CN" sz="2800" dirty="0">
                <a:latin typeface="Arial" panose="020B0604020202020204" pitchFamily="34" charset="0"/>
              </a:rPr>
              <a:t>1. ((1|2|…|9)(0|1|…|9)*(0|2|4|6|8))|0|2|4|6|8</a:t>
            </a:r>
          </a:p>
          <a:p>
            <a:r>
              <a:rPr lang="en-US" altLang="zh-CN" sz="2800" dirty="0">
                <a:latin typeface="Arial" panose="020B0604020202020204" pitchFamily="34" charset="0"/>
              </a:rPr>
              <a:t>2. (0|1)*0</a:t>
            </a:r>
            <a:endParaRPr lang="zh-CN" altLang="en-US" sz="2800" dirty="0">
              <a:latin typeface="Arial" panose="020B0604020202020204" pitchFamily="34" charset="0"/>
            </a:endParaRP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372E902-8EB4-66A5-0BEB-CE68D1C5C8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0F3F7-BCDC-4404-A65C-E5AA3DECDDD2}" type="datetime2">
              <a:rPr lang="zh-CN" altLang="en-US" smtClean="0"/>
              <a:t>2026年3月11日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C489F2B-0B05-FE4F-6D0F-67D78E8C8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</a:t>
            </a:r>
            <a:r>
              <a:rPr lang="en-US" altLang="zh-CN"/>
              <a:t>2</a:t>
            </a:r>
            <a:r>
              <a:rPr lang="zh-CN" altLang="en-US"/>
              <a:t>章 词法分析</a:t>
            </a:r>
            <a:r>
              <a:rPr lang="en-US" altLang="zh-CN"/>
              <a:t>(1)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AC8FF09-944B-80DC-FA8F-05B592F7D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60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9467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>
            <a:extLst>
              <a:ext uri="{FF2B5EF4-FFF2-40B4-BE49-F238E27FC236}">
                <a16:creationId xmlns:a16="http://schemas.microsoft.com/office/drawing/2014/main" id="{86EB9678-ACA1-47A5-8439-F79A524BBB7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zh-CN" altLang="en-US"/>
              <a:t>本节小结</a:t>
            </a:r>
          </a:p>
        </p:txBody>
      </p:sp>
      <p:sp>
        <p:nvSpPr>
          <p:cNvPr id="70659" name="Rectangle 3">
            <a:extLst>
              <a:ext uri="{FF2B5EF4-FFF2-40B4-BE49-F238E27FC236}">
                <a16:creationId xmlns:a16="http://schemas.microsoft.com/office/drawing/2014/main" id="{4F177DE1-4F76-4CDF-8BE8-6176F03FAE9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eaLnBrk="1" hangingPunct="1">
              <a:lnSpc>
                <a:spcPct val="120000"/>
              </a:lnSpc>
            </a:pPr>
            <a:r>
              <a:rPr lang="zh-CN" altLang="en-US" dirty="0"/>
              <a:t>词法分析器的功能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dirty="0"/>
              <a:t>一些概念：</a:t>
            </a:r>
          </a:p>
          <a:p>
            <a:pPr lvl="1" eaLnBrk="1" hangingPunct="1">
              <a:lnSpc>
                <a:spcPct val="120000"/>
              </a:lnSpc>
            </a:pPr>
            <a:r>
              <a:rPr lang="zh-CN" altLang="en-US" dirty="0"/>
              <a:t>词法记号、模式、单词的概念</a:t>
            </a:r>
          </a:p>
          <a:p>
            <a:pPr lvl="1" eaLnBrk="1" hangingPunct="1">
              <a:lnSpc>
                <a:spcPct val="120000"/>
              </a:lnSpc>
            </a:pPr>
            <a:r>
              <a:rPr lang="zh-CN" altLang="en-US" dirty="0"/>
              <a:t>词法错误及常见修复策略</a:t>
            </a:r>
            <a:endParaRPr lang="en-US" altLang="zh-CN" dirty="0"/>
          </a:p>
          <a:p>
            <a:pPr lvl="1" eaLnBrk="1" hangingPunct="1">
              <a:lnSpc>
                <a:spcPct val="120000"/>
              </a:lnSpc>
            </a:pPr>
            <a:r>
              <a:rPr lang="zh-CN" altLang="en-US" dirty="0"/>
              <a:t>字母表、串、语言、句子的定义</a:t>
            </a:r>
          </a:p>
          <a:p>
            <a:pPr lvl="1" eaLnBrk="1" hangingPunct="1">
              <a:lnSpc>
                <a:spcPct val="120000"/>
              </a:lnSpc>
            </a:pPr>
            <a:r>
              <a:rPr lang="zh-CN" altLang="en-US" dirty="0"/>
              <a:t>串和语言的运算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dirty="0"/>
              <a:t>正规式（正规式和串有区别，正规式实际上是一种模式）</a:t>
            </a:r>
            <a:r>
              <a:rPr lang="zh-CN" altLang="en-US" dirty="0">
                <a:solidFill>
                  <a:schemeClr val="accent2"/>
                </a:solidFill>
              </a:rPr>
              <a:t>（要理解）</a:t>
            </a:r>
            <a:endParaRPr lang="en-US" altLang="zh-CN" dirty="0">
              <a:solidFill>
                <a:schemeClr val="accent2"/>
              </a:solidFill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dirty="0"/>
              <a:t>正规定义</a:t>
            </a:r>
            <a:endParaRPr lang="en-US" altLang="zh-CN" dirty="0"/>
          </a:p>
          <a:p>
            <a:pPr eaLnBrk="1" hangingPunct="1">
              <a:lnSpc>
                <a:spcPct val="120000"/>
              </a:lnSpc>
            </a:pPr>
            <a:r>
              <a:rPr lang="zh-CN" altLang="en-US" dirty="0"/>
              <a:t>状态转换图</a:t>
            </a:r>
          </a:p>
          <a:p>
            <a:pPr eaLnBrk="1" hangingPunct="1">
              <a:lnSpc>
                <a:spcPct val="120000"/>
              </a:lnSpc>
            </a:pPr>
            <a:endParaRPr lang="zh-CN" altLang="en-US" dirty="0"/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0C6B65D-0896-7D1F-7AD3-503686D92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DC954-B916-4005-8744-2B5D81B73D5E}" type="datetime2">
              <a:rPr lang="zh-CN" altLang="en-US" smtClean="0"/>
              <a:t>2026年3月11日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F72E4BD-59B6-27C3-03CC-F377E31D5D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</a:t>
            </a:r>
            <a:r>
              <a:rPr lang="en-US" altLang="zh-CN"/>
              <a:t>2</a:t>
            </a:r>
            <a:r>
              <a:rPr lang="zh-CN" altLang="en-US"/>
              <a:t>章 词法分析</a:t>
            </a:r>
            <a:r>
              <a:rPr lang="en-US" altLang="zh-CN"/>
              <a:t>(1)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09018F2-4D30-7108-3D15-C8A94922C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61</a:t>
            </a:fld>
            <a:endParaRPr lang="zh-CN" altLang="en-US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内容占位符 9">
            <a:extLst>
              <a:ext uri="{FF2B5EF4-FFF2-40B4-BE49-F238E27FC236}">
                <a16:creationId xmlns:a16="http://schemas.microsoft.com/office/drawing/2014/main" id="{64FBDF84-EB4C-FBF0-CBEA-46AD437661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00" t="50471" r="4681" b="2667"/>
          <a:stretch/>
        </p:blipFill>
        <p:spPr>
          <a:xfrm>
            <a:off x="2352675" y="243425"/>
            <a:ext cx="6315075" cy="6628937"/>
          </a:xfrm>
        </p:spPr>
      </p:pic>
      <p:sp>
        <p:nvSpPr>
          <p:cNvPr id="70658" name="Rectangle 2">
            <a:extLst>
              <a:ext uri="{FF2B5EF4-FFF2-40B4-BE49-F238E27FC236}">
                <a16:creationId xmlns:a16="http://schemas.microsoft.com/office/drawing/2014/main" id="{86EB9678-ACA1-47A5-8439-F79A524BBB7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zh-CN" altLang="en-US"/>
              <a:t>本节小结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0C6B65D-0896-7D1F-7AD3-503686D92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DC954-B916-4005-8744-2B5D81B73D5E}" type="datetime2">
              <a:rPr lang="zh-CN" altLang="en-US" smtClean="0"/>
              <a:t>2026年3月11日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F72E4BD-59B6-27C3-03CC-F377E31D5D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</a:t>
            </a:r>
            <a:r>
              <a:rPr lang="en-US" altLang="zh-CN"/>
              <a:t>2</a:t>
            </a:r>
            <a:r>
              <a:rPr lang="zh-CN" altLang="en-US"/>
              <a:t>章 词法分析</a:t>
            </a:r>
            <a:r>
              <a:rPr lang="en-US" altLang="zh-CN"/>
              <a:t>(1)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09018F2-4D30-7108-3D15-C8A94922C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62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345430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SCORE" val="1.0"/>
  <p:tag name="RAINPROBLEMTYPE" val="MultipleChoiceMA"/>
  <p:tag name="RAINPROBLEM" val="MultipleChoiceMA"/>
  <p:tag name="PROBLEMSCORE_HALF" val="0.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MultipleChoiceMA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MultipleChoiceMA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MA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MA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SCORE" val="1.0"/>
  <p:tag name="PROBLEMSCORE_HALF" val="0.0"/>
  <p:tag name="RAINPROBLEMTYPE" val="MultipleChoice"/>
  <p:tag name="RAINPROBLEM" val="MultipleChoic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MultipleChoic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Correct"/>
  <p:tag name="RAINPROBLEMTYPE" val="MultipleChoic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MultipleChoic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MultipleChoic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heme/theme1.xml><?xml version="1.0" encoding="utf-8"?>
<a:theme xmlns:a="http://schemas.openxmlformats.org/drawingml/2006/main" name="编译原理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编译原理">
      <a:majorFont>
        <a:latin typeface="Times New Roman"/>
        <a:ea typeface="黑体"/>
        <a:cs typeface=""/>
      </a:majorFont>
      <a:minorFont>
        <a:latin typeface="Times New Roman"/>
        <a:ea typeface="黑体"/>
        <a:cs typeface="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编译原理" id="{4271FEC0-4BA9-4131-8AF9-5171DE3A8BFB}" vid="{B2C6F381-9842-4644-AB39-09AD860BCC79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编译原理</Template>
  <TotalTime>420</TotalTime>
  <Words>6391</Words>
  <Application>Microsoft Office PowerPoint</Application>
  <PresentationFormat>全屏显示(4:3)</PresentationFormat>
  <Paragraphs>864</Paragraphs>
  <Slides>62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62</vt:i4>
      </vt:variant>
    </vt:vector>
  </HeadingPairs>
  <TitlesOfParts>
    <vt:vector size="73" baseType="lpstr">
      <vt:lpstr>等线</vt:lpstr>
      <vt:lpstr>宋体</vt:lpstr>
      <vt:lpstr>Microsoft Yahei</vt:lpstr>
      <vt:lpstr>Arial</vt:lpstr>
      <vt:lpstr>Consolas</vt:lpstr>
      <vt:lpstr>Courier New</vt:lpstr>
      <vt:lpstr>Symbol</vt:lpstr>
      <vt:lpstr>Tahoma</vt:lpstr>
      <vt:lpstr>Times New Roman</vt:lpstr>
      <vt:lpstr>Wingdings</vt:lpstr>
      <vt:lpstr>编译原理</vt:lpstr>
      <vt:lpstr>第二章 词法分析(1)</vt:lpstr>
      <vt:lpstr>第一章回顾</vt:lpstr>
      <vt:lpstr>第一章回顾</vt:lpstr>
      <vt:lpstr>第一章回顾 编译器 vs 解释器</vt:lpstr>
      <vt:lpstr>本次课内容</vt:lpstr>
      <vt:lpstr>本次课内容</vt:lpstr>
      <vt:lpstr>第二章 词法分析</vt:lpstr>
      <vt:lpstr>第二章 词法分析</vt:lpstr>
      <vt:lpstr>第二章 词法分析</vt:lpstr>
      <vt:lpstr>第二章 词法分析</vt:lpstr>
      <vt:lpstr>2.1 词法记号及属性</vt:lpstr>
      <vt:lpstr>2.1.1 词法记号、模式、单词</vt:lpstr>
      <vt:lpstr>2.1.1 词法记号、模式、单词</vt:lpstr>
      <vt:lpstr>2.1.1 词法记号、模式、单词</vt:lpstr>
      <vt:lpstr>2.1.1 词法记号、模式、单词</vt:lpstr>
      <vt:lpstr>2.1.1 词法记号、模式、单词</vt:lpstr>
      <vt:lpstr>2.1.1 词法记号、模式、单词</vt:lpstr>
      <vt:lpstr>2.1.2 词法记号的属性</vt:lpstr>
      <vt:lpstr>2.1.2 词法记号的属性</vt:lpstr>
      <vt:lpstr>2.1.3 词法错误</vt:lpstr>
      <vt:lpstr>2.1.3 词法错误</vt:lpstr>
      <vt:lpstr>2.2 词法记号的描述与识别</vt:lpstr>
      <vt:lpstr>2.2 词法记号的描述与识别</vt:lpstr>
      <vt:lpstr>2.2.1 串和语言</vt:lpstr>
      <vt:lpstr>2.2.1 串和语言</vt:lpstr>
      <vt:lpstr>2.2.1 串和语言</vt:lpstr>
      <vt:lpstr>2.2.1 串和语言</vt:lpstr>
      <vt:lpstr>2.2.1 串和语言</vt:lpstr>
      <vt:lpstr>2.2.1 串和语言</vt:lpstr>
      <vt:lpstr>2.2.1 串和语言</vt:lpstr>
      <vt:lpstr>2.2.1 串和语言</vt:lpstr>
      <vt:lpstr>2.2.1 串和语言</vt:lpstr>
      <vt:lpstr>2.2.1 串和语言</vt:lpstr>
      <vt:lpstr>2.2.1 串和语言</vt:lpstr>
      <vt:lpstr>2.2.2 正规式</vt:lpstr>
      <vt:lpstr>2.2.2 正规式</vt:lpstr>
      <vt:lpstr>2.2.2 正规式</vt:lpstr>
      <vt:lpstr>2.2.2 正规式</vt:lpstr>
      <vt:lpstr>PowerPoint 演示文稿</vt:lpstr>
      <vt:lpstr>PowerPoint 演示文稿</vt:lpstr>
      <vt:lpstr>2.2.2 正规式</vt:lpstr>
      <vt:lpstr>2.2.2 正规式</vt:lpstr>
      <vt:lpstr>2.2.3 正规定义</vt:lpstr>
      <vt:lpstr>2.2.3 正规定义</vt:lpstr>
      <vt:lpstr>2.2.3 正规定义</vt:lpstr>
      <vt:lpstr>2.2.3 正规定义</vt:lpstr>
      <vt:lpstr>2.2.3 正规定义</vt:lpstr>
      <vt:lpstr>2.2.4 状态转换图</vt:lpstr>
      <vt:lpstr>2.2.4 状态转换图</vt:lpstr>
      <vt:lpstr>2.2.4 状态转换图</vt:lpstr>
      <vt:lpstr>2.2.4 状态转换图</vt:lpstr>
      <vt:lpstr>2.2.4 状态转换图</vt:lpstr>
      <vt:lpstr>2.2.4 状态转换图</vt:lpstr>
      <vt:lpstr>2.2.4 状态转换图</vt:lpstr>
      <vt:lpstr>2.2.4 状态转换图</vt:lpstr>
      <vt:lpstr>2.2.4 状态转换图</vt:lpstr>
      <vt:lpstr>2.2.4 状态转换图</vt:lpstr>
      <vt:lpstr>2.2.4 状态转换图</vt:lpstr>
      <vt:lpstr>2.2.4 状态转换图</vt:lpstr>
      <vt:lpstr>课堂练习</vt:lpstr>
      <vt:lpstr>本节小结</vt:lpstr>
      <vt:lpstr>本节小结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第三章 语法分析(8)</dc:title>
  <dc:creator>欣捷</dc:creator>
  <cp:lastModifiedBy>欣捷 王</cp:lastModifiedBy>
  <cp:revision>45</cp:revision>
  <cp:lastPrinted>2024-03-01T01:17:06Z</cp:lastPrinted>
  <dcterms:created xsi:type="dcterms:W3CDTF">2021-04-20T06:55:23Z</dcterms:created>
  <dcterms:modified xsi:type="dcterms:W3CDTF">2026-03-11T04:00:42Z</dcterms:modified>
</cp:coreProperties>
</file>