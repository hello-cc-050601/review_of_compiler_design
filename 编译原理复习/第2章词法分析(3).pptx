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49"/>
  </p:notesMasterIdLst>
  <p:sldIdLst>
    <p:sldId id="256" r:id="rId2"/>
    <p:sldId id="687" r:id="rId3"/>
    <p:sldId id="670" r:id="rId4"/>
    <p:sldId id="696" r:id="rId5"/>
    <p:sldId id="622" r:id="rId6"/>
    <p:sldId id="695" r:id="rId7"/>
    <p:sldId id="539" r:id="rId8"/>
    <p:sldId id="543" r:id="rId9"/>
    <p:sldId id="546" r:id="rId10"/>
    <p:sldId id="544" r:id="rId11"/>
    <p:sldId id="673" r:id="rId12"/>
    <p:sldId id="674" r:id="rId13"/>
    <p:sldId id="675" r:id="rId14"/>
    <p:sldId id="676" r:id="rId15"/>
    <p:sldId id="677" r:id="rId16"/>
    <p:sldId id="678" r:id="rId17"/>
    <p:sldId id="679" r:id="rId18"/>
    <p:sldId id="680" r:id="rId19"/>
    <p:sldId id="681" r:id="rId20"/>
    <p:sldId id="682" r:id="rId21"/>
    <p:sldId id="683" r:id="rId22"/>
    <p:sldId id="684" r:id="rId23"/>
    <p:sldId id="686" r:id="rId24"/>
    <p:sldId id="699" r:id="rId25"/>
    <p:sldId id="623" r:id="rId26"/>
    <p:sldId id="624" r:id="rId27"/>
    <p:sldId id="625" r:id="rId28"/>
    <p:sldId id="626" r:id="rId29"/>
    <p:sldId id="627" r:id="rId30"/>
    <p:sldId id="628" r:id="rId31"/>
    <p:sldId id="629" r:id="rId32"/>
    <p:sldId id="630" r:id="rId33"/>
    <p:sldId id="631" r:id="rId34"/>
    <p:sldId id="632" r:id="rId35"/>
    <p:sldId id="633" r:id="rId36"/>
    <p:sldId id="634" r:id="rId37"/>
    <p:sldId id="591" r:id="rId38"/>
    <p:sldId id="589" r:id="rId39"/>
    <p:sldId id="590" r:id="rId40"/>
    <p:sldId id="638" r:id="rId41"/>
    <p:sldId id="697" r:id="rId42"/>
    <p:sldId id="667" r:id="rId43"/>
    <p:sldId id="593" r:id="rId44"/>
    <p:sldId id="668" r:id="rId45"/>
    <p:sldId id="700" r:id="rId46"/>
    <p:sldId id="690" r:id="rId47"/>
    <p:sldId id="594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17D"/>
    <a:srgbClr val="316886"/>
    <a:srgbClr val="3A7B9F"/>
    <a:srgbClr val="20455A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7A3A0-BB9B-4A32-98DB-9AB596D85418}" v="40" dt="2026-03-25T08:18:23.53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115" autoAdjust="0"/>
    <p:restoredTop sz="83392" autoAdjust="0"/>
  </p:normalViewPr>
  <p:slideViewPr>
    <p:cSldViewPr snapToGrid="0">
      <p:cViewPr varScale="1">
        <p:scale>
          <a:sx n="94" d="100"/>
          <a:sy n="94" d="100"/>
        </p:scale>
        <p:origin x="124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欣捷 王" userId="b965477fa0aef5e6" providerId="LiveId" clId="{97C6B45D-85CF-4E4B-9C99-FFEAE701DD4A}"/>
    <pc:docChg chg="undo custSel modSld">
      <pc:chgData name="欣捷 王" userId="b965477fa0aef5e6" providerId="LiveId" clId="{97C6B45D-85CF-4E4B-9C99-FFEAE701DD4A}" dt="2026-03-25T08:18:10.472" v="134" actId="1076"/>
      <pc:docMkLst>
        <pc:docMk/>
      </pc:docMkLst>
      <pc:sldChg chg="modSp mod">
        <pc:chgData name="欣捷 王" userId="b965477fa0aef5e6" providerId="LiveId" clId="{97C6B45D-85CF-4E4B-9C99-FFEAE701DD4A}" dt="2026-03-25T07:58:44.849" v="32" actId="20577"/>
        <pc:sldMkLst>
          <pc:docMk/>
          <pc:sldMk cId="4037236509" sldId="690"/>
        </pc:sldMkLst>
        <pc:spChg chg="mod">
          <ac:chgData name="欣捷 王" userId="b965477fa0aef5e6" providerId="LiveId" clId="{97C6B45D-85CF-4E4B-9C99-FFEAE701DD4A}" dt="2026-03-25T07:58:44.849" v="32" actId="20577"/>
          <ac:spMkLst>
            <pc:docMk/>
            <pc:sldMk cId="4037236509" sldId="690"/>
            <ac:spMk id="3" creationId="{3F3D1F8C-7D52-4513-8075-29097AA6AE66}"/>
          </ac:spMkLst>
        </pc:spChg>
      </pc:sldChg>
      <pc:sldChg chg="addSp delSp modSp mod">
        <pc:chgData name="欣捷 王" userId="b965477fa0aef5e6" providerId="LiveId" clId="{97C6B45D-85CF-4E4B-9C99-FFEAE701DD4A}" dt="2026-03-25T08:18:10.472" v="134" actId="1076"/>
        <pc:sldMkLst>
          <pc:docMk/>
          <pc:sldMk cId="744687568" sldId="700"/>
        </pc:sldMkLst>
        <pc:spChg chg="mod">
          <ac:chgData name="欣捷 王" userId="b965477fa0aef5e6" providerId="LiveId" clId="{97C6B45D-85CF-4E4B-9C99-FFEAE701DD4A}" dt="2026-03-25T08:10:53.844" v="97" actId="12788"/>
          <ac:spMkLst>
            <pc:docMk/>
            <pc:sldMk cId="744687568" sldId="700"/>
            <ac:spMk id="10" creationId="{64DE9545-294A-A4D3-3B86-3549EDB88E71}"/>
          </ac:spMkLst>
        </pc:spChg>
        <pc:spChg chg="add mod ord">
          <ac:chgData name="欣捷 王" userId="b965477fa0aef5e6" providerId="LiveId" clId="{97C6B45D-85CF-4E4B-9C99-FFEAE701DD4A}" dt="2026-03-25T08:16:47.317" v="127" actId="14100"/>
          <ac:spMkLst>
            <pc:docMk/>
            <pc:sldMk cId="744687568" sldId="700"/>
            <ac:spMk id="24" creationId="{5F591714-49B8-2221-2D46-3954321D990F}"/>
          </ac:spMkLst>
        </pc:spChg>
        <pc:graphicFrameChg chg="add mod">
          <ac:chgData name="欣捷 王" userId="b965477fa0aef5e6" providerId="LiveId" clId="{97C6B45D-85CF-4E4B-9C99-FFEAE701DD4A}" dt="2026-03-25T08:18:10.472" v="134" actId="1076"/>
          <ac:graphicFrameMkLst>
            <pc:docMk/>
            <pc:sldMk cId="744687568" sldId="700"/>
            <ac:graphicFrameMk id="3" creationId="{E61D337F-ED50-EEA2-EBCD-4A0E99910EED}"/>
          </ac:graphicFrameMkLst>
        </pc:graphicFrameChg>
        <pc:graphicFrameChg chg="del">
          <ac:chgData name="欣捷 王" userId="b965477fa0aef5e6" providerId="LiveId" clId="{97C6B45D-85CF-4E4B-9C99-FFEAE701DD4A}" dt="2026-03-25T08:05:06.123" v="33" actId="478"/>
          <ac:graphicFrameMkLst>
            <pc:docMk/>
            <pc:sldMk cId="744687568" sldId="700"/>
            <ac:graphicFrameMk id="3" creationId="{EF9E7F9E-B804-B07C-BC73-B5EC93959D2F}"/>
          </ac:graphicFrameMkLst>
        </pc:graphicFrameChg>
        <pc:graphicFrameChg chg="add del mod">
          <ac:chgData name="欣捷 王" userId="b965477fa0aef5e6" providerId="LiveId" clId="{97C6B45D-85CF-4E4B-9C99-FFEAE701DD4A}" dt="2026-03-25T08:17:50.003" v="130" actId="478"/>
          <ac:graphicFrameMkLst>
            <pc:docMk/>
            <pc:sldMk cId="744687568" sldId="700"/>
            <ac:graphicFrameMk id="7" creationId="{A1CFFA3E-038B-4709-0AA6-F3433FAD0C19}"/>
          </ac:graphicFrameMkLst>
        </pc:graphicFrameChg>
        <pc:graphicFrameChg chg="del">
          <ac:chgData name="欣捷 王" userId="b965477fa0aef5e6" providerId="LiveId" clId="{97C6B45D-85CF-4E4B-9C99-FFEAE701DD4A}" dt="2026-03-25T08:05:30.624" v="37" actId="478"/>
          <ac:graphicFrameMkLst>
            <pc:docMk/>
            <pc:sldMk cId="744687568" sldId="700"/>
            <ac:graphicFrameMk id="8" creationId="{D3205C4C-1FD0-E031-65D4-089D97036160}"/>
          </ac:graphicFrameMkLst>
        </pc:graphicFrameChg>
        <pc:graphicFrameChg chg="add mod">
          <ac:chgData name="欣捷 王" userId="b965477fa0aef5e6" providerId="LiveId" clId="{97C6B45D-85CF-4E4B-9C99-FFEAE701DD4A}" dt="2026-03-25T08:05:43.977" v="39"/>
          <ac:graphicFrameMkLst>
            <pc:docMk/>
            <pc:sldMk cId="744687568" sldId="700"/>
            <ac:graphicFrameMk id="11" creationId="{5161C7A4-F959-052A-3972-002BA119F655}"/>
          </ac:graphicFrameMkLst>
        </pc:graphicFrameChg>
        <pc:graphicFrameChg chg="add del mod">
          <ac:chgData name="欣捷 王" userId="b965477fa0aef5e6" providerId="LiveId" clId="{97C6B45D-85CF-4E4B-9C99-FFEAE701DD4A}" dt="2026-03-25T08:06:02.154" v="42" actId="478"/>
          <ac:graphicFrameMkLst>
            <pc:docMk/>
            <pc:sldMk cId="744687568" sldId="700"/>
            <ac:graphicFrameMk id="12" creationId="{AA802182-E8C1-DA34-00AE-631EB2B37EB8}"/>
          </ac:graphicFrameMkLst>
        </pc:graphicFrameChg>
        <pc:graphicFrameChg chg="add mod">
          <ac:chgData name="欣捷 王" userId="b965477fa0aef5e6" providerId="LiveId" clId="{97C6B45D-85CF-4E4B-9C99-FFEAE701DD4A}" dt="2026-03-25T08:06:14.435" v="44"/>
          <ac:graphicFrameMkLst>
            <pc:docMk/>
            <pc:sldMk cId="744687568" sldId="700"/>
            <ac:graphicFrameMk id="13" creationId="{C9852D2E-8F43-C086-5BBB-1579C3C386D3}"/>
          </ac:graphicFrameMkLst>
        </pc:graphicFrameChg>
        <pc:graphicFrameChg chg="add del mod">
          <ac:chgData name="欣捷 王" userId="b965477fa0aef5e6" providerId="LiveId" clId="{97C6B45D-85CF-4E4B-9C99-FFEAE701DD4A}" dt="2026-03-25T08:07:02.809" v="49" actId="478"/>
          <ac:graphicFrameMkLst>
            <pc:docMk/>
            <pc:sldMk cId="744687568" sldId="700"/>
            <ac:graphicFrameMk id="15" creationId="{8931B146-C7FF-2409-6418-4E90907A9095}"/>
          </ac:graphicFrameMkLst>
        </pc:graphicFrameChg>
        <pc:graphicFrameChg chg="add del mod">
          <ac:chgData name="欣捷 王" userId="b965477fa0aef5e6" providerId="LiveId" clId="{97C6B45D-85CF-4E4B-9C99-FFEAE701DD4A}" dt="2026-03-25T08:07:52.318" v="62" actId="478"/>
          <ac:graphicFrameMkLst>
            <pc:docMk/>
            <pc:sldMk cId="744687568" sldId="700"/>
            <ac:graphicFrameMk id="16" creationId="{8BF553E3-20F4-8C59-5447-2B230E831546}"/>
          </ac:graphicFrameMkLst>
        </pc:graphicFrameChg>
        <pc:graphicFrameChg chg="add del mod">
          <ac:chgData name="欣捷 王" userId="b965477fa0aef5e6" providerId="LiveId" clId="{97C6B45D-85CF-4E4B-9C99-FFEAE701DD4A}" dt="2026-03-25T08:09:37.791" v="80" actId="478"/>
          <ac:graphicFrameMkLst>
            <pc:docMk/>
            <pc:sldMk cId="744687568" sldId="700"/>
            <ac:graphicFrameMk id="21" creationId="{0013BEE3-BA1F-3EBB-ED40-1DDDF6D8C144}"/>
          </ac:graphicFrameMkLst>
        </pc:graphicFrameChg>
        <pc:graphicFrameChg chg="add del mod">
          <ac:chgData name="欣捷 王" userId="b965477fa0aef5e6" providerId="LiveId" clId="{97C6B45D-85CF-4E4B-9C99-FFEAE701DD4A}" dt="2026-03-25T08:09:49.191" v="82" actId="478"/>
          <ac:graphicFrameMkLst>
            <pc:docMk/>
            <pc:sldMk cId="744687568" sldId="700"/>
            <ac:graphicFrameMk id="22" creationId="{998AF592-7DF3-3E9C-B2B1-03436BAA92E9}"/>
          </ac:graphicFrameMkLst>
        </pc:graphicFrameChg>
        <pc:graphicFrameChg chg="add del mod">
          <ac:chgData name="欣捷 王" userId="b965477fa0aef5e6" providerId="LiveId" clId="{97C6B45D-85CF-4E4B-9C99-FFEAE701DD4A}" dt="2026-03-25T08:11:32.830" v="110" actId="478"/>
          <ac:graphicFrameMkLst>
            <pc:docMk/>
            <pc:sldMk cId="744687568" sldId="700"/>
            <ac:graphicFrameMk id="23" creationId="{2C2DE25D-5354-AE0C-12E6-EFBB3C2108F1}"/>
          </ac:graphicFrameMkLst>
        </pc:graphicFrameChg>
        <pc:graphicFrameChg chg="add mod">
          <ac:chgData name="欣捷 王" userId="b965477fa0aef5e6" providerId="LiveId" clId="{97C6B45D-85CF-4E4B-9C99-FFEAE701DD4A}" dt="2026-03-25T08:15:21.536" v="114"/>
          <ac:graphicFrameMkLst>
            <pc:docMk/>
            <pc:sldMk cId="744687568" sldId="700"/>
            <ac:graphicFrameMk id="25" creationId="{F16AB3C4-23F2-178A-F27E-F1453AF6FA30}"/>
          </ac:graphicFrameMkLst>
        </pc:graphicFrameChg>
        <pc:graphicFrameChg chg="add del mod">
          <ac:chgData name="欣捷 王" userId="b965477fa0aef5e6" providerId="LiveId" clId="{97C6B45D-85CF-4E4B-9C99-FFEAE701DD4A}" dt="2026-03-25T08:16:06.700" v="122" actId="478"/>
          <ac:graphicFrameMkLst>
            <pc:docMk/>
            <pc:sldMk cId="744687568" sldId="700"/>
            <ac:graphicFrameMk id="26" creationId="{9F8246ED-133A-6F1C-26B7-B4461F181239}"/>
          </ac:graphicFrameMkLst>
        </pc:graphicFrameChg>
        <pc:graphicFrameChg chg="add mod">
          <ac:chgData name="欣捷 王" userId="b965477fa0aef5e6" providerId="LiveId" clId="{97C6B45D-85CF-4E4B-9C99-FFEAE701DD4A}" dt="2026-03-25T08:16:51.920" v="129" actId="1076"/>
          <ac:graphicFrameMkLst>
            <pc:docMk/>
            <pc:sldMk cId="744687568" sldId="700"/>
            <ac:graphicFrameMk id="27" creationId="{EE5BC4E8-137F-5188-EDC4-6E47D504F7E0}"/>
          </ac:graphicFrameMkLst>
        </pc:graphicFrameChg>
        <pc:picChg chg="add del">
          <ac:chgData name="欣捷 王" userId="b965477fa0aef5e6" providerId="LiveId" clId="{97C6B45D-85CF-4E4B-9C99-FFEAE701DD4A}" dt="2026-03-25T08:08:17.983" v="65" actId="478"/>
          <ac:picMkLst>
            <pc:docMk/>
            <pc:sldMk cId="744687568" sldId="700"/>
            <ac:picMk id="9" creationId="{D9BD609F-D3ED-4170-A5E5-765DB5AC2A10}"/>
          </ac:picMkLst>
        </pc:picChg>
        <pc:picChg chg="add del mod">
          <ac:chgData name="欣捷 王" userId="b965477fa0aef5e6" providerId="LiveId" clId="{97C6B45D-85CF-4E4B-9C99-FFEAE701DD4A}" dt="2026-03-25T08:08:20.978" v="67" actId="478"/>
          <ac:picMkLst>
            <pc:docMk/>
            <pc:sldMk cId="744687568" sldId="700"/>
            <ac:picMk id="18" creationId="{72F97746-E23C-038C-25D3-103F90407099}"/>
          </ac:picMkLst>
        </pc:picChg>
        <pc:picChg chg="add mod ord modCrop">
          <ac:chgData name="欣捷 王" userId="b965477fa0aef5e6" providerId="LiveId" clId="{97C6B45D-85CF-4E4B-9C99-FFEAE701DD4A}" dt="2026-03-25T08:10:57.424" v="98" actId="167"/>
          <ac:picMkLst>
            <pc:docMk/>
            <pc:sldMk cId="744687568" sldId="700"/>
            <ac:picMk id="20" creationId="{CBD64ED7-45C1-6AD6-3A40-F4C79F5FDF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D049-5B44-483E-9C3C-697C85C65D4A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3482-A6A0-4CF0-A287-4BD4EF082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72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DB17763C-8CD0-4F10-962B-A9A73F5BEB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A475FE79-8F52-49C8-A846-E17A86EC1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转换函数可以是一个部分函数</a:t>
            </a: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D954E988-58FF-4AF7-A205-F59395C4C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EF24468-CA44-4F9D-B003-18D4250CB3DA}" type="slidenum">
              <a:rPr lang="en-US" altLang="zh-CN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22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DB17763C-8CD0-4F10-962B-A9A73F5BEB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A475FE79-8F52-49C8-A846-E17A86EC1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转换函数可以是一个部分函数</a:t>
            </a: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D954E988-58FF-4AF7-A205-F59395C4C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EF24468-CA44-4F9D-B003-18D4250CB3DA}" type="slidenum">
              <a:rPr lang="en-US" altLang="zh-CN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539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9E79FC01-44A5-4939-A517-EF29E9C1F5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C1C4B74D-DA18-448A-ABFE-73D933821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Hopcroft</a:t>
            </a:r>
            <a:r>
              <a:rPr lang="zh-CN" altLang="en-US">
                <a:latin typeface="Arial" panose="020B0604020202020204" pitchFamily="34" charset="0"/>
              </a:rPr>
              <a:t>算法</a:t>
            </a:r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49427806-668F-4357-B9FC-53413A96F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C32077D-BCBC-47F3-9EEF-CCAB52F5D3B5}" type="slidenum">
              <a:rPr lang="en-US" altLang="zh-CN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是希腊字母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/pai/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，即圆周率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pi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的大写符号。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77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D0058C16-1B41-4178-825A-8B12601C90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F0646031-7542-4AC4-B54A-F25B09D24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S0</a:t>
            </a:r>
            <a:r>
              <a:rPr lang="zh-CN" altLang="en-US" dirty="0">
                <a:latin typeface="Arial" panose="020B0604020202020204" pitchFamily="34" charset="0"/>
              </a:rPr>
              <a:t>是开始状态，</a:t>
            </a:r>
            <a:r>
              <a:rPr lang="en-US" altLang="zh-CN" dirty="0">
                <a:latin typeface="Arial" panose="020B0604020202020204" pitchFamily="34" charset="0"/>
              </a:rPr>
              <a:t>S4,S5,S6</a:t>
            </a:r>
            <a:r>
              <a:rPr lang="zh-CN" altLang="en-US" dirty="0">
                <a:latin typeface="Arial" panose="020B0604020202020204" pitchFamily="34" charset="0"/>
              </a:rPr>
              <a:t>是接受状态。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解：初始划分：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{S0,S1,S2,S3},{S4,S5,S6}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、对于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{S0,S1,S2,S3}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，划分为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{S0,S1},{S2,S3}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，因为：</a:t>
            </a:r>
          </a:p>
          <a:p>
            <a:pPr indent="200025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move({S0,S1},a)={S5,S6}, move({S0,S1},b)={S2}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move({S2,S3},a)={S0,S3}, move({S2,S3},b)={S4,S5}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{S4,S5,S6}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，划分为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{S4},{S5,S6}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，因为：</a:t>
            </a:r>
          </a:p>
          <a:p>
            <a:pPr indent="200025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move({S4},a)={S6}, move({S4},b)={S2}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move({S5,S6},a)={S3}, move({S5,S6},b)={S0,S1}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得到新划分：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{S0,S1},{S2,S3},{S4},{S5,S6}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、对于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{S2,S3}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，划分为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{S2},{S3}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，因为：</a:t>
            </a:r>
          </a:p>
          <a:p>
            <a:pPr indent="200025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move({S2},a)={S0}, move({S2},b)={S4}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move({S3},a)={ S3}, move({S3},b)={S5}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00025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得到新划分：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{S0,S1},{S2},{S3},{S4},{S5,S6}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、完成划分。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pPr indent="200025" algn="just"/>
            <a:r>
              <a:rPr lang="zh-CN" altLang="en-US" dirty="0">
                <a:latin typeface="Arial" panose="020B0604020202020204" pitchFamily="34" charset="0"/>
              </a:rPr>
              <a:t>结果为：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{S0,S1},{S2},{S3},{S4},{S5,S6}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3175D7BB-15C6-43F4-B56C-EEAE29C39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2710C4-02C6-4C1F-902D-D3F252A21F4C}" type="slidenum">
              <a:rPr lang="en-US" altLang="zh-CN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AD6FC46-7D65-7CE5-9328-EC0EFAD21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1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1C27-BE4E-4BA9-A82F-94317FCDA3A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06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169BF-6E92-46E6-B4EC-2A801DB434E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95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83361D-0238-7F23-A765-0706DA88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579C5-1B8F-4B2C-B360-3F26A5A3580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D292B0-7C52-DC2F-E0AE-DDADBAC1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B7955-7BC6-D8D1-B146-B2E6E338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83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10D6-02E4-4052-8EE5-102EC269B2C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4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C905-76F0-4087-ABBB-88743483F6E9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72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BB6-2575-485A-924F-51F6C166064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80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00BC5-14D2-4825-BC46-204B742C1E66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8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3DA8-21F2-4AD2-98EB-62ADC16A8B2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4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5916-AC9C-474B-BB1F-FB0399DC79D3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26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A711-93CD-4C9D-904A-1478E3B3615C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816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0411-244F-4788-B416-2983A23F60E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422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79F1-1CC8-4C9D-B609-8DE55912A7AA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25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4287"/>
            <a:ext cx="3887391" cy="42653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5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4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295400"/>
            <a:ext cx="3848100" cy="48561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3848100" cy="48561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E0AD1C7-365F-4024-BBBB-3EE47D05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01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D3579C5-1B8F-4B2C-B360-3F26A5A3580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948913E8-FBB1-8133-03D6-2A99C03B7423}"/>
              </a:ext>
            </a:extLst>
          </p:cNvPr>
          <p:cNvSpPr/>
          <p:nvPr userDrawn="1"/>
        </p:nvSpPr>
        <p:spPr>
          <a:xfrm>
            <a:off x="0" y="365134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7564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67" r:id="rId14"/>
    <p:sldLayoutId id="2147483669" r:id="rId15"/>
    <p:sldLayoutId id="2147483671" r:id="rId16"/>
    <p:sldLayoutId id="2147483674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sz="36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/>
          </a:p>
          <a:p>
            <a:r>
              <a:rPr lang="zh-CN" altLang="en-US" sz="1800"/>
              <a:t>中国海洋大学 计算机系 王欣捷</a:t>
            </a:r>
            <a:endParaRPr lang="en-US" altLang="zh-CN" sz="1800"/>
          </a:p>
          <a:p>
            <a:r>
              <a:rPr lang="en-US" altLang="zh-CN" sz="1800"/>
              <a:t>wangxinjie@ouc.edu.cn</a:t>
            </a:r>
            <a:endParaRPr lang="zh-CN" altLang="en-US" sz="1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5CE0624-8725-49AA-B014-C7190BE7E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上次课回顾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2F04DD7-4138-44DA-B57F-D920223D1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 sz="3600" dirty="0"/>
              <a:t>2.3 </a:t>
            </a:r>
            <a:r>
              <a:rPr lang="zh-CN" altLang="en-US" sz="3600" dirty="0"/>
              <a:t>有限自动机（</a:t>
            </a:r>
            <a:r>
              <a:rPr lang="en-US" altLang="zh-CN" sz="3600" dirty="0"/>
              <a:t>FA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pPr lvl="1">
              <a:lnSpc>
                <a:spcPct val="100000"/>
              </a:lnSpc>
            </a:pPr>
            <a:r>
              <a:rPr lang="en-US" altLang="zh-CN" sz="3200" dirty="0"/>
              <a:t>2.3.1 </a:t>
            </a:r>
            <a:r>
              <a:rPr lang="zh-CN" altLang="en-US" sz="3200" dirty="0"/>
              <a:t>不确定的有限自动机（</a:t>
            </a:r>
            <a:r>
              <a:rPr lang="en-US" altLang="zh-CN" sz="3200" dirty="0"/>
              <a:t>NFA</a:t>
            </a:r>
            <a:r>
              <a:rPr lang="zh-CN" altLang="en-US" sz="3200" dirty="0"/>
              <a:t>）与</a:t>
            </a:r>
            <a:r>
              <a:rPr lang="en-US" altLang="zh-CN" sz="3200" dirty="0"/>
              <a:t>FA</a:t>
            </a:r>
            <a:r>
              <a:rPr lang="zh-CN" altLang="en-US" sz="3200" dirty="0"/>
              <a:t>的转换表（状态转换矩阵）</a:t>
            </a:r>
            <a:endParaRPr lang="en-US" altLang="zh-CN" sz="3200" dirty="0"/>
          </a:p>
          <a:p>
            <a:pPr lvl="1">
              <a:lnSpc>
                <a:spcPct val="100000"/>
              </a:lnSpc>
            </a:pPr>
            <a:r>
              <a:rPr lang="en-US" altLang="zh-CN" sz="3200" dirty="0"/>
              <a:t>2.3.2 </a:t>
            </a:r>
            <a:r>
              <a:rPr lang="zh-CN" altLang="en-US" sz="3200" dirty="0"/>
              <a:t>确定的有限自动机（</a:t>
            </a:r>
            <a:r>
              <a:rPr lang="en-US" altLang="zh-CN" sz="3200" dirty="0"/>
              <a:t>DFA</a:t>
            </a:r>
            <a:r>
              <a:rPr lang="zh-CN" altLang="en-US" sz="3200" dirty="0"/>
              <a:t>）</a:t>
            </a:r>
          </a:p>
          <a:p>
            <a:pPr lvl="1">
              <a:lnSpc>
                <a:spcPct val="100000"/>
              </a:lnSpc>
            </a:pPr>
            <a:r>
              <a:rPr lang="en-US" altLang="zh-CN" sz="3200" dirty="0"/>
              <a:t>2.4 </a:t>
            </a:r>
            <a:r>
              <a:rPr lang="zh-CN" altLang="en-US" sz="3200" dirty="0"/>
              <a:t>正规式到</a:t>
            </a:r>
            <a:r>
              <a:rPr lang="en-US" altLang="zh-CN" sz="3200" dirty="0"/>
              <a:t>NFA</a:t>
            </a:r>
            <a:r>
              <a:rPr lang="zh-CN" altLang="en-US" sz="3200" dirty="0"/>
              <a:t>的变换（</a:t>
            </a:r>
            <a:r>
              <a:rPr lang="en-US" altLang="zh-CN" sz="3200" dirty="0"/>
              <a:t>Thompson</a:t>
            </a:r>
            <a:r>
              <a:rPr lang="zh-CN" altLang="en-US" sz="3200" dirty="0"/>
              <a:t>算法）</a:t>
            </a:r>
            <a:endParaRPr lang="en-US" altLang="zh-CN" sz="3200" dirty="0"/>
          </a:p>
          <a:p>
            <a:pPr lvl="1">
              <a:lnSpc>
                <a:spcPct val="100000"/>
              </a:lnSpc>
            </a:pPr>
            <a:r>
              <a:rPr lang="en-US" altLang="zh-CN" sz="3200" dirty="0"/>
              <a:t>2.3.3 NFA</a:t>
            </a:r>
            <a:r>
              <a:rPr lang="zh-CN" altLang="en-US" sz="3200" dirty="0"/>
              <a:t>到</a:t>
            </a:r>
            <a:r>
              <a:rPr lang="en-US" altLang="zh-CN" sz="3200" dirty="0"/>
              <a:t>DFA</a:t>
            </a:r>
            <a:r>
              <a:rPr lang="zh-CN" altLang="en-US" sz="3200" dirty="0"/>
              <a:t>的变换（子集构造算法）</a:t>
            </a:r>
            <a:endParaRPr lang="en-US" altLang="zh-CN" sz="3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B8A3F3-39F0-46C0-9A35-5595782C053B}"/>
              </a:ext>
            </a:extLst>
          </p:cNvPr>
          <p:cNvSpPr/>
          <p:nvPr/>
        </p:nvSpPr>
        <p:spPr>
          <a:xfrm>
            <a:off x="2982361" y="5232607"/>
            <a:ext cx="5231218" cy="9443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章节编码顺序不对，是为了与课本上统一。实际上</a:t>
            </a:r>
            <a:r>
              <a:rPr lang="en-US" altLang="zh-CN" dirty="0"/>
              <a:t>2.4</a:t>
            </a:r>
            <a:r>
              <a:rPr lang="zh-CN" altLang="en-US" dirty="0"/>
              <a:t>应该在</a:t>
            </a:r>
            <a:r>
              <a:rPr lang="en-US" altLang="zh-CN" dirty="0"/>
              <a:t>2.3.3</a:t>
            </a:r>
            <a:r>
              <a:rPr lang="zh-CN" altLang="en-US" dirty="0"/>
              <a:t>之前构造，因此讲解的时候更换了顺序。这一点请同学们注意。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28ABE8-6924-7028-3A8F-D0B3FECF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ED65-C0DC-4C3E-8182-9B28D1753BF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CD5A0F-901B-517E-7BF6-96071501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3254DE-5E15-EFBE-4965-DD50006F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E96AF83-5AE3-495B-B69B-FBACB0395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altLang="zh-CN" sz="2700"/>
              <a:t>NFA</a:t>
            </a:r>
            <a:endParaRPr lang="zh-CN" altLang="en-US" sz="270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02B76C8-B0F1-43D3-9D72-302CB03FCAE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400"/>
              <a:t>有限的状态集合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</a:p>
          <a:p>
            <a:pPr algn="just">
              <a:lnSpc>
                <a:spcPct val="12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输入符号集合</a:t>
            </a:r>
            <a:r>
              <a:rPr lang="zh-CN" altLang="en-US" sz="2400" b="1">
                <a:sym typeface="Symbol" panose="05050102010706020507" pitchFamily="18" charset="2"/>
              </a:rPr>
              <a:t></a:t>
            </a:r>
            <a:r>
              <a:rPr lang="zh-CN" altLang="en-US" sz="2400">
                <a:sym typeface="Symbol" panose="05050102010706020507" pitchFamily="18" charset="2"/>
              </a:rPr>
              <a:t>（输入符号字母表，决不包含</a:t>
            </a:r>
            <a:r>
              <a:rPr lang="zh-CN" altLang="en-US" sz="2400" b="1">
                <a:sym typeface="Symbol" panose="05050102010706020507" pitchFamily="18" charset="2"/>
              </a:rPr>
              <a:t></a:t>
            </a:r>
            <a:r>
              <a:rPr lang="zh-CN" altLang="en-US" sz="2400">
                <a:sym typeface="Symbol" panose="05050102010706020507" pitchFamily="18" charset="2"/>
              </a:rPr>
              <a:t>）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转换函数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∪{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的幂集）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altLang="zh-CN" sz="2400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s∈S,</a:t>
            </a: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a∈Σ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∪{ε},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move(</a:t>
            </a:r>
            <a:r>
              <a:rPr lang="en-US" altLang="zh-CN" sz="2400" b="1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表示从状态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出发，沿着标记为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的边所能到达的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状态集合</a:t>
            </a:r>
          </a:p>
          <a:p>
            <a:pPr algn="just">
              <a:lnSpc>
                <a:spcPct val="12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状态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>
                <a:latin typeface="宋体" panose="02010600030101010101" pitchFamily="2" charset="-122"/>
              </a:rPr>
              <a:t>是唯一开始状态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zh-CN" altLang="en-US" sz="2400">
                <a:latin typeface="宋体" panose="02010600030101010101" pitchFamily="2" charset="-122"/>
              </a:rPr>
              <a:t>是接受状态（终态）集合</a:t>
            </a:r>
            <a:endParaRPr lang="zh-CN" altLang="en-US" sz="2400"/>
          </a:p>
          <a:p>
            <a:pPr>
              <a:lnSpc>
                <a:spcPct val="80000"/>
              </a:lnSpc>
            </a:pPr>
            <a:endParaRPr lang="zh-CN" altLang="en-US" sz="240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56F6DA-948C-4B7C-90CE-7169DB631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altLang="zh-CN" sz="2700"/>
              <a:t>DFA</a:t>
            </a:r>
            <a:endParaRPr lang="zh-CN" altLang="en-US" sz="270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D30457-A964-4627-808D-156AF26EA40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2400"/>
              <a:t>有限的状态集合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</a:p>
          <a:p>
            <a:pPr algn="just">
              <a:lnSpc>
                <a:spcPct val="12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输入符号集合</a:t>
            </a:r>
            <a:r>
              <a:rPr lang="zh-CN" altLang="en-US" sz="2400" b="1">
                <a:sym typeface="Symbol" panose="05050102010706020507" pitchFamily="18" charset="2"/>
              </a:rPr>
              <a:t></a:t>
            </a:r>
            <a:r>
              <a:rPr lang="zh-CN" altLang="en-US" sz="2400">
                <a:sym typeface="Symbol" panose="05050102010706020507" pitchFamily="18" charset="2"/>
              </a:rPr>
              <a:t>（输入符号字母表，决不包含</a:t>
            </a:r>
            <a:r>
              <a:rPr lang="zh-CN" altLang="en-US" sz="2400" b="1">
                <a:sym typeface="Symbol" panose="05050102010706020507" pitchFamily="18" charset="2"/>
              </a:rPr>
              <a:t></a:t>
            </a:r>
            <a:r>
              <a:rPr lang="zh-CN" altLang="en-US" sz="2400">
                <a:sym typeface="Symbol" panose="05050102010706020507" pitchFamily="18" charset="2"/>
              </a:rPr>
              <a:t>）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转换函数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altLang="zh-CN" sz="2400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s∈S,</a:t>
            </a: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a∈Σ</a:t>
            </a:r>
            <a:r>
              <a:rPr lang="en-US" altLang="zh-CN" sz="2400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表示从状态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出发，沿着标记为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的边所能到达的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</a:t>
            </a:r>
            <a:endParaRPr lang="en-US" altLang="zh-CN" sz="2400" i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是唯一开始状态</a:t>
            </a:r>
          </a:p>
          <a:p>
            <a:pPr algn="just"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zh-CN" altLang="en-US" sz="2400">
                <a:latin typeface="宋体" panose="02010600030101010101" pitchFamily="2" charset="-122"/>
              </a:rPr>
              <a:t>是接受状态（终态）集合</a:t>
            </a:r>
          </a:p>
          <a:p>
            <a:endParaRPr lang="zh-CN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85A7B3A8-3AF4-4011-8246-0EEF18D1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上次课回顾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F8FDD3-B42F-6A84-DE5B-6826609D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2F32-B082-47BE-9D75-69C5FA975226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9279B-905C-0CF6-8765-2D634706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25501A-D177-B811-ADF4-1114E85A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69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E96AF83-5AE3-495B-B69B-FBACB0395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algn="ctr"/>
            <a:r>
              <a:rPr lang="en-US" altLang="zh-CN" sz="2700" dirty="0"/>
              <a:t>NFA</a:t>
            </a:r>
            <a:r>
              <a:rPr lang="zh-CN" altLang="en-US" sz="2700" dirty="0"/>
              <a:t>的转换表和状态转换图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56F6DA-948C-4B7C-90CE-7169DB631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10000"/>
          </a:bodyPr>
          <a:lstStyle/>
          <a:p>
            <a:pPr algn="ctr"/>
            <a:r>
              <a:rPr lang="en-US" altLang="zh-CN" sz="2700" dirty="0"/>
              <a:t>DFA</a:t>
            </a:r>
            <a:r>
              <a:rPr lang="zh-CN" altLang="en-US" sz="2700" dirty="0"/>
              <a:t>的转换表和状态转换图</a:t>
            </a: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85A7B3A8-3AF4-4011-8246-0EEF18D1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上次课回顾</a:t>
            </a:r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38ABCBF6-D0A4-4FDA-878A-695E0BFB36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374311"/>
              </p:ext>
            </p:extLst>
          </p:nvPr>
        </p:nvGraphicFramePr>
        <p:xfrm>
          <a:off x="1174931" y="1943884"/>
          <a:ext cx="2778161" cy="2107853"/>
        </p:xfrm>
        <a:graphic>
          <a:graphicData uri="http://schemas.openxmlformats.org/drawingml/2006/table">
            <a:tbl>
              <a:tblPr/>
              <a:tblGrid>
                <a:gridCol w="952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97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marL="62083" marR="62083" marT="31042" marB="310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62083" marR="62083" marT="31042" marB="31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9913" marR="49913" marT="26622" marB="266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9913" marR="49913" marT="26622" marB="266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7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70438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{0, 1}</a:t>
                      </a:r>
                    </a:p>
                  </a:txBody>
                  <a:tcPr marL="0" marR="0" marT="70438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{0}</a:t>
                      </a:r>
                    </a:p>
                  </a:txBody>
                  <a:tcPr marL="0" marR="0" marT="70438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7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70438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L="0" marR="0" marT="70438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{2}</a:t>
                      </a:r>
                    </a:p>
                  </a:txBody>
                  <a:tcPr marL="0" marR="0" marT="70438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7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0" marR="0" marT="70438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L="0" marR="0" marT="70438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L="0" marR="0" marT="70438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28">
            <a:extLst>
              <a:ext uri="{FF2B5EF4-FFF2-40B4-BE49-F238E27FC236}">
                <a16:creationId xmlns:a16="http://schemas.microsoft.com/office/drawing/2014/main" id="{2E24D442-E6BA-4B8B-9086-95A33186100A}"/>
              </a:ext>
            </a:extLst>
          </p:cNvPr>
          <p:cNvGrpSpPr>
            <a:grpSpLocks/>
          </p:cNvGrpSpPr>
          <p:nvPr/>
        </p:nvGrpSpPr>
        <p:grpSpPr bwMode="auto">
          <a:xfrm>
            <a:off x="627459" y="4654777"/>
            <a:ext cx="3675514" cy="1534886"/>
            <a:chOff x="1776" y="2832"/>
            <a:chExt cx="3552" cy="1392"/>
          </a:xfrm>
        </p:grpSpPr>
        <p:sp>
          <p:nvSpPr>
            <p:cNvPr id="9" name="Oval 29">
              <a:extLst>
                <a:ext uri="{FF2B5EF4-FFF2-40B4-BE49-F238E27FC236}">
                  <a16:creationId xmlns:a16="http://schemas.microsoft.com/office/drawing/2014/main" id="{61BD91B0-31C7-48E9-A4DB-486E2B56F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352"/>
              <a:ext cx="377" cy="34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10" name="Group 30">
              <a:extLst>
                <a:ext uri="{FF2B5EF4-FFF2-40B4-BE49-F238E27FC236}">
                  <a16:creationId xmlns:a16="http://schemas.microsoft.com/office/drawing/2014/main" id="{0C200CD2-2436-450D-94FF-39752BB43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1" y="3350"/>
              <a:ext cx="377" cy="349"/>
              <a:chOff x="7120" y="12162"/>
              <a:chExt cx="425" cy="425"/>
            </a:xfrm>
          </p:grpSpPr>
          <p:sp>
            <p:nvSpPr>
              <p:cNvPr id="22" name="Oval 31">
                <a:extLst>
                  <a:ext uri="{FF2B5EF4-FFF2-40B4-BE49-F238E27FC236}">
                    <a16:creationId xmlns:a16="http://schemas.microsoft.com/office/drawing/2014/main" id="{EF005C5B-C54A-4059-B180-CE39BB377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Oval 32">
                <a:extLst>
                  <a:ext uri="{FF2B5EF4-FFF2-40B4-BE49-F238E27FC236}">
                    <a16:creationId xmlns:a16="http://schemas.microsoft.com/office/drawing/2014/main" id="{8A6EFFCD-C974-417C-B6D4-A123138B9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11" name="Line 33">
              <a:extLst>
                <a:ext uri="{FF2B5EF4-FFF2-40B4-BE49-F238E27FC236}">
                  <a16:creationId xmlns:a16="http://schemas.microsoft.com/office/drawing/2014/main" id="{591D12AF-A379-43B2-9094-A44526058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549"/>
              <a:ext cx="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" tIns="21600" rIns="10800" bIns="3510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2" name="Line 34">
              <a:extLst>
                <a:ext uri="{FF2B5EF4-FFF2-40B4-BE49-F238E27FC236}">
                  <a16:creationId xmlns:a16="http://schemas.microsoft.com/office/drawing/2014/main" id="{10E002E6-A34D-4967-B041-E8A055BF3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7" y="3537"/>
              <a:ext cx="7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3" name="Rectangle 35">
              <a:extLst>
                <a:ext uri="{FF2B5EF4-FFF2-40B4-BE49-F238E27FC236}">
                  <a16:creationId xmlns:a16="http://schemas.microsoft.com/office/drawing/2014/main" id="{53F5E479-183E-4A94-A983-E337E01E9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3266"/>
              <a:ext cx="61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14" name="Rectangle 36">
              <a:extLst>
                <a:ext uri="{FF2B5EF4-FFF2-40B4-BE49-F238E27FC236}">
                  <a16:creationId xmlns:a16="http://schemas.microsoft.com/office/drawing/2014/main" id="{A0337105-3D7F-4851-BD1B-2B7236A0E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3" y="3266"/>
              <a:ext cx="306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" name="Line 37">
              <a:extLst>
                <a:ext uri="{FF2B5EF4-FFF2-40B4-BE49-F238E27FC236}">
                  <a16:creationId xmlns:a16="http://schemas.microsoft.com/office/drawing/2014/main" id="{3E765F29-0545-4735-9F07-94BA8D7DB9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7" y="3537"/>
              <a:ext cx="7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E209C8C0-5384-4C6C-B88D-3792ADBE4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083"/>
              <a:ext cx="263" cy="275"/>
            </a:xfrm>
            <a:custGeom>
              <a:avLst/>
              <a:gdLst>
                <a:gd name="T0" fmla="*/ 40 w 297"/>
                <a:gd name="T1" fmla="*/ 22 h 333"/>
                <a:gd name="T2" fmla="*/ 51 w 297"/>
                <a:gd name="T3" fmla="*/ 8 h 333"/>
                <a:gd name="T4" fmla="*/ 27 w 297"/>
                <a:gd name="T5" fmla="*/ 2 h 333"/>
                <a:gd name="T6" fmla="*/ 4 w 297"/>
                <a:gd name="T7" fmla="*/ 8 h 333"/>
                <a:gd name="T8" fmla="*/ 11 w 297"/>
                <a:gd name="T9" fmla="*/ 22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7" name="Oval 39">
              <a:extLst>
                <a:ext uri="{FF2B5EF4-FFF2-40B4-BE49-F238E27FC236}">
                  <a16:creationId xmlns:a16="http://schemas.microsoft.com/office/drawing/2014/main" id="{2688311E-0AD3-4D07-87B9-D23079391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" y="3362"/>
              <a:ext cx="377" cy="35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DBAAC34D-A68D-4C31-B4CA-F02FB191396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4" y="3689"/>
              <a:ext cx="264" cy="273"/>
            </a:xfrm>
            <a:custGeom>
              <a:avLst/>
              <a:gdLst>
                <a:gd name="T0" fmla="*/ 42 w 297"/>
                <a:gd name="T1" fmla="*/ 20 h 333"/>
                <a:gd name="T2" fmla="*/ 53 w 297"/>
                <a:gd name="T3" fmla="*/ 7 h 333"/>
                <a:gd name="T4" fmla="*/ 28 w 297"/>
                <a:gd name="T5" fmla="*/ 2 h 333"/>
                <a:gd name="T6" fmla="*/ 4 w 297"/>
                <a:gd name="T7" fmla="*/ 7 h 333"/>
                <a:gd name="T8" fmla="*/ 11 w 297"/>
                <a:gd name="T9" fmla="*/ 2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id="{541ECE9F-22AB-43F1-80FC-626CA1674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832"/>
              <a:ext cx="306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" name="Rectangle 42">
              <a:extLst>
                <a:ext uri="{FF2B5EF4-FFF2-40B4-BE49-F238E27FC236}">
                  <a16:creationId xmlns:a16="http://schemas.microsoft.com/office/drawing/2014/main" id="{CF126893-50CD-4282-92B3-E226A56DF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942"/>
              <a:ext cx="306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1" name="Rectangle 43">
              <a:extLst>
                <a:ext uri="{FF2B5EF4-FFF2-40B4-BE49-F238E27FC236}">
                  <a16:creationId xmlns:a16="http://schemas.microsoft.com/office/drawing/2014/main" id="{E3341406-A24C-4B9D-A9DF-B1E105FD8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3266"/>
              <a:ext cx="306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aphicFrame>
        <p:nvGraphicFramePr>
          <p:cNvPr id="26" name="Group 4">
            <a:extLst>
              <a:ext uri="{FF2B5EF4-FFF2-40B4-BE49-F238E27FC236}">
                <a16:creationId xmlns:a16="http://schemas.microsoft.com/office/drawing/2014/main" id="{870C9580-DC55-4D3F-A53B-81300DA53E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5902533"/>
              </p:ext>
            </p:extLst>
          </p:nvPr>
        </p:nvGraphicFramePr>
        <p:xfrm>
          <a:off x="5299944" y="1899791"/>
          <a:ext cx="2951428" cy="2196041"/>
        </p:xfrm>
        <a:graphic>
          <a:graphicData uri="http://schemas.openxmlformats.org/drawingml/2006/table">
            <a:tbl>
              <a:tblPr/>
              <a:tblGrid>
                <a:gridCol w="101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864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marL="107742" marR="107742" marT="53871" marB="538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107742" marR="107742" marT="53871" marB="538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8958" marR="48958" marT="26113" marB="26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8958" marR="48958" marT="26113" marB="26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6909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6909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6909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6909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0" marR="0" marT="6909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0" marR="0" marT="6909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0" marR="0" marT="6909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marL="0" marR="0" marT="6909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0</a:t>
                      </a:r>
                    </a:p>
                  </a:txBody>
                  <a:tcPr marL="0" marR="0" marT="6909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F764C704-112F-439F-A5A4-AC9818A75BF7}"/>
              </a:ext>
            </a:extLst>
          </p:cNvPr>
          <p:cNvGrpSpPr/>
          <p:nvPr/>
        </p:nvGrpSpPr>
        <p:grpSpPr>
          <a:xfrm>
            <a:off x="5376231" y="4459229"/>
            <a:ext cx="2759772" cy="1574960"/>
            <a:chOff x="4791797" y="2293607"/>
            <a:chExt cx="4062636" cy="2270786"/>
          </a:xfrm>
        </p:grpSpPr>
        <p:sp>
          <p:nvSpPr>
            <p:cNvPr id="57" name="Oval 34">
              <a:extLst>
                <a:ext uri="{FF2B5EF4-FFF2-40B4-BE49-F238E27FC236}">
                  <a16:creationId xmlns:a16="http://schemas.microsoft.com/office/drawing/2014/main" id="{392A29D3-9DC4-4C49-8EA5-5593F2810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2935" y="2824177"/>
              <a:ext cx="963794" cy="6807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58" name="Group 44">
              <a:extLst>
                <a:ext uri="{FF2B5EF4-FFF2-40B4-BE49-F238E27FC236}">
                  <a16:creationId xmlns:a16="http://schemas.microsoft.com/office/drawing/2014/main" id="{73CF89DE-9E40-4FA8-944F-3F844A2174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4284" y="2672349"/>
              <a:ext cx="815142" cy="528905"/>
              <a:chOff x="4046" y="3123"/>
              <a:chExt cx="499" cy="317"/>
            </a:xfrm>
          </p:grpSpPr>
          <p:sp>
            <p:nvSpPr>
              <p:cNvPr id="59" name="Line 35">
                <a:extLst>
                  <a:ext uri="{FF2B5EF4-FFF2-40B4-BE49-F238E27FC236}">
                    <a16:creationId xmlns:a16="http://schemas.microsoft.com/office/drawing/2014/main" id="{A682887D-F987-43DC-A100-D9D3F2180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6" y="3440"/>
                <a:ext cx="49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0500" tIns="21600" rIns="40500" bIns="21600" anchor="ctr"/>
              <a:lstStyle/>
              <a:p>
                <a:pPr algn="ctr"/>
                <a:endParaRPr lang="zh-CN" altLang="en-US" sz="1050"/>
              </a:p>
            </p:txBody>
          </p:sp>
          <p:sp>
            <p:nvSpPr>
              <p:cNvPr id="60" name="Rectangle 36">
                <a:extLst>
                  <a:ext uri="{FF2B5EF4-FFF2-40B4-BE49-F238E27FC236}">
                    <a16:creationId xmlns:a16="http://schemas.microsoft.com/office/drawing/2014/main" id="{34E6986F-3F2D-4ECF-8D02-517D7FE82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2" y="3123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61" name="Group 45">
              <a:extLst>
                <a:ext uri="{FF2B5EF4-FFF2-40B4-BE49-F238E27FC236}">
                  <a16:creationId xmlns:a16="http://schemas.microsoft.com/office/drawing/2014/main" id="{7EF459B8-63A7-4454-B089-2F3FFC380A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2653" y="3504913"/>
              <a:ext cx="499866" cy="849254"/>
              <a:chOff x="3592" y="3622"/>
              <a:chExt cx="306" cy="509"/>
            </a:xfrm>
          </p:grpSpPr>
          <p:sp>
            <p:nvSpPr>
              <p:cNvPr id="62" name="Rectangle 37">
                <a:extLst>
                  <a:ext uri="{FF2B5EF4-FFF2-40B4-BE49-F238E27FC236}">
                    <a16:creationId xmlns:a16="http://schemas.microsoft.com/office/drawing/2014/main" id="{882F0652-698A-4161-8F2F-7C952C769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2" y="3849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63" name="Freeform 38">
                <a:extLst>
                  <a:ext uri="{FF2B5EF4-FFF2-40B4-BE49-F238E27FC236}">
                    <a16:creationId xmlns:a16="http://schemas.microsoft.com/office/drawing/2014/main" id="{32D92FB1-BE61-49F8-B41B-E4505D67BF7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592" y="3622"/>
                <a:ext cx="264" cy="273"/>
              </a:xfrm>
              <a:custGeom>
                <a:avLst/>
                <a:gdLst>
                  <a:gd name="T0" fmla="*/ 29 w 297"/>
                  <a:gd name="T1" fmla="*/ 11 h 333"/>
                  <a:gd name="T2" fmla="*/ 37 w 297"/>
                  <a:gd name="T3" fmla="*/ 4 h 333"/>
                  <a:gd name="T4" fmla="*/ 20 w 297"/>
                  <a:gd name="T5" fmla="*/ 2 h 333"/>
                  <a:gd name="T6" fmla="*/ 4 w 297"/>
                  <a:gd name="T7" fmla="*/ 4 h 333"/>
                  <a:gd name="T8" fmla="*/ 8 w 297"/>
                  <a:gd name="T9" fmla="*/ 11 h 3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7"/>
                  <a:gd name="T16" fmla="*/ 0 h 333"/>
                  <a:gd name="T17" fmla="*/ 297 w 297"/>
                  <a:gd name="T18" fmla="*/ 333 h 3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7" h="333">
                    <a:moveTo>
                      <a:pt x="225" y="332"/>
                    </a:moveTo>
                    <a:cubicBezTo>
                      <a:pt x="235" y="298"/>
                      <a:pt x="297" y="181"/>
                      <a:pt x="285" y="126"/>
                    </a:cubicBezTo>
                    <a:cubicBezTo>
                      <a:pt x="273" y="71"/>
                      <a:pt x="195" y="6"/>
                      <a:pt x="150" y="3"/>
                    </a:cubicBezTo>
                    <a:cubicBezTo>
                      <a:pt x="105" y="0"/>
                      <a:pt x="30" y="56"/>
                      <a:pt x="15" y="111"/>
                    </a:cubicBezTo>
                    <a:cubicBezTo>
                      <a:pt x="0" y="166"/>
                      <a:pt x="51" y="287"/>
                      <a:pt x="60" y="333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050"/>
              </a:p>
            </p:txBody>
          </p:sp>
        </p:grpSp>
        <p:grpSp>
          <p:nvGrpSpPr>
            <p:cNvPr id="64" name="Group 46">
              <a:extLst>
                <a:ext uri="{FF2B5EF4-FFF2-40B4-BE49-F238E27FC236}">
                  <a16:creationId xmlns:a16="http://schemas.microsoft.com/office/drawing/2014/main" id="{C8AD3B72-04DC-4FEF-AAC9-AFF8971EB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10241" y="2293607"/>
              <a:ext cx="944192" cy="530574"/>
              <a:chOff x="4772" y="2896"/>
              <a:chExt cx="578" cy="318"/>
            </a:xfrm>
          </p:grpSpPr>
          <p:sp>
            <p:nvSpPr>
              <p:cNvPr id="65" name="Freeform 39">
                <a:extLst>
                  <a:ext uri="{FF2B5EF4-FFF2-40B4-BE49-F238E27FC236}">
                    <a16:creationId xmlns:a16="http://schemas.microsoft.com/office/drawing/2014/main" id="{D6C44991-7574-40AA-A125-F0282FE50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941"/>
                <a:ext cx="264" cy="273"/>
              </a:xfrm>
              <a:custGeom>
                <a:avLst/>
                <a:gdLst>
                  <a:gd name="T0" fmla="*/ 29 w 297"/>
                  <a:gd name="T1" fmla="*/ 11 h 333"/>
                  <a:gd name="T2" fmla="*/ 37 w 297"/>
                  <a:gd name="T3" fmla="*/ 4 h 333"/>
                  <a:gd name="T4" fmla="*/ 20 w 297"/>
                  <a:gd name="T5" fmla="*/ 2 h 333"/>
                  <a:gd name="T6" fmla="*/ 4 w 297"/>
                  <a:gd name="T7" fmla="*/ 4 h 333"/>
                  <a:gd name="T8" fmla="*/ 8 w 297"/>
                  <a:gd name="T9" fmla="*/ 11 h 3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7"/>
                  <a:gd name="T16" fmla="*/ 0 h 333"/>
                  <a:gd name="T17" fmla="*/ 297 w 297"/>
                  <a:gd name="T18" fmla="*/ 333 h 3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7" h="333">
                    <a:moveTo>
                      <a:pt x="225" y="332"/>
                    </a:moveTo>
                    <a:cubicBezTo>
                      <a:pt x="235" y="298"/>
                      <a:pt x="297" y="181"/>
                      <a:pt x="285" y="126"/>
                    </a:cubicBezTo>
                    <a:cubicBezTo>
                      <a:pt x="273" y="71"/>
                      <a:pt x="195" y="6"/>
                      <a:pt x="150" y="3"/>
                    </a:cubicBezTo>
                    <a:cubicBezTo>
                      <a:pt x="105" y="0"/>
                      <a:pt x="30" y="56"/>
                      <a:pt x="15" y="111"/>
                    </a:cubicBezTo>
                    <a:cubicBezTo>
                      <a:pt x="0" y="166"/>
                      <a:pt x="51" y="287"/>
                      <a:pt x="60" y="333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050"/>
              </a:p>
            </p:txBody>
          </p:sp>
          <p:sp>
            <p:nvSpPr>
              <p:cNvPr id="66" name="Rectangle 40">
                <a:extLst>
                  <a:ext uri="{FF2B5EF4-FFF2-40B4-BE49-F238E27FC236}">
                    <a16:creationId xmlns:a16="http://schemas.microsoft.com/office/drawing/2014/main" id="{F221898C-6616-4772-AC4A-E88492E11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4" y="2896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sp>
          <p:nvSpPr>
            <p:cNvPr id="67" name="Oval 41">
              <a:extLst>
                <a:ext uri="{FF2B5EF4-FFF2-40B4-BE49-F238E27FC236}">
                  <a16:creationId xmlns:a16="http://schemas.microsoft.com/office/drawing/2014/main" id="{129E9B34-5641-4C82-8A2A-34381C800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0776" y="3883657"/>
              <a:ext cx="963794" cy="6807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grpSp>
          <p:nvGrpSpPr>
            <p:cNvPr id="68" name="Group 47">
              <a:extLst>
                <a:ext uri="{FF2B5EF4-FFF2-40B4-BE49-F238E27FC236}">
                  <a16:creationId xmlns:a16="http://schemas.microsoft.com/office/drawing/2014/main" id="{F331A095-1184-45D0-BD5F-4A5D590A6E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0769" y="3504916"/>
              <a:ext cx="797172" cy="545591"/>
              <a:chOff x="4454" y="3622"/>
              <a:chExt cx="488" cy="327"/>
            </a:xfrm>
          </p:grpSpPr>
          <p:sp>
            <p:nvSpPr>
              <p:cNvPr id="69" name="Line 42">
                <a:extLst>
                  <a:ext uri="{FF2B5EF4-FFF2-40B4-BE49-F238E27FC236}">
                    <a16:creationId xmlns:a16="http://schemas.microsoft.com/office/drawing/2014/main" id="{FCD910F9-A8BE-4DBE-9E8C-F0E814B28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4" y="3622"/>
                <a:ext cx="272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40500" tIns="21600" rIns="40500" bIns="21600" anchor="ctr"/>
              <a:lstStyle/>
              <a:p>
                <a:pPr algn="ctr"/>
                <a:endParaRPr lang="zh-CN" altLang="en-US" sz="1050"/>
              </a:p>
            </p:txBody>
          </p:sp>
          <p:sp>
            <p:nvSpPr>
              <p:cNvPr id="70" name="Rectangle 43">
                <a:extLst>
                  <a:ext uri="{FF2B5EF4-FFF2-40B4-BE49-F238E27FC236}">
                    <a16:creationId xmlns:a16="http://schemas.microsoft.com/office/drawing/2014/main" id="{7502D715-DAE8-44CA-828F-5A589A15F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6" y="3667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grpSp>
          <p:nvGrpSpPr>
            <p:cNvPr id="71" name="Group 50">
              <a:extLst>
                <a:ext uri="{FF2B5EF4-FFF2-40B4-BE49-F238E27FC236}">
                  <a16:creationId xmlns:a16="http://schemas.microsoft.com/office/drawing/2014/main" id="{0AD5C972-230D-4E25-9985-AD77ED125E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926" y="3468206"/>
              <a:ext cx="1189224" cy="1001083"/>
              <a:chOff x="4560" y="3600"/>
              <a:chExt cx="728" cy="600"/>
            </a:xfrm>
          </p:grpSpPr>
          <p:sp>
            <p:nvSpPr>
              <p:cNvPr id="72" name="Freeform 48">
                <a:extLst>
                  <a:ext uri="{FF2B5EF4-FFF2-40B4-BE49-F238E27FC236}">
                    <a16:creationId xmlns:a16="http://schemas.microsoft.com/office/drawing/2014/main" id="{E0BB7F01-81A5-487C-A2EF-B0FF78AEC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0" y="3600"/>
                <a:ext cx="728" cy="600"/>
              </a:xfrm>
              <a:custGeom>
                <a:avLst/>
                <a:gdLst>
                  <a:gd name="T0" fmla="*/ 0 w 728"/>
                  <a:gd name="T1" fmla="*/ 528 h 600"/>
                  <a:gd name="T2" fmla="*/ 384 w 728"/>
                  <a:gd name="T3" fmla="*/ 576 h 600"/>
                  <a:gd name="T4" fmla="*/ 480 w 728"/>
                  <a:gd name="T5" fmla="*/ 576 h 600"/>
                  <a:gd name="T6" fmla="*/ 720 w 728"/>
                  <a:gd name="T7" fmla="*/ 432 h 600"/>
                  <a:gd name="T8" fmla="*/ 528 w 728"/>
                  <a:gd name="T9" fmla="*/ 0 h 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8"/>
                  <a:gd name="T16" fmla="*/ 0 h 600"/>
                  <a:gd name="T17" fmla="*/ 728 w 728"/>
                  <a:gd name="T18" fmla="*/ 600 h 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8" h="600">
                    <a:moveTo>
                      <a:pt x="0" y="528"/>
                    </a:moveTo>
                    <a:cubicBezTo>
                      <a:pt x="152" y="548"/>
                      <a:pt x="304" y="568"/>
                      <a:pt x="384" y="576"/>
                    </a:cubicBezTo>
                    <a:cubicBezTo>
                      <a:pt x="464" y="584"/>
                      <a:pt x="424" y="600"/>
                      <a:pt x="480" y="576"/>
                    </a:cubicBezTo>
                    <a:cubicBezTo>
                      <a:pt x="536" y="552"/>
                      <a:pt x="712" y="528"/>
                      <a:pt x="720" y="432"/>
                    </a:cubicBezTo>
                    <a:cubicBezTo>
                      <a:pt x="728" y="336"/>
                      <a:pt x="552" y="56"/>
                      <a:pt x="528" y="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sz="1050" dirty="0"/>
              </a:p>
            </p:txBody>
          </p:sp>
          <p:sp>
            <p:nvSpPr>
              <p:cNvPr id="73" name="Text Box 49">
                <a:extLst>
                  <a:ext uri="{FF2B5EF4-FFF2-40B4-BE49-F238E27FC236}">
                    <a16:creationId xmlns:a16="http://schemas.microsoft.com/office/drawing/2014/main" id="{39FB341C-E9BE-439B-BEEC-1DB1963000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3905"/>
                <a:ext cx="192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6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74" name="Group 56">
              <a:extLst>
                <a:ext uri="{FF2B5EF4-FFF2-40B4-BE49-F238E27FC236}">
                  <a16:creationId xmlns:a16="http://schemas.microsoft.com/office/drawing/2014/main" id="{8F9594FF-2E3D-49E0-B933-6524B3A9B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91797" y="2725740"/>
              <a:ext cx="1932490" cy="779176"/>
              <a:chOff x="2863" y="3155"/>
              <a:chExt cx="1183" cy="467"/>
            </a:xfrm>
          </p:grpSpPr>
          <p:sp>
            <p:nvSpPr>
              <p:cNvPr id="75" name="Oval 33">
                <a:extLst>
                  <a:ext uri="{FF2B5EF4-FFF2-40B4-BE49-F238E27FC236}">
                    <a16:creationId xmlns:a16="http://schemas.microsoft.com/office/drawing/2014/main" id="{5086168D-6A34-486D-A7CB-959F91E71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214"/>
                <a:ext cx="590" cy="40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6" name="Line 54">
                <a:extLst>
                  <a:ext uri="{FF2B5EF4-FFF2-40B4-BE49-F238E27FC236}">
                    <a16:creationId xmlns:a16="http://schemas.microsoft.com/office/drawing/2014/main" id="{F1C7B0A0-BA0D-4651-A5D2-774693843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3402"/>
                <a:ext cx="534" cy="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en-US" sz="1050"/>
              </a:p>
            </p:txBody>
          </p:sp>
          <p:sp>
            <p:nvSpPr>
              <p:cNvPr id="77" name="Text Box 55">
                <a:extLst>
                  <a:ext uri="{FF2B5EF4-FFF2-40B4-BE49-F238E27FC236}">
                    <a16:creationId xmlns:a16="http://schemas.microsoft.com/office/drawing/2014/main" id="{7543C93C-ABE9-4934-81B8-0C398B8D85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3" y="3155"/>
                <a:ext cx="720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开始</a:t>
                </a:r>
              </a:p>
            </p:txBody>
          </p:sp>
        </p:grpSp>
        <p:sp>
          <p:nvSpPr>
            <p:cNvPr id="78" name="Oval 41">
              <a:extLst>
                <a:ext uri="{FF2B5EF4-FFF2-40B4-BE49-F238E27FC236}">
                  <a16:creationId xmlns:a16="http://schemas.microsoft.com/office/drawing/2014/main" id="{401280E5-C265-4FD4-A0AC-B7E462994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765" y="3940625"/>
              <a:ext cx="808620" cy="57113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" name="Rectangle 43">
            <a:extLst>
              <a:ext uri="{FF2B5EF4-FFF2-40B4-BE49-F238E27FC236}">
                <a16:creationId xmlns:a16="http://schemas.microsoft.com/office/drawing/2014/main" id="{ACD894D7-50CE-4CA6-8FD6-673F58259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613" y="5213817"/>
            <a:ext cx="286268" cy="26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 lIns="40500" tIns="21600" rIns="40500" bIns="216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9CB9C2F-5B44-4FFF-BA60-FBD42DC9A086}"/>
              </a:ext>
            </a:extLst>
          </p:cNvPr>
          <p:cNvSpPr txBox="1"/>
          <p:nvPr/>
        </p:nvSpPr>
        <p:spPr>
          <a:xfrm>
            <a:off x="1322041" y="4247578"/>
            <a:ext cx="158625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800" dirty="0"/>
              <a:t>2</a:t>
            </a:r>
            <a:r>
              <a:rPr lang="zh-CN" altLang="en-US" sz="1800" dirty="0"/>
              <a:t>是接受状态</a:t>
            </a:r>
            <a:endParaRPr lang="en-US" altLang="zh-CN" sz="18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EE548DD-2628-4424-A880-967FB2042DA4}"/>
              </a:ext>
            </a:extLst>
          </p:cNvPr>
          <p:cNvSpPr txBox="1"/>
          <p:nvPr/>
        </p:nvSpPr>
        <p:spPr>
          <a:xfrm>
            <a:off x="5376231" y="4247578"/>
            <a:ext cx="158625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800" dirty="0"/>
              <a:t>2</a:t>
            </a:r>
            <a:r>
              <a:rPr lang="zh-CN" altLang="en-US" sz="1800" dirty="0"/>
              <a:t>是接受状态</a:t>
            </a:r>
            <a:endParaRPr lang="en-US" altLang="zh-CN" sz="1800" dirty="0"/>
          </a:p>
        </p:txBody>
      </p:sp>
      <p:sp>
        <p:nvSpPr>
          <p:cNvPr id="4" name="Line 42">
            <a:extLst>
              <a:ext uri="{FF2B5EF4-FFF2-40B4-BE49-F238E27FC236}">
                <a16:creationId xmlns:a16="http://schemas.microsoft.com/office/drawing/2014/main" id="{7121BBEA-FDC3-913A-67F6-9F41A0348B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18904" y="5192536"/>
            <a:ext cx="154414" cy="3961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0500" tIns="21600" rIns="40500" bIns="21600" anchor="ctr"/>
          <a:lstStyle/>
          <a:p>
            <a:pPr algn="ctr"/>
            <a:endParaRPr lang="zh-CN" altLang="en-US" sz="105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134085-FD6D-6423-AB47-8692C933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0D66D-2AEE-4D44-A094-4D6B69944770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E81F1B-6CFB-1E30-E11C-61D573C2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4D3CEC25-2404-8050-6B65-5DCFC97D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17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22E8719-4716-4913-903F-0E9A2A9F1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上次课回顾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EE12570-D049-4741-A472-5626621C32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/>
              <a:t>正规式到</a:t>
            </a:r>
            <a:r>
              <a:rPr lang="en-US" altLang="zh-CN" sz="3200"/>
              <a:t>NFA</a:t>
            </a:r>
            <a:r>
              <a:rPr lang="zh-CN" altLang="en-US" sz="3200"/>
              <a:t>：</a:t>
            </a:r>
            <a:r>
              <a:rPr lang="en-US" altLang="zh-CN" sz="3200"/>
              <a:t>Thompson</a:t>
            </a:r>
            <a:r>
              <a:rPr lang="zh-CN" altLang="en-US" sz="3200"/>
              <a:t>算法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 | b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</a:rPr>
              <a:t> b*</a:t>
            </a:r>
            <a:r>
              <a:rPr lang="zh-CN" altLang="en-US" sz="2400">
                <a:latin typeface="Times New Roman" panose="02020603050405020304" pitchFamily="18" charset="0"/>
              </a:rPr>
              <a:t>的</a:t>
            </a:r>
            <a:r>
              <a:rPr lang="en-US" altLang="zh-CN" sz="2400" b="1">
                <a:latin typeface="Times New Roman" panose="02020603050405020304" pitchFamily="18" charset="0"/>
              </a:rPr>
              <a:t>NFA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FE4AD6A-72BC-494B-9242-D96A9CE9BBBE}"/>
              </a:ext>
            </a:extLst>
          </p:cNvPr>
          <p:cNvGrpSpPr/>
          <p:nvPr/>
        </p:nvGrpSpPr>
        <p:grpSpPr>
          <a:xfrm>
            <a:off x="285750" y="2857501"/>
            <a:ext cx="8411211" cy="2393156"/>
            <a:chOff x="285750" y="2857501"/>
            <a:chExt cx="8411211" cy="23931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69A8B78-B3C8-4173-A14D-8C5F109845B3}"/>
                </a:ext>
              </a:extLst>
            </p:cNvPr>
            <p:cNvSpPr/>
            <p:nvPr/>
          </p:nvSpPr>
          <p:spPr>
            <a:xfrm>
              <a:off x="285750" y="2857501"/>
              <a:ext cx="8411211" cy="23931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B2C36DB-8927-43E2-A037-B5662EDC8CE3}"/>
                </a:ext>
              </a:extLst>
            </p:cNvPr>
            <p:cNvGrpSpPr/>
            <p:nvPr/>
          </p:nvGrpSpPr>
          <p:grpSpPr>
            <a:xfrm>
              <a:off x="461327" y="3044999"/>
              <a:ext cx="7933771" cy="2014186"/>
              <a:chOff x="929427" y="2850323"/>
              <a:chExt cx="10578361" cy="2685582"/>
            </a:xfrm>
            <a:noFill/>
          </p:grpSpPr>
          <p:sp>
            <p:nvSpPr>
              <p:cNvPr id="6" name="Line 5">
                <a:extLst>
                  <a:ext uri="{FF2B5EF4-FFF2-40B4-BE49-F238E27FC236}">
                    <a16:creationId xmlns:a16="http://schemas.microsoft.com/office/drawing/2014/main" id="{5D0E3A75-3165-4E8D-ACB2-143873DD9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427" y="4240298"/>
                <a:ext cx="1282700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10800" tIns="21600" rIns="108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9DE4A5E-AF8F-4B36-8152-78404B836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6319" y="3245368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Oval 8">
                <a:extLst>
                  <a:ext uri="{FF2B5EF4-FFF2-40B4-BE49-F238E27FC236}">
                    <a16:creationId xmlns:a16="http://schemas.microsoft.com/office/drawing/2014/main" id="{AD9693C8-C784-4171-8944-513ACAA3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1077" y="3916484"/>
                <a:ext cx="599997" cy="556094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zh-CN" altLang="zh-CN" sz="21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CA48A692-957D-4FC7-852E-B8440FA27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8267" y="3873296"/>
                <a:ext cx="577850" cy="534988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" name="Rectangle 11">
                <a:extLst>
                  <a:ext uri="{FF2B5EF4-FFF2-40B4-BE49-F238E27FC236}">
                    <a16:creationId xmlns:a16="http://schemas.microsoft.com/office/drawing/2014/main" id="{C3A47113-8F4E-4ECE-90D6-96828CF71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560" y="3682001"/>
                <a:ext cx="936625" cy="5080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1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开始</a:t>
                </a:r>
              </a:p>
            </p:txBody>
          </p:sp>
          <p:sp>
            <p:nvSpPr>
              <p:cNvPr id="11" name="Oval 14">
                <a:extLst>
                  <a:ext uri="{FF2B5EF4-FFF2-40B4-BE49-F238E27FC236}">
                    <a16:creationId xmlns:a16="http://schemas.microsoft.com/office/drawing/2014/main" id="{433DA598-8D9D-47E8-BE72-E63EBCE42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5758" y="3029540"/>
                <a:ext cx="577850" cy="536575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zh-CN" altLang="zh-CN" sz="21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Oval 15">
                <a:extLst>
                  <a:ext uri="{FF2B5EF4-FFF2-40B4-BE49-F238E27FC236}">
                    <a16:creationId xmlns:a16="http://schemas.microsoft.com/office/drawing/2014/main" id="{BF4155F7-D002-46ED-8C26-49ECCA907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5086" y="3031127"/>
                <a:ext cx="576263" cy="534988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zh-CN" altLang="zh-CN" sz="21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Oval 18">
                <a:extLst>
                  <a:ext uri="{FF2B5EF4-FFF2-40B4-BE49-F238E27FC236}">
                    <a16:creationId xmlns:a16="http://schemas.microsoft.com/office/drawing/2014/main" id="{51193342-87B5-4309-A613-6BF046654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395" y="4748803"/>
                <a:ext cx="577850" cy="536575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zh-CN" altLang="zh-CN" sz="21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Oval 19">
                <a:extLst>
                  <a:ext uri="{FF2B5EF4-FFF2-40B4-BE49-F238E27FC236}">
                    <a16:creationId xmlns:a16="http://schemas.microsoft.com/office/drawing/2014/main" id="{B3C557FE-246F-44CE-A9CD-9E7B5B08C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5724" y="4750390"/>
                <a:ext cx="576263" cy="534988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zh-CN" altLang="zh-CN" sz="75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21">
                <a:extLst>
                  <a:ext uri="{FF2B5EF4-FFF2-40B4-BE49-F238E27FC236}">
                    <a16:creationId xmlns:a16="http://schemas.microsoft.com/office/drawing/2014/main" id="{5C2D960D-A6E0-4A36-83AC-44462513C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16117" y="3288302"/>
                <a:ext cx="857727" cy="663574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293F0825-56CA-47FF-8603-E4E39E152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0960" y="4253083"/>
                <a:ext cx="468313" cy="4318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FA551C22-DE3D-4BF9-9B00-8859DCE29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7986" y="3208812"/>
                <a:ext cx="468313" cy="4318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Rectangle 27">
                <a:extLst>
                  <a:ext uri="{FF2B5EF4-FFF2-40B4-BE49-F238E27FC236}">
                    <a16:creationId xmlns:a16="http://schemas.microsoft.com/office/drawing/2014/main" id="{174EF5CF-46F2-452D-9E4F-6EEE12C8E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1764" y="4327131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4">
                <a:extLst>
                  <a:ext uri="{FF2B5EF4-FFF2-40B4-BE49-F238E27FC236}">
                    <a16:creationId xmlns:a16="http://schemas.microsoft.com/office/drawing/2014/main" id="{38AD8671-C0AA-45E8-806E-EA5C611B0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3608" y="3288303"/>
                <a:ext cx="806821" cy="1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9" name="Line 24">
                <a:extLst>
                  <a:ext uri="{FF2B5EF4-FFF2-40B4-BE49-F238E27FC236}">
                    <a16:creationId xmlns:a16="http://schemas.microsoft.com/office/drawing/2014/main" id="{6D45EC43-46D4-4BA9-B7F7-F2F56D30CB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4246" y="5069478"/>
                <a:ext cx="837830" cy="16871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7DA814A5-AE8B-43D8-897E-5F4942ED3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8163" y="2850323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latin typeface="Times New Roman" panose="02020603050405020304" pitchFamily="18" charset="0"/>
                  </a:rPr>
                  <a:t>a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Rectangle 6">
                <a:extLst>
                  <a:ext uri="{FF2B5EF4-FFF2-40B4-BE49-F238E27FC236}">
                    <a16:creationId xmlns:a16="http://schemas.microsoft.com/office/drawing/2014/main" id="{D7949804-918B-4355-9895-8FC806409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085" y="4583702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latin typeface="Times New Roman" panose="02020603050405020304" pitchFamily="18" charset="0"/>
                  </a:rPr>
                  <a:t>b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Oval 18">
                <a:extLst>
                  <a:ext uri="{FF2B5EF4-FFF2-40B4-BE49-F238E27FC236}">
                    <a16:creationId xmlns:a16="http://schemas.microsoft.com/office/drawing/2014/main" id="{6CD0E9CB-4129-4078-B8AB-636B1AB5B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0308" y="3936001"/>
                <a:ext cx="577850" cy="536575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zh-CN" altLang="zh-CN" sz="21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Oval 19">
                <a:extLst>
                  <a:ext uri="{FF2B5EF4-FFF2-40B4-BE49-F238E27FC236}">
                    <a16:creationId xmlns:a16="http://schemas.microsoft.com/office/drawing/2014/main" id="{EFF61F68-055A-4707-968D-234FB5399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9637" y="3937588"/>
                <a:ext cx="576263" cy="534988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zh-CN" altLang="zh-CN" sz="75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24">
                <a:extLst>
                  <a:ext uri="{FF2B5EF4-FFF2-40B4-BE49-F238E27FC236}">
                    <a16:creationId xmlns:a16="http://schemas.microsoft.com/office/drawing/2014/main" id="{43F2E0F0-A08A-44A8-84ED-87CCF6C26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14983" y="4204288"/>
                <a:ext cx="822409" cy="6939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EB30AFF4-56B1-47C9-8816-941DF626B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3998" y="3770900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b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4">
                <a:extLst>
                  <a:ext uri="{FF2B5EF4-FFF2-40B4-BE49-F238E27FC236}">
                    <a16:creationId xmlns:a16="http://schemas.microsoft.com/office/drawing/2014/main" id="{8BAB144B-A707-4DE6-ADFA-587A15A9D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82324" y="4204288"/>
                <a:ext cx="643947" cy="6939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7" name="Rectangle 6">
                <a:extLst>
                  <a:ext uri="{FF2B5EF4-FFF2-40B4-BE49-F238E27FC236}">
                    <a16:creationId xmlns:a16="http://schemas.microsoft.com/office/drawing/2014/main" id="{E5C8DEF2-ABD9-4789-A02C-574A73788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86914" y="3770900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3565B56-D464-4DB1-B77F-EECA256FD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4896" y="3481542"/>
                <a:ext cx="1494498" cy="391754"/>
              </a:xfrm>
              <a:custGeom>
                <a:avLst/>
                <a:gdLst>
                  <a:gd name="T0" fmla="*/ 544 w 1517"/>
                  <a:gd name="T1" fmla="*/ 88 h 562"/>
                  <a:gd name="T2" fmla="*/ 544 w 1517"/>
                  <a:gd name="T3" fmla="*/ 41 h 562"/>
                  <a:gd name="T4" fmla="*/ 450 w 1517"/>
                  <a:gd name="T5" fmla="*/ 6 h 562"/>
                  <a:gd name="T6" fmla="*/ 134 w 1517"/>
                  <a:gd name="T7" fmla="*/ 6 h 562"/>
                  <a:gd name="T8" fmla="*/ 18 w 1517"/>
                  <a:gd name="T9" fmla="*/ 36 h 562"/>
                  <a:gd name="T10" fmla="*/ 24 w 1517"/>
                  <a:gd name="T11" fmla="*/ 88 h 5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17"/>
                  <a:gd name="T19" fmla="*/ 0 h 562"/>
                  <a:gd name="T20" fmla="*/ 1517 w 1517"/>
                  <a:gd name="T21" fmla="*/ 562 h 5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17" h="562">
                    <a:moveTo>
                      <a:pt x="1475" y="562"/>
                    </a:moveTo>
                    <a:cubicBezTo>
                      <a:pt x="1475" y="512"/>
                      <a:pt x="1517" y="349"/>
                      <a:pt x="1475" y="262"/>
                    </a:cubicBezTo>
                    <a:cubicBezTo>
                      <a:pt x="1433" y="175"/>
                      <a:pt x="1405" y="74"/>
                      <a:pt x="1220" y="37"/>
                    </a:cubicBezTo>
                    <a:cubicBezTo>
                      <a:pt x="1035" y="0"/>
                      <a:pt x="560" y="4"/>
                      <a:pt x="365" y="37"/>
                    </a:cubicBezTo>
                    <a:cubicBezTo>
                      <a:pt x="170" y="70"/>
                      <a:pt x="100" y="144"/>
                      <a:pt x="50" y="232"/>
                    </a:cubicBezTo>
                    <a:cubicBezTo>
                      <a:pt x="0" y="320"/>
                      <a:pt x="62" y="493"/>
                      <a:pt x="65" y="562"/>
                    </a:cubicBezTo>
                  </a:path>
                </a:pathLst>
              </a:custGeom>
              <a:grp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9" name="Rectangle 6">
                <a:extLst>
                  <a:ext uri="{FF2B5EF4-FFF2-40B4-BE49-F238E27FC236}">
                    <a16:creationId xmlns:a16="http://schemas.microsoft.com/office/drawing/2014/main" id="{33C731C6-45CE-4058-8B5E-7ACED2F90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7988" y="3048154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Oval 19">
                <a:extLst>
                  <a:ext uri="{FF2B5EF4-FFF2-40B4-BE49-F238E27FC236}">
                    <a16:creationId xmlns:a16="http://schemas.microsoft.com/office/drawing/2014/main" id="{8D48BDC0-923C-4D72-A99B-843F17FC4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6936" y="3937588"/>
                <a:ext cx="576263" cy="534988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zh-CN" altLang="zh-CN" sz="75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A4FE2D5F-FAD8-4C99-8011-3EF6C7EE8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84657" y="4204288"/>
                <a:ext cx="822409" cy="6939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2" name="Rectangle 6">
                <a:extLst>
                  <a:ext uri="{FF2B5EF4-FFF2-40B4-BE49-F238E27FC236}">
                    <a16:creationId xmlns:a16="http://schemas.microsoft.com/office/drawing/2014/main" id="{7E31CBA3-E4DA-40F8-A700-6347E63D2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9852" y="3719307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18">
                <a:extLst>
                  <a:ext uri="{FF2B5EF4-FFF2-40B4-BE49-F238E27FC236}">
                    <a16:creationId xmlns:a16="http://schemas.microsoft.com/office/drawing/2014/main" id="{11ADCB27-FBC0-4D39-907F-A689C3667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7701" y="4577055"/>
                <a:ext cx="4259741" cy="958850"/>
              </a:xfrm>
              <a:custGeom>
                <a:avLst/>
                <a:gdLst>
                  <a:gd name="T0" fmla="*/ 0 w 3840"/>
                  <a:gd name="T1" fmla="*/ 0 h 697"/>
                  <a:gd name="T2" fmla="*/ 193 w 3840"/>
                  <a:gd name="T3" fmla="*/ 61 h 697"/>
                  <a:gd name="T4" fmla="*/ 368 w 3840"/>
                  <a:gd name="T5" fmla="*/ 89 h 697"/>
                  <a:gd name="T6" fmla="*/ 706 w 3840"/>
                  <a:gd name="T7" fmla="*/ 108 h 697"/>
                  <a:gd name="T8" fmla="*/ 1035 w 3840"/>
                  <a:gd name="T9" fmla="*/ 94 h 697"/>
                  <a:gd name="T10" fmla="*/ 1217 w 3840"/>
                  <a:gd name="T11" fmla="*/ 68 h 697"/>
                  <a:gd name="T12" fmla="*/ 1410 w 3840"/>
                  <a:gd name="T13" fmla="*/ 3 h 6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40"/>
                  <a:gd name="T22" fmla="*/ 0 h 697"/>
                  <a:gd name="T23" fmla="*/ 3840 w 3840"/>
                  <a:gd name="T24" fmla="*/ 697 h 6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40" h="697">
                    <a:moveTo>
                      <a:pt x="0" y="0"/>
                    </a:moveTo>
                    <a:cubicBezTo>
                      <a:pt x="186" y="150"/>
                      <a:pt x="357" y="295"/>
                      <a:pt x="525" y="390"/>
                    </a:cubicBezTo>
                    <a:cubicBezTo>
                      <a:pt x="693" y="485"/>
                      <a:pt x="772" y="521"/>
                      <a:pt x="1005" y="571"/>
                    </a:cubicBezTo>
                    <a:cubicBezTo>
                      <a:pt x="1238" y="621"/>
                      <a:pt x="1620" y="687"/>
                      <a:pt x="1923" y="692"/>
                    </a:cubicBezTo>
                    <a:cubicBezTo>
                      <a:pt x="2226" y="697"/>
                      <a:pt x="2591" y="644"/>
                      <a:pt x="2823" y="602"/>
                    </a:cubicBezTo>
                    <a:cubicBezTo>
                      <a:pt x="3055" y="560"/>
                      <a:pt x="3148" y="535"/>
                      <a:pt x="3318" y="437"/>
                    </a:cubicBezTo>
                    <a:cubicBezTo>
                      <a:pt x="3488" y="339"/>
                      <a:pt x="3732" y="104"/>
                      <a:pt x="3840" y="16"/>
                    </a:cubicBezTo>
                  </a:path>
                </a:pathLst>
              </a:custGeom>
              <a:grp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4" name="Rectangle 6">
                <a:extLst>
                  <a:ext uri="{FF2B5EF4-FFF2-40B4-BE49-F238E27FC236}">
                    <a16:creationId xmlns:a16="http://schemas.microsoft.com/office/drawing/2014/main" id="{86F6B64B-90BB-48D9-9A24-DAD14D5C6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3414" y="5068684"/>
                <a:ext cx="468313" cy="433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Oval 19">
                <a:extLst>
                  <a:ext uri="{FF2B5EF4-FFF2-40B4-BE49-F238E27FC236}">
                    <a16:creationId xmlns:a16="http://schemas.microsoft.com/office/drawing/2014/main" id="{46822220-3B12-4E2C-A1B7-1154B86A7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91825" y="3871947"/>
                <a:ext cx="715963" cy="664682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54000" tIns="216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24">
                <a:extLst>
                  <a:ext uri="{FF2B5EF4-FFF2-40B4-BE49-F238E27FC236}">
                    <a16:creationId xmlns:a16="http://schemas.microsoft.com/office/drawing/2014/main" id="{B73731A1-0A92-4A1C-B0D8-E9D2EF0C54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3262" y="3378788"/>
                <a:ext cx="769565" cy="534987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Line 23">
                <a:extLst>
                  <a:ext uri="{FF2B5EF4-FFF2-40B4-BE49-F238E27FC236}">
                    <a16:creationId xmlns:a16="http://schemas.microsoft.com/office/drawing/2014/main" id="{D618D817-3721-431D-9091-5F1232B2B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55438" y="4472576"/>
                <a:ext cx="715963" cy="534985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" name="Line 22">
                <a:extLst>
                  <a:ext uri="{FF2B5EF4-FFF2-40B4-BE49-F238E27FC236}">
                    <a16:creationId xmlns:a16="http://schemas.microsoft.com/office/drawing/2014/main" id="{F3C013C8-C578-4659-9E83-7D01E6905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6118" y="4343993"/>
                <a:ext cx="837090" cy="66357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F1D64D-2AC7-9AE8-3CC1-EA1BF32D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4D2F5-524F-4FFB-937C-5D4FA220C160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9BC2DB-11C9-C735-36AF-0D2F8110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819475CC-F577-4665-F9A9-653498A2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17" name="图片 16" descr="图标&#10;&#10;描述已自动生成">
            <a:extLst>
              <a:ext uri="{FF2B5EF4-FFF2-40B4-BE49-F238E27FC236}">
                <a16:creationId xmlns:a16="http://schemas.microsoft.com/office/drawing/2014/main" id="{170BA8BC-FC92-3769-6CB2-0AA02611B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792844F-ED08-41D8-B778-5CF3664A6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本次课内容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7C29E4E-C5D1-47E7-B133-FDBD7FCFCE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6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4000" dirty="0"/>
              <a:t>2.3 </a:t>
            </a:r>
            <a:r>
              <a:rPr lang="zh-CN" altLang="en-US" sz="4000" dirty="0"/>
              <a:t>有限自动机</a:t>
            </a:r>
            <a:endParaRPr lang="en-US" altLang="zh-CN" sz="4000" dirty="0"/>
          </a:p>
          <a:p>
            <a:pPr lvl="1">
              <a:lnSpc>
                <a:spcPct val="110000"/>
              </a:lnSpc>
            </a:pPr>
            <a:r>
              <a:rPr lang="en-US" altLang="zh-CN" sz="3600" dirty="0"/>
              <a:t>2.3.3 NFA</a:t>
            </a:r>
            <a:r>
              <a:rPr lang="zh-CN" altLang="en-US" sz="3600" dirty="0"/>
              <a:t>到</a:t>
            </a:r>
            <a:r>
              <a:rPr lang="en-US" altLang="zh-CN" sz="3600" dirty="0"/>
              <a:t>DFA</a:t>
            </a:r>
            <a:r>
              <a:rPr lang="zh-CN" altLang="en-US" sz="3600" dirty="0"/>
              <a:t>的变换（子集构造算法）（续）</a:t>
            </a:r>
            <a:endParaRPr lang="en-US" altLang="zh-CN" sz="3600" dirty="0"/>
          </a:p>
          <a:p>
            <a:pPr lvl="1">
              <a:lnSpc>
                <a:spcPct val="110000"/>
              </a:lnSpc>
            </a:pPr>
            <a:r>
              <a:rPr lang="en-US" altLang="zh-CN" sz="3600" dirty="0"/>
              <a:t>2.3.4 DFA</a:t>
            </a:r>
            <a:r>
              <a:rPr lang="zh-CN" altLang="en-US" sz="3600" dirty="0"/>
              <a:t>的化简</a:t>
            </a:r>
            <a:endParaRPr lang="en-US" altLang="zh-CN" sz="3600" dirty="0"/>
          </a:p>
          <a:p>
            <a:pPr lvl="1">
              <a:lnSpc>
                <a:spcPct val="110000"/>
              </a:lnSpc>
            </a:pPr>
            <a:r>
              <a:rPr lang="zh-CN" altLang="en-US" sz="3600" dirty="0"/>
              <a:t>补充：从</a:t>
            </a:r>
            <a:r>
              <a:rPr lang="en-US" altLang="zh-CN" sz="3600" dirty="0"/>
              <a:t>DFA</a:t>
            </a:r>
            <a:r>
              <a:rPr lang="zh-CN" altLang="en-US" sz="3600" dirty="0"/>
              <a:t>构造语言识别器</a:t>
            </a:r>
            <a:endParaRPr lang="en-US" altLang="zh-CN" sz="36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2351FD-F334-D5B0-0C89-AC8B31D1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79DC7-10C2-44D8-A751-976BAC1802F1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59A60F-8AF8-5048-D593-706793EB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9D73FE-F6F2-4ECD-665B-280C49A4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0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70A2E11-D20F-4B19-8D21-3F80F2FC0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7B9F15FE-FD01-4471-90B9-162E6F6940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97000" y="2406946"/>
            <a:ext cx="6750000" cy="2700000"/>
            <a:chOff x="1344" y="1728"/>
            <a:chExt cx="3360" cy="1344"/>
          </a:xfrm>
        </p:grpSpPr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B7A335AB-94BE-476A-92A1-5686A6CF2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728"/>
              <a:ext cx="960" cy="33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正规式</a:t>
              </a:r>
            </a:p>
          </p:txBody>
        </p:sp>
        <p:sp>
          <p:nvSpPr>
            <p:cNvPr id="11270" name="Rectangle 6">
              <a:extLst>
                <a:ext uri="{FF2B5EF4-FFF2-40B4-BE49-F238E27FC236}">
                  <a16:creationId xmlns:a16="http://schemas.microsoft.com/office/drawing/2014/main" id="{50A022F8-FEE9-42FF-97E4-4E3A6A029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016"/>
              <a:ext cx="960" cy="336"/>
            </a:xfrm>
            <a:prstGeom prst="rect">
              <a:avLst/>
            </a:prstGeom>
            <a:solidFill>
              <a:schemeClr val="accent2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NFA</a:t>
              </a:r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2FCA3D06-4E36-47D7-B151-C47A9A056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960" cy="336"/>
            </a:xfrm>
            <a:prstGeom prst="rect">
              <a:avLst/>
            </a:prstGeom>
            <a:solidFill>
              <a:schemeClr val="accent2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3962F967-D1FA-415D-8491-162EF4B8D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496"/>
              <a:ext cx="960" cy="33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最简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F8E83D73-B072-47BA-BAD7-AA7B10992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960" cy="33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识别器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ABFAFB-E9DB-854E-02D0-CD670B1D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E37B-DB44-4A82-94CD-367DF0CF88FA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5576E9-E903-5E04-F9A9-EDDB1ABF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78A96A-E472-2490-7A03-BC463E5B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636CC28-A773-4840-A737-2D13B28B8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A6EDEEB-6331-435C-9098-613862CFC8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/>
              <a:t>子集构造法中对</a:t>
            </a:r>
            <a:r>
              <a:rPr lang="en-US" altLang="zh-CN" sz="3200" dirty="0"/>
              <a:t>NFA</a:t>
            </a:r>
            <a:r>
              <a:rPr lang="zh-CN" altLang="en-US" sz="3200" dirty="0"/>
              <a:t>状态的运算（其中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,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t</a:t>
            </a:r>
            <a:r>
              <a:rPr lang="zh-CN" altLang="en-US" sz="3200" dirty="0"/>
              <a:t>代表</a:t>
            </a:r>
            <a:r>
              <a:rPr lang="zh-CN" altLang="en-US" sz="3200" dirty="0">
                <a:solidFill>
                  <a:schemeClr val="accent2"/>
                </a:solidFill>
              </a:rPr>
              <a:t>单个状态</a:t>
            </a:r>
            <a:r>
              <a:rPr lang="zh-CN" altLang="en-US" sz="3200" dirty="0"/>
              <a:t>，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3200" dirty="0"/>
              <a:t>代表</a:t>
            </a:r>
            <a:r>
              <a:rPr lang="zh-CN" altLang="en-US" sz="3200" dirty="0">
                <a:solidFill>
                  <a:schemeClr val="accent2"/>
                </a:solidFill>
              </a:rPr>
              <a:t>状态集合</a:t>
            </a:r>
            <a:r>
              <a:rPr lang="zh-CN" altLang="en-US" sz="3200" dirty="0"/>
              <a:t>）：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396C732B-C1E9-48D2-BD40-BA213F763184}"/>
              </a:ext>
            </a:extLst>
          </p:cNvPr>
          <p:cNvGraphicFramePr>
            <a:graphicFrameLocks/>
          </p:cNvGraphicFramePr>
          <p:nvPr/>
        </p:nvGraphicFramePr>
        <p:xfrm>
          <a:off x="628650" y="2748130"/>
          <a:ext cx="7886700" cy="2488408"/>
        </p:xfrm>
        <a:graphic>
          <a:graphicData uri="http://schemas.openxmlformats.org/drawingml/2006/table">
            <a:tbl>
              <a:tblPr/>
              <a:tblGrid>
                <a:gridCol w="210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5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运算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描述</a:t>
                      </a:r>
                    </a:p>
                  </a:txBody>
                  <a:tcPr marL="68580" marR="68580" marT="34277" marB="34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-closure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(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从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NFA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的状态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出发，只用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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转换能达到的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NFA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状态集合。</a:t>
                      </a:r>
                    </a:p>
                  </a:txBody>
                  <a:tcPr marL="68580" marR="68580" marT="34277" marB="34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-closure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(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NFA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的状态集合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{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| 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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-closure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(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) &amp; 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</a:t>
                      </a: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}</a:t>
                      </a: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68580" marR="68580" marT="34277" marB="34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move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(</a:t>
                      </a: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</a:p>
                  </a:txBody>
                  <a:tcPr marL="68580" marR="68580" marT="34277" marB="342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NFA</a:t>
                      </a: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的状态集合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{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 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|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s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 </a:t>
                      </a: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move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(</a:t>
                      </a: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,</a:t>
                      </a: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)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 &amp; </a:t>
                      </a: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</a:t>
                      </a: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}</a:t>
                      </a:r>
                    </a:p>
                  </a:txBody>
                  <a:tcPr marL="68580" marR="68580" marT="34277" marB="34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F589F9-0D1F-B329-AA56-A2388142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2B43-5DF6-47B6-9456-6206BB3C210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6F80BC-8023-D782-49DC-5B506FC1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0C1D1-E1F1-5D5C-24FF-00C0F25E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A1466CF-A6B3-411A-8B79-FE726C0B7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5A04DF6-76E8-4BB6-BE3A-E57921DE92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2800" dirty="0"/>
              <a:t>子集构造法算法：</a:t>
            </a:r>
          </a:p>
          <a:p>
            <a:pPr lvl="1" eaLnBrk="1" hangingPunct="1"/>
            <a:r>
              <a:rPr lang="zh-CN" altLang="en-US" sz="2400" dirty="0"/>
              <a:t>输入：一个</a:t>
            </a:r>
            <a:r>
              <a:rPr lang="en-US" altLang="zh-CN" sz="2400" dirty="0"/>
              <a:t>NFA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</a:p>
          <a:p>
            <a:pPr lvl="1" eaLnBrk="1" hangingPunct="1"/>
            <a:r>
              <a:rPr lang="zh-CN" altLang="en-US" sz="2400" dirty="0"/>
              <a:t>输出：一个接受同样</a:t>
            </a:r>
            <a:endParaRPr lang="en-US" altLang="zh-CN" sz="2400" dirty="0"/>
          </a:p>
          <a:p>
            <a:pPr marL="457200" lvl="1" indent="0" eaLnBrk="1" hangingPunct="1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语言的</a:t>
            </a:r>
            <a:r>
              <a:rPr lang="en-US" altLang="zh-CN" sz="2400" dirty="0"/>
              <a:t>DFA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</a:rPr>
              <a:t>实际上是构造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的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342892" lvl="1" indent="0">
              <a:buNone/>
            </a:pP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状态集合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Dstates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342892" lvl="1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</a:rPr>
              <a:t>以及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转换表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Dtrans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02EDF2CC-423A-42B0-9A7B-F64F0478A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4858" y="1345028"/>
            <a:ext cx="4629150" cy="358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</a:rPr>
              <a:t>初始，</a:t>
            </a:r>
            <a:r>
              <a:rPr lang="zh-CN" altLang="en-US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是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仅有的状态，并且尚未标记；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while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有尚未标记的状态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标记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for (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每个输入符号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move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T,a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if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不在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中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endParaRPr lang="en-US" altLang="zh-CN" sz="1800" b="1" dirty="0">
              <a:solidFill>
                <a:srgbClr val="008000"/>
              </a:solidFill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把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作为尚未标记的状态加入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     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Dtrans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]=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}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14E950E3-0A5F-4DE9-90AD-3476A7BDD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858" y="1257300"/>
            <a:ext cx="4629150" cy="3757977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465836-7BDD-49A0-B51B-B640FE94DD79}"/>
              </a:ext>
            </a:extLst>
          </p:cNvPr>
          <p:cNvSpPr txBox="1"/>
          <p:nvPr/>
        </p:nvSpPr>
        <p:spPr>
          <a:xfrm>
            <a:off x="893136" y="4609456"/>
            <a:ext cx="3147236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b="1" i="1" dirty="0">
                <a:solidFill>
                  <a:schemeClr val="accent2"/>
                </a:solidFill>
              </a:rPr>
              <a:t>D</a:t>
            </a:r>
            <a:r>
              <a:rPr lang="zh-CN" altLang="en-US" sz="2800" dirty="0">
                <a:solidFill>
                  <a:schemeClr val="accent2"/>
                </a:solidFill>
              </a:rPr>
              <a:t>“并行”地模拟</a:t>
            </a:r>
            <a:r>
              <a:rPr lang="en-US" altLang="zh-CN" sz="2800" b="1" i="1" dirty="0">
                <a:solidFill>
                  <a:schemeClr val="accent2"/>
                </a:solidFill>
              </a:rPr>
              <a:t>N</a:t>
            </a:r>
            <a:r>
              <a:rPr lang="zh-CN" altLang="en-US" sz="2800" dirty="0">
                <a:solidFill>
                  <a:schemeClr val="accent2"/>
                </a:solidFill>
              </a:rPr>
              <a:t>面对输入串的所有可能的移动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9AFD05-A539-B3C2-7033-6807053E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A6D1-CC41-4BAF-8DDF-48A6415D94F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45D1C4-6755-4899-BCFE-9C1A90C5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19186F-4A1B-716A-2ED3-3F9A7645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7A6D323-0AAF-49B2-B02B-F9DD3C382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9539B00-7584-4C50-B993-46E11E53AF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计算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-closure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的算法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0B9F9BD6-991E-46BA-A55B-CC98700C8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2069907"/>
            <a:ext cx="4686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把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的所有状态压入栈；</a:t>
            </a:r>
            <a:endParaRPr lang="zh-CN" altLang="en-US" dirty="0">
              <a:solidFill>
                <a:srgbClr val="008000"/>
              </a:solidFill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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-closure</a:t>
            </a: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)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的初值置为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T</a:t>
            </a:r>
            <a:r>
              <a:rPr lang="zh-CN" altLang="en-US" dirty="0">
                <a:solidFill>
                  <a:srgbClr val="008000"/>
                </a:solidFill>
                <a:ea typeface="宋体" charset="-122"/>
                <a:sym typeface="Symbol" pitchFamily="18" charset="2"/>
              </a:rPr>
              <a:t>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while</a:t>
            </a:r>
            <a:r>
              <a:rPr lang="en-US" altLang="zh-CN" dirty="0">
                <a:solidFill>
                  <a:srgbClr val="008000"/>
                </a:solidFill>
                <a:ea typeface="宋体" charset="-122"/>
                <a:sym typeface="Symbol" pitchFamily="18" charset="2"/>
              </a:rPr>
              <a:t> (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栈非空</a:t>
            </a:r>
            <a:r>
              <a:rPr lang="en-US" altLang="zh-CN" dirty="0">
                <a:solidFill>
                  <a:srgbClr val="008000"/>
                </a:solidFill>
                <a:ea typeface="宋体" charset="-122"/>
                <a:sym typeface="Symbol" pitchFamily="18" charset="2"/>
              </a:rPr>
              <a:t>) </a:t>
            </a: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{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  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把栈顶元素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t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弹出栈；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for</a:t>
            </a:r>
            <a:r>
              <a:rPr lang="en-US" altLang="zh-CN" dirty="0">
                <a:solidFill>
                  <a:srgbClr val="008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满足从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到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u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存在标记为</a:t>
            </a:r>
            <a:r>
              <a:rPr lang="zh-CN" altLang="en-US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</a:t>
            </a:r>
            <a:r>
              <a:rPr lang="zh-CN" altLang="en-US" dirty="0">
                <a:solidFill>
                  <a:srgbClr val="008000"/>
                </a:solidFill>
                <a:latin typeface="+mn-ea"/>
                <a:cs typeface="Times New Roman" pitchFamily="18" charset="0"/>
                <a:sym typeface="Symbol" pitchFamily="18" charset="2"/>
              </a:rPr>
              <a:t>的边的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每个状态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u</a:t>
            </a:r>
            <a:r>
              <a:rPr lang="en-US" altLang="zh-CN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) </a:t>
            </a: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{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    if</a:t>
            </a:r>
            <a:r>
              <a:rPr lang="en-US" altLang="zh-CN" dirty="0">
                <a:solidFill>
                  <a:srgbClr val="008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u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不在</a:t>
            </a:r>
            <a:r>
              <a:rPr lang="zh-CN" altLang="en-US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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-closure</a:t>
            </a: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)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中</a:t>
            </a: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{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      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把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加入</a:t>
            </a:r>
            <a:r>
              <a:rPr lang="zh-CN" altLang="en-US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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-closure</a:t>
            </a: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T</a:t>
            </a: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把</a:t>
            </a:r>
            <a:r>
              <a:rPr lang="en-US" altLang="zh-CN" b="1" i="1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压入栈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8000"/>
                </a:solidFill>
                <a:ea typeface="宋体" charset="-122"/>
                <a:sym typeface="Symbol" pitchFamily="18" charset="2"/>
              </a:rPr>
              <a:t>       </a:t>
            </a: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}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  }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8000"/>
                </a:solidFill>
                <a:latin typeface="Courier New" pitchFamily="49" charset="0"/>
                <a:ea typeface="宋体" charset="-122"/>
                <a:sym typeface="Symbol" pitchFamily="18" charset="2"/>
              </a:rPr>
              <a:t>}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5CABE49-72F3-49E6-A5EA-9EB030E76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2081809"/>
            <a:ext cx="4629150" cy="4005816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DA800F-D435-7D9E-5A26-FACC1553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93E2-9149-48C9-89FD-C6800A949AC3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C8BB4D-D260-065E-5F85-0E7F65C1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D925B8-CFD4-07DD-597D-2DD37CB3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1FADAB-4DCE-3973-7E79-89EDA3D5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4FB6-A10C-409F-8721-7DF9CA1E7A26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A8CF61-3661-2CC5-43EB-04A32355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24859D-7AE5-E15F-CA8C-81021007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BC5AAB2-16F8-665D-8FD6-98802B2B3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54" y="6046806"/>
            <a:ext cx="88484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</a:rPr>
              <a:t>初始，</a:t>
            </a:r>
            <a:r>
              <a:rPr lang="zh-CN" altLang="en-US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是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仅有的状态，并且尚未标记；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6FE8988-E105-F305-3C89-81E94F6A1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54" y="5959078"/>
            <a:ext cx="8848491" cy="630677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31">
            <a:extLst>
              <a:ext uri="{FF2B5EF4-FFF2-40B4-BE49-F238E27FC236}">
                <a16:creationId xmlns:a16="http://schemas.microsoft.com/office/drawing/2014/main" id="{9416BEEA-1A1D-934B-FDF6-476BF77FC933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9" name="Oval 32">
              <a:extLst>
                <a:ext uri="{FF2B5EF4-FFF2-40B4-BE49-F238E27FC236}">
                  <a16:creationId xmlns:a16="http://schemas.microsoft.com/office/drawing/2014/main" id="{97B4B873-B652-7311-2324-A6B087097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10" name="Group 33">
              <a:extLst>
                <a:ext uri="{FF2B5EF4-FFF2-40B4-BE49-F238E27FC236}">
                  <a16:creationId xmlns:a16="http://schemas.microsoft.com/office/drawing/2014/main" id="{D57BE246-A914-E438-DC82-69B83E363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46" name="Oval 34">
                <a:extLst>
                  <a:ext uri="{FF2B5EF4-FFF2-40B4-BE49-F238E27FC236}">
                    <a16:creationId xmlns:a16="http://schemas.microsoft.com/office/drawing/2014/main" id="{3A7729F6-64F0-0B34-F74C-4C859FB58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Oval 35">
                <a:extLst>
                  <a:ext uri="{FF2B5EF4-FFF2-40B4-BE49-F238E27FC236}">
                    <a16:creationId xmlns:a16="http://schemas.microsoft.com/office/drawing/2014/main" id="{8A1F15F9-786F-1236-DEF7-D5792E418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B28FD96B-DC93-715C-01A3-291052EC5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5A436750-C884-CDA8-6555-F4AAF4346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38">
              <a:extLst>
                <a:ext uri="{FF2B5EF4-FFF2-40B4-BE49-F238E27FC236}">
                  <a16:creationId xmlns:a16="http://schemas.microsoft.com/office/drawing/2014/main" id="{2724D79A-BDFE-6C50-BC36-917D55BEA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" name="Rectangle 39">
              <a:extLst>
                <a:ext uri="{FF2B5EF4-FFF2-40B4-BE49-F238E27FC236}">
                  <a16:creationId xmlns:a16="http://schemas.microsoft.com/office/drawing/2014/main" id="{13AF6CB5-51B1-0B1A-443C-7907AC808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" name="Rectangle 40">
              <a:extLst>
                <a:ext uri="{FF2B5EF4-FFF2-40B4-BE49-F238E27FC236}">
                  <a16:creationId xmlns:a16="http://schemas.microsoft.com/office/drawing/2014/main" id="{7055E006-BF10-E92B-1B49-6354C2CA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219CD10E-662F-A68D-057C-2EF46536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B94022AB-A9E4-A2AF-D08E-D2F5D2E5D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" name="Rectangle 43">
              <a:extLst>
                <a:ext uri="{FF2B5EF4-FFF2-40B4-BE49-F238E27FC236}">
                  <a16:creationId xmlns:a16="http://schemas.microsoft.com/office/drawing/2014/main" id="{611635FF-CE3A-A46B-9BDA-1951D59FB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9" name="Line 44">
              <a:extLst>
                <a:ext uri="{FF2B5EF4-FFF2-40B4-BE49-F238E27FC236}">
                  <a16:creationId xmlns:a16="http://schemas.microsoft.com/office/drawing/2014/main" id="{857EF265-C35D-7019-425E-9FD435BDED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Line 45">
              <a:extLst>
                <a:ext uri="{FF2B5EF4-FFF2-40B4-BE49-F238E27FC236}">
                  <a16:creationId xmlns:a16="http://schemas.microsoft.com/office/drawing/2014/main" id="{E05A91AF-E04A-1C67-0384-246ADE59F1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Oval 46">
              <a:extLst>
                <a:ext uri="{FF2B5EF4-FFF2-40B4-BE49-F238E27FC236}">
                  <a16:creationId xmlns:a16="http://schemas.microsoft.com/office/drawing/2014/main" id="{C0C866EE-B641-415B-02EA-72019403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" name="Oval 47">
              <a:extLst>
                <a:ext uri="{FF2B5EF4-FFF2-40B4-BE49-F238E27FC236}">
                  <a16:creationId xmlns:a16="http://schemas.microsoft.com/office/drawing/2014/main" id="{3C994220-5D01-93D9-FA2D-24E50D23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3" name="Oval 48">
              <a:extLst>
                <a:ext uri="{FF2B5EF4-FFF2-40B4-BE49-F238E27FC236}">
                  <a16:creationId xmlns:a16="http://schemas.microsoft.com/office/drawing/2014/main" id="{92FA4563-AEDC-2EA4-85A9-E03FB409D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4" name="Line 49">
              <a:extLst>
                <a:ext uri="{FF2B5EF4-FFF2-40B4-BE49-F238E27FC236}">
                  <a16:creationId xmlns:a16="http://schemas.microsoft.com/office/drawing/2014/main" id="{117F6BD3-22CE-381C-6E9B-772E76F62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Line 50">
              <a:extLst>
                <a:ext uri="{FF2B5EF4-FFF2-40B4-BE49-F238E27FC236}">
                  <a16:creationId xmlns:a16="http://schemas.microsoft.com/office/drawing/2014/main" id="{48DE6661-54DB-CDA6-FC0C-9975754AE7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Line 51">
              <a:extLst>
                <a:ext uri="{FF2B5EF4-FFF2-40B4-BE49-F238E27FC236}">
                  <a16:creationId xmlns:a16="http://schemas.microsoft.com/office/drawing/2014/main" id="{A8ABFFA1-99D6-14D0-B5F3-285A4C6A0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Oval 52">
              <a:extLst>
                <a:ext uri="{FF2B5EF4-FFF2-40B4-BE49-F238E27FC236}">
                  <a16:creationId xmlns:a16="http://schemas.microsoft.com/office/drawing/2014/main" id="{9FBF6DA2-263A-5A3F-05EE-A59BB0D41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8" name="Oval 53">
              <a:extLst>
                <a:ext uri="{FF2B5EF4-FFF2-40B4-BE49-F238E27FC236}">
                  <a16:creationId xmlns:a16="http://schemas.microsoft.com/office/drawing/2014/main" id="{63C6943B-59FD-ED31-8B6C-78F00B4D3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9" name="Oval 54">
              <a:extLst>
                <a:ext uri="{FF2B5EF4-FFF2-40B4-BE49-F238E27FC236}">
                  <a16:creationId xmlns:a16="http://schemas.microsoft.com/office/drawing/2014/main" id="{B56506A2-90A2-DBFA-2F6C-DC6F1469F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0" name="Oval 55">
              <a:extLst>
                <a:ext uri="{FF2B5EF4-FFF2-40B4-BE49-F238E27FC236}">
                  <a16:creationId xmlns:a16="http://schemas.microsoft.com/office/drawing/2014/main" id="{355B3D01-A331-9D3A-F0E8-0F35D1AAD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1" name="Line 56">
              <a:extLst>
                <a:ext uri="{FF2B5EF4-FFF2-40B4-BE49-F238E27FC236}">
                  <a16:creationId xmlns:a16="http://schemas.microsoft.com/office/drawing/2014/main" id="{DBB33488-0680-50D3-0A95-5C4FDF416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2" name="Line 57">
              <a:extLst>
                <a:ext uri="{FF2B5EF4-FFF2-40B4-BE49-F238E27FC236}">
                  <a16:creationId xmlns:a16="http://schemas.microsoft.com/office/drawing/2014/main" id="{CD27FECE-CCCC-E8D3-288C-3032A7695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3" name="Line 58">
              <a:extLst>
                <a:ext uri="{FF2B5EF4-FFF2-40B4-BE49-F238E27FC236}">
                  <a16:creationId xmlns:a16="http://schemas.microsoft.com/office/drawing/2014/main" id="{41F2B8AB-97CB-8E02-2E79-D93782478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4" name="Line 59">
              <a:extLst>
                <a:ext uri="{FF2B5EF4-FFF2-40B4-BE49-F238E27FC236}">
                  <a16:creationId xmlns:a16="http://schemas.microsoft.com/office/drawing/2014/main" id="{D8B952DD-57D5-9F5A-47E8-136B1BFD7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5" name="Line 60">
              <a:extLst>
                <a:ext uri="{FF2B5EF4-FFF2-40B4-BE49-F238E27FC236}">
                  <a16:creationId xmlns:a16="http://schemas.microsoft.com/office/drawing/2014/main" id="{74EB9E9E-A744-FFE9-7C3C-70E1589BB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6" name="Line 61">
              <a:extLst>
                <a:ext uri="{FF2B5EF4-FFF2-40B4-BE49-F238E27FC236}">
                  <a16:creationId xmlns:a16="http://schemas.microsoft.com/office/drawing/2014/main" id="{4B826AA0-4C09-DB21-4F8D-EAF71E4F0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7" name="Rectangle 62">
              <a:extLst>
                <a:ext uri="{FF2B5EF4-FFF2-40B4-BE49-F238E27FC236}">
                  <a16:creationId xmlns:a16="http://schemas.microsoft.com/office/drawing/2014/main" id="{E817D682-C9F0-FAD1-7522-14E56C408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Rectangle 63">
              <a:extLst>
                <a:ext uri="{FF2B5EF4-FFF2-40B4-BE49-F238E27FC236}">
                  <a16:creationId xmlns:a16="http://schemas.microsoft.com/office/drawing/2014/main" id="{C170CDE8-2D89-BFFB-FDE9-E142CCD9A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64">
              <a:extLst>
                <a:ext uri="{FF2B5EF4-FFF2-40B4-BE49-F238E27FC236}">
                  <a16:creationId xmlns:a16="http://schemas.microsoft.com/office/drawing/2014/main" id="{808E352B-9151-5350-D1D9-FC42C49A6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Freeform 65">
              <a:extLst>
                <a:ext uri="{FF2B5EF4-FFF2-40B4-BE49-F238E27FC236}">
                  <a16:creationId xmlns:a16="http://schemas.microsoft.com/office/drawing/2014/main" id="{D8D047C0-65FF-3314-2B32-096843562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Freeform 66">
              <a:extLst>
                <a:ext uri="{FF2B5EF4-FFF2-40B4-BE49-F238E27FC236}">
                  <a16:creationId xmlns:a16="http://schemas.microsoft.com/office/drawing/2014/main" id="{8121E222-6916-C2B3-BBBA-8F637697D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" name="Rectangle 67">
              <a:extLst>
                <a:ext uri="{FF2B5EF4-FFF2-40B4-BE49-F238E27FC236}">
                  <a16:creationId xmlns:a16="http://schemas.microsoft.com/office/drawing/2014/main" id="{CE75C115-C732-80DC-0648-49B9639A8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68">
              <a:extLst>
                <a:ext uri="{FF2B5EF4-FFF2-40B4-BE49-F238E27FC236}">
                  <a16:creationId xmlns:a16="http://schemas.microsoft.com/office/drawing/2014/main" id="{D9F3E61F-0B00-5365-3714-0979EB13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Rectangle 69">
              <a:extLst>
                <a:ext uri="{FF2B5EF4-FFF2-40B4-BE49-F238E27FC236}">
                  <a16:creationId xmlns:a16="http://schemas.microsoft.com/office/drawing/2014/main" id="{E7361BA2-CBB3-5202-A404-1F05C757C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8" name="Text Box 70">
            <a:extLst>
              <a:ext uri="{FF2B5EF4-FFF2-40B4-BE49-F238E27FC236}">
                <a16:creationId xmlns:a16="http://schemas.microsoft.com/office/drawing/2014/main" id="{F2F85DB1-DB29-00BA-3C45-5A9842AB1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346080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{0, 1, 2, 4, 7}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CB11D0-2E56-4F55-13EB-8B252360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1D62-A1FA-48A2-9B3B-4A7480434B1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1F393-9B82-0620-21B4-6F48E5E2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097D3C-2897-4E8E-DEE4-E4D712F3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4CFED9A-F14E-5068-D449-27F589ED9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54" y="5838921"/>
            <a:ext cx="8848491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</a:rPr>
              <a:t>初始，</a:t>
            </a:r>
            <a:r>
              <a:rPr lang="zh-CN" altLang="en-US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是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仅有的状态，并且尚未标记；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while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有尚未标记的状态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标记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5CF03C-C08D-8B83-C16F-409E0128E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54" y="5793582"/>
            <a:ext cx="8848491" cy="1053618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668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({3,8})</a:t>
            </a:r>
            <a:endParaRPr lang="en-US" altLang="zh-CN" sz="2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925BE2-6968-2F33-94DD-BF5F7572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36C42-D1DA-49F0-98D8-97877531A319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ECF3E2-65E0-82B5-6C9F-2BED8C4C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EE7F19-B942-94F0-106F-CE384D11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F36DD77-4DF6-7236-997E-B2675F356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54" y="5823871"/>
            <a:ext cx="8848491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for (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每个输入符号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move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T,a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if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不在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中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把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作为尚未标记的状态加入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                       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Dtrans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]=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  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zh-CN" altLang="en-US" sz="1800" dirty="0">
              <a:solidFill>
                <a:srgbClr val="008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8C26DFA-C879-0810-CC53-39766ADD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54" y="5793582"/>
            <a:ext cx="8848491" cy="1053618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270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10E2E7-F118-884C-FA6B-8C39E170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3BEC9-65DA-4BCB-9678-09E387BB9D40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A13290-4CD0-B92F-7D57-A0E6598E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7EA90A-516A-277F-F7B6-9FE3CA36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441C1AD-8692-14D1-1E85-76F1DFBBB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54" y="5838921"/>
            <a:ext cx="8848491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for (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每个输入符号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move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T,a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if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不在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中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把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作为尚未标记的状态加入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                       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Dtrans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]=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  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zh-CN" altLang="en-US" sz="1800" dirty="0">
              <a:solidFill>
                <a:srgbClr val="008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BAE1BD2-CA33-F97B-EEE6-1AE2E054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54" y="5793582"/>
            <a:ext cx="8848491" cy="1053618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396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({5})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{1, 2, 4, 5, 6, 7}</a:t>
            </a:r>
            <a:endParaRPr lang="en-US" altLang="zh-CN" sz="2100" b="1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F6C2AE-20C6-8A26-BF5D-3AE99BDC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1B56B-5CAE-4298-8A6F-44BF466A3DE4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9C9682-C2B9-F2EB-840F-47A1EC1B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21A64C-5AD9-D1E8-6DDE-736CE9D0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CFC9A74-1A5E-38E3-C6B9-384210AAB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54" y="5838921"/>
            <a:ext cx="8848491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for (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每个输入符号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move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T,a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if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不在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中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把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作为尚未标记的状态加入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8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                       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Dtrans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]=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  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zh-CN" altLang="en-US" sz="1800" dirty="0">
              <a:solidFill>
                <a:srgbClr val="008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CC82401-E161-5CF1-6DFA-EF6C74E2B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54" y="5793582"/>
            <a:ext cx="8848491" cy="1053618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637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7}</a:t>
            </a:r>
            <a:endParaRPr lang="en-US" altLang="zh-CN" sz="2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9352E7-9764-50CC-C22D-4946FCAC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8826-1CED-4E9C-95C8-9AF67777CD8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C27384-293B-7D8D-E948-AD5B22BE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C681F6-0FFC-AACF-39AD-CDEF977D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F906CF7-59CD-1D90-FB02-8BB999033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54" y="5838921"/>
            <a:ext cx="8848491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while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1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Dstates</a:t>
            </a:r>
            <a:r>
              <a:rPr lang="zh-CN" altLang="en-US" sz="1800" dirty="0">
                <a:solidFill>
                  <a:srgbClr val="008000"/>
                </a:solidFill>
                <a:sym typeface="Symbol" panose="05050102010706020507" pitchFamily="18" charset="2"/>
              </a:rPr>
              <a:t>有尚未标记的状态</a:t>
            </a:r>
            <a:r>
              <a:rPr lang="en-US" altLang="zh-CN" sz="1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800" b="1" dirty="0">
                <a:solidFill>
                  <a:srgbClr val="008000"/>
                </a:solidFill>
                <a:latin typeface="黑体" panose="02010609060101010101" pitchFamily="49" charset="-122"/>
                <a:ea typeface="宋体" panose="02010600030101010101" pitchFamily="2" charset="-122"/>
                <a:sym typeface="Symbol" panose="05050102010706020507" pitchFamily="18" charset="2"/>
              </a:rPr>
              <a:t>……</a:t>
            </a:r>
            <a:r>
              <a:rPr lang="zh-CN" altLang="en-US" sz="1800" b="1" dirty="0">
                <a:solidFill>
                  <a:srgbClr val="008000"/>
                </a:solidFill>
                <a:latin typeface="黑体" panose="02010609060101010101" pitchFamily="49" charset="-122"/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1800" b="1" dirty="0">
                <a:solidFill>
                  <a:srgbClr val="008000"/>
                </a:solidFill>
                <a:latin typeface="黑体" panose="02010609060101010101" pitchFamily="49" charset="-122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FC1FBC7-6126-5885-AD54-DC5126D98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54" y="5793582"/>
            <a:ext cx="8848491" cy="1053618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2360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7}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({3,8})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2100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96FDEF-F08C-F8EE-B224-0C6FEAF2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8AB6-8602-45C7-BC78-D754883F1581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47BBAA-F2EE-5A78-F56B-BEB3FADE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B22C20-B4B2-F8CA-A183-193D1D52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58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7}</a:t>
            </a:r>
            <a:endParaRPr lang="en-US" altLang="zh-CN" sz="2100" b="1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 =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({5,9})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=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{1, 2, 4, 5, 6, 7, 9}</a:t>
            </a: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5B053A-B245-6778-AE4D-0E5B0408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7973-0B29-445B-9CD5-CC05C512AD2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9BED3B-C4D4-6DE8-4AE7-6A955768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FE39B8-D026-42A5-7D32-15EDEFBE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629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7}</a:t>
            </a:r>
            <a:endParaRPr lang="en-US" altLang="zh-CN" sz="2100" b="1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7, 9}</a:t>
            </a: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4E2F5C-562A-D841-48C8-0A1BF782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53B4F-6760-4059-897D-33E872F177E9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F3AB27-F9D5-564A-B6E9-5309CD08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DFE68A-DD16-BAC3-8524-6CA502E2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149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     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7}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7, 9}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)=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1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)=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3DEA5B-08E1-F00B-AF0F-B89ECF64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59E65-DE3A-4713-B3F7-A24D722CCEC4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C362DE-194E-61B3-055F-4970FBE1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0233D7-E403-F177-A80C-EEFE191D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213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ADB97-95AC-4A9F-B0C8-551A7A6A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{0, 1, 2, 4, 7}     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3, 4, 6, 7, 8}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7}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D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{1, 2, 4, 5, 6, 7, 9}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)=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1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-closure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move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1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)=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F5EBAA-2A86-65A3-94A7-85C83755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47E7-E853-4CB6-B0CB-87C435AEA19A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4F1126-3CFB-4DA6-06D5-21C6E080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421A04-9FEE-4AA3-F9B7-C45F1A62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9C826786-1AC4-4839-A84A-A6A073DB0B5B}"/>
              </a:ext>
            </a:extLst>
          </p:cNvPr>
          <p:cNvGraphicFramePr>
            <a:graphicFrameLocks/>
          </p:cNvGraphicFramePr>
          <p:nvPr/>
        </p:nvGraphicFramePr>
        <p:xfrm>
          <a:off x="6248579" y="1612180"/>
          <a:ext cx="2144316" cy="2234850"/>
        </p:xfrm>
        <a:graphic>
          <a:graphicData uri="http://schemas.openxmlformats.org/drawingml/2006/table">
            <a:tbl>
              <a:tblPr/>
              <a:tblGrid>
                <a:gridCol w="72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18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40500" marR="40500" marT="21572" marB="2157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0500" marR="40500" marT="21572" marB="215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A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D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B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</a:t>
                      </a:r>
                      <a:endParaRPr kumimoji="0" lang="zh-CN" altLang="zh-CN" sz="21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5708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7" name="Group 71">
            <a:extLst>
              <a:ext uri="{FF2B5EF4-FFF2-40B4-BE49-F238E27FC236}">
                <a16:creationId xmlns:a16="http://schemas.microsoft.com/office/drawing/2014/main" id="{D74388CC-3F13-4175-A55E-6FB8C517825F}"/>
              </a:ext>
            </a:extLst>
          </p:cNvPr>
          <p:cNvGrpSpPr>
            <a:grpSpLocks/>
          </p:cNvGrpSpPr>
          <p:nvPr/>
        </p:nvGrpSpPr>
        <p:grpSpPr bwMode="auto">
          <a:xfrm>
            <a:off x="656586" y="1532917"/>
            <a:ext cx="3086100" cy="2114550"/>
            <a:chOff x="3024" y="1008"/>
            <a:chExt cx="2592" cy="1776"/>
          </a:xfrm>
        </p:grpSpPr>
        <p:sp>
          <p:nvSpPr>
            <p:cNvPr id="48" name="Oval 72">
              <a:extLst>
                <a:ext uri="{FF2B5EF4-FFF2-40B4-BE49-F238E27FC236}">
                  <a16:creationId xmlns:a16="http://schemas.microsoft.com/office/drawing/2014/main" id="{5A3ED579-E662-4984-8AFC-9C059AFDC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102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9" name="Group 73">
              <a:extLst>
                <a:ext uri="{FF2B5EF4-FFF2-40B4-BE49-F238E27FC236}">
                  <a16:creationId xmlns:a16="http://schemas.microsoft.com/office/drawing/2014/main" id="{20D9750B-E6F7-49F6-9EBB-B31A7196F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3" y="2102"/>
              <a:ext cx="273" cy="294"/>
              <a:chOff x="7120" y="12162"/>
              <a:chExt cx="425" cy="425"/>
            </a:xfrm>
          </p:grpSpPr>
          <p:sp>
            <p:nvSpPr>
              <p:cNvPr id="70" name="Oval 74">
                <a:extLst>
                  <a:ext uri="{FF2B5EF4-FFF2-40B4-BE49-F238E27FC236}">
                    <a16:creationId xmlns:a16="http://schemas.microsoft.com/office/drawing/2014/main" id="{998E47BF-2116-42E0-92C1-0A6342D56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Oval 75">
                <a:extLst>
                  <a:ext uri="{FF2B5EF4-FFF2-40B4-BE49-F238E27FC236}">
                    <a16:creationId xmlns:a16="http://schemas.microsoft.com/office/drawing/2014/main" id="{83DD696D-D4DD-4540-B317-304E7CC34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50" name="Line 76">
              <a:extLst>
                <a:ext uri="{FF2B5EF4-FFF2-40B4-BE49-F238E27FC236}">
                  <a16:creationId xmlns:a16="http://schemas.microsoft.com/office/drawing/2014/main" id="{BFDFAA43-C10A-4ED3-9309-A36634871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27"/>
              <a:ext cx="6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" tIns="21600" rIns="108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1" name="Line 77">
              <a:extLst>
                <a:ext uri="{FF2B5EF4-FFF2-40B4-BE49-F238E27FC236}">
                  <a16:creationId xmlns:a16="http://schemas.microsoft.com/office/drawing/2014/main" id="{0F041C80-D218-4AB7-8EB8-3229BDC9B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239"/>
              <a:ext cx="54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2" name="Rectangle 78">
              <a:extLst>
                <a:ext uri="{FF2B5EF4-FFF2-40B4-BE49-F238E27FC236}">
                  <a16:creationId xmlns:a16="http://schemas.microsoft.com/office/drawing/2014/main" id="{F815AB25-7F00-4214-B13F-CE9A249EC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92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53" name="Rectangle 79">
              <a:extLst>
                <a:ext uri="{FF2B5EF4-FFF2-40B4-BE49-F238E27FC236}">
                  <a16:creationId xmlns:a16="http://schemas.microsoft.com/office/drawing/2014/main" id="{C25C7BFA-5107-40DE-9FF6-3260C0CE7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5" y="1999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4" name="Line 80">
              <a:extLst>
                <a:ext uri="{FF2B5EF4-FFF2-40B4-BE49-F238E27FC236}">
                  <a16:creationId xmlns:a16="http://schemas.microsoft.com/office/drawing/2014/main" id="{388E2BD7-BBB6-4EBA-8CCD-391044D49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8" y="2240"/>
              <a:ext cx="54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Freeform 81">
              <a:extLst>
                <a:ext uri="{FF2B5EF4-FFF2-40B4-BE49-F238E27FC236}">
                  <a16:creationId xmlns:a16="http://schemas.microsoft.com/office/drawing/2014/main" id="{589B4110-C96B-4D4C-8A8C-E16D518C3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227"/>
              <a:ext cx="191" cy="230"/>
            </a:xfrm>
            <a:custGeom>
              <a:avLst/>
              <a:gdLst>
                <a:gd name="T0" fmla="*/ 2 w 297"/>
                <a:gd name="T1" fmla="*/ 6 h 333"/>
                <a:gd name="T2" fmla="*/ 3 w 297"/>
                <a:gd name="T3" fmla="*/ 2 h 333"/>
                <a:gd name="T4" fmla="*/ 1 w 297"/>
                <a:gd name="T5" fmla="*/ 1 h 333"/>
                <a:gd name="T6" fmla="*/ 1 w 297"/>
                <a:gd name="T7" fmla="*/ 2 h 333"/>
                <a:gd name="T8" fmla="*/ 1 w 297"/>
                <a:gd name="T9" fmla="*/ 6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Oval 82">
              <a:extLst>
                <a:ext uri="{FF2B5EF4-FFF2-40B4-BE49-F238E27FC236}">
                  <a16:creationId xmlns:a16="http://schemas.microsoft.com/office/drawing/2014/main" id="{5A10629C-42AB-404A-867C-140B57802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088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7" name="Freeform 83">
              <a:extLst>
                <a:ext uri="{FF2B5EF4-FFF2-40B4-BE49-F238E27FC236}">
                  <a16:creationId xmlns:a16="http://schemas.microsoft.com/office/drawing/2014/main" id="{6A57595D-B33D-4B1E-9E3C-B4EDA3381A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18" y="2397"/>
              <a:ext cx="191" cy="230"/>
            </a:xfrm>
            <a:custGeom>
              <a:avLst/>
              <a:gdLst>
                <a:gd name="T0" fmla="*/ 2 w 297"/>
                <a:gd name="T1" fmla="*/ 6 h 333"/>
                <a:gd name="T2" fmla="*/ 3 w 297"/>
                <a:gd name="T3" fmla="*/ 2 h 333"/>
                <a:gd name="T4" fmla="*/ 1 w 297"/>
                <a:gd name="T5" fmla="*/ 1 h 333"/>
                <a:gd name="T6" fmla="*/ 1 w 297"/>
                <a:gd name="T7" fmla="*/ 2 h 333"/>
                <a:gd name="T8" fmla="*/ 1 w 297"/>
                <a:gd name="T9" fmla="*/ 6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Rectangle 84">
              <a:extLst>
                <a:ext uri="{FF2B5EF4-FFF2-40B4-BE49-F238E27FC236}">
                  <a16:creationId xmlns:a16="http://schemas.microsoft.com/office/drawing/2014/main" id="{178F35CB-279F-4714-A700-CBD931B27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" y="254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9" name="Rectangle 85">
              <a:extLst>
                <a:ext uri="{FF2B5EF4-FFF2-40B4-BE49-F238E27FC236}">
                  <a16:creationId xmlns:a16="http://schemas.microsoft.com/office/drawing/2014/main" id="{265C104A-B74B-4C99-B35F-6C8C2A988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203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0" name="Rectangle 86">
              <a:extLst>
                <a:ext uri="{FF2B5EF4-FFF2-40B4-BE49-F238E27FC236}">
                  <a16:creationId xmlns:a16="http://schemas.microsoft.com/office/drawing/2014/main" id="{D1CD8FFE-BC11-4676-846E-B553541EC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169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" name="Freeform 87">
              <a:extLst>
                <a:ext uri="{FF2B5EF4-FFF2-40B4-BE49-F238E27FC236}">
                  <a16:creationId xmlns:a16="http://schemas.microsoft.com/office/drawing/2014/main" id="{BC55A074-2DB0-4E0B-B42A-6C37B6176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2316"/>
              <a:ext cx="578" cy="106"/>
            </a:xfrm>
            <a:custGeom>
              <a:avLst/>
              <a:gdLst>
                <a:gd name="T0" fmla="*/ 7 w 900"/>
                <a:gd name="T1" fmla="*/ 0 h 154"/>
                <a:gd name="T2" fmla="*/ 3 w 900"/>
                <a:gd name="T3" fmla="*/ 3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2" name="Rectangle 88">
              <a:extLst>
                <a:ext uri="{FF2B5EF4-FFF2-40B4-BE49-F238E27FC236}">
                  <a16:creationId xmlns:a16="http://schemas.microsoft.com/office/drawing/2014/main" id="{E35617C5-CF05-4042-B2C3-7DF1B60C3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" y="2353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21112D4C-A463-4A79-B5FA-04DC9C73C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100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4" name="Oval 90">
              <a:extLst>
                <a:ext uri="{FF2B5EF4-FFF2-40B4-BE49-F238E27FC236}">
                  <a16:creationId xmlns:a16="http://schemas.microsoft.com/office/drawing/2014/main" id="{AC406A46-8CD2-48D6-98FC-6A304EDD3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1467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5" name="Line 91">
              <a:extLst>
                <a:ext uri="{FF2B5EF4-FFF2-40B4-BE49-F238E27FC236}">
                  <a16:creationId xmlns:a16="http://schemas.microsoft.com/office/drawing/2014/main" id="{042A4BEC-EB4A-410A-9D95-A1BDCDCF3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3" y="1676"/>
              <a:ext cx="607" cy="4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6" name="Line 92">
              <a:extLst>
                <a:ext uri="{FF2B5EF4-FFF2-40B4-BE49-F238E27FC236}">
                  <a16:creationId xmlns:a16="http://schemas.microsoft.com/office/drawing/2014/main" id="{8826EEBC-81DE-42F1-BEA5-E105EA184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4" y="1778"/>
              <a:ext cx="0" cy="31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7" name="Line 93">
              <a:extLst>
                <a:ext uri="{FF2B5EF4-FFF2-40B4-BE49-F238E27FC236}">
                  <a16:creationId xmlns:a16="http://schemas.microsoft.com/office/drawing/2014/main" id="{AC17EDBE-6605-44D7-BA11-46C6F8C5C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87" y="1666"/>
              <a:ext cx="607" cy="4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8" name="Rectangle 94">
              <a:extLst>
                <a:ext uri="{FF2B5EF4-FFF2-40B4-BE49-F238E27FC236}">
                  <a16:creationId xmlns:a16="http://schemas.microsoft.com/office/drawing/2014/main" id="{85072ABA-45F5-4C8F-A9E4-32ED2F87F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5" y="169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9" name="Rectangle 95">
              <a:extLst>
                <a:ext uri="{FF2B5EF4-FFF2-40B4-BE49-F238E27FC236}">
                  <a16:creationId xmlns:a16="http://schemas.microsoft.com/office/drawing/2014/main" id="{F693E662-26DE-4BE5-9E17-725206F0E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74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37B29D98-0D5A-44BD-B231-8E9F9A61F9E5}"/>
              </a:ext>
            </a:extLst>
          </p:cNvPr>
          <p:cNvSpPr txBox="1"/>
          <p:nvPr/>
        </p:nvSpPr>
        <p:spPr>
          <a:xfrm>
            <a:off x="4505395" y="1795399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是接受状态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9E4E87-4A21-7162-B8C6-156DE0AF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F153C-4D04-4231-9C11-F9E32C9B44A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6E07CE-8052-86BA-C340-ADA98252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567228-556E-BDC6-4177-B357CD24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20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B9EDB5-D160-4F2A-B704-20754CE4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grpSp>
        <p:nvGrpSpPr>
          <p:cNvPr id="20511" name="Group 31">
            <a:extLst>
              <a:ext uri="{FF2B5EF4-FFF2-40B4-BE49-F238E27FC236}">
                <a16:creationId xmlns:a16="http://schemas.microsoft.com/office/drawing/2014/main" id="{359C6495-374A-4BB1-A1D5-F3756713A33F}"/>
              </a:ext>
            </a:extLst>
          </p:cNvPr>
          <p:cNvGrpSpPr>
            <a:grpSpLocks/>
          </p:cNvGrpSpPr>
          <p:nvPr/>
        </p:nvGrpSpPr>
        <p:grpSpPr bwMode="auto">
          <a:xfrm>
            <a:off x="1264622" y="3098006"/>
            <a:ext cx="6286500" cy="2628900"/>
            <a:chOff x="288" y="2112"/>
            <a:chExt cx="5280" cy="2208"/>
          </a:xfrm>
        </p:grpSpPr>
        <p:sp>
          <p:nvSpPr>
            <p:cNvPr id="20513" name="Oval 32">
              <a:extLst>
                <a:ext uri="{FF2B5EF4-FFF2-40B4-BE49-F238E27FC236}">
                  <a16:creationId xmlns:a16="http://schemas.microsoft.com/office/drawing/2014/main" id="{089E4EE1-C984-4DA5-8523-EB6451CA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20514" name="Group 33">
              <a:extLst>
                <a:ext uri="{FF2B5EF4-FFF2-40B4-BE49-F238E27FC236}">
                  <a16:creationId xmlns:a16="http://schemas.microsoft.com/office/drawing/2014/main" id="{A8892914-1251-422E-AFB8-2D9A86979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6" y="3207"/>
              <a:ext cx="282" cy="320"/>
              <a:chOff x="7120" y="12162"/>
              <a:chExt cx="425" cy="425"/>
            </a:xfrm>
          </p:grpSpPr>
          <p:sp>
            <p:nvSpPr>
              <p:cNvPr id="20549" name="Oval 34">
                <a:extLst>
                  <a:ext uri="{FF2B5EF4-FFF2-40B4-BE49-F238E27FC236}">
                    <a16:creationId xmlns:a16="http://schemas.microsoft.com/office/drawing/2014/main" id="{0455520D-2814-46BF-9BD4-A5FE9987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50" name="Oval 35">
                <a:extLst>
                  <a:ext uri="{FF2B5EF4-FFF2-40B4-BE49-F238E27FC236}">
                    <a16:creationId xmlns:a16="http://schemas.microsoft.com/office/drawing/2014/main" id="{4A45D9E6-D0E4-495D-AE0E-588810470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31F837D3-169C-4AAC-81A7-312BF9E4D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061"/>
              <a:ext cx="4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7A6A085D-E5B8-4621-9CAD-4F78A34A6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059"/>
              <a:ext cx="2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Oval 38">
              <a:extLst>
                <a:ext uri="{FF2B5EF4-FFF2-40B4-BE49-F238E27FC236}">
                  <a16:creationId xmlns:a16="http://schemas.microsoft.com/office/drawing/2014/main" id="{C3800ACE-BF70-452F-9819-7D3425546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3180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95F73EF2-BBBA-4FF5-8CAA-A36B0CB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525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C176E771-F346-4585-B292-F48862EF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3592"/>
              <a:ext cx="22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41E7F71D-B619-4980-B2B7-77F3DB2A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2823"/>
              <a:ext cx="22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B3F46424-215B-4061-93BD-CDC99A90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095"/>
              <a:ext cx="22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1F3C7451-185D-4BE0-BCFC-C2E9FA01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093"/>
              <a:ext cx="25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523" name="Line 44">
              <a:extLst>
                <a:ext uri="{FF2B5EF4-FFF2-40B4-BE49-F238E27FC236}">
                  <a16:creationId xmlns:a16="http://schemas.microsoft.com/office/drawing/2014/main" id="{DCC57055-CA64-4D6D-B6B0-68E7767FC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" y="3327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4" name="Line 45">
              <a:extLst>
                <a:ext uri="{FF2B5EF4-FFF2-40B4-BE49-F238E27FC236}">
                  <a16:creationId xmlns:a16="http://schemas.microsoft.com/office/drawing/2014/main" id="{C191B2A3-3279-45F7-80D8-94100806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3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5" name="Oval 46">
              <a:extLst>
                <a:ext uri="{FF2B5EF4-FFF2-40B4-BE49-F238E27FC236}">
                  <a16:creationId xmlns:a16="http://schemas.microsoft.com/office/drawing/2014/main" id="{BB86EAEA-10FE-4A11-9C20-A0A1196A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97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0526" name="Oval 47">
              <a:extLst>
                <a:ext uri="{FF2B5EF4-FFF2-40B4-BE49-F238E27FC236}">
                  <a16:creationId xmlns:a16="http://schemas.microsoft.com/office/drawing/2014/main" id="{D94F4DFC-7442-458E-9BB4-F83A54B3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3199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0527" name="Oval 48">
              <a:extLst>
                <a:ext uri="{FF2B5EF4-FFF2-40B4-BE49-F238E27FC236}">
                  <a16:creationId xmlns:a16="http://schemas.microsoft.com/office/drawing/2014/main" id="{918B1CC3-7A33-4697-8703-10E5D0FC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3208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0528" name="Line 49">
              <a:extLst>
                <a:ext uri="{FF2B5EF4-FFF2-40B4-BE49-F238E27FC236}">
                  <a16:creationId xmlns:a16="http://schemas.microsoft.com/office/drawing/2014/main" id="{21035F2F-E3E1-4625-8980-4DA904390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2" y="3350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29" name="Line 50">
              <a:extLst>
                <a:ext uri="{FF2B5EF4-FFF2-40B4-BE49-F238E27FC236}">
                  <a16:creationId xmlns:a16="http://schemas.microsoft.com/office/drawing/2014/main" id="{24E35B11-EE52-4192-9415-6E0C2FE2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6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0" name="Line 51">
              <a:extLst>
                <a:ext uri="{FF2B5EF4-FFF2-40B4-BE49-F238E27FC236}">
                  <a16:creationId xmlns:a16="http://schemas.microsoft.com/office/drawing/2014/main" id="{25EDFFE5-C4DA-480A-8345-54514535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0" y="3339"/>
              <a:ext cx="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1" name="Oval 52">
              <a:extLst>
                <a:ext uri="{FF2B5EF4-FFF2-40B4-BE49-F238E27FC236}">
                  <a16:creationId xmlns:a16="http://schemas.microsoft.com/office/drawing/2014/main" id="{E4A34B5A-A214-401F-A5C7-DE72870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631"/>
              <a:ext cx="282" cy="32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532" name="Oval 53">
              <a:extLst>
                <a:ext uri="{FF2B5EF4-FFF2-40B4-BE49-F238E27FC236}">
                  <a16:creationId xmlns:a16="http://schemas.microsoft.com/office/drawing/2014/main" id="{D4BC343B-C9DD-4AB9-9B92-ABABE15D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62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533" name="Oval 54">
              <a:extLst>
                <a:ext uri="{FF2B5EF4-FFF2-40B4-BE49-F238E27FC236}">
                  <a16:creationId xmlns:a16="http://schemas.microsoft.com/office/drawing/2014/main" id="{7D557885-72BA-4EDF-9876-84178772C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3692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0534" name="Oval 55">
              <a:extLst>
                <a:ext uri="{FF2B5EF4-FFF2-40B4-BE49-F238E27FC236}">
                  <a16:creationId xmlns:a16="http://schemas.microsoft.com/office/drawing/2014/main" id="{C1FDDC8E-853E-4A83-A38F-85B4D61C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707"/>
              <a:ext cx="282" cy="32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0535" name="Line 56">
              <a:extLst>
                <a:ext uri="{FF2B5EF4-FFF2-40B4-BE49-F238E27FC236}">
                  <a16:creationId xmlns:a16="http://schemas.microsoft.com/office/drawing/2014/main" id="{297D9A10-299B-4470-B7EB-FB2F63FE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2786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6" name="Line 57">
              <a:extLst>
                <a:ext uri="{FF2B5EF4-FFF2-40B4-BE49-F238E27FC236}">
                  <a16:creationId xmlns:a16="http://schemas.microsoft.com/office/drawing/2014/main" id="{215EDCEC-B244-4790-9E23-9B58546FC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8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7" name="Line 58">
              <a:extLst>
                <a:ext uri="{FF2B5EF4-FFF2-40B4-BE49-F238E27FC236}">
                  <a16:creationId xmlns:a16="http://schemas.microsoft.com/office/drawing/2014/main" id="{1D3C1CCC-1864-4361-9CB9-5B4C056D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28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8" name="Line 59">
              <a:extLst>
                <a:ext uri="{FF2B5EF4-FFF2-40B4-BE49-F238E27FC236}">
                  <a16:creationId xmlns:a16="http://schemas.microsoft.com/office/drawing/2014/main" id="{CBBAB91A-EDA4-4F4B-96AF-A5CBFA9C8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" y="3486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39" name="Line 60">
              <a:extLst>
                <a:ext uri="{FF2B5EF4-FFF2-40B4-BE49-F238E27FC236}">
                  <a16:creationId xmlns:a16="http://schemas.microsoft.com/office/drawing/2014/main" id="{69CFA391-1D83-4786-91E8-69267D63B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497"/>
              <a:ext cx="249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0" name="Line 61">
              <a:extLst>
                <a:ext uri="{FF2B5EF4-FFF2-40B4-BE49-F238E27FC236}">
                  <a16:creationId xmlns:a16="http://schemas.microsoft.com/office/drawing/2014/main" id="{824F5B43-3D55-4558-B377-8D6CAE8A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7" y="3861"/>
              <a:ext cx="3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BC8165A4-0B9F-4DAB-95D3-7A573E6B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3354"/>
              <a:ext cx="2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2" name="Rectangle 63">
              <a:extLst>
                <a:ext uri="{FF2B5EF4-FFF2-40B4-BE49-F238E27FC236}">
                  <a16:creationId xmlns:a16="http://schemas.microsoft.com/office/drawing/2014/main" id="{05E72CF6-A41F-4858-8BCF-EA11DD16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" y="2765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0CE59BD5-5E68-4E42-8F70-7B10E44D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3" y="3412"/>
              <a:ext cx="24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DB2FCC4A-308D-488F-B56C-752A3F48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3497"/>
              <a:ext cx="3083" cy="823"/>
            </a:xfrm>
            <a:custGeom>
              <a:avLst/>
              <a:gdLst>
                <a:gd name="T0" fmla="*/ 0 w 4650"/>
                <a:gd name="T1" fmla="*/ 0 h 1090"/>
                <a:gd name="T2" fmla="*/ 1 w 4650"/>
                <a:gd name="T3" fmla="*/ 6 h 1090"/>
                <a:gd name="T4" fmla="*/ 1 w 4650"/>
                <a:gd name="T5" fmla="*/ 8 h 1090"/>
                <a:gd name="T6" fmla="*/ 3 w 4650"/>
                <a:gd name="T7" fmla="*/ 8 h 1090"/>
                <a:gd name="T8" fmla="*/ 4 w 4650"/>
                <a:gd name="T9" fmla="*/ 6 h 1090"/>
                <a:gd name="T10" fmla="*/ 5 w 4650"/>
                <a:gd name="T11" fmla="*/ 2 h 1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50"/>
                <a:gd name="T19" fmla="*/ 0 h 1090"/>
                <a:gd name="T20" fmla="*/ 4650 w 4650"/>
                <a:gd name="T21" fmla="*/ 1090 h 10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50" h="1090">
                  <a:moveTo>
                    <a:pt x="0" y="0"/>
                  </a:moveTo>
                  <a:cubicBezTo>
                    <a:pt x="32" y="120"/>
                    <a:pt x="28" y="550"/>
                    <a:pt x="195" y="720"/>
                  </a:cubicBezTo>
                  <a:cubicBezTo>
                    <a:pt x="362" y="890"/>
                    <a:pt x="430" y="965"/>
                    <a:pt x="1005" y="1020"/>
                  </a:cubicBezTo>
                  <a:cubicBezTo>
                    <a:pt x="1580" y="1075"/>
                    <a:pt x="3083" y="1090"/>
                    <a:pt x="3645" y="1050"/>
                  </a:cubicBezTo>
                  <a:cubicBezTo>
                    <a:pt x="4207" y="1010"/>
                    <a:pt x="4213" y="948"/>
                    <a:pt x="4380" y="780"/>
                  </a:cubicBezTo>
                  <a:cubicBezTo>
                    <a:pt x="4547" y="612"/>
                    <a:pt x="4594" y="197"/>
                    <a:pt x="4650" y="44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3680A5C5-8F83-4851-9094-2F114815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376"/>
              <a:ext cx="1827" cy="827"/>
            </a:xfrm>
            <a:custGeom>
              <a:avLst/>
              <a:gdLst>
                <a:gd name="T0" fmla="*/ 3 w 2755"/>
                <a:gd name="T1" fmla="*/ 8 h 1097"/>
                <a:gd name="T2" fmla="*/ 3 w 2755"/>
                <a:gd name="T3" fmla="*/ 4 h 1097"/>
                <a:gd name="T4" fmla="*/ 2 w 2755"/>
                <a:gd name="T5" fmla="*/ 2 h 1097"/>
                <a:gd name="T6" fmla="*/ 1 w 2755"/>
                <a:gd name="T7" fmla="*/ 2 h 1097"/>
                <a:gd name="T8" fmla="*/ 1 w 2755"/>
                <a:gd name="T9" fmla="*/ 4 h 1097"/>
                <a:gd name="T10" fmla="*/ 1 w 2755"/>
                <a:gd name="T11" fmla="*/ 10 h 10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55"/>
                <a:gd name="T19" fmla="*/ 0 h 1097"/>
                <a:gd name="T20" fmla="*/ 2755 w 2755"/>
                <a:gd name="T21" fmla="*/ 1097 h 10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55" h="1097">
                  <a:moveTo>
                    <a:pt x="2645" y="1067"/>
                  </a:moveTo>
                  <a:cubicBezTo>
                    <a:pt x="2652" y="962"/>
                    <a:pt x="2755" y="604"/>
                    <a:pt x="2690" y="437"/>
                  </a:cubicBezTo>
                  <a:cubicBezTo>
                    <a:pt x="2625" y="270"/>
                    <a:pt x="2610" y="124"/>
                    <a:pt x="2255" y="62"/>
                  </a:cubicBezTo>
                  <a:cubicBezTo>
                    <a:pt x="1900" y="0"/>
                    <a:pt x="922" y="0"/>
                    <a:pt x="560" y="62"/>
                  </a:cubicBezTo>
                  <a:cubicBezTo>
                    <a:pt x="198" y="124"/>
                    <a:pt x="160" y="265"/>
                    <a:pt x="80" y="437"/>
                  </a:cubicBezTo>
                  <a:cubicBezTo>
                    <a:pt x="0" y="609"/>
                    <a:pt x="80" y="960"/>
                    <a:pt x="80" y="1097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6D589D65-FDCE-442E-840C-D8E49BD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4024"/>
              <a:ext cx="249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Rectangle 68">
              <a:extLst>
                <a:ext uri="{FF2B5EF4-FFF2-40B4-BE49-F238E27FC236}">
                  <a16:creationId xmlns:a16="http://schemas.microsoft.com/office/drawing/2014/main" id="{8D2A152C-7561-4C57-AF6A-9A0830CB8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12"/>
              <a:ext cx="24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3CF99148-5DFD-4BA2-9345-DD7942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073"/>
              <a:ext cx="24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2" name="Text Box 70">
            <a:extLst>
              <a:ext uri="{FF2B5EF4-FFF2-40B4-BE49-F238E27FC236}">
                <a16:creationId xmlns:a16="http://schemas.microsoft.com/office/drawing/2014/main" id="{F4D7C312-FAAE-4EA4-B134-D1EFC7D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560" y="5037631"/>
            <a:ext cx="1485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1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a|b</a:t>
            </a:r>
            <a:r>
              <a: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1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100" b="1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pSp>
        <p:nvGrpSpPr>
          <p:cNvPr id="47" name="Group 71">
            <a:extLst>
              <a:ext uri="{FF2B5EF4-FFF2-40B4-BE49-F238E27FC236}">
                <a16:creationId xmlns:a16="http://schemas.microsoft.com/office/drawing/2014/main" id="{D74388CC-3F13-4175-A55E-6FB8C517825F}"/>
              </a:ext>
            </a:extLst>
          </p:cNvPr>
          <p:cNvGrpSpPr>
            <a:grpSpLocks/>
          </p:cNvGrpSpPr>
          <p:nvPr/>
        </p:nvGrpSpPr>
        <p:grpSpPr bwMode="auto">
          <a:xfrm>
            <a:off x="656586" y="1532917"/>
            <a:ext cx="3086100" cy="2114550"/>
            <a:chOff x="3024" y="1008"/>
            <a:chExt cx="2592" cy="1776"/>
          </a:xfrm>
        </p:grpSpPr>
        <p:sp>
          <p:nvSpPr>
            <p:cNvPr id="48" name="Oval 72">
              <a:extLst>
                <a:ext uri="{FF2B5EF4-FFF2-40B4-BE49-F238E27FC236}">
                  <a16:creationId xmlns:a16="http://schemas.microsoft.com/office/drawing/2014/main" id="{5A3ED579-E662-4984-8AFC-9C059AFDC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102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9" name="Group 73">
              <a:extLst>
                <a:ext uri="{FF2B5EF4-FFF2-40B4-BE49-F238E27FC236}">
                  <a16:creationId xmlns:a16="http://schemas.microsoft.com/office/drawing/2014/main" id="{20D9750B-E6F7-49F6-9EBB-B31A7196F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3" y="2102"/>
              <a:ext cx="273" cy="294"/>
              <a:chOff x="7120" y="12162"/>
              <a:chExt cx="425" cy="425"/>
            </a:xfrm>
          </p:grpSpPr>
          <p:sp>
            <p:nvSpPr>
              <p:cNvPr id="70" name="Oval 74">
                <a:extLst>
                  <a:ext uri="{FF2B5EF4-FFF2-40B4-BE49-F238E27FC236}">
                    <a16:creationId xmlns:a16="http://schemas.microsoft.com/office/drawing/2014/main" id="{998E47BF-2116-42E0-92C1-0A6342D56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Oval 75">
                <a:extLst>
                  <a:ext uri="{FF2B5EF4-FFF2-40B4-BE49-F238E27FC236}">
                    <a16:creationId xmlns:a16="http://schemas.microsoft.com/office/drawing/2014/main" id="{83DD696D-D4DD-4540-B317-304E7CC34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50" name="Line 76">
              <a:extLst>
                <a:ext uri="{FF2B5EF4-FFF2-40B4-BE49-F238E27FC236}">
                  <a16:creationId xmlns:a16="http://schemas.microsoft.com/office/drawing/2014/main" id="{BFDFAA43-C10A-4ED3-9309-A36634871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27"/>
              <a:ext cx="6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" tIns="21600" rIns="108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1" name="Line 77">
              <a:extLst>
                <a:ext uri="{FF2B5EF4-FFF2-40B4-BE49-F238E27FC236}">
                  <a16:creationId xmlns:a16="http://schemas.microsoft.com/office/drawing/2014/main" id="{0F041C80-D218-4AB7-8EB8-3229BDC9B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239"/>
              <a:ext cx="54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2" name="Rectangle 78">
              <a:extLst>
                <a:ext uri="{FF2B5EF4-FFF2-40B4-BE49-F238E27FC236}">
                  <a16:creationId xmlns:a16="http://schemas.microsoft.com/office/drawing/2014/main" id="{F815AB25-7F00-4214-B13F-CE9A249EC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92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53" name="Rectangle 79">
              <a:extLst>
                <a:ext uri="{FF2B5EF4-FFF2-40B4-BE49-F238E27FC236}">
                  <a16:creationId xmlns:a16="http://schemas.microsoft.com/office/drawing/2014/main" id="{C25C7BFA-5107-40DE-9FF6-3260C0CE7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5" y="1999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4" name="Line 80">
              <a:extLst>
                <a:ext uri="{FF2B5EF4-FFF2-40B4-BE49-F238E27FC236}">
                  <a16:creationId xmlns:a16="http://schemas.microsoft.com/office/drawing/2014/main" id="{388E2BD7-BBB6-4EBA-8CCD-391044D49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8" y="2240"/>
              <a:ext cx="54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Freeform 81">
              <a:extLst>
                <a:ext uri="{FF2B5EF4-FFF2-40B4-BE49-F238E27FC236}">
                  <a16:creationId xmlns:a16="http://schemas.microsoft.com/office/drawing/2014/main" id="{589B4110-C96B-4D4C-8A8C-E16D518C3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227"/>
              <a:ext cx="191" cy="230"/>
            </a:xfrm>
            <a:custGeom>
              <a:avLst/>
              <a:gdLst>
                <a:gd name="T0" fmla="*/ 2 w 297"/>
                <a:gd name="T1" fmla="*/ 6 h 333"/>
                <a:gd name="T2" fmla="*/ 3 w 297"/>
                <a:gd name="T3" fmla="*/ 2 h 333"/>
                <a:gd name="T4" fmla="*/ 1 w 297"/>
                <a:gd name="T5" fmla="*/ 1 h 333"/>
                <a:gd name="T6" fmla="*/ 1 w 297"/>
                <a:gd name="T7" fmla="*/ 2 h 333"/>
                <a:gd name="T8" fmla="*/ 1 w 297"/>
                <a:gd name="T9" fmla="*/ 6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Oval 82">
              <a:extLst>
                <a:ext uri="{FF2B5EF4-FFF2-40B4-BE49-F238E27FC236}">
                  <a16:creationId xmlns:a16="http://schemas.microsoft.com/office/drawing/2014/main" id="{5A10629C-42AB-404A-867C-140B57802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088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7" name="Freeform 83">
              <a:extLst>
                <a:ext uri="{FF2B5EF4-FFF2-40B4-BE49-F238E27FC236}">
                  <a16:creationId xmlns:a16="http://schemas.microsoft.com/office/drawing/2014/main" id="{6A57595D-B33D-4B1E-9E3C-B4EDA3381A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18" y="2397"/>
              <a:ext cx="191" cy="230"/>
            </a:xfrm>
            <a:custGeom>
              <a:avLst/>
              <a:gdLst>
                <a:gd name="T0" fmla="*/ 2 w 297"/>
                <a:gd name="T1" fmla="*/ 6 h 333"/>
                <a:gd name="T2" fmla="*/ 3 w 297"/>
                <a:gd name="T3" fmla="*/ 2 h 333"/>
                <a:gd name="T4" fmla="*/ 1 w 297"/>
                <a:gd name="T5" fmla="*/ 1 h 333"/>
                <a:gd name="T6" fmla="*/ 1 w 297"/>
                <a:gd name="T7" fmla="*/ 2 h 333"/>
                <a:gd name="T8" fmla="*/ 1 w 297"/>
                <a:gd name="T9" fmla="*/ 6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Rectangle 84">
              <a:extLst>
                <a:ext uri="{FF2B5EF4-FFF2-40B4-BE49-F238E27FC236}">
                  <a16:creationId xmlns:a16="http://schemas.microsoft.com/office/drawing/2014/main" id="{178F35CB-279F-4714-A700-CBD931B27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" y="254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9" name="Rectangle 85">
              <a:extLst>
                <a:ext uri="{FF2B5EF4-FFF2-40B4-BE49-F238E27FC236}">
                  <a16:creationId xmlns:a16="http://schemas.microsoft.com/office/drawing/2014/main" id="{265C104A-B74B-4C99-B35F-6C8C2A988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203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0" name="Rectangle 86">
              <a:extLst>
                <a:ext uri="{FF2B5EF4-FFF2-40B4-BE49-F238E27FC236}">
                  <a16:creationId xmlns:a16="http://schemas.microsoft.com/office/drawing/2014/main" id="{D1CD8FFE-BC11-4676-846E-B553541EC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169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1" name="Freeform 87">
              <a:extLst>
                <a:ext uri="{FF2B5EF4-FFF2-40B4-BE49-F238E27FC236}">
                  <a16:creationId xmlns:a16="http://schemas.microsoft.com/office/drawing/2014/main" id="{BC55A074-2DB0-4E0B-B42A-6C37B6176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2316"/>
              <a:ext cx="578" cy="106"/>
            </a:xfrm>
            <a:custGeom>
              <a:avLst/>
              <a:gdLst>
                <a:gd name="T0" fmla="*/ 7 w 900"/>
                <a:gd name="T1" fmla="*/ 0 h 154"/>
                <a:gd name="T2" fmla="*/ 3 w 900"/>
                <a:gd name="T3" fmla="*/ 3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2" name="Rectangle 88">
              <a:extLst>
                <a:ext uri="{FF2B5EF4-FFF2-40B4-BE49-F238E27FC236}">
                  <a16:creationId xmlns:a16="http://schemas.microsoft.com/office/drawing/2014/main" id="{E35617C5-CF05-4042-B2C3-7DF1B60C3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" y="2353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21112D4C-A463-4A79-B5FA-04DC9C73C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100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4" name="Oval 90">
              <a:extLst>
                <a:ext uri="{FF2B5EF4-FFF2-40B4-BE49-F238E27FC236}">
                  <a16:creationId xmlns:a16="http://schemas.microsoft.com/office/drawing/2014/main" id="{AC406A46-8CD2-48D6-98FC-6A304EDD3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1467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5" name="Line 91">
              <a:extLst>
                <a:ext uri="{FF2B5EF4-FFF2-40B4-BE49-F238E27FC236}">
                  <a16:creationId xmlns:a16="http://schemas.microsoft.com/office/drawing/2014/main" id="{042A4BEC-EB4A-410A-9D95-A1BDCDCF3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3" y="1676"/>
              <a:ext cx="607" cy="4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6" name="Line 92">
              <a:extLst>
                <a:ext uri="{FF2B5EF4-FFF2-40B4-BE49-F238E27FC236}">
                  <a16:creationId xmlns:a16="http://schemas.microsoft.com/office/drawing/2014/main" id="{8826EEBC-81DE-42F1-BEA5-E105EA184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4" y="1778"/>
              <a:ext cx="0" cy="31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7" name="Line 93">
              <a:extLst>
                <a:ext uri="{FF2B5EF4-FFF2-40B4-BE49-F238E27FC236}">
                  <a16:creationId xmlns:a16="http://schemas.microsoft.com/office/drawing/2014/main" id="{AC17EDBE-6605-44D7-BA11-46C6F8C5C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87" y="1666"/>
              <a:ext cx="607" cy="4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8" name="Rectangle 94">
              <a:extLst>
                <a:ext uri="{FF2B5EF4-FFF2-40B4-BE49-F238E27FC236}">
                  <a16:creationId xmlns:a16="http://schemas.microsoft.com/office/drawing/2014/main" id="{85072ABA-45F5-4C8F-A9E4-32ED2F87F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5" y="169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9" name="Rectangle 95">
              <a:extLst>
                <a:ext uri="{FF2B5EF4-FFF2-40B4-BE49-F238E27FC236}">
                  <a16:creationId xmlns:a16="http://schemas.microsoft.com/office/drawing/2014/main" id="{F693E662-26DE-4BE5-9E17-725206F0E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74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72" name="Group 69">
            <a:extLst>
              <a:ext uri="{FF2B5EF4-FFF2-40B4-BE49-F238E27FC236}">
                <a16:creationId xmlns:a16="http://schemas.microsoft.com/office/drawing/2014/main" id="{64C3305F-4B28-42C6-8FAA-1857543D7AC1}"/>
              </a:ext>
            </a:extLst>
          </p:cNvPr>
          <p:cNvGrpSpPr>
            <a:grpSpLocks/>
          </p:cNvGrpSpPr>
          <p:nvPr/>
        </p:nvGrpSpPr>
        <p:grpSpPr bwMode="auto">
          <a:xfrm>
            <a:off x="4484072" y="1947937"/>
            <a:ext cx="3257550" cy="1428750"/>
            <a:chOff x="1632" y="576"/>
            <a:chExt cx="2736" cy="1200"/>
          </a:xfrm>
        </p:grpSpPr>
        <p:sp>
          <p:nvSpPr>
            <p:cNvPr id="73" name="Oval 70">
              <a:extLst>
                <a:ext uri="{FF2B5EF4-FFF2-40B4-BE49-F238E27FC236}">
                  <a16:creationId xmlns:a16="http://schemas.microsoft.com/office/drawing/2014/main" id="{DB525514-6B11-4CE5-8D3E-C0A8CC367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1075"/>
              <a:ext cx="289" cy="307"/>
            </a:xfrm>
            <a:prstGeom prst="ellips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74" name="Group 71">
              <a:extLst>
                <a:ext uri="{FF2B5EF4-FFF2-40B4-BE49-F238E27FC236}">
                  <a16:creationId xmlns:a16="http://schemas.microsoft.com/office/drawing/2014/main" id="{833EAF05-C30D-4122-8CC0-3BA5B841F3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1064"/>
              <a:ext cx="289" cy="305"/>
              <a:chOff x="7120" y="12162"/>
              <a:chExt cx="425" cy="425"/>
            </a:xfrm>
          </p:grpSpPr>
          <p:sp>
            <p:nvSpPr>
              <p:cNvPr id="90" name="Oval 72">
                <a:extLst>
                  <a:ext uri="{FF2B5EF4-FFF2-40B4-BE49-F238E27FC236}">
                    <a16:creationId xmlns:a16="http://schemas.microsoft.com/office/drawing/2014/main" id="{DEC14154-C160-4A97-8988-F494C5B50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Oval 73">
                <a:extLst>
                  <a:ext uri="{FF2B5EF4-FFF2-40B4-BE49-F238E27FC236}">
                    <a16:creationId xmlns:a16="http://schemas.microsoft.com/office/drawing/2014/main" id="{BBE5FADB-A050-4D7F-BE01-960AE2D22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CCB434F4-35CE-4FC6-BFB1-778C0B258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643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" tIns="21600" rIns="108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9006B1F1-11DA-42E2-9CF7-69D222871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1" y="1239"/>
              <a:ext cx="582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AF7655C-4FB8-4AF1-8B27-94DCFBD39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3" y="999"/>
              <a:ext cx="46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6AD8847-4D37-4A84-8235-6317E991F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988"/>
              <a:ext cx="23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2152CB10-2A4A-4789-9E47-404228690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1" y="1228"/>
              <a:ext cx="58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77F3B92-78D1-4E77-9942-851554C28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842"/>
              <a:ext cx="203" cy="240"/>
            </a:xfrm>
            <a:custGeom>
              <a:avLst/>
              <a:gdLst>
                <a:gd name="T0" fmla="*/ 3 w 297"/>
                <a:gd name="T1" fmla="*/ 9 h 333"/>
                <a:gd name="T2" fmla="*/ 5 w 297"/>
                <a:gd name="T3" fmla="*/ 3 h 333"/>
                <a:gd name="T4" fmla="*/ 2 w 297"/>
                <a:gd name="T5" fmla="*/ 1 h 333"/>
                <a:gd name="T6" fmla="*/ 1 w 297"/>
                <a:gd name="T7" fmla="*/ 3 h 333"/>
                <a:gd name="T8" fmla="*/ 1 w 297"/>
                <a:gd name="T9" fmla="*/ 9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814A86F-A6A4-4C04-94FF-65F090432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" y="1082"/>
              <a:ext cx="289" cy="307"/>
            </a:xfrm>
            <a:prstGeom prst="ellips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5821F43C-B4FC-4E10-998E-B94F210EA00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54" y="1382"/>
              <a:ext cx="203" cy="240"/>
            </a:xfrm>
            <a:custGeom>
              <a:avLst/>
              <a:gdLst>
                <a:gd name="T0" fmla="*/ 3 w 297"/>
                <a:gd name="T1" fmla="*/ 9 h 333"/>
                <a:gd name="T2" fmla="*/ 5 w 297"/>
                <a:gd name="T3" fmla="*/ 3 h 333"/>
                <a:gd name="T4" fmla="*/ 2 w 297"/>
                <a:gd name="T5" fmla="*/ 1 h 333"/>
                <a:gd name="T6" fmla="*/ 1 w 297"/>
                <a:gd name="T7" fmla="*/ 3 h 333"/>
                <a:gd name="T8" fmla="*/ 1 w 297"/>
                <a:gd name="T9" fmla="*/ 9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D4679B8-B69C-4D1E-AF44-BF749A59B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1528"/>
              <a:ext cx="23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806E281-36CB-46B4-B21B-8B87091EF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" y="956"/>
              <a:ext cx="23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D4D62D4-A0FD-4DC1-9C0B-A21304635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7" y="576"/>
              <a:ext cx="2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B6A7A2B-C2F7-4578-94A5-478B0851A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330"/>
              <a:ext cx="612" cy="112"/>
            </a:xfrm>
            <a:custGeom>
              <a:avLst/>
              <a:gdLst>
                <a:gd name="T0" fmla="*/ 13 w 900"/>
                <a:gd name="T1" fmla="*/ 0 h 154"/>
                <a:gd name="T2" fmla="*/ 7 w 900"/>
                <a:gd name="T3" fmla="*/ 5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BDD7592-C1BE-4363-9FC1-2ECC64D28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" y="1378"/>
              <a:ext cx="23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72955E7-42B1-46C6-B79C-B6A30AAEA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843"/>
              <a:ext cx="1541" cy="295"/>
            </a:xfrm>
            <a:custGeom>
              <a:avLst/>
              <a:gdLst>
                <a:gd name="T0" fmla="*/ 33 w 2265"/>
                <a:gd name="T1" fmla="*/ 9 h 408"/>
                <a:gd name="T2" fmla="*/ 27 w 2265"/>
                <a:gd name="T3" fmla="*/ 4 h 408"/>
                <a:gd name="T4" fmla="*/ 16 w 2265"/>
                <a:gd name="T5" fmla="*/ 1 h 408"/>
                <a:gd name="T6" fmla="*/ 7 w 2265"/>
                <a:gd name="T7" fmla="*/ 4 h 408"/>
                <a:gd name="T8" fmla="*/ 0 w 2265"/>
                <a:gd name="T9" fmla="*/ 12 h 4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5"/>
                <a:gd name="T16" fmla="*/ 0 h 408"/>
                <a:gd name="T17" fmla="*/ 2265 w 2265"/>
                <a:gd name="T18" fmla="*/ 408 h 4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5" h="408">
                  <a:moveTo>
                    <a:pt x="2265" y="330"/>
                  </a:moveTo>
                  <a:cubicBezTo>
                    <a:pt x="2197" y="295"/>
                    <a:pt x="2047" y="174"/>
                    <a:pt x="1860" y="120"/>
                  </a:cubicBezTo>
                  <a:cubicBezTo>
                    <a:pt x="1673" y="66"/>
                    <a:pt x="1367" y="0"/>
                    <a:pt x="1140" y="3"/>
                  </a:cubicBezTo>
                  <a:cubicBezTo>
                    <a:pt x="913" y="6"/>
                    <a:pt x="685" y="71"/>
                    <a:pt x="495" y="138"/>
                  </a:cubicBezTo>
                  <a:cubicBezTo>
                    <a:pt x="305" y="205"/>
                    <a:pt x="103" y="352"/>
                    <a:pt x="0" y="408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73736E6-2281-4FDD-A091-C68EC1500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587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807114C2-3FA3-4A9E-9FCE-5E29F424DC57}"/>
              </a:ext>
            </a:extLst>
          </p:cNvPr>
          <p:cNvSpPr txBox="1"/>
          <p:nvPr/>
        </p:nvSpPr>
        <p:spPr>
          <a:xfrm>
            <a:off x="7244844" y="1073742"/>
            <a:ext cx="171802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accent2"/>
                </a:solidFill>
              </a:rPr>
              <a:t>子集构造法</a:t>
            </a:r>
          </a:p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accent2"/>
                </a:solidFill>
              </a:rPr>
              <a:t>不一定得到</a:t>
            </a:r>
          </a:p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accent2"/>
                </a:solidFill>
              </a:rPr>
              <a:t>最简的</a:t>
            </a:r>
            <a:r>
              <a:rPr lang="en-US" altLang="zh-CN" sz="2400" dirty="0">
                <a:solidFill>
                  <a:schemeClr val="accent2"/>
                </a:solidFill>
              </a:rPr>
              <a:t>DFA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0772A-21D1-64AB-A155-8B1102CA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93119-8512-430F-997F-C3E3FBF74EF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A06C03-F909-08E7-6C5B-62918671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B62CA2-A504-9F3C-4053-349B15D2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47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C7B66-3B61-4633-9C9C-431524CF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2.3.3 NFA</a:t>
            </a:r>
            <a:r>
              <a:rPr lang="zh-CN" altLang="en-US" dirty="0"/>
              <a:t>到</a:t>
            </a:r>
            <a:r>
              <a:rPr lang="en-US" altLang="zh-CN" dirty="0"/>
              <a:t>DFA</a:t>
            </a:r>
            <a:r>
              <a:rPr lang="zh-CN" altLang="en-US" dirty="0"/>
              <a:t>的变换</a:t>
            </a:r>
            <a:r>
              <a:rPr lang="zh-CN" altLang="en-US" sz="4400" dirty="0"/>
              <a:t>（续）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8E60E8-3B09-4B26-AFE8-2944EBBA5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练习：</a:t>
            </a:r>
            <a:r>
              <a:rPr lang="zh-CN" altLang="en-US" sz="2400" dirty="0">
                <a:sym typeface="Symbol" panose="05050102010706020507" pitchFamily="18" charset="2"/>
              </a:rPr>
              <a:t>试试用子集构造算法将下面的</a:t>
            </a:r>
            <a:r>
              <a:rPr lang="en-US" altLang="zh-CN" sz="2400" dirty="0">
                <a:sym typeface="Symbol" panose="05050102010706020507" pitchFamily="18" charset="2"/>
              </a:rPr>
              <a:t>NFA</a:t>
            </a:r>
            <a:r>
              <a:rPr lang="zh-CN" altLang="en-US" sz="2400" dirty="0">
                <a:sym typeface="Symbol" panose="05050102010706020507" pitchFamily="18" charset="2"/>
              </a:rPr>
              <a:t>转换成</a:t>
            </a:r>
            <a:r>
              <a:rPr lang="en-US" altLang="zh-CN" sz="2400" dirty="0">
                <a:sym typeface="Symbol" panose="05050102010706020507" pitchFamily="18" charset="2"/>
              </a:rPr>
              <a:t>DFA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  <a:p>
            <a:endParaRPr lang="zh-CN" altLang="en-US" sz="24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E4E9F66-5B24-4A8E-9888-7107E297B195}"/>
              </a:ext>
            </a:extLst>
          </p:cNvPr>
          <p:cNvGrpSpPr/>
          <p:nvPr/>
        </p:nvGrpSpPr>
        <p:grpSpPr>
          <a:xfrm>
            <a:off x="2706763" y="1771137"/>
            <a:ext cx="3613207" cy="1323343"/>
            <a:chOff x="3601356" y="1851835"/>
            <a:chExt cx="4817609" cy="1764457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8A9A7C0D-D00B-4141-9CEA-D077F1EE1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2727843"/>
              <a:ext cx="598488" cy="55403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F9BD9FD-A213-4678-8729-A6791A3A8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20477" y="2760388"/>
              <a:ext cx="598488" cy="554038"/>
              <a:chOff x="7120" y="12162"/>
              <a:chExt cx="425" cy="425"/>
            </a:xfrm>
          </p:grpSpPr>
          <p:sp>
            <p:nvSpPr>
              <p:cNvPr id="18" name="Oval 7">
                <a:extLst>
                  <a:ext uri="{FF2B5EF4-FFF2-40B4-BE49-F238E27FC236}">
                    <a16:creationId xmlns:a16="http://schemas.microsoft.com/office/drawing/2014/main" id="{5C9F9DA0-4418-4AA7-AE17-3E13FFF23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Oval 8">
                <a:extLst>
                  <a:ext uri="{FF2B5EF4-FFF2-40B4-BE49-F238E27FC236}">
                    <a16:creationId xmlns:a16="http://schemas.microsoft.com/office/drawing/2014/main" id="{CEB21661-E4E6-4C2D-B768-6979F48A9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0" rIns="54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852212D8-FEAC-4C83-813F-82E8A469D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932" y="2311126"/>
              <a:ext cx="727074" cy="44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,</a:t>
              </a: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D79C17B-F785-444D-A483-F7E71215B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1356" y="3023119"/>
              <a:ext cx="1042988" cy="14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" tIns="21600" rIns="108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F7BAC4EA-BDD0-4023-94AF-F9EF92C6C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794" y="2461144"/>
              <a:ext cx="9715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1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0DAEBED7-A27F-4E5C-A069-C089C0FA5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50" y="2250298"/>
              <a:ext cx="417513" cy="436563"/>
            </a:xfrm>
            <a:custGeom>
              <a:avLst/>
              <a:gdLst>
                <a:gd name="T0" fmla="*/ 27 w 297"/>
                <a:gd name="T1" fmla="*/ 12 h 333"/>
                <a:gd name="T2" fmla="*/ 35 w 297"/>
                <a:gd name="T3" fmla="*/ 5 h 333"/>
                <a:gd name="T4" fmla="*/ 19 w 297"/>
                <a:gd name="T5" fmla="*/ 2 h 333"/>
                <a:gd name="T6" fmla="*/ 4 w 297"/>
                <a:gd name="T7" fmla="*/ 5 h 333"/>
                <a:gd name="T8" fmla="*/ 8 w 297"/>
                <a:gd name="T9" fmla="*/ 12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603FD296-82EA-497B-807B-AB73B6FAB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269" y="2726256"/>
              <a:ext cx="598488" cy="55562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0500" tIns="21600" rIns="162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13775FD4-BF7F-42B5-A042-5CDAF9BE3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163" y="1851835"/>
              <a:ext cx="485775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692EFA96-4F53-46A9-AC8B-86AC4AFD0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6594" y="2538931"/>
              <a:ext cx="485775" cy="44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9A6B408B-493D-4AE5-B23A-066254533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350" y="3016768"/>
              <a:ext cx="8291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40500" tIns="21600" rIns="40500" bIns="216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Freeform 87">
              <a:extLst>
                <a:ext uri="{FF2B5EF4-FFF2-40B4-BE49-F238E27FC236}">
                  <a16:creationId xmlns:a16="http://schemas.microsoft.com/office/drawing/2014/main" id="{3FE4CB19-3F88-4575-84A1-25DDEB830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4936" y="3077612"/>
              <a:ext cx="1055661" cy="168275"/>
            </a:xfrm>
            <a:custGeom>
              <a:avLst/>
              <a:gdLst>
                <a:gd name="T0" fmla="*/ 7 w 900"/>
                <a:gd name="T1" fmla="*/ 0 h 154"/>
                <a:gd name="T2" fmla="*/ 3 w 900"/>
                <a:gd name="T3" fmla="*/ 3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Freeform 87">
              <a:extLst>
                <a:ext uri="{FF2B5EF4-FFF2-40B4-BE49-F238E27FC236}">
                  <a16:creationId xmlns:a16="http://schemas.microsoft.com/office/drawing/2014/main" id="{157B68CE-788E-4D3A-8A3E-E560BA580ED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285980" y="2784750"/>
              <a:ext cx="1082293" cy="168275"/>
            </a:xfrm>
            <a:custGeom>
              <a:avLst/>
              <a:gdLst>
                <a:gd name="T0" fmla="*/ 7 w 900"/>
                <a:gd name="T1" fmla="*/ 0 h 154"/>
                <a:gd name="T2" fmla="*/ 3 w 900"/>
                <a:gd name="T3" fmla="*/ 3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C075B7E2-BD25-4EC0-B966-276285485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238" y="3168617"/>
              <a:ext cx="485775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4617B1F-F7D0-477C-B61C-7E2FAE5BBEEB}"/>
              </a:ext>
            </a:extLst>
          </p:cNvPr>
          <p:cNvGrpSpPr/>
          <p:nvPr/>
        </p:nvGrpSpPr>
        <p:grpSpPr>
          <a:xfrm>
            <a:off x="188274" y="3276546"/>
            <a:ext cx="8739963" cy="2886317"/>
            <a:chOff x="182528" y="3770439"/>
            <a:chExt cx="8739963" cy="2886317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6ECA192-82EB-4129-9F1B-4D6EEB682B53}"/>
                </a:ext>
              </a:extLst>
            </p:cNvPr>
            <p:cNvSpPr/>
            <p:nvPr/>
          </p:nvSpPr>
          <p:spPr>
            <a:xfrm>
              <a:off x="182528" y="3770439"/>
              <a:ext cx="8739963" cy="28215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1F7A7F2-36B0-4AA1-BB98-E10AA423EE39}"/>
                </a:ext>
              </a:extLst>
            </p:cNvPr>
            <p:cNvGrpSpPr/>
            <p:nvPr/>
          </p:nvGrpSpPr>
          <p:grpSpPr>
            <a:xfrm>
              <a:off x="6319970" y="4509148"/>
              <a:ext cx="2533032" cy="1344082"/>
              <a:chOff x="2487834" y="3997059"/>
              <a:chExt cx="2533032" cy="1344082"/>
            </a:xfrm>
          </p:grpSpPr>
          <p:sp>
            <p:nvSpPr>
              <p:cNvPr id="28" name="Rectangle 9">
                <a:extLst>
                  <a:ext uri="{FF2B5EF4-FFF2-40B4-BE49-F238E27FC236}">
                    <a16:creationId xmlns:a16="http://schemas.microsoft.com/office/drawing/2014/main" id="{A59B67D5-1DED-4916-AD57-3C84BEF6C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4516" y="4362267"/>
                <a:ext cx="545306" cy="334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21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b</a:t>
                </a:r>
                <a:endParaRPr lang="en-US" altLang="zh-CN" sz="21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10">
                <a:extLst>
                  <a:ext uri="{FF2B5EF4-FFF2-40B4-BE49-F238E27FC236}">
                    <a16:creationId xmlns:a16="http://schemas.microsoft.com/office/drawing/2014/main" id="{E0DBCE50-D375-4750-B4DF-411AEFAB0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7834" y="4896262"/>
                <a:ext cx="782241" cy="107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0800" tIns="21600" rIns="108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0" name="Rectangle 11">
                <a:extLst>
                  <a:ext uri="{FF2B5EF4-FFF2-40B4-BE49-F238E27FC236}">
                    <a16:creationId xmlns:a16="http://schemas.microsoft.com/office/drawing/2014/main" id="{74F4B5E3-9FCD-4A2B-A4A9-34AF541D7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1412" y="4474780"/>
                <a:ext cx="728663" cy="3929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1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开始</a:t>
                </a:r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0D4BFD86-D946-4AF9-BB48-083B241A9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800" y="4295906"/>
                <a:ext cx="313135" cy="327422"/>
              </a:xfrm>
              <a:custGeom>
                <a:avLst/>
                <a:gdLst>
                  <a:gd name="T0" fmla="*/ 27 w 297"/>
                  <a:gd name="T1" fmla="*/ 12 h 333"/>
                  <a:gd name="T2" fmla="*/ 35 w 297"/>
                  <a:gd name="T3" fmla="*/ 5 h 333"/>
                  <a:gd name="T4" fmla="*/ 19 w 297"/>
                  <a:gd name="T5" fmla="*/ 2 h 333"/>
                  <a:gd name="T6" fmla="*/ 4 w 297"/>
                  <a:gd name="T7" fmla="*/ 5 h 333"/>
                  <a:gd name="T8" fmla="*/ 8 w 297"/>
                  <a:gd name="T9" fmla="*/ 12 h 3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7"/>
                  <a:gd name="T16" fmla="*/ 0 h 333"/>
                  <a:gd name="T17" fmla="*/ 297 w 297"/>
                  <a:gd name="T18" fmla="*/ 333 h 3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7" h="333">
                    <a:moveTo>
                      <a:pt x="225" y="332"/>
                    </a:moveTo>
                    <a:cubicBezTo>
                      <a:pt x="235" y="298"/>
                      <a:pt x="297" y="181"/>
                      <a:pt x="285" y="126"/>
                    </a:cubicBezTo>
                    <a:cubicBezTo>
                      <a:pt x="273" y="71"/>
                      <a:pt x="195" y="6"/>
                      <a:pt x="150" y="3"/>
                    </a:cubicBezTo>
                    <a:cubicBezTo>
                      <a:pt x="105" y="0"/>
                      <a:pt x="30" y="56"/>
                      <a:pt x="15" y="111"/>
                    </a:cubicBezTo>
                    <a:cubicBezTo>
                      <a:pt x="0" y="166"/>
                      <a:pt x="51" y="287"/>
                      <a:pt x="60" y="333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3" name="Rectangle 15">
                <a:extLst>
                  <a:ext uri="{FF2B5EF4-FFF2-40B4-BE49-F238E27FC236}">
                    <a16:creationId xmlns:a16="http://schemas.microsoft.com/office/drawing/2014/main" id="{88F890E3-062A-441B-9F5D-3E0AFEA7A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5660" y="3997059"/>
                <a:ext cx="364331" cy="335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6" name="Freeform 87">
                <a:extLst>
                  <a:ext uri="{FF2B5EF4-FFF2-40B4-BE49-F238E27FC236}">
                    <a16:creationId xmlns:a16="http://schemas.microsoft.com/office/drawing/2014/main" id="{0D4E5113-8CDE-455C-9619-869D35284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019" y="4937131"/>
                <a:ext cx="791746" cy="126206"/>
              </a:xfrm>
              <a:custGeom>
                <a:avLst/>
                <a:gdLst>
                  <a:gd name="T0" fmla="*/ 7 w 900"/>
                  <a:gd name="T1" fmla="*/ 0 h 154"/>
                  <a:gd name="T2" fmla="*/ 3 w 900"/>
                  <a:gd name="T3" fmla="*/ 3 h 154"/>
                  <a:gd name="T4" fmla="*/ 0 w 900"/>
                  <a:gd name="T5" fmla="*/ 1 h 154"/>
                  <a:gd name="T6" fmla="*/ 0 60000 65536"/>
                  <a:gd name="T7" fmla="*/ 0 60000 65536"/>
                  <a:gd name="T8" fmla="*/ 0 60000 65536"/>
                  <a:gd name="T9" fmla="*/ 0 w 900"/>
                  <a:gd name="T10" fmla="*/ 0 h 154"/>
                  <a:gd name="T11" fmla="*/ 900 w 900"/>
                  <a:gd name="T12" fmla="*/ 154 h 1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00" h="154">
                    <a:moveTo>
                      <a:pt x="900" y="0"/>
                    </a:moveTo>
                    <a:cubicBezTo>
                      <a:pt x="823" y="25"/>
                      <a:pt x="585" y="148"/>
                      <a:pt x="435" y="151"/>
                    </a:cubicBezTo>
                    <a:cubicBezTo>
                      <a:pt x="285" y="154"/>
                      <a:pt x="91" y="44"/>
                      <a:pt x="0" y="16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7" name="Freeform 87">
                <a:extLst>
                  <a:ext uri="{FF2B5EF4-FFF2-40B4-BE49-F238E27FC236}">
                    <a16:creationId xmlns:a16="http://schemas.microsoft.com/office/drawing/2014/main" id="{34DE7D8C-C44B-4ACC-AA10-1616E6235FE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751302" y="4717485"/>
                <a:ext cx="811720" cy="126206"/>
              </a:xfrm>
              <a:custGeom>
                <a:avLst/>
                <a:gdLst>
                  <a:gd name="T0" fmla="*/ 7 w 900"/>
                  <a:gd name="T1" fmla="*/ 0 h 154"/>
                  <a:gd name="T2" fmla="*/ 3 w 900"/>
                  <a:gd name="T3" fmla="*/ 3 h 154"/>
                  <a:gd name="T4" fmla="*/ 0 w 900"/>
                  <a:gd name="T5" fmla="*/ 1 h 154"/>
                  <a:gd name="T6" fmla="*/ 0 60000 65536"/>
                  <a:gd name="T7" fmla="*/ 0 60000 65536"/>
                  <a:gd name="T8" fmla="*/ 0 60000 65536"/>
                  <a:gd name="T9" fmla="*/ 0 w 900"/>
                  <a:gd name="T10" fmla="*/ 0 h 154"/>
                  <a:gd name="T11" fmla="*/ 900 w 900"/>
                  <a:gd name="T12" fmla="*/ 154 h 1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00" h="154">
                    <a:moveTo>
                      <a:pt x="900" y="0"/>
                    </a:moveTo>
                    <a:cubicBezTo>
                      <a:pt x="823" y="25"/>
                      <a:pt x="585" y="148"/>
                      <a:pt x="435" y="151"/>
                    </a:cubicBezTo>
                    <a:cubicBezTo>
                      <a:pt x="285" y="154"/>
                      <a:pt x="91" y="44"/>
                      <a:pt x="0" y="16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8" name="Rectangle 15">
                <a:extLst>
                  <a:ext uri="{FF2B5EF4-FFF2-40B4-BE49-F238E27FC236}">
                    <a16:creationId xmlns:a16="http://schemas.microsoft.com/office/drawing/2014/main" id="{536CB4CF-FE8C-4BB9-8CF2-771FFDC7F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995" y="5005385"/>
                <a:ext cx="364331" cy="335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grpSp>
            <p:nvGrpSpPr>
              <p:cNvPr id="44" name="Group 6">
                <a:extLst>
                  <a:ext uri="{FF2B5EF4-FFF2-40B4-BE49-F238E27FC236}">
                    <a16:creationId xmlns:a16="http://schemas.microsoft.com/office/drawing/2014/main" id="{33349C51-27DD-41EC-A476-688D9ED296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2960" y="4664818"/>
                <a:ext cx="448866" cy="415528"/>
                <a:chOff x="7120" y="12162"/>
                <a:chExt cx="425" cy="425"/>
              </a:xfrm>
            </p:grpSpPr>
            <p:sp>
              <p:nvSpPr>
                <p:cNvPr id="45" name="Oval 7">
                  <a:extLst>
                    <a:ext uri="{FF2B5EF4-FFF2-40B4-BE49-F238E27FC236}">
                      <a16:creationId xmlns:a16="http://schemas.microsoft.com/office/drawing/2014/main" id="{CD898617-63FC-4ECF-B421-918B8A2FB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0" y="12162"/>
                  <a:ext cx="425" cy="425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32400" tIns="0" rIns="5400" bIns="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75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Oval 8">
                  <a:extLst>
                    <a:ext uri="{FF2B5EF4-FFF2-40B4-BE49-F238E27FC236}">
                      <a16:creationId xmlns:a16="http://schemas.microsoft.com/office/drawing/2014/main" id="{FB115D6F-7661-4C31-997B-D565FDF956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80" y="12218"/>
                  <a:ext cx="312" cy="312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32400" tIns="0" rIns="5400" bIns="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1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</a:p>
              </p:txBody>
            </p:sp>
          </p:grpSp>
          <p:grpSp>
            <p:nvGrpSpPr>
              <p:cNvPr id="47" name="Group 6">
                <a:extLst>
                  <a:ext uri="{FF2B5EF4-FFF2-40B4-BE49-F238E27FC236}">
                    <a16:creationId xmlns:a16="http://schemas.microsoft.com/office/drawing/2014/main" id="{0F6E80AC-846F-48E1-8681-553A34656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2000" y="4671233"/>
                <a:ext cx="448866" cy="415528"/>
                <a:chOff x="7120" y="12162"/>
                <a:chExt cx="425" cy="425"/>
              </a:xfrm>
            </p:grpSpPr>
            <p:sp>
              <p:nvSpPr>
                <p:cNvPr id="48" name="Oval 7">
                  <a:extLst>
                    <a:ext uri="{FF2B5EF4-FFF2-40B4-BE49-F238E27FC236}">
                      <a16:creationId xmlns:a16="http://schemas.microsoft.com/office/drawing/2014/main" id="{6773884E-C956-4E9D-ACB9-C1CD3CEBE5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0" y="12162"/>
                  <a:ext cx="425" cy="425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32400" tIns="0" rIns="5400" bIns="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75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Oval 8">
                  <a:extLst>
                    <a:ext uri="{FF2B5EF4-FFF2-40B4-BE49-F238E27FC236}">
                      <a16:creationId xmlns:a16="http://schemas.microsoft.com/office/drawing/2014/main" id="{618D8514-4DBD-4544-9F65-B6FE454E8D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80" y="12218"/>
                  <a:ext cx="312" cy="312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32400" tIns="0" rIns="5400" bIns="0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1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</a:t>
                  </a:r>
                </a:p>
              </p:txBody>
            </p:sp>
          </p:grp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D8A0A55-47B0-49B4-B5AF-DD1B01644EE4}"/>
                </a:ext>
              </a:extLst>
            </p:cNvPr>
            <p:cNvSpPr txBox="1"/>
            <p:nvPr/>
          </p:nvSpPr>
          <p:spPr>
            <a:xfrm>
              <a:off x="313766" y="3794434"/>
              <a:ext cx="3437159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A=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-closure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20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)=</a:t>
              </a:r>
              <a:r>
                <a:rPr lang="en-US" altLang="zh-CN" sz="2000" dirty="0"/>
                <a:t>{0,1,2}</a:t>
              </a:r>
            </a:p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-closure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move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A,a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))</a:t>
              </a:r>
              <a:r>
                <a:rPr lang="en-US" altLang="zh-CN" sz="2000" dirty="0"/>
                <a:t>=A</a:t>
              </a:r>
            </a:p>
            <a:p>
              <a:endParaRPr lang="en-US" altLang="zh-CN" sz="2000" dirty="0"/>
            </a:p>
            <a:p>
              <a:r>
                <a:rPr lang="en-US" altLang="zh-CN" sz="2000" dirty="0"/>
                <a:t>B=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-closure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move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A,b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))=</a:t>
              </a:r>
              <a:r>
                <a:rPr lang="en-US" altLang="zh-CN" sz="2000" dirty="0"/>
                <a:t>{1,2}</a:t>
              </a:r>
            </a:p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-closure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move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B,a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))</a:t>
              </a:r>
              <a:r>
                <a:rPr lang="en-US" altLang="zh-CN" sz="2000" dirty="0"/>
                <a:t>=A</a:t>
              </a:r>
            </a:p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-closure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move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B,b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))</a:t>
              </a:r>
              <a:r>
                <a:rPr lang="en-US" altLang="zh-CN" sz="2000" dirty="0"/>
                <a:t>=</a:t>
              </a: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</a:p>
            <a:p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新增死状态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，使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-closure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move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,b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))</a:t>
              </a:r>
              <a:r>
                <a:rPr lang="en-US" altLang="zh-CN" sz="2000" dirty="0">
                  <a:solidFill>
                    <a:srgbClr val="FF0000"/>
                  </a:solidFill>
                </a:rPr>
                <a:t>=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</a:p>
          </p:txBody>
        </p:sp>
        <p:graphicFrame>
          <p:nvGraphicFramePr>
            <p:cNvPr id="40" name="Group 3">
              <a:extLst>
                <a:ext uri="{FF2B5EF4-FFF2-40B4-BE49-F238E27FC236}">
                  <a16:creationId xmlns:a16="http://schemas.microsoft.com/office/drawing/2014/main" id="{BE06FED4-5FA0-4F49-BA43-5148B3F743D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48696" y="4118240"/>
            <a:ext cx="2144316" cy="1857730"/>
          </p:xfrm>
          <a:graphic>
            <a:graphicData uri="http://schemas.openxmlformats.org/drawingml/2006/table">
              <a:tbl>
                <a:tblPr/>
                <a:tblGrid>
                  <a:gridCol w="72628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143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0366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63185">
                  <a:tc rowSpan="2"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21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状态</a:t>
                        </a:r>
                        <a:endParaRPr kumimoji="0" lang="zh-CN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40500" marR="40500" marT="21572" marB="21572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gridSpan="2"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21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输入符号</a:t>
                        </a:r>
                      </a:p>
                    </a:txBody>
                    <a:tcPr marL="40500" marR="40500" marT="21572" marB="21572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endParaRPr lang="zh-CN" alt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3185">
                  <a:tc vMerge="1">
                    <a:txBody>
                      <a:bodyPr/>
                      <a:lstStyle/>
                      <a:p>
                        <a:endParaRPr lang="zh-CN" altLang="en-US"/>
                      </a:p>
                    </a:txBody>
                    <a:tcPr/>
                  </a:tc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1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</a:rPr>
                          <a:t>a</a:t>
                        </a:r>
                      </a:p>
                    </a:txBody>
                    <a:tcPr marL="40500" marR="40500" marT="21572" marB="21572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1" i="1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</a:rPr>
                          <a:t>b</a:t>
                        </a:r>
                      </a:p>
                    </a:txBody>
                    <a:tcPr marL="40500" marR="40500" marT="21572" marB="21572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7120"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A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A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B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7120"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B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A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defRPr sz="28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SzPct val="55000"/>
                          <a:buFont typeface="Wingdings" panose="05000000000000000000" pitchFamily="2" charset="2"/>
                          <a:defRPr sz="24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lr>
                            <a:schemeClr val="folHlink"/>
                          </a:buClr>
                          <a:buSzPct val="50000"/>
                          <a:buFont typeface="Wingdings" panose="05000000000000000000" pitchFamily="2" charset="2"/>
                          <a:defRPr sz="200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55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SzPct val="50000"/>
                          <a:buFont typeface="Wingdings" panose="05000000000000000000" pitchFamily="2" charset="2"/>
                          <a:defRPr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黑体" panose="02010609060101010101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C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712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C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C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Pct val="60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21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Tahoma" panose="020B0604030504040204" pitchFamily="34" charset="0"/>
                            <a:ea typeface="黑体" panose="02010609060101010101" pitchFamily="49" charset="-122"/>
                          </a:rPr>
                          <a:t>C</a:t>
                        </a:r>
                        <a:endParaRPr kumimoji="0" lang="zh-CN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endParaRPr>
                      </a:p>
                    </a:txBody>
                    <a:tcPr marL="0" marR="0" marT="57080" marB="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112940727"/>
                    </a:ext>
                  </a:extLst>
                </a:tr>
              </a:tbl>
            </a:graphicData>
          </a:graphic>
        </p:graphicFrame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23AD5AD-8AF0-436B-9140-F70251D422B6}"/>
                </a:ext>
              </a:extLst>
            </p:cNvPr>
            <p:cNvSpPr txBox="1"/>
            <p:nvPr/>
          </p:nvSpPr>
          <p:spPr>
            <a:xfrm>
              <a:off x="3892585" y="6089793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A,B</a:t>
              </a:r>
              <a:r>
                <a:rPr lang="zh-CN" altLang="en-US" dirty="0"/>
                <a:t>是接受状态</a:t>
              </a:r>
              <a:endParaRPr lang="en-US" altLang="zh-CN" dirty="0"/>
            </a:p>
          </p:txBody>
        </p:sp>
        <p:sp>
          <p:nvSpPr>
            <p:cNvPr id="51" name="Freeform 87">
              <a:extLst>
                <a:ext uri="{FF2B5EF4-FFF2-40B4-BE49-F238E27FC236}">
                  <a16:creationId xmlns:a16="http://schemas.microsoft.com/office/drawing/2014/main" id="{DE2AC30B-AB29-40E1-9B39-43754F49C98F}"/>
                </a:ext>
              </a:extLst>
            </p:cNvPr>
            <p:cNvSpPr>
              <a:spLocks/>
            </p:cNvSpPr>
            <p:nvPr/>
          </p:nvSpPr>
          <p:spPr bwMode="auto">
            <a:xfrm rot="19175856">
              <a:off x="7968900" y="5920004"/>
              <a:ext cx="811720" cy="126206"/>
            </a:xfrm>
            <a:custGeom>
              <a:avLst/>
              <a:gdLst>
                <a:gd name="T0" fmla="*/ 7 w 900"/>
                <a:gd name="T1" fmla="*/ 0 h 154"/>
                <a:gd name="T2" fmla="*/ 3 w 900"/>
                <a:gd name="T3" fmla="*/ 3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3448E354-5F6A-48D5-8266-80AD3F955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5812" y="6002622"/>
              <a:ext cx="398964" cy="36933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2400" tIns="0" rIns="5400" bIns="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1F6016A5-E308-4A59-B69C-E19553A7CD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7285304" y="5995478"/>
              <a:ext cx="313135" cy="327422"/>
            </a:xfrm>
            <a:custGeom>
              <a:avLst/>
              <a:gdLst>
                <a:gd name="T0" fmla="*/ 27 w 297"/>
                <a:gd name="T1" fmla="*/ 12 h 333"/>
                <a:gd name="T2" fmla="*/ 35 w 297"/>
                <a:gd name="T3" fmla="*/ 5 h 333"/>
                <a:gd name="T4" fmla="*/ 19 w 297"/>
                <a:gd name="T5" fmla="*/ 2 h 333"/>
                <a:gd name="T6" fmla="*/ 4 w 297"/>
                <a:gd name="T7" fmla="*/ 5 h 333"/>
                <a:gd name="T8" fmla="*/ 8 w 297"/>
                <a:gd name="T9" fmla="*/ 12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 anchor="ctr"/>
            <a:lstStyle/>
            <a:p>
              <a:pPr algn="ctr"/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56" name="Rectangle 15">
              <a:extLst>
                <a:ext uri="{FF2B5EF4-FFF2-40B4-BE49-F238E27FC236}">
                  <a16:creationId xmlns:a16="http://schemas.microsoft.com/office/drawing/2014/main" id="{B8F10432-63FC-4E94-BCFB-552D4B8A0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496" y="5938702"/>
              <a:ext cx="425451" cy="335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a,b</a:t>
              </a:r>
              <a:endParaRPr lang="en-US" altLang="zh-CN" sz="21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3DD6ABD8-8804-4FCF-94E7-51927E576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928" y="5903452"/>
              <a:ext cx="545306" cy="334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None/>
              </a:pPr>
              <a:r>
                <a:rPr lang="en-US" altLang="zh-CN" sz="2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sz="21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72F5D063-8CFD-A604-A8D8-6A5975D4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09A9B-2753-49BA-9E6C-18A4E7BDF4A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ABF70ECE-46C1-0BBA-356B-E4F29B3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924E2CFF-8C05-5093-3789-A13CD3D6E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  <p:pic>
        <p:nvPicPr>
          <p:cNvPr id="25" name="图片 24" descr="卡通人物&#10;&#10;描述已自动生成">
            <a:extLst>
              <a:ext uri="{FF2B5EF4-FFF2-40B4-BE49-F238E27FC236}">
                <a16:creationId xmlns:a16="http://schemas.microsoft.com/office/drawing/2014/main" id="{15FF4C8F-CC8D-DF51-9647-7FDE7E2C6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6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14FF315-46FE-4C7B-8268-E185BC197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C45804C7-20BC-4E9F-8C4D-09699362347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50400" y="1980360"/>
            <a:ext cx="7243200" cy="2897280"/>
            <a:chOff x="1344" y="1728"/>
            <a:chExt cx="3360" cy="1344"/>
          </a:xfrm>
        </p:grpSpPr>
        <p:sp>
          <p:nvSpPr>
            <p:cNvPr id="35845" name="Rectangle 5">
              <a:extLst>
                <a:ext uri="{FF2B5EF4-FFF2-40B4-BE49-F238E27FC236}">
                  <a16:creationId xmlns:a16="http://schemas.microsoft.com/office/drawing/2014/main" id="{395474E5-9AE2-49BE-9872-080A4A88E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728"/>
              <a:ext cx="960" cy="33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正规式</a:t>
              </a:r>
            </a:p>
          </p:txBody>
        </p:sp>
        <p:sp>
          <p:nvSpPr>
            <p:cNvPr id="35846" name="Rectangle 6">
              <a:extLst>
                <a:ext uri="{FF2B5EF4-FFF2-40B4-BE49-F238E27FC236}">
                  <a16:creationId xmlns:a16="http://schemas.microsoft.com/office/drawing/2014/main" id="{F3EBF026-054D-4A9F-9D77-BA1551132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016"/>
              <a:ext cx="960" cy="33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NFA</a:t>
              </a:r>
            </a:p>
          </p:txBody>
        </p:sp>
        <p:sp>
          <p:nvSpPr>
            <p:cNvPr id="35847" name="Rectangle 7">
              <a:extLst>
                <a:ext uri="{FF2B5EF4-FFF2-40B4-BE49-F238E27FC236}">
                  <a16:creationId xmlns:a16="http://schemas.microsoft.com/office/drawing/2014/main" id="{3C7BDAB6-FC38-465B-B0AF-58208FEFD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960" cy="336"/>
            </a:xfrm>
            <a:prstGeom prst="rect">
              <a:avLst/>
            </a:prstGeom>
            <a:solidFill>
              <a:schemeClr val="accent2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35848" name="Rectangle 8">
              <a:extLst>
                <a:ext uri="{FF2B5EF4-FFF2-40B4-BE49-F238E27FC236}">
                  <a16:creationId xmlns:a16="http://schemas.microsoft.com/office/drawing/2014/main" id="{40077CA4-6949-4D83-AE9C-A3217D5D7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496"/>
              <a:ext cx="960" cy="336"/>
            </a:xfrm>
            <a:prstGeom prst="rect">
              <a:avLst/>
            </a:prstGeom>
            <a:solidFill>
              <a:schemeClr val="accent2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最简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35849" name="Rectangle 9">
              <a:extLst>
                <a:ext uri="{FF2B5EF4-FFF2-40B4-BE49-F238E27FC236}">
                  <a16:creationId xmlns:a16="http://schemas.microsoft.com/office/drawing/2014/main" id="{679A449F-4EED-42E7-AE45-509D5A9BC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960" cy="33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识别器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206FF2-C566-A4EB-B94F-55DED618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04347-2D42-46E9-9CA4-0E52E169687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0E6769-C9F6-3277-4130-FE8BA2C4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25AA76-484F-4C5B-EC46-3478418E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AE864F8-E896-40A5-ACBD-5206BD8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2D89EFF-EA75-484B-9A61-E8A196C06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 dirty="0"/>
              <a:t>理论上，每个正规集都可以由一个</a:t>
            </a:r>
            <a:r>
              <a:rPr lang="zh-CN" altLang="en-US" sz="3200" dirty="0">
                <a:solidFill>
                  <a:schemeClr val="hlink"/>
                </a:solidFill>
              </a:rPr>
              <a:t>状态数最少</a:t>
            </a:r>
            <a:r>
              <a:rPr lang="zh-CN" altLang="en-US" sz="3200" dirty="0"/>
              <a:t>的</a:t>
            </a:r>
            <a:r>
              <a:rPr lang="en-US" altLang="zh-CN" sz="3200" dirty="0"/>
              <a:t>DFA</a:t>
            </a:r>
            <a:r>
              <a:rPr lang="zh-CN" altLang="en-US" sz="3200" dirty="0"/>
              <a:t>识别，若不计</a:t>
            </a:r>
            <a:r>
              <a:rPr lang="zh-CN" altLang="en-US" sz="3200" dirty="0">
                <a:solidFill>
                  <a:schemeClr val="accent2"/>
                </a:solidFill>
              </a:rPr>
              <a:t>同构</a:t>
            </a:r>
            <a:r>
              <a:rPr lang="zh-CN" altLang="en-US" sz="3200" dirty="0"/>
              <a:t>，则这个</a:t>
            </a:r>
            <a:r>
              <a:rPr lang="en-US" altLang="zh-CN" sz="3200" dirty="0"/>
              <a:t>DFA</a:t>
            </a:r>
            <a:r>
              <a:rPr lang="zh-CN" altLang="en-US" sz="3200" dirty="0"/>
              <a:t>是</a:t>
            </a:r>
            <a:r>
              <a:rPr lang="zh-CN" altLang="en-US" sz="3200" dirty="0">
                <a:solidFill>
                  <a:schemeClr val="hlink"/>
                </a:solidFill>
              </a:rPr>
              <a:t>唯一</a:t>
            </a:r>
            <a:r>
              <a:rPr lang="zh-CN" altLang="en-US" sz="3200" dirty="0"/>
              <a:t>的。</a:t>
            </a:r>
          </a:p>
          <a:p>
            <a:endParaRPr lang="en-US" altLang="zh-CN" sz="3200" dirty="0"/>
          </a:p>
          <a:p>
            <a:r>
              <a:rPr lang="zh-CN" altLang="en-US" sz="3200" dirty="0"/>
              <a:t>如果两个自动机只有状态的名字不同，其他都相同，则我们说这两个自动机</a:t>
            </a:r>
            <a:r>
              <a:rPr lang="zh-CN" altLang="en-US" sz="3200" dirty="0">
                <a:solidFill>
                  <a:schemeClr val="accent2"/>
                </a:solidFill>
              </a:rPr>
              <a:t>同构</a:t>
            </a:r>
            <a:r>
              <a:rPr lang="zh-CN" altLang="en-US" sz="3200" dirty="0"/>
              <a:t>（</a:t>
            </a:r>
            <a:r>
              <a:rPr lang="en-US" altLang="zh-CN" sz="3200" dirty="0"/>
              <a:t>the same up to state names</a:t>
            </a:r>
            <a:r>
              <a:rPr lang="zh-CN" altLang="en-US" sz="3200" dirty="0"/>
              <a:t>）</a:t>
            </a:r>
          </a:p>
          <a:p>
            <a:pPr lvl="1" eaLnBrk="1" hangingPunct="1"/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D81989-0871-08FA-AD78-67FB0F1E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D8A60-3693-4FC7-AE28-33B8A251EE4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D687B5-10DC-EEEB-2BA9-0B8F7EDA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8F2F4A-5648-36ED-9A39-063608EB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F1BC85E-DE07-4930-826E-97D5BD0C0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6C6DA9B-B9CF-4798-A00D-41201F95D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200" dirty="0"/>
              <a:t>本小节讨论如何最小化</a:t>
            </a:r>
            <a:r>
              <a:rPr lang="en-US" altLang="zh-CN" sz="3200" dirty="0"/>
              <a:t>DFA</a:t>
            </a:r>
            <a:r>
              <a:rPr lang="zh-CN" altLang="en-US" sz="3200" dirty="0"/>
              <a:t>的状态数，本方法基于转换函数是</a:t>
            </a:r>
            <a:r>
              <a:rPr lang="zh-CN" altLang="en-US" sz="3200" dirty="0">
                <a:solidFill>
                  <a:schemeClr val="accent2"/>
                </a:solidFill>
              </a:rPr>
              <a:t>全函数（定义域中的任何值都恰好映射到值域中的某一对应值）</a:t>
            </a:r>
            <a:r>
              <a:rPr lang="zh-CN" altLang="en-US" sz="3200" dirty="0"/>
              <a:t>的情况。</a:t>
            </a:r>
            <a:endParaRPr lang="en-US" altLang="zh-CN" sz="3200" dirty="0"/>
          </a:p>
          <a:p>
            <a:pPr eaLnBrk="1" hangingPunct="1"/>
            <a:r>
              <a:rPr lang="zh-CN" altLang="en-US" sz="3200" dirty="0"/>
              <a:t>如果转换函数并非全函数，可以引入</a:t>
            </a:r>
            <a:r>
              <a:rPr lang="zh-CN" altLang="en-US" sz="3200" dirty="0">
                <a:solidFill>
                  <a:schemeClr val="accent2"/>
                </a:solidFill>
              </a:rPr>
              <a:t>死状态（</a:t>
            </a:r>
            <a:r>
              <a:rPr lang="zh-CN" altLang="en-US" sz="3200" dirty="0">
                <a:solidFill>
                  <a:schemeClr val="accent2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3200" dirty="0">
                <a:solidFill>
                  <a:schemeClr val="accent2"/>
                </a:solidFill>
              </a:rPr>
              <a:t>dead</a:t>
            </a:r>
            <a:r>
              <a:rPr lang="en-US" altLang="zh-CN" sz="3200" dirty="0">
                <a:solidFill>
                  <a:schemeClr val="accent2"/>
                </a:solidFill>
                <a:latin typeface="Arial" panose="020B0604020202020204" pitchFamily="34" charset="0"/>
              </a:rPr>
              <a:t>”</a:t>
            </a:r>
            <a:r>
              <a:rPr lang="en-US" altLang="zh-CN" sz="3200" dirty="0">
                <a:solidFill>
                  <a:schemeClr val="accent2"/>
                </a:solidFill>
              </a:rPr>
              <a:t> state</a:t>
            </a:r>
            <a:r>
              <a:rPr lang="zh-CN" altLang="en-US" sz="3200" dirty="0">
                <a:solidFill>
                  <a:schemeClr val="accent2"/>
                </a:solidFill>
              </a:rPr>
              <a:t>）</a:t>
            </a:r>
            <a:r>
              <a:rPr lang="zh-CN" altLang="en-US" sz="3200" dirty="0"/>
              <a:t>变换成全函数。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B3D7C1-EAFF-4780-63D3-06C15151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6EB3-E1EF-4D1D-8D60-B24F3E411C5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3BBC97-B0E2-60C3-3F74-CC9FC427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82687-1490-9E25-256B-494D544D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D592D65-DC33-4416-BDE5-B41FA191F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1FAD58A-AFB1-466D-B7FF-3D8DAC9EC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死状态：对所有输入符号都转换到该状态本身。</a:t>
            </a:r>
          </a:p>
          <a:p>
            <a:pPr eaLnBrk="1" hangingPunct="1"/>
            <a:r>
              <a:rPr lang="zh-CN" altLang="en-US"/>
              <a:t>左图无须加死状态，右图加入死状态</a:t>
            </a:r>
            <a:r>
              <a:rPr lang="en-US" altLang="zh-CN" b="1">
                <a:latin typeface="Times New Roman" panose="02020603050405020304" pitchFamily="18" charset="0"/>
              </a:rPr>
              <a:t>E</a:t>
            </a:r>
            <a:r>
              <a:rPr lang="zh-CN" altLang="en-US"/>
              <a:t>。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B603C35F-AEDB-4650-8C5A-1E47A17B280D}"/>
              </a:ext>
            </a:extLst>
          </p:cNvPr>
          <p:cNvGrpSpPr>
            <a:grpSpLocks/>
          </p:cNvGrpSpPr>
          <p:nvPr/>
        </p:nvGrpSpPr>
        <p:grpSpPr bwMode="auto">
          <a:xfrm>
            <a:off x="4584406" y="2902687"/>
            <a:ext cx="4237039" cy="2895600"/>
            <a:chOff x="2448" y="2256"/>
            <a:chExt cx="2669" cy="1824"/>
          </a:xfrm>
        </p:grpSpPr>
        <p:sp>
          <p:nvSpPr>
            <p:cNvPr id="39966" name="Oval 5">
              <a:extLst>
                <a:ext uri="{FF2B5EF4-FFF2-40B4-BE49-F238E27FC236}">
                  <a16:creationId xmlns:a16="http://schemas.microsoft.com/office/drawing/2014/main" id="{F8F4B4B0-672F-4F0C-908E-EFD2B2067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3398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39967" name="Group 6">
              <a:extLst>
                <a:ext uri="{FF2B5EF4-FFF2-40B4-BE49-F238E27FC236}">
                  <a16:creationId xmlns:a16="http://schemas.microsoft.com/office/drawing/2014/main" id="{B1F25AFE-8832-4242-89A2-246953D9D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7" y="3398"/>
              <a:ext cx="273" cy="294"/>
              <a:chOff x="7120" y="12162"/>
              <a:chExt cx="425" cy="425"/>
            </a:xfrm>
          </p:grpSpPr>
          <p:sp>
            <p:nvSpPr>
              <p:cNvPr id="39991" name="Oval 7">
                <a:extLst>
                  <a:ext uri="{FF2B5EF4-FFF2-40B4-BE49-F238E27FC236}">
                    <a16:creationId xmlns:a16="http://schemas.microsoft.com/office/drawing/2014/main" id="{733AD41B-2DE4-4D9F-9D45-1FF457B18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92" name="Oval 8">
                <a:extLst>
                  <a:ext uri="{FF2B5EF4-FFF2-40B4-BE49-F238E27FC236}">
                    <a16:creationId xmlns:a16="http://schemas.microsoft.com/office/drawing/2014/main" id="{8695BAE8-6ABE-47F1-A6E4-E58A0D574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39968" name="Line 9">
              <a:extLst>
                <a:ext uri="{FF2B5EF4-FFF2-40B4-BE49-F238E27FC236}">
                  <a16:creationId xmlns:a16="http://schemas.microsoft.com/office/drawing/2014/main" id="{52491430-96F4-40D9-889D-00B589AC9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523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4400" tIns="28800" rIns="144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69" name="Line 10">
              <a:extLst>
                <a:ext uri="{FF2B5EF4-FFF2-40B4-BE49-F238E27FC236}">
                  <a16:creationId xmlns:a16="http://schemas.microsoft.com/office/drawing/2014/main" id="{36F533C4-7978-4F00-87CD-0DC15C416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4" y="3535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70" name="Rectangle 11">
              <a:extLst>
                <a:ext uri="{FF2B5EF4-FFF2-40B4-BE49-F238E27FC236}">
                  <a16:creationId xmlns:a16="http://schemas.microsoft.com/office/drawing/2014/main" id="{50F39B49-71F7-44D2-AC96-DA8B3483E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88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39971" name="Rectangle 12">
              <a:extLst>
                <a:ext uri="{FF2B5EF4-FFF2-40B4-BE49-F238E27FC236}">
                  <a16:creationId xmlns:a16="http://schemas.microsoft.com/office/drawing/2014/main" id="{561D6FF9-F5AE-44C4-8C38-5E3F67C3F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3295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72" name="Line 13">
              <a:extLst>
                <a:ext uri="{FF2B5EF4-FFF2-40B4-BE49-F238E27FC236}">
                  <a16:creationId xmlns:a16="http://schemas.microsoft.com/office/drawing/2014/main" id="{B054EA78-7680-4D2A-AEFA-36BAE33B8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2" y="3536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73" name="Freeform 14">
              <a:extLst>
                <a:ext uri="{FF2B5EF4-FFF2-40B4-BE49-F238E27FC236}">
                  <a16:creationId xmlns:a16="http://schemas.microsoft.com/office/drawing/2014/main" id="{723CEA20-BC71-4A66-A96D-1FF8824E1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2496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74" name="Oval 15">
              <a:extLst>
                <a:ext uri="{FF2B5EF4-FFF2-40B4-BE49-F238E27FC236}">
                  <a16:creationId xmlns:a16="http://schemas.microsoft.com/office/drawing/2014/main" id="{BD3B6F76-5E85-4559-BD4C-468C6471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2" y="3384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75" name="Freeform 16">
              <a:extLst>
                <a:ext uri="{FF2B5EF4-FFF2-40B4-BE49-F238E27FC236}">
                  <a16:creationId xmlns:a16="http://schemas.microsoft.com/office/drawing/2014/main" id="{0C973FD1-192F-40EE-8A98-A232A3621F2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42" y="3693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76" name="Rectangle 17">
              <a:extLst>
                <a:ext uri="{FF2B5EF4-FFF2-40B4-BE49-F238E27FC236}">
                  <a16:creationId xmlns:a16="http://schemas.microsoft.com/office/drawing/2014/main" id="{E6EA8887-6994-4FDD-820B-9D379C69E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844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77" name="Rectangle 18">
              <a:extLst>
                <a:ext uri="{FF2B5EF4-FFF2-40B4-BE49-F238E27FC236}">
                  <a16:creationId xmlns:a16="http://schemas.microsoft.com/office/drawing/2014/main" id="{1A7AC02A-71FE-4896-9DA1-FE15764B2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3326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78" name="Rectangle 19">
              <a:extLst>
                <a:ext uri="{FF2B5EF4-FFF2-40B4-BE49-F238E27FC236}">
                  <a16:creationId xmlns:a16="http://schemas.microsoft.com/office/drawing/2014/main" id="{DF903C21-C8AB-4F18-9D81-F9981CDCF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2986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79" name="Freeform 20">
              <a:extLst>
                <a:ext uri="{FF2B5EF4-FFF2-40B4-BE49-F238E27FC236}">
                  <a16:creationId xmlns:a16="http://schemas.microsoft.com/office/drawing/2014/main" id="{38490DF9-354D-4567-B6C5-BE479FD80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3612"/>
              <a:ext cx="578" cy="106"/>
            </a:xfrm>
            <a:custGeom>
              <a:avLst/>
              <a:gdLst>
                <a:gd name="T0" fmla="*/ 1 w 900"/>
                <a:gd name="T1" fmla="*/ 0 h 154"/>
                <a:gd name="T2" fmla="*/ 1 w 900"/>
                <a:gd name="T3" fmla="*/ 1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80" name="Rectangle 21">
              <a:extLst>
                <a:ext uri="{FF2B5EF4-FFF2-40B4-BE49-F238E27FC236}">
                  <a16:creationId xmlns:a16="http://schemas.microsoft.com/office/drawing/2014/main" id="{6F8EB9E7-7666-4AF3-9059-5A2E462C6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3649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81" name="Rectangle 22">
              <a:extLst>
                <a:ext uri="{FF2B5EF4-FFF2-40B4-BE49-F238E27FC236}">
                  <a16:creationId xmlns:a16="http://schemas.microsoft.com/office/drawing/2014/main" id="{E1A3E0AC-33A9-4148-A621-3BB530C29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256"/>
              <a:ext cx="43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400" b="1" i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82" name="Oval 23">
              <a:extLst>
                <a:ext uri="{FF2B5EF4-FFF2-40B4-BE49-F238E27FC236}">
                  <a16:creationId xmlns:a16="http://schemas.microsoft.com/office/drawing/2014/main" id="{5B73A884-8863-45E6-B056-B89B99DEA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2763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9983" name="Line 24">
              <a:extLst>
                <a:ext uri="{FF2B5EF4-FFF2-40B4-BE49-F238E27FC236}">
                  <a16:creationId xmlns:a16="http://schemas.microsoft.com/office/drawing/2014/main" id="{BBDB6D5E-8279-42B3-B26A-82FC5AB31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7" y="2972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84" name="Line 25">
              <a:extLst>
                <a:ext uri="{FF2B5EF4-FFF2-40B4-BE49-F238E27FC236}">
                  <a16:creationId xmlns:a16="http://schemas.microsoft.com/office/drawing/2014/main" id="{62BB04E1-6B7F-4246-B255-99BD21B00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" y="3074"/>
              <a:ext cx="0" cy="3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85" name="Rectangle 26">
              <a:extLst>
                <a:ext uri="{FF2B5EF4-FFF2-40B4-BE49-F238E27FC236}">
                  <a16:creationId xmlns:a16="http://schemas.microsoft.com/office/drawing/2014/main" id="{9FDA61D7-E157-4475-A670-053D0412C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312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86" name="Rectangle 27">
              <a:extLst>
                <a:ext uri="{FF2B5EF4-FFF2-40B4-BE49-F238E27FC236}">
                  <a16:creationId xmlns:a16="http://schemas.microsoft.com/office/drawing/2014/main" id="{FD67A61B-749B-437A-BD83-B277951B7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303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87" name="Oval 28">
              <a:extLst>
                <a:ext uri="{FF2B5EF4-FFF2-40B4-BE49-F238E27FC236}">
                  <a16:creationId xmlns:a16="http://schemas.microsoft.com/office/drawing/2014/main" id="{93AEE2EE-FC22-4A0C-90A0-DD46A35B5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736"/>
              <a:ext cx="273" cy="294"/>
            </a:xfrm>
            <a:prstGeom prst="ellips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9988" name="Line 29">
              <a:extLst>
                <a:ext uri="{FF2B5EF4-FFF2-40B4-BE49-F238E27FC236}">
                  <a16:creationId xmlns:a16="http://schemas.microsoft.com/office/drawing/2014/main" id="{920EDD90-548F-44BE-9AF5-F989926E9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880"/>
              <a:ext cx="432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 anchor="ctr"/>
            <a:lstStyle/>
            <a:p>
              <a:pPr algn="ctr"/>
              <a:endParaRPr lang="zh-CN" altLang="en-US"/>
            </a:p>
          </p:txBody>
        </p:sp>
        <p:sp>
          <p:nvSpPr>
            <p:cNvPr id="39989" name="Rectangle 30">
              <a:extLst>
                <a:ext uri="{FF2B5EF4-FFF2-40B4-BE49-F238E27FC236}">
                  <a16:creationId xmlns:a16="http://schemas.microsoft.com/office/drawing/2014/main" id="{182F73A0-A131-403F-B8E7-C73488AC2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64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90" name="Line 31">
              <a:extLst>
                <a:ext uri="{FF2B5EF4-FFF2-40B4-BE49-F238E27FC236}">
                  <a16:creationId xmlns:a16="http://schemas.microsoft.com/office/drawing/2014/main" id="{E4E184F5-0B43-424A-BB84-8A3817F5CE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024"/>
              <a:ext cx="0" cy="33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941" name="Group 32">
            <a:extLst>
              <a:ext uri="{FF2B5EF4-FFF2-40B4-BE49-F238E27FC236}">
                <a16:creationId xmlns:a16="http://schemas.microsoft.com/office/drawing/2014/main" id="{A717510F-38D8-42AD-9023-79B0C830DA98}"/>
              </a:ext>
            </a:extLst>
          </p:cNvPr>
          <p:cNvGrpSpPr>
            <a:grpSpLocks/>
          </p:cNvGrpSpPr>
          <p:nvPr/>
        </p:nvGrpSpPr>
        <p:grpSpPr bwMode="auto">
          <a:xfrm>
            <a:off x="317202" y="2978887"/>
            <a:ext cx="4114800" cy="2819400"/>
            <a:chOff x="3024" y="1008"/>
            <a:chExt cx="2592" cy="1776"/>
          </a:xfrm>
        </p:grpSpPr>
        <p:sp>
          <p:nvSpPr>
            <p:cNvPr id="39942" name="Oval 33">
              <a:extLst>
                <a:ext uri="{FF2B5EF4-FFF2-40B4-BE49-F238E27FC236}">
                  <a16:creationId xmlns:a16="http://schemas.microsoft.com/office/drawing/2014/main" id="{90814B2A-8E37-447F-81B1-ABD2812FE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102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39943" name="Group 34">
              <a:extLst>
                <a:ext uri="{FF2B5EF4-FFF2-40B4-BE49-F238E27FC236}">
                  <a16:creationId xmlns:a16="http://schemas.microsoft.com/office/drawing/2014/main" id="{8FA85E8E-5AA0-43D4-9483-D29D930EA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3" y="2102"/>
              <a:ext cx="273" cy="294"/>
              <a:chOff x="7120" y="12162"/>
              <a:chExt cx="425" cy="425"/>
            </a:xfrm>
          </p:grpSpPr>
          <p:sp>
            <p:nvSpPr>
              <p:cNvPr id="39964" name="Oval 35">
                <a:extLst>
                  <a:ext uri="{FF2B5EF4-FFF2-40B4-BE49-F238E27FC236}">
                    <a16:creationId xmlns:a16="http://schemas.microsoft.com/office/drawing/2014/main" id="{98BDEFB0-0AF8-4239-9473-9A105D201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65" name="Oval 36">
                <a:extLst>
                  <a:ext uri="{FF2B5EF4-FFF2-40B4-BE49-F238E27FC236}">
                    <a16:creationId xmlns:a16="http://schemas.microsoft.com/office/drawing/2014/main" id="{06F37993-D497-41B9-9547-5927E44E2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39944" name="Line 37">
              <a:extLst>
                <a:ext uri="{FF2B5EF4-FFF2-40B4-BE49-F238E27FC236}">
                  <a16:creationId xmlns:a16="http://schemas.microsoft.com/office/drawing/2014/main" id="{48482BCF-82BD-460B-8A76-EEF785244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27"/>
              <a:ext cx="6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4400" tIns="28800" rIns="144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45" name="Line 38">
              <a:extLst>
                <a:ext uri="{FF2B5EF4-FFF2-40B4-BE49-F238E27FC236}">
                  <a16:creationId xmlns:a16="http://schemas.microsoft.com/office/drawing/2014/main" id="{3A29310F-E7DF-4AC7-AE46-59E1626E1B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239"/>
              <a:ext cx="54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46" name="Rectangle 39">
              <a:extLst>
                <a:ext uri="{FF2B5EF4-FFF2-40B4-BE49-F238E27FC236}">
                  <a16:creationId xmlns:a16="http://schemas.microsoft.com/office/drawing/2014/main" id="{3382C4D5-8076-495F-8000-472786338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92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39947" name="Rectangle 40">
              <a:extLst>
                <a:ext uri="{FF2B5EF4-FFF2-40B4-BE49-F238E27FC236}">
                  <a16:creationId xmlns:a16="http://schemas.microsoft.com/office/drawing/2014/main" id="{ABB987BE-74D4-4FEB-829B-DEAE4AD9B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5" y="1999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48" name="Line 41">
              <a:extLst>
                <a:ext uri="{FF2B5EF4-FFF2-40B4-BE49-F238E27FC236}">
                  <a16:creationId xmlns:a16="http://schemas.microsoft.com/office/drawing/2014/main" id="{A30310C5-A5E0-4C93-A845-19D167EB3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8" y="2240"/>
              <a:ext cx="54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49" name="Freeform 42">
              <a:extLst>
                <a:ext uri="{FF2B5EF4-FFF2-40B4-BE49-F238E27FC236}">
                  <a16:creationId xmlns:a16="http://schemas.microsoft.com/office/drawing/2014/main" id="{F28BFCD9-165C-4036-B64C-F9782BC68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227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50" name="Oval 43">
              <a:extLst>
                <a:ext uri="{FF2B5EF4-FFF2-40B4-BE49-F238E27FC236}">
                  <a16:creationId xmlns:a16="http://schemas.microsoft.com/office/drawing/2014/main" id="{96762FAE-0C73-448C-AC43-DA555B2ED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088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51" name="Freeform 44">
              <a:extLst>
                <a:ext uri="{FF2B5EF4-FFF2-40B4-BE49-F238E27FC236}">
                  <a16:creationId xmlns:a16="http://schemas.microsoft.com/office/drawing/2014/main" id="{C2A8EAB7-8975-458D-9477-44338D7FB8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18" y="2397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52" name="Rectangle 45">
              <a:extLst>
                <a:ext uri="{FF2B5EF4-FFF2-40B4-BE49-F238E27FC236}">
                  <a16:creationId xmlns:a16="http://schemas.microsoft.com/office/drawing/2014/main" id="{F3DB2229-D994-4051-8BD0-28648778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" y="254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53" name="Rectangle 46">
              <a:extLst>
                <a:ext uri="{FF2B5EF4-FFF2-40B4-BE49-F238E27FC236}">
                  <a16:creationId xmlns:a16="http://schemas.microsoft.com/office/drawing/2014/main" id="{7F2AE91A-5B77-4840-85B7-2C4781B65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203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54" name="Rectangle 47">
              <a:extLst>
                <a:ext uri="{FF2B5EF4-FFF2-40B4-BE49-F238E27FC236}">
                  <a16:creationId xmlns:a16="http://schemas.microsoft.com/office/drawing/2014/main" id="{42B1C884-11D1-413D-A902-03EB11242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169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55" name="Freeform 48">
              <a:extLst>
                <a:ext uri="{FF2B5EF4-FFF2-40B4-BE49-F238E27FC236}">
                  <a16:creationId xmlns:a16="http://schemas.microsoft.com/office/drawing/2014/main" id="{0E7298EA-CBB6-4016-812F-EEBBA229A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2316"/>
              <a:ext cx="578" cy="106"/>
            </a:xfrm>
            <a:custGeom>
              <a:avLst/>
              <a:gdLst>
                <a:gd name="T0" fmla="*/ 1 w 900"/>
                <a:gd name="T1" fmla="*/ 0 h 154"/>
                <a:gd name="T2" fmla="*/ 1 w 900"/>
                <a:gd name="T3" fmla="*/ 1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56" name="Rectangle 49">
              <a:extLst>
                <a:ext uri="{FF2B5EF4-FFF2-40B4-BE49-F238E27FC236}">
                  <a16:creationId xmlns:a16="http://schemas.microsoft.com/office/drawing/2014/main" id="{2D5CDDC9-3B4E-41C2-B663-EF9566041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" y="2353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57" name="Rectangle 50">
              <a:extLst>
                <a:ext uri="{FF2B5EF4-FFF2-40B4-BE49-F238E27FC236}">
                  <a16:creationId xmlns:a16="http://schemas.microsoft.com/office/drawing/2014/main" id="{E615116D-B4EE-4202-9523-35F4D703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1008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58" name="Oval 51">
              <a:extLst>
                <a:ext uri="{FF2B5EF4-FFF2-40B4-BE49-F238E27FC236}">
                  <a16:creationId xmlns:a16="http://schemas.microsoft.com/office/drawing/2014/main" id="{931AFF97-3073-45B0-97ED-8EDE20CAB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1467"/>
              <a:ext cx="273" cy="294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9959" name="Line 52">
              <a:extLst>
                <a:ext uri="{FF2B5EF4-FFF2-40B4-BE49-F238E27FC236}">
                  <a16:creationId xmlns:a16="http://schemas.microsoft.com/office/drawing/2014/main" id="{3E95EDE8-9DB5-4910-A5E6-3E18391D4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3" y="1676"/>
              <a:ext cx="607" cy="4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60" name="Line 53">
              <a:extLst>
                <a:ext uri="{FF2B5EF4-FFF2-40B4-BE49-F238E27FC236}">
                  <a16:creationId xmlns:a16="http://schemas.microsoft.com/office/drawing/2014/main" id="{DE33B3C4-697D-436F-9DC0-609BD9156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4" y="1778"/>
              <a:ext cx="0" cy="31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61" name="Line 54">
              <a:extLst>
                <a:ext uri="{FF2B5EF4-FFF2-40B4-BE49-F238E27FC236}">
                  <a16:creationId xmlns:a16="http://schemas.microsoft.com/office/drawing/2014/main" id="{6E8C7AAA-988E-4DEE-B7D9-91FE10B3B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87" y="1666"/>
              <a:ext cx="607" cy="4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39962" name="Rectangle 55">
              <a:extLst>
                <a:ext uri="{FF2B5EF4-FFF2-40B4-BE49-F238E27FC236}">
                  <a16:creationId xmlns:a16="http://schemas.microsoft.com/office/drawing/2014/main" id="{640C7D7A-6FEE-4B54-8798-C0AD36055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5" y="1690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9963" name="Rectangle 56">
              <a:extLst>
                <a:ext uri="{FF2B5EF4-FFF2-40B4-BE49-F238E27FC236}">
                  <a16:creationId xmlns:a16="http://schemas.microsoft.com/office/drawing/2014/main" id="{523F2982-B5AB-41A2-B1B6-C7DBCB17E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74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1A3698-9019-E70B-24C2-1ED56594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D263-CD45-442C-BA23-A85F11DEA94D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7A9418-3BD3-D6FB-4884-8FB9C2F9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296B5-1879-9C26-DCA8-10131DAB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59BFB07-A038-4D0E-8893-6727C8C42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68492F8-0C9E-472A-8909-92743AB04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串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zh-CN" altLang="en-US"/>
              <a:t>可</a:t>
            </a:r>
            <a:r>
              <a:rPr lang="zh-CN" altLang="en-US">
                <a:solidFill>
                  <a:schemeClr val="accent2"/>
                </a:solidFill>
              </a:rPr>
              <a:t>区别</a:t>
            </a:r>
            <a:r>
              <a:rPr lang="zh-CN" altLang="en-US"/>
              <a:t>状态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zh-CN" altLang="en-US"/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zh-CN" altLang="en-US"/>
              <a:t>：对该</a:t>
            </a:r>
            <a:r>
              <a:rPr lang="en-US" altLang="zh-CN"/>
              <a:t>DFA</a:t>
            </a:r>
            <a:r>
              <a:rPr lang="zh-CN" altLang="en-US"/>
              <a:t>，从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zh-CN" altLang="en-US"/>
              <a:t>出发，输入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zh-CN" altLang="en-US"/>
              <a:t>，最终停留在某个接受状态；而从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zh-CN" altLang="en-US"/>
              <a:t>出发，输入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zh-CN" altLang="en-US"/>
              <a:t>，最终停留在非接受状态，或者反过来。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accent2"/>
                </a:solidFill>
              </a:rPr>
              <a:t>不可区别的状态</a:t>
            </a:r>
            <a:r>
              <a:rPr lang="zh-CN" altLang="en-US"/>
              <a:t>（即</a:t>
            </a:r>
            <a:r>
              <a:rPr lang="zh-CN" altLang="en-US">
                <a:solidFill>
                  <a:schemeClr val="accent2"/>
                </a:solidFill>
              </a:rPr>
              <a:t>等价</a:t>
            </a:r>
            <a:r>
              <a:rPr lang="zh-CN" altLang="en-US"/>
              <a:t>的状态）：找不到任何串来区别两个状态。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zh-CN" altLang="en-US"/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B</a:t>
            </a:r>
            <a:r>
              <a:rPr lang="zh-CN" altLang="en-US"/>
              <a:t>是可区别的状态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（由串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/>
              <a:t>区别）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zh-CN" altLang="en-US"/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zh-CN" altLang="en-US"/>
              <a:t>是不可区别的状态</a:t>
            </a:r>
          </a:p>
          <a:p>
            <a:pPr lvl="1" eaLnBrk="1" hangingPunct="1">
              <a:lnSpc>
                <a:spcPct val="100000"/>
              </a:lnSpc>
            </a:pPr>
            <a:endParaRPr lang="zh-CN" altLang="en-US"/>
          </a:p>
          <a:p>
            <a:pPr lvl="1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</a:p>
        </p:txBody>
      </p:sp>
      <p:grpSp>
        <p:nvGrpSpPr>
          <p:cNvPr id="40964" name="Group 4">
            <a:extLst>
              <a:ext uri="{FF2B5EF4-FFF2-40B4-BE49-F238E27FC236}">
                <a16:creationId xmlns:a16="http://schemas.microsoft.com/office/drawing/2014/main" id="{84B9A661-B1EC-4FF6-A872-877028C6E883}"/>
              </a:ext>
            </a:extLst>
          </p:cNvPr>
          <p:cNvGrpSpPr>
            <a:grpSpLocks/>
          </p:cNvGrpSpPr>
          <p:nvPr/>
        </p:nvGrpSpPr>
        <p:grpSpPr bwMode="auto">
          <a:xfrm>
            <a:off x="4667693" y="3432596"/>
            <a:ext cx="4114800" cy="2819400"/>
            <a:chOff x="1536" y="2352"/>
            <a:chExt cx="2592" cy="1776"/>
          </a:xfrm>
        </p:grpSpPr>
        <p:sp>
          <p:nvSpPr>
            <p:cNvPr id="40966" name="Oval 5">
              <a:extLst>
                <a:ext uri="{FF2B5EF4-FFF2-40B4-BE49-F238E27FC236}">
                  <a16:creationId xmlns:a16="http://schemas.microsoft.com/office/drawing/2014/main" id="{2805AC9A-CE25-477F-80A2-A2EC778A6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3446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0967" name="Group 6">
              <a:extLst>
                <a:ext uri="{FF2B5EF4-FFF2-40B4-BE49-F238E27FC236}">
                  <a16:creationId xmlns:a16="http://schemas.microsoft.com/office/drawing/2014/main" id="{D925062D-5EE7-4A48-941C-6E7EC8BFC9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5" y="3446"/>
              <a:ext cx="273" cy="294"/>
              <a:chOff x="7120" y="12162"/>
              <a:chExt cx="425" cy="425"/>
            </a:xfrm>
          </p:grpSpPr>
          <p:sp>
            <p:nvSpPr>
              <p:cNvPr id="40988" name="Oval 7">
                <a:extLst>
                  <a:ext uri="{FF2B5EF4-FFF2-40B4-BE49-F238E27FC236}">
                    <a16:creationId xmlns:a16="http://schemas.microsoft.com/office/drawing/2014/main" id="{1675697A-13CF-4F0A-A5BC-FB3E79A5A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989" name="Oval 8">
                <a:extLst>
                  <a:ext uri="{FF2B5EF4-FFF2-40B4-BE49-F238E27FC236}">
                    <a16:creationId xmlns:a16="http://schemas.microsoft.com/office/drawing/2014/main" id="{88D6C8BA-F557-4BF8-9830-ED4D7A310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0968" name="Line 9">
              <a:extLst>
                <a:ext uri="{FF2B5EF4-FFF2-40B4-BE49-F238E27FC236}">
                  <a16:creationId xmlns:a16="http://schemas.microsoft.com/office/drawing/2014/main" id="{787D02FF-A0B8-4074-82BE-7ECA8D3F0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571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4400" tIns="28800" rIns="144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69" name="Line 10">
              <a:extLst>
                <a:ext uri="{FF2B5EF4-FFF2-40B4-BE49-F238E27FC236}">
                  <a16:creationId xmlns:a16="http://schemas.microsoft.com/office/drawing/2014/main" id="{51065862-07F4-497F-9595-AEBD66F8D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2" y="3583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70" name="Rectangle 11">
              <a:extLst>
                <a:ext uri="{FF2B5EF4-FFF2-40B4-BE49-F238E27FC236}">
                  <a16:creationId xmlns:a16="http://schemas.microsoft.com/office/drawing/2014/main" id="{5E8E0F41-D87B-4C87-898F-307CC27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36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40971" name="Rectangle 12">
              <a:extLst>
                <a:ext uri="{FF2B5EF4-FFF2-40B4-BE49-F238E27FC236}">
                  <a16:creationId xmlns:a16="http://schemas.microsoft.com/office/drawing/2014/main" id="{F0910991-4578-4481-987D-5526135E1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" y="3343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0972" name="Line 13">
              <a:extLst>
                <a:ext uri="{FF2B5EF4-FFF2-40B4-BE49-F238E27FC236}">
                  <a16:creationId xmlns:a16="http://schemas.microsoft.com/office/drawing/2014/main" id="{BD24EB0C-B464-49B2-A24B-C6BB792EF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0" y="3584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73" name="Freeform 14">
              <a:extLst>
                <a:ext uri="{FF2B5EF4-FFF2-40B4-BE49-F238E27FC236}">
                  <a16:creationId xmlns:a16="http://schemas.microsoft.com/office/drawing/2014/main" id="{D821C664-5A18-499A-A079-24FC4C645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571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74" name="Oval 15">
              <a:extLst>
                <a:ext uri="{FF2B5EF4-FFF2-40B4-BE49-F238E27FC236}">
                  <a16:creationId xmlns:a16="http://schemas.microsoft.com/office/drawing/2014/main" id="{1194C150-966F-4E7A-B6DF-FEA8E3B6E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432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0975" name="Freeform 16">
              <a:extLst>
                <a:ext uri="{FF2B5EF4-FFF2-40B4-BE49-F238E27FC236}">
                  <a16:creationId xmlns:a16="http://schemas.microsoft.com/office/drawing/2014/main" id="{314E7E7A-5088-4ADC-B844-54CCCFB9E82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30" y="3741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76" name="Rectangle 17">
              <a:extLst>
                <a:ext uri="{FF2B5EF4-FFF2-40B4-BE49-F238E27FC236}">
                  <a16:creationId xmlns:a16="http://schemas.microsoft.com/office/drawing/2014/main" id="{5E0BB45E-D7C7-45D3-B11F-2557FFB7D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" y="389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0977" name="Rectangle 18">
              <a:extLst>
                <a:ext uri="{FF2B5EF4-FFF2-40B4-BE49-F238E27FC236}">
                  <a16:creationId xmlns:a16="http://schemas.microsoft.com/office/drawing/2014/main" id="{9F08E7DF-35C6-4471-A83D-9651E6119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337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0978" name="Rectangle 19">
              <a:extLst>
                <a:ext uri="{FF2B5EF4-FFF2-40B4-BE49-F238E27FC236}">
                  <a16:creationId xmlns:a16="http://schemas.microsoft.com/office/drawing/2014/main" id="{A34DA97E-3A82-4FD9-B9C6-4C592153D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" y="303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0979" name="Freeform 20">
              <a:extLst>
                <a:ext uri="{FF2B5EF4-FFF2-40B4-BE49-F238E27FC236}">
                  <a16:creationId xmlns:a16="http://schemas.microsoft.com/office/drawing/2014/main" id="{FBB8F337-0E5E-46BF-B633-3A307C75C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3660"/>
              <a:ext cx="578" cy="106"/>
            </a:xfrm>
            <a:custGeom>
              <a:avLst/>
              <a:gdLst>
                <a:gd name="T0" fmla="*/ 1 w 900"/>
                <a:gd name="T1" fmla="*/ 0 h 154"/>
                <a:gd name="T2" fmla="*/ 1 w 900"/>
                <a:gd name="T3" fmla="*/ 1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80" name="Rectangle 21">
              <a:extLst>
                <a:ext uri="{FF2B5EF4-FFF2-40B4-BE49-F238E27FC236}">
                  <a16:creationId xmlns:a16="http://schemas.microsoft.com/office/drawing/2014/main" id="{5116E4D6-6B28-4175-A133-7F67FC253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3697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0981" name="Rectangle 22">
              <a:extLst>
                <a:ext uri="{FF2B5EF4-FFF2-40B4-BE49-F238E27FC236}">
                  <a16:creationId xmlns:a16="http://schemas.microsoft.com/office/drawing/2014/main" id="{D4FC7A76-0E02-40BD-8F37-B62FA7CF4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35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0982" name="Oval 23">
              <a:extLst>
                <a:ext uri="{FF2B5EF4-FFF2-40B4-BE49-F238E27FC236}">
                  <a16:creationId xmlns:a16="http://schemas.microsoft.com/office/drawing/2014/main" id="{7B4090B6-0FAA-41F3-BE78-6B6C383EF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2811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0983" name="Line 24">
              <a:extLst>
                <a:ext uri="{FF2B5EF4-FFF2-40B4-BE49-F238E27FC236}">
                  <a16:creationId xmlns:a16="http://schemas.microsoft.com/office/drawing/2014/main" id="{E770A411-2923-498A-BEF2-3B403E918A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5" y="3020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84" name="Line 25">
              <a:extLst>
                <a:ext uri="{FF2B5EF4-FFF2-40B4-BE49-F238E27FC236}">
                  <a16:creationId xmlns:a16="http://schemas.microsoft.com/office/drawing/2014/main" id="{7AF8FB03-5924-4ECB-BDD9-1FC8DA536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6" y="3122"/>
              <a:ext cx="0" cy="3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85" name="Line 26">
              <a:extLst>
                <a:ext uri="{FF2B5EF4-FFF2-40B4-BE49-F238E27FC236}">
                  <a16:creationId xmlns:a16="http://schemas.microsoft.com/office/drawing/2014/main" id="{483EABDB-3D49-4AF2-BED5-D938F1174B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99" y="3010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0986" name="Rectangle 27">
              <a:extLst>
                <a:ext uri="{FF2B5EF4-FFF2-40B4-BE49-F238E27FC236}">
                  <a16:creationId xmlns:a16="http://schemas.microsoft.com/office/drawing/2014/main" id="{F7E82B3E-F392-4793-AA53-9B907C478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303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0987" name="Rectangle 28">
              <a:extLst>
                <a:ext uri="{FF2B5EF4-FFF2-40B4-BE49-F238E27FC236}">
                  <a16:creationId xmlns:a16="http://schemas.microsoft.com/office/drawing/2014/main" id="{69EE8916-B838-481C-9716-2287A4FA1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3086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179229" name="Text Box 29">
            <a:extLst>
              <a:ext uri="{FF2B5EF4-FFF2-40B4-BE49-F238E27FC236}">
                <a16:creationId xmlns:a16="http://schemas.microsoft.com/office/drawing/2014/main" id="{CF77134F-0075-4A37-B851-C912C7A3A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04" y="5167734"/>
            <a:ext cx="3630651" cy="15354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        由于从两个不可区别的状态开始，他们接受的串都是相同的，因此两状态可以合并。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71B316-E914-2152-F011-2B3D8E0B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C0BD-28C7-4107-8D8D-8468072CCD93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4FDAD-398F-DB6F-6538-783A34D1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133C3B-9F19-A6A8-29AA-3815631C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2AD7DB6-520F-4578-AB18-EE08F7C69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196C8C2-D528-4427-A07A-E29FABE75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极小化</a:t>
            </a:r>
            <a:r>
              <a:rPr lang="en-US" altLang="zh-CN" dirty="0"/>
              <a:t>DFA</a:t>
            </a:r>
            <a:r>
              <a:rPr lang="zh-CN" altLang="en-US" dirty="0"/>
              <a:t>状态数算法思路：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把</a:t>
            </a:r>
            <a:r>
              <a:rPr lang="en-US" altLang="zh-CN" dirty="0"/>
              <a:t>DFA</a:t>
            </a:r>
            <a:r>
              <a:rPr lang="zh-CN" altLang="en-US" dirty="0"/>
              <a:t>状态分成一些不相交的子集，子集内的状态不可区别，不同子集的状态可区别。每个子集合并成一个状态。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初始，划分成两个子集：接受状态子集和非接受状态子集（两者可由空串区别）。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检查每个子集，若还可划分，则继续划分子集。直到没有任何一个子集可划分为止。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2D28F9-686F-701A-799E-1C97DF3B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5B76-571A-4D3E-886C-45BE3BEE3F4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154D47-A926-0FBE-DFB3-72488226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AE4AFD-58C5-F61E-ACCB-DA7CAAA2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6528E2D-852C-4627-B5DB-34B69C1BE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908A308-5318-40EE-A9CC-D0D79D3B5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极小化</a:t>
            </a:r>
            <a:r>
              <a:rPr lang="en-US" altLang="zh-CN" dirty="0"/>
              <a:t>DFA</a:t>
            </a:r>
            <a:r>
              <a:rPr lang="zh-CN" altLang="en-US" dirty="0"/>
              <a:t>状态数算法：</a:t>
            </a:r>
          </a:p>
          <a:p>
            <a:pPr lvl="1" eaLnBrk="1" hangingPunct="1"/>
            <a:r>
              <a:rPr lang="zh-CN" altLang="en-US" dirty="0"/>
              <a:t>输入：</a:t>
            </a:r>
            <a:r>
              <a:rPr lang="en-US" altLang="zh-CN" b="1" dirty="0">
                <a:latin typeface="Times New Roman" panose="02020603050405020304" pitchFamily="18" charset="0"/>
              </a:rPr>
              <a:t>DFA M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=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,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move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输出：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DFA 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它与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接受同样语言，且状态数最小。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方法：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初始划分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用下面过程对构造新的划分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new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6C9D99-3543-DEAD-5477-DDD846E7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C2F9-A2E8-481F-A36A-D4EE6CEF73C1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205974-9E58-07D8-0276-B7987F7E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8BDC9-2988-0743-0466-7BB5ED75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28071D3-105A-4E8E-9902-8E353AC98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77C64AC-7C4B-4853-859D-68031B7FF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极小化</a:t>
            </a:r>
            <a:r>
              <a:rPr lang="en-US" altLang="zh-CN" dirty="0"/>
              <a:t>DFA</a:t>
            </a:r>
            <a:r>
              <a:rPr lang="zh-CN" altLang="en-US" dirty="0"/>
              <a:t>状态数算法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zh-CN" altLang="en-US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方法：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用下面过程对构造新的划分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new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for (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中的每个子集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把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划分成若干子集：若要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的两个状态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在同一子集中，当且仅当对任意输入符号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转换是到的同一子集中。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在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new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中，用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的划分代替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lvl="1" eaLnBrk="1" hangingPunct="1"/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7659D2-4C9C-57E7-1121-9301300E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071A-1013-49C4-83BF-D36FF9AA06F1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62DA1D-AD38-B3BF-15E5-F9739ECC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2961B2-6768-6204-732E-E452EF5E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D114B1D-9475-4187-A5D4-BF243A282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C04B89C-2CC4-47EE-BB08-D1C9904EF7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极小化</a:t>
            </a:r>
            <a:r>
              <a:rPr lang="en-US" altLang="zh-CN" dirty="0"/>
              <a:t>DFA</a:t>
            </a:r>
            <a:r>
              <a:rPr lang="zh-CN" altLang="en-US" dirty="0"/>
              <a:t>状态数算法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zh-CN" altLang="en-US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方法：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zh-CN" altLang="en-US" dirty="0"/>
              <a:t>如果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new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=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，则令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final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 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，执行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；否则，令</a:t>
            </a:r>
            <a:r>
              <a:rPr lang="zh-CN" alt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= 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new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，执行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在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final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的每个状态子集中选一个状态代表它，这些状态就是最简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DFA M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的状态。相应要修改状态转换表。包含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的状态子集的代表是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M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开始状态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，原先属于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集合的代表是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M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接受状态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lvl="2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(5)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去掉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M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中的死状态和不可及的状态。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baseline="-25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78B9EB-FB07-9C5A-7ACE-37FD3A17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606A4-15C4-4B11-8761-76982617019D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308821-7B72-24B9-DF34-3D3D903D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6105F8-DE84-6C77-C66F-8F4DC2F1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0D30C34-FF62-4ADA-9567-C12E77860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91A33-C0ED-487E-B37C-600AF9FD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方法：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{A, B, C}, {D}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move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({A, B, C},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= {B}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move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({A, B, C},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) = {C, D}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move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({A,  C},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) = {C}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move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({B},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) = {D}</a:t>
            </a:r>
            <a:endParaRPr lang="en-US" altLang="zh-CN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{A, C}, {B}, {D}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move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({A, C},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= {B}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move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({A, C},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= {C}</a:t>
            </a:r>
          </a:p>
          <a:p>
            <a:endParaRPr lang="zh-CN" altLang="en-US" dirty="0"/>
          </a:p>
        </p:txBody>
      </p:sp>
      <p:grpSp>
        <p:nvGrpSpPr>
          <p:cNvPr id="46085" name="Group 5">
            <a:extLst>
              <a:ext uri="{FF2B5EF4-FFF2-40B4-BE49-F238E27FC236}">
                <a16:creationId xmlns:a16="http://schemas.microsoft.com/office/drawing/2014/main" id="{15947A6B-1DE5-48D2-B3B8-6752BAA103D0}"/>
              </a:ext>
            </a:extLst>
          </p:cNvPr>
          <p:cNvGrpSpPr>
            <a:grpSpLocks/>
          </p:cNvGrpSpPr>
          <p:nvPr/>
        </p:nvGrpSpPr>
        <p:grpSpPr bwMode="auto">
          <a:xfrm>
            <a:off x="4784578" y="2695353"/>
            <a:ext cx="4114800" cy="2819400"/>
            <a:chOff x="1536" y="2352"/>
            <a:chExt cx="2592" cy="1776"/>
          </a:xfrm>
        </p:grpSpPr>
        <p:sp>
          <p:nvSpPr>
            <p:cNvPr id="46088" name="Oval 6">
              <a:extLst>
                <a:ext uri="{FF2B5EF4-FFF2-40B4-BE49-F238E27FC236}">
                  <a16:creationId xmlns:a16="http://schemas.microsoft.com/office/drawing/2014/main" id="{7A36B0B4-20FA-424C-BF3F-9D770EEFE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3446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6089" name="Group 7">
              <a:extLst>
                <a:ext uri="{FF2B5EF4-FFF2-40B4-BE49-F238E27FC236}">
                  <a16:creationId xmlns:a16="http://schemas.microsoft.com/office/drawing/2014/main" id="{438BEAD7-DDFB-4735-9FA1-CB99BEB71B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5" y="3446"/>
              <a:ext cx="273" cy="294"/>
              <a:chOff x="7120" y="12162"/>
              <a:chExt cx="425" cy="425"/>
            </a:xfrm>
          </p:grpSpPr>
          <p:sp>
            <p:nvSpPr>
              <p:cNvPr id="46110" name="Oval 8">
                <a:extLst>
                  <a:ext uri="{FF2B5EF4-FFF2-40B4-BE49-F238E27FC236}">
                    <a16:creationId xmlns:a16="http://schemas.microsoft.com/office/drawing/2014/main" id="{652A3DA4-08E5-46D4-84A3-0EC081790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1" name="Oval 9">
                <a:extLst>
                  <a:ext uri="{FF2B5EF4-FFF2-40B4-BE49-F238E27FC236}">
                    <a16:creationId xmlns:a16="http://schemas.microsoft.com/office/drawing/2014/main" id="{75C18E08-7651-4F04-86BE-962391F7E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6090" name="Line 10">
              <a:extLst>
                <a:ext uri="{FF2B5EF4-FFF2-40B4-BE49-F238E27FC236}">
                  <a16:creationId xmlns:a16="http://schemas.microsoft.com/office/drawing/2014/main" id="{83028EBA-FF69-446B-9BB1-DB37D8C51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571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4400" tIns="28800" rIns="144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091" name="Line 11">
              <a:extLst>
                <a:ext uri="{FF2B5EF4-FFF2-40B4-BE49-F238E27FC236}">
                  <a16:creationId xmlns:a16="http://schemas.microsoft.com/office/drawing/2014/main" id="{21AA2D1E-5FBC-4B56-9ABD-4885F2AF9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2" y="3583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092" name="Rectangle 12">
              <a:extLst>
                <a:ext uri="{FF2B5EF4-FFF2-40B4-BE49-F238E27FC236}">
                  <a16:creationId xmlns:a16="http://schemas.microsoft.com/office/drawing/2014/main" id="{CB79BA96-627D-4E23-AD83-6CB82123E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36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46093" name="Rectangle 13">
              <a:extLst>
                <a:ext uri="{FF2B5EF4-FFF2-40B4-BE49-F238E27FC236}">
                  <a16:creationId xmlns:a16="http://schemas.microsoft.com/office/drawing/2014/main" id="{DBED2B40-158F-4FFD-8FAF-5ABA98B5A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" y="3343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6094" name="Line 14">
              <a:extLst>
                <a:ext uri="{FF2B5EF4-FFF2-40B4-BE49-F238E27FC236}">
                  <a16:creationId xmlns:a16="http://schemas.microsoft.com/office/drawing/2014/main" id="{7A4DD71C-B01A-4127-B7E3-792BFC99C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0" y="3584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095" name="Freeform 15">
              <a:extLst>
                <a:ext uri="{FF2B5EF4-FFF2-40B4-BE49-F238E27FC236}">
                  <a16:creationId xmlns:a16="http://schemas.microsoft.com/office/drawing/2014/main" id="{B0B50612-275B-4D18-B35C-A7DA1022B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571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096" name="Oval 16">
              <a:extLst>
                <a:ext uri="{FF2B5EF4-FFF2-40B4-BE49-F238E27FC236}">
                  <a16:creationId xmlns:a16="http://schemas.microsoft.com/office/drawing/2014/main" id="{8E76314B-9009-488B-9C67-EA384C9ED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432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6097" name="Freeform 17">
              <a:extLst>
                <a:ext uri="{FF2B5EF4-FFF2-40B4-BE49-F238E27FC236}">
                  <a16:creationId xmlns:a16="http://schemas.microsoft.com/office/drawing/2014/main" id="{82BC4FB2-24A0-4576-9770-03E1CB5862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30" y="3741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098" name="Rectangle 18">
              <a:extLst>
                <a:ext uri="{FF2B5EF4-FFF2-40B4-BE49-F238E27FC236}">
                  <a16:creationId xmlns:a16="http://schemas.microsoft.com/office/drawing/2014/main" id="{0794CC75-8A99-4B74-85C7-171E96BAB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" y="389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6099" name="Rectangle 19">
              <a:extLst>
                <a:ext uri="{FF2B5EF4-FFF2-40B4-BE49-F238E27FC236}">
                  <a16:creationId xmlns:a16="http://schemas.microsoft.com/office/drawing/2014/main" id="{FE413D0E-46C5-47FD-97F7-F0FD628E5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337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6100" name="Rectangle 20">
              <a:extLst>
                <a:ext uri="{FF2B5EF4-FFF2-40B4-BE49-F238E27FC236}">
                  <a16:creationId xmlns:a16="http://schemas.microsoft.com/office/drawing/2014/main" id="{54B37356-B3DF-4F80-B6A3-7E5E287F3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" y="303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6101" name="Freeform 21">
              <a:extLst>
                <a:ext uri="{FF2B5EF4-FFF2-40B4-BE49-F238E27FC236}">
                  <a16:creationId xmlns:a16="http://schemas.microsoft.com/office/drawing/2014/main" id="{B7DFECC0-612C-45A5-A623-99DB025A6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3660"/>
              <a:ext cx="578" cy="106"/>
            </a:xfrm>
            <a:custGeom>
              <a:avLst/>
              <a:gdLst>
                <a:gd name="T0" fmla="*/ 1 w 900"/>
                <a:gd name="T1" fmla="*/ 0 h 154"/>
                <a:gd name="T2" fmla="*/ 1 w 900"/>
                <a:gd name="T3" fmla="*/ 1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102" name="Rectangle 22">
              <a:extLst>
                <a:ext uri="{FF2B5EF4-FFF2-40B4-BE49-F238E27FC236}">
                  <a16:creationId xmlns:a16="http://schemas.microsoft.com/office/drawing/2014/main" id="{4C1ABA1D-F07F-411F-AD8E-2E5A2DA5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3697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6103" name="Rectangle 23">
              <a:extLst>
                <a:ext uri="{FF2B5EF4-FFF2-40B4-BE49-F238E27FC236}">
                  <a16:creationId xmlns:a16="http://schemas.microsoft.com/office/drawing/2014/main" id="{690688E1-4EFA-4386-8114-471C9699F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35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6104" name="Oval 24">
              <a:extLst>
                <a:ext uri="{FF2B5EF4-FFF2-40B4-BE49-F238E27FC236}">
                  <a16:creationId xmlns:a16="http://schemas.microsoft.com/office/drawing/2014/main" id="{FD8D3371-5C6B-4B6B-AEB4-726BD999E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2811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6105" name="Line 25">
              <a:extLst>
                <a:ext uri="{FF2B5EF4-FFF2-40B4-BE49-F238E27FC236}">
                  <a16:creationId xmlns:a16="http://schemas.microsoft.com/office/drawing/2014/main" id="{69C4802C-6CF8-449B-9E4C-81CC84543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5" y="3020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106" name="Line 26">
              <a:extLst>
                <a:ext uri="{FF2B5EF4-FFF2-40B4-BE49-F238E27FC236}">
                  <a16:creationId xmlns:a16="http://schemas.microsoft.com/office/drawing/2014/main" id="{A6FD6593-29B9-4F41-99EE-66032381D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6" y="3122"/>
              <a:ext cx="0" cy="3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107" name="Line 27">
              <a:extLst>
                <a:ext uri="{FF2B5EF4-FFF2-40B4-BE49-F238E27FC236}">
                  <a16:creationId xmlns:a16="http://schemas.microsoft.com/office/drawing/2014/main" id="{83D12FE7-226E-4310-9DEF-6DC8499984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99" y="3010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46108" name="Rectangle 28">
              <a:extLst>
                <a:ext uri="{FF2B5EF4-FFF2-40B4-BE49-F238E27FC236}">
                  <a16:creationId xmlns:a16="http://schemas.microsoft.com/office/drawing/2014/main" id="{6A0CAB6F-5CFA-4740-81BE-A475D5F15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303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6109" name="Rectangle 29">
              <a:extLst>
                <a:ext uri="{FF2B5EF4-FFF2-40B4-BE49-F238E27FC236}">
                  <a16:creationId xmlns:a16="http://schemas.microsoft.com/office/drawing/2014/main" id="{00B3622C-4F63-4E2D-B05F-85B662896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3086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181278" name="AutoShape 30">
            <a:extLst>
              <a:ext uri="{FF2B5EF4-FFF2-40B4-BE49-F238E27FC236}">
                <a16:creationId xmlns:a16="http://schemas.microsoft.com/office/drawing/2014/main" id="{D44F4F88-06AC-4EBD-85D8-55A78BC4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566" y="863974"/>
            <a:ext cx="3429000" cy="990600"/>
          </a:xfrm>
          <a:prstGeom prst="wedgeRoundRectCallout">
            <a:avLst>
              <a:gd name="adj1" fmla="val -93449"/>
              <a:gd name="adj2" fmla="val 62983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4000" tIns="28800" rIns="54000" bIns="28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每次确定的划分，集合之间都是可区分的。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D4A121-F43C-0D70-29F5-39893CAD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3DE4-1A0A-4ED9-A551-3C3257812DB9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E4BDBA-0AA6-0251-9107-AAB0FCF5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32C6E1-0AED-964E-2B4F-5BF108EB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7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9B5578D-7F0F-43B6-A09E-D431D0F97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99C04D71-4D4D-46B7-B3D3-E5B4DB52B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将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dirty="0"/>
              <a:t>作为</a:t>
            </a:r>
            <a:r>
              <a:rPr lang="en-US" altLang="zh-CN" b="1" dirty="0">
                <a:latin typeface="Times New Roman" panose="02020603050405020304" pitchFamily="18" charset="0"/>
              </a:rPr>
              <a:t>{A,C}</a:t>
            </a:r>
            <a:r>
              <a:rPr lang="zh-CN" altLang="en-US" dirty="0"/>
              <a:t>的代表，则转换表为：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907FBA-00F9-3AD4-0618-A738A37D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EE77-CAE6-4E79-B0DB-8E97945E1FA0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0B803-F586-82F2-04F7-3FDD1081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DC7E27-52B8-7D00-94C4-95882E12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  <p:grpSp>
        <p:nvGrpSpPr>
          <p:cNvPr id="47132" name="Group 4">
            <a:extLst>
              <a:ext uri="{FF2B5EF4-FFF2-40B4-BE49-F238E27FC236}">
                <a16:creationId xmlns:a16="http://schemas.microsoft.com/office/drawing/2014/main" id="{E85AE6A6-0B5B-4D90-89A4-AF9F0F696E9C}"/>
              </a:ext>
            </a:extLst>
          </p:cNvPr>
          <p:cNvGrpSpPr>
            <a:grpSpLocks/>
          </p:cNvGrpSpPr>
          <p:nvPr/>
        </p:nvGrpSpPr>
        <p:grpSpPr bwMode="auto">
          <a:xfrm>
            <a:off x="4400550" y="3800475"/>
            <a:ext cx="4114800" cy="2819400"/>
            <a:chOff x="1536" y="2352"/>
            <a:chExt cx="2592" cy="1776"/>
          </a:xfrm>
        </p:grpSpPr>
        <p:sp>
          <p:nvSpPr>
            <p:cNvPr id="47153" name="Oval 5">
              <a:extLst>
                <a:ext uri="{FF2B5EF4-FFF2-40B4-BE49-F238E27FC236}">
                  <a16:creationId xmlns:a16="http://schemas.microsoft.com/office/drawing/2014/main" id="{3F339293-82E0-4C70-A65B-A9861DE3D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3446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7154" name="Group 6">
              <a:extLst>
                <a:ext uri="{FF2B5EF4-FFF2-40B4-BE49-F238E27FC236}">
                  <a16:creationId xmlns:a16="http://schemas.microsoft.com/office/drawing/2014/main" id="{1A963C9B-E912-4C62-8190-5E2B3862F2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5" y="3446"/>
              <a:ext cx="273" cy="294"/>
              <a:chOff x="7120" y="12162"/>
              <a:chExt cx="425" cy="425"/>
            </a:xfrm>
          </p:grpSpPr>
          <p:sp>
            <p:nvSpPr>
              <p:cNvPr id="47175" name="Oval 7">
                <a:extLst>
                  <a:ext uri="{FF2B5EF4-FFF2-40B4-BE49-F238E27FC236}">
                    <a16:creationId xmlns:a16="http://schemas.microsoft.com/office/drawing/2014/main" id="{06A06517-6568-4CEE-B4BE-82F3EA5DE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76" name="Oval 8">
                <a:extLst>
                  <a:ext uri="{FF2B5EF4-FFF2-40B4-BE49-F238E27FC236}">
                    <a16:creationId xmlns:a16="http://schemas.microsoft.com/office/drawing/2014/main" id="{9694BAD2-1D2F-4776-9313-7B18A5D5A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7155" name="Line 9">
              <a:extLst>
                <a:ext uri="{FF2B5EF4-FFF2-40B4-BE49-F238E27FC236}">
                  <a16:creationId xmlns:a16="http://schemas.microsoft.com/office/drawing/2014/main" id="{D56E0B09-E9BA-4D1D-9F43-8F0811C50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571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4400" tIns="28800" rIns="14400" bIns="46800"/>
            <a:lstStyle/>
            <a:p>
              <a:endParaRPr lang="zh-CN" altLang="en-US"/>
            </a:p>
          </p:txBody>
        </p:sp>
        <p:sp>
          <p:nvSpPr>
            <p:cNvPr id="47156" name="Line 10">
              <a:extLst>
                <a:ext uri="{FF2B5EF4-FFF2-40B4-BE49-F238E27FC236}">
                  <a16:creationId xmlns:a16="http://schemas.microsoft.com/office/drawing/2014/main" id="{DCEA9605-98A9-4BC8-9EE3-0D8804AF1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2" y="3583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57" name="Rectangle 11">
              <a:extLst>
                <a:ext uri="{FF2B5EF4-FFF2-40B4-BE49-F238E27FC236}">
                  <a16:creationId xmlns:a16="http://schemas.microsoft.com/office/drawing/2014/main" id="{497A63AE-4D64-4292-AE06-950C76202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36"/>
              <a:ext cx="47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47158" name="Rectangle 12">
              <a:extLst>
                <a:ext uri="{FF2B5EF4-FFF2-40B4-BE49-F238E27FC236}">
                  <a16:creationId xmlns:a16="http://schemas.microsoft.com/office/drawing/2014/main" id="{074334A0-D5DC-446F-A438-C1D9571E8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" y="3343"/>
              <a:ext cx="22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59" name="Line 13">
              <a:extLst>
                <a:ext uri="{FF2B5EF4-FFF2-40B4-BE49-F238E27FC236}">
                  <a16:creationId xmlns:a16="http://schemas.microsoft.com/office/drawing/2014/main" id="{21F090CF-036F-462F-BFE0-155EF72112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0" y="3584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60" name="Freeform 14">
              <a:extLst>
                <a:ext uri="{FF2B5EF4-FFF2-40B4-BE49-F238E27FC236}">
                  <a16:creationId xmlns:a16="http://schemas.microsoft.com/office/drawing/2014/main" id="{D62B6B23-9CEF-4C60-B9DF-2610ECCF1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571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61" name="Oval 15">
              <a:extLst>
                <a:ext uri="{FF2B5EF4-FFF2-40B4-BE49-F238E27FC236}">
                  <a16:creationId xmlns:a16="http://schemas.microsoft.com/office/drawing/2014/main" id="{2915ABEE-3EAB-46CD-9AAF-3B853554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432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62" name="Freeform 16">
              <a:extLst>
                <a:ext uri="{FF2B5EF4-FFF2-40B4-BE49-F238E27FC236}">
                  <a16:creationId xmlns:a16="http://schemas.microsoft.com/office/drawing/2014/main" id="{1187842F-0D0B-42F2-8055-F6252C59DFE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30" y="3741"/>
              <a:ext cx="191" cy="23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63" name="Rectangle 17">
              <a:extLst>
                <a:ext uri="{FF2B5EF4-FFF2-40B4-BE49-F238E27FC236}">
                  <a16:creationId xmlns:a16="http://schemas.microsoft.com/office/drawing/2014/main" id="{8DA4049B-F0D1-498E-908C-A7F418375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" y="389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64" name="Rectangle 18">
              <a:extLst>
                <a:ext uri="{FF2B5EF4-FFF2-40B4-BE49-F238E27FC236}">
                  <a16:creationId xmlns:a16="http://schemas.microsoft.com/office/drawing/2014/main" id="{2BA52BCE-87A4-4CCA-9E2D-5758CB303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337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7165" name="Rectangle 19">
              <a:extLst>
                <a:ext uri="{FF2B5EF4-FFF2-40B4-BE49-F238E27FC236}">
                  <a16:creationId xmlns:a16="http://schemas.microsoft.com/office/drawing/2014/main" id="{C09DC978-BFAA-488D-B7C7-4FE5537BF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" y="303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7166" name="Freeform 20">
              <a:extLst>
                <a:ext uri="{FF2B5EF4-FFF2-40B4-BE49-F238E27FC236}">
                  <a16:creationId xmlns:a16="http://schemas.microsoft.com/office/drawing/2014/main" id="{F6403260-8FCE-4EA0-B6E5-5499F3813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3660"/>
              <a:ext cx="578" cy="106"/>
            </a:xfrm>
            <a:custGeom>
              <a:avLst/>
              <a:gdLst>
                <a:gd name="T0" fmla="*/ 1 w 900"/>
                <a:gd name="T1" fmla="*/ 0 h 154"/>
                <a:gd name="T2" fmla="*/ 1 w 900"/>
                <a:gd name="T3" fmla="*/ 1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67" name="Rectangle 21">
              <a:extLst>
                <a:ext uri="{FF2B5EF4-FFF2-40B4-BE49-F238E27FC236}">
                  <a16:creationId xmlns:a16="http://schemas.microsoft.com/office/drawing/2014/main" id="{C70D3F35-42FA-436C-B5DD-8C7B84800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3697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68" name="Rectangle 22">
              <a:extLst>
                <a:ext uri="{FF2B5EF4-FFF2-40B4-BE49-F238E27FC236}">
                  <a16:creationId xmlns:a16="http://schemas.microsoft.com/office/drawing/2014/main" id="{7F7A5B57-0D0A-45C7-AC23-90E518F92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352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7169" name="Oval 23">
              <a:extLst>
                <a:ext uri="{FF2B5EF4-FFF2-40B4-BE49-F238E27FC236}">
                  <a16:creationId xmlns:a16="http://schemas.microsoft.com/office/drawing/2014/main" id="{BD96FAAF-5F55-49D4-8ACF-C97DCA18A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2811"/>
              <a:ext cx="273" cy="29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7170" name="Line 24">
              <a:extLst>
                <a:ext uri="{FF2B5EF4-FFF2-40B4-BE49-F238E27FC236}">
                  <a16:creationId xmlns:a16="http://schemas.microsoft.com/office/drawing/2014/main" id="{9DA087AD-785C-4F55-94A1-0EB2FB205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5" y="3020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71" name="Line 25">
              <a:extLst>
                <a:ext uri="{FF2B5EF4-FFF2-40B4-BE49-F238E27FC236}">
                  <a16:creationId xmlns:a16="http://schemas.microsoft.com/office/drawing/2014/main" id="{EF157EE8-1B7E-491B-93D9-AA05CB5A2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6" y="3122"/>
              <a:ext cx="0" cy="3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72" name="Line 26">
              <a:extLst>
                <a:ext uri="{FF2B5EF4-FFF2-40B4-BE49-F238E27FC236}">
                  <a16:creationId xmlns:a16="http://schemas.microsoft.com/office/drawing/2014/main" id="{6C337FA0-6655-4188-874B-5EAB217C9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99" y="3010"/>
              <a:ext cx="607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73" name="Rectangle 27">
              <a:extLst>
                <a:ext uri="{FF2B5EF4-FFF2-40B4-BE49-F238E27FC236}">
                  <a16:creationId xmlns:a16="http://schemas.microsoft.com/office/drawing/2014/main" id="{080EE3CC-14B0-44F4-AABB-71276308D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3034"/>
              <a:ext cx="22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7174" name="Rectangle 28">
              <a:extLst>
                <a:ext uri="{FF2B5EF4-FFF2-40B4-BE49-F238E27FC236}">
                  <a16:creationId xmlns:a16="http://schemas.microsoft.com/office/drawing/2014/main" id="{14D0E0D4-50F0-4C12-94D2-E5147987C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3086"/>
              <a:ext cx="22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4" name="Group 53">
            <a:extLst>
              <a:ext uri="{FF2B5EF4-FFF2-40B4-BE49-F238E27FC236}">
                <a16:creationId xmlns:a16="http://schemas.microsoft.com/office/drawing/2014/main" id="{7D67E030-C900-4372-937D-E6AB1C9F4F1F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057400"/>
            <a:ext cx="4343400" cy="1905000"/>
            <a:chOff x="1632" y="576"/>
            <a:chExt cx="2736" cy="1200"/>
          </a:xfrm>
        </p:grpSpPr>
        <p:sp>
          <p:nvSpPr>
            <p:cNvPr id="47134" name="Oval 54">
              <a:extLst>
                <a:ext uri="{FF2B5EF4-FFF2-40B4-BE49-F238E27FC236}">
                  <a16:creationId xmlns:a16="http://schemas.microsoft.com/office/drawing/2014/main" id="{01808BD4-A7A1-49A4-854D-A776C9CBD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" y="1075"/>
              <a:ext cx="289" cy="307"/>
            </a:xfrm>
            <a:prstGeom prst="ellips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7135" name="Group 55">
              <a:extLst>
                <a:ext uri="{FF2B5EF4-FFF2-40B4-BE49-F238E27FC236}">
                  <a16:creationId xmlns:a16="http://schemas.microsoft.com/office/drawing/2014/main" id="{35439CC8-429F-4582-8B27-832FD363D1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1064"/>
              <a:ext cx="289" cy="305"/>
              <a:chOff x="7120" y="12162"/>
              <a:chExt cx="425" cy="425"/>
            </a:xfrm>
          </p:grpSpPr>
          <p:sp>
            <p:nvSpPr>
              <p:cNvPr id="47151" name="Oval 56">
                <a:extLst>
                  <a:ext uri="{FF2B5EF4-FFF2-40B4-BE49-F238E27FC236}">
                    <a16:creationId xmlns:a16="http://schemas.microsoft.com/office/drawing/2014/main" id="{D7535C4B-5CC4-4A8B-8FB6-2523F80C9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52" name="Oval 57">
                <a:extLst>
                  <a:ext uri="{FF2B5EF4-FFF2-40B4-BE49-F238E27FC236}">
                    <a16:creationId xmlns:a16="http://schemas.microsoft.com/office/drawing/2014/main" id="{2F28FC83-4313-42EF-8BBD-51DBBF880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3200" tIns="0" rIns="72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7136" name="Line 58">
              <a:extLst>
                <a:ext uri="{FF2B5EF4-FFF2-40B4-BE49-F238E27FC236}">
                  <a16:creationId xmlns:a16="http://schemas.microsoft.com/office/drawing/2014/main" id="{D2A25959-083E-4280-8EAD-CB8098C6F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643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4400" tIns="28800" rIns="14400" bIns="46800"/>
            <a:lstStyle/>
            <a:p>
              <a:endParaRPr lang="zh-CN" altLang="en-US"/>
            </a:p>
          </p:txBody>
        </p:sp>
        <p:sp>
          <p:nvSpPr>
            <p:cNvPr id="47137" name="Line 59">
              <a:extLst>
                <a:ext uri="{FF2B5EF4-FFF2-40B4-BE49-F238E27FC236}">
                  <a16:creationId xmlns:a16="http://schemas.microsoft.com/office/drawing/2014/main" id="{82D743AA-2C5A-4717-B5F6-B11DE55652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1" y="1239"/>
              <a:ext cx="582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38" name="Rectangle 60">
              <a:extLst>
                <a:ext uri="{FF2B5EF4-FFF2-40B4-BE49-F238E27FC236}">
                  <a16:creationId xmlns:a16="http://schemas.microsoft.com/office/drawing/2014/main" id="{9232B225-0FE2-4DB6-9C2D-270591FB5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3" y="999"/>
              <a:ext cx="46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47139" name="Rectangle 61">
              <a:extLst>
                <a:ext uri="{FF2B5EF4-FFF2-40B4-BE49-F238E27FC236}">
                  <a16:creationId xmlns:a16="http://schemas.microsoft.com/office/drawing/2014/main" id="{5C67B741-AB9A-4424-9191-44C0F6CBB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988"/>
              <a:ext cx="23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40" name="Line 62">
              <a:extLst>
                <a:ext uri="{FF2B5EF4-FFF2-40B4-BE49-F238E27FC236}">
                  <a16:creationId xmlns:a16="http://schemas.microsoft.com/office/drawing/2014/main" id="{EE861631-4E4E-4B1F-9236-6AA5F57A9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1" y="1228"/>
              <a:ext cx="58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41" name="Freeform 63">
              <a:extLst>
                <a:ext uri="{FF2B5EF4-FFF2-40B4-BE49-F238E27FC236}">
                  <a16:creationId xmlns:a16="http://schemas.microsoft.com/office/drawing/2014/main" id="{A2A40CF5-8DD2-4F8B-A985-A7FDC49D4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842"/>
              <a:ext cx="203" cy="24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42" name="Oval 64">
              <a:extLst>
                <a:ext uri="{FF2B5EF4-FFF2-40B4-BE49-F238E27FC236}">
                  <a16:creationId xmlns:a16="http://schemas.microsoft.com/office/drawing/2014/main" id="{1B746B6C-D3DE-4FEA-A03A-67B3EB79E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" y="1082"/>
              <a:ext cx="289" cy="307"/>
            </a:xfrm>
            <a:prstGeom prst="ellips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43" name="Freeform 65">
              <a:extLst>
                <a:ext uri="{FF2B5EF4-FFF2-40B4-BE49-F238E27FC236}">
                  <a16:creationId xmlns:a16="http://schemas.microsoft.com/office/drawing/2014/main" id="{2822B93B-A1B4-4908-B8B2-89E9DAEB9F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54" y="1382"/>
              <a:ext cx="203" cy="240"/>
            </a:xfrm>
            <a:custGeom>
              <a:avLst/>
              <a:gdLst>
                <a:gd name="T0" fmla="*/ 1 w 297"/>
                <a:gd name="T1" fmla="*/ 1 h 333"/>
                <a:gd name="T2" fmla="*/ 1 w 297"/>
                <a:gd name="T3" fmla="*/ 1 h 333"/>
                <a:gd name="T4" fmla="*/ 1 w 297"/>
                <a:gd name="T5" fmla="*/ 1 h 333"/>
                <a:gd name="T6" fmla="*/ 1 w 297"/>
                <a:gd name="T7" fmla="*/ 1 h 333"/>
                <a:gd name="T8" fmla="*/ 1 w 297"/>
                <a:gd name="T9" fmla="*/ 1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7"/>
                <a:gd name="T16" fmla="*/ 0 h 333"/>
                <a:gd name="T17" fmla="*/ 297 w 29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7" h="333">
                  <a:moveTo>
                    <a:pt x="225" y="332"/>
                  </a:moveTo>
                  <a:cubicBezTo>
                    <a:pt x="235" y="298"/>
                    <a:pt x="297" y="181"/>
                    <a:pt x="285" y="126"/>
                  </a:cubicBezTo>
                  <a:cubicBezTo>
                    <a:pt x="273" y="71"/>
                    <a:pt x="195" y="6"/>
                    <a:pt x="150" y="3"/>
                  </a:cubicBezTo>
                  <a:cubicBezTo>
                    <a:pt x="105" y="0"/>
                    <a:pt x="30" y="56"/>
                    <a:pt x="15" y="111"/>
                  </a:cubicBezTo>
                  <a:cubicBezTo>
                    <a:pt x="0" y="166"/>
                    <a:pt x="51" y="287"/>
                    <a:pt x="60" y="333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44" name="Rectangle 66">
              <a:extLst>
                <a:ext uri="{FF2B5EF4-FFF2-40B4-BE49-F238E27FC236}">
                  <a16:creationId xmlns:a16="http://schemas.microsoft.com/office/drawing/2014/main" id="{D174873C-D7F7-45D2-AF7C-77C423AEA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1528"/>
              <a:ext cx="23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45" name="Rectangle 67">
              <a:extLst>
                <a:ext uri="{FF2B5EF4-FFF2-40B4-BE49-F238E27FC236}">
                  <a16:creationId xmlns:a16="http://schemas.microsoft.com/office/drawing/2014/main" id="{8C7B46CF-2D26-465C-AA30-4C63804CF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" y="956"/>
              <a:ext cx="23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7146" name="Rectangle 68">
              <a:extLst>
                <a:ext uri="{FF2B5EF4-FFF2-40B4-BE49-F238E27FC236}">
                  <a16:creationId xmlns:a16="http://schemas.microsoft.com/office/drawing/2014/main" id="{F46E259A-07C2-4713-9211-17FD8A941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7" y="576"/>
              <a:ext cx="2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7147" name="Freeform 69">
              <a:extLst>
                <a:ext uri="{FF2B5EF4-FFF2-40B4-BE49-F238E27FC236}">
                  <a16:creationId xmlns:a16="http://schemas.microsoft.com/office/drawing/2014/main" id="{B933993E-BBF8-4DDF-8A11-5F5F66D3B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330"/>
              <a:ext cx="612" cy="112"/>
            </a:xfrm>
            <a:custGeom>
              <a:avLst/>
              <a:gdLst>
                <a:gd name="T0" fmla="*/ 2 w 900"/>
                <a:gd name="T1" fmla="*/ 0 h 154"/>
                <a:gd name="T2" fmla="*/ 1 w 900"/>
                <a:gd name="T3" fmla="*/ 1 h 154"/>
                <a:gd name="T4" fmla="*/ 0 w 900"/>
                <a:gd name="T5" fmla="*/ 1 h 154"/>
                <a:gd name="T6" fmla="*/ 0 60000 65536"/>
                <a:gd name="T7" fmla="*/ 0 60000 65536"/>
                <a:gd name="T8" fmla="*/ 0 60000 65536"/>
                <a:gd name="T9" fmla="*/ 0 w 900"/>
                <a:gd name="T10" fmla="*/ 0 h 154"/>
                <a:gd name="T11" fmla="*/ 900 w 900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0" h="154">
                  <a:moveTo>
                    <a:pt x="900" y="0"/>
                  </a:moveTo>
                  <a:cubicBezTo>
                    <a:pt x="823" y="25"/>
                    <a:pt x="585" y="148"/>
                    <a:pt x="435" y="151"/>
                  </a:cubicBezTo>
                  <a:cubicBezTo>
                    <a:pt x="285" y="154"/>
                    <a:pt x="91" y="44"/>
                    <a:pt x="0" y="16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48" name="Rectangle 70">
              <a:extLst>
                <a:ext uri="{FF2B5EF4-FFF2-40B4-BE49-F238E27FC236}">
                  <a16:creationId xmlns:a16="http://schemas.microsoft.com/office/drawing/2014/main" id="{4ED45062-D26E-4363-92FC-ABF5790F6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" y="1378"/>
              <a:ext cx="23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7149" name="Freeform 71">
              <a:extLst>
                <a:ext uri="{FF2B5EF4-FFF2-40B4-BE49-F238E27FC236}">
                  <a16:creationId xmlns:a16="http://schemas.microsoft.com/office/drawing/2014/main" id="{04161BFC-A58B-4274-9A98-99B0DD39C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843"/>
              <a:ext cx="1541" cy="295"/>
            </a:xfrm>
            <a:custGeom>
              <a:avLst/>
              <a:gdLst>
                <a:gd name="T0" fmla="*/ 5 w 2265"/>
                <a:gd name="T1" fmla="*/ 2 h 408"/>
                <a:gd name="T2" fmla="*/ 3 w 2265"/>
                <a:gd name="T3" fmla="*/ 1 h 408"/>
                <a:gd name="T4" fmla="*/ 2 w 2265"/>
                <a:gd name="T5" fmla="*/ 1 h 408"/>
                <a:gd name="T6" fmla="*/ 1 w 2265"/>
                <a:gd name="T7" fmla="*/ 1 h 408"/>
                <a:gd name="T8" fmla="*/ 0 w 2265"/>
                <a:gd name="T9" fmla="*/ 3 h 4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5"/>
                <a:gd name="T16" fmla="*/ 0 h 408"/>
                <a:gd name="T17" fmla="*/ 2265 w 2265"/>
                <a:gd name="T18" fmla="*/ 408 h 4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5" h="408">
                  <a:moveTo>
                    <a:pt x="2265" y="330"/>
                  </a:moveTo>
                  <a:cubicBezTo>
                    <a:pt x="2197" y="295"/>
                    <a:pt x="2047" y="174"/>
                    <a:pt x="1860" y="120"/>
                  </a:cubicBezTo>
                  <a:cubicBezTo>
                    <a:pt x="1673" y="66"/>
                    <a:pt x="1367" y="0"/>
                    <a:pt x="1140" y="3"/>
                  </a:cubicBezTo>
                  <a:cubicBezTo>
                    <a:pt x="913" y="6"/>
                    <a:pt x="685" y="71"/>
                    <a:pt x="495" y="138"/>
                  </a:cubicBezTo>
                  <a:cubicBezTo>
                    <a:pt x="305" y="205"/>
                    <a:pt x="103" y="352"/>
                    <a:pt x="0" y="408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47150" name="Rectangle 72">
              <a:extLst>
                <a:ext uri="{FF2B5EF4-FFF2-40B4-BE49-F238E27FC236}">
                  <a16:creationId xmlns:a16="http://schemas.microsoft.com/office/drawing/2014/main" id="{23712F36-E63E-4914-B17D-BE351E0C7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587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aphicFrame>
        <p:nvGraphicFramePr>
          <p:cNvPr id="8" name="Group 29">
            <a:extLst>
              <a:ext uri="{FF2B5EF4-FFF2-40B4-BE49-F238E27FC236}">
                <a16:creationId xmlns:a16="http://schemas.microsoft.com/office/drawing/2014/main" id="{14EEBBA1-7147-480E-BD34-7E96F243E8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905118"/>
              </p:ext>
            </p:extLst>
          </p:nvPr>
        </p:nvGraphicFramePr>
        <p:xfrm>
          <a:off x="954882" y="2468560"/>
          <a:ext cx="3048000" cy="2478090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45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5495881-98CA-4AB9-AFEF-5AF6A0C39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2.3.4 DFA</a:t>
            </a:r>
            <a:r>
              <a:rPr lang="zh-CN" altLang="en-US"/>
              <a:t>的化简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D43D3D4-B971-4364-B2BF-D34029774E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练习：将下面的</a:t>
            </a:r>
            <a:r>
              <a:rPr lang="en-US" altLang="zh-CN" dirty="0"/>
              <a:t>DFA</a:t>
            </a:r>
            <a:r>
              <a:rPr lang="zh-CN" altLang="en-US" dirty="0"/>
              <a:t>状态数最小化，</a:t>
            </a:r>
            <a:r>
              <a:rPr lang="en-US" altLang="zh-CN" sz="3200" dirty="0">
                <a:solidFill>
                  <a:srgbClr val="FF0000"/>
                </a:solidFill>
              </a:rPr>
              <a:t>S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是开始状态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165648-76D4-4804-829A-9E1824B39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442147"/>
              </p:ext>
            </p:extLst>
          </p:nvPr>
        </p:nvGraphicFramePr>
        <p:xfrm>
          <a:off x="2096385" y="2351580"/>
          <a:ext cx="4951230" cy="390041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50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552">
                <a:tc>
                  <a:txBody>
                    <a:bodyPr/>
                    <a:lstStyle/>
                    <a:p>
                      <a:pPr algn="ctr"/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a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b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US" altLang="zh-CN" sz="2400" baseline="-2500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5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2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1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6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2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2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0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4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3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3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5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solidFill>
                            <a:srgbClr val="008000"/>
                          </a:solidFill>
                        </a:rPr>
                        <a:t>S</a:t>
                      </a:r>
                      <a:r>
                        <a:rPr lang="en-US" altLang="zh-CN" sz="2400" baseline="-25000">
                          <a:solidFill>
                            <a:srgbClr val="008000"/>
                          </a:solidFill>
                        </a:rPr>
                        <a:t>4</a:t>
                      </a:r>
                      <a:endParaRPr lang="zh-CN" altLang="en-US" sz="2400">
                        <a:solidFill>
                          <a:srgbClr val="008000"/>
                        </a:solidFill>
                      </a:endParaRPr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6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2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solidFill>
                            <a:srgbClr val="008000"/>
                          </a:solidFill>
                        </a:rPr>
                        <a:t>S</a:t>
                      </a:r>
                      <a:r>
                        <a:rPr lang="en-US" altLang="zh-CN" sz="2400" baseline="-25000">
                          <a:solidFill>
                            <a:srgbClr val="008000"/>
                          </a:solidFill>
                        </a:rPr>
                        <a:t>5</a:t>
                      </a:r>
                      <a:endParaRPr lang="zh-CN" altLang="en-US" sz="2400">
                        <a:solidFill>
                          <a:srgbClr val="008000"/>
                        </a:solidFill>
                      </a:endParaRPr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3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0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solidFill>
                            <a:srgbClr val="008000"/>
                          </a:solidFill>
                        </a:rPr>
                        <a:t>S</a:t>
                      </a:r>
                      <a:r>
                        <a:rPr lang="en-US" altLang="zh-CN" sz="2400" baseline="-25000">
                          <a:solidFill>
                            <a:srgbClr val="008000"/>
                          </a:solidFill>
                        </a:rPr>
                        <a:t>6</a:t>
                      </a:r>
                      <a:endParaRPr lang="zh-CN" altLang="en-US" sz="2400">
                        <a:solidFill>
                          <a:srgbClr val="008000"/>
                        </a:solidFill>
                      </a:endParaRPr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S</a:t>
                      </a:r>
                      <a:r>
                        <a:rPr lang="en-US" altLang="zh-CN" sz="2400" baseline="-25000"/>
                        <a:t>3</a:t>
                      </a:r>
                      <a:endParaRPr lang="zh-CN" altLang="en-US" sz="2400"/>
                    </a:p>
                  </a:txBody>
                  <a:tcPr marL="117009" marR="117009" marT="58511" marB="585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S</a:t>
                      </a:r>
                      <a:r>
                        <a:rPr lang="en-US" altLang="zh-CN" sz="2400" baseline="-25000" dirty="0"/>
                        <a:t>1</a:t>
                      </a:r>
                      <a:endParaRPr lang="zh-CN" altLang="en-US" sz="2400" dirty="0"/>
                    </a:p>
                  </a:txBody>
                  <a:tcPr marL="117009" marR="117009" marT="58511" marB="585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031142D-F431-4FC7-B01F-793A7F7459D7}"/>
              </a:ext>
            </a:extLst>
          </p:cNvPr>
          <p:cNvSpPr txBox="1"/>
          <p:nvPr/>
        </p:nvSpPr>
        <p:spPr>
          <a:xfrm>
            <a:off x="2096385" y="62595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S4,S5,S6</a:t>
            </a:r>
            <a:r>
              <a:rPr lang="zh-CN" altLang="en-US" dirty="0">
                <a:latin typeface="Arial" panose="020B0604020202020204" pitchFamily="34" charset="0"/>
              </a:rPr>
              <a:t>是接受状态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742845-F475-400D-9EBD-55E9144679CF}"/>
              </a:ext>
            </a:extLst>
          </p:cNvPr>
          <p:cNvSpPr/>
          <p:nvPr/>
        </p:nvSpPr>
        <p:spPr>
          <a:xfrm>
            <a:off x="7287100" y="2351579"/>
            <a:ext cx="1649346" cy="23075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答案：</a:t>
            </a:r>
            <a:r>
              <a:rPr lang="en-US" altLang="zh-CN" dirty="0">
                <a:latin typeface="Arial" panose="020B0604020202020204" pitchFamily="34" charset="0"/>
              </a:rPr>
              <a:t>{S0,S1},{S2},{S3},{S4},{S5,S6}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需要画出转换表或转换图，这里就不画了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66BF32-9DE2-B98A-40DB-FC068CB6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E93F1-3884-4D3A-ACD7-A91B2EA6E87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6E8AB0-6A17-B94C-F72D-580E1073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5A54CB-0C08-9027-2ED1-910B4416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  <p:pic>
        <p:nvPicPr>
          <p:cNvPr id="7" name="图片 6" descr="图标&#10;&#10;描述已自动生成">
            <a:extLst>
              <a:ext uri="{FF2B5EF4-FFF2-40B4-BE49-F238E27FC236}">
                <a16:creationId xmlns:a16="http://schemas.microsoft.com/office/drawing/2014/main" id="{C45F6C24-3CBF-A02B-781D-7D9133A8A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24C2E36-7D74-4303-941E-DF7D13DD5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zh-CN" altLang="en-US" sz="4400" dirty="0"/>
              <a:t>补充：从</a:t>
            </a:r>
            <a:r>
              <a:rPr lang="en-US" altLang="zh-CN" sz="4400" dirty="0"/>
              <a:t>DFA</a:t>
            </a:r>
            <a:r>
              <a:rPr lang="zh-CN" altLang="en-US" sz="4400" dirty="0"/>
              <a:t>构造语言识别器</a:t>
            </a:r>
            <a:endParaRPr lang="en-US" altLang="zh-CN" sz="4400" dirty="0"/>
          </a:p>
        </p:txBody>
      </p:sp>
      <p:grpSp>
        <p:nvGrpSpPr>
          <p:cNvPr id="50180" name="Group 4">
            <a:extLst>
              <a:ext uri="{FF2B5EF4-FFF2-40B4-BE49-F238E27FC236}">
                <a16:creationId xmlns:a16="http://schemas.microsoft.com/office/drawing/2014/main" id="{D59C02AD-9E83-434C-AFAD-C5502331CA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0144" y="2300388"/>
            <a:ext cx="7083712" cy="2833485"/>
            <a:chOff x="1344" y="1728"/>
            <a:chExt cx="3360" cy="1344"/>
          </a:xfrm>
        </p:grpSpPr>
        <p:sp>
          <p:nvSpPr>
            <p:cNvPr id="50181" name="Rectangle 5">
              <a:extLst>
                <a:ext uri="{FF2B5EF4-FFF2-40B4-BE49-F238E27FC236}">
                  <a16:creationId xmlns:a16="http://schemas.microsoft.com/office/drawing/2014/main" id="{F788690E-77B5-4B24-9CD2-A1010C407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728"/>
              <a:ext cx="960" cy="33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正规式</a:t>
              </a:r>
            </a:p>
          </p:txBody>
        </p:sp>
        <p:sp>
          <p:nvSpPr>
            <p:cNvPr id="50182" name="Rectangle 6">
              <a:extLst>
                <a:ext uri="{FF2B5EF4-FFF2-40B4-BE49-F238E27FC236}">
                  <a16:creationId xmlns:a16="http://schemas.microsoft.com/office/drawing/2014/main" id="{AE526CA8-18B9-40EE-973D-61D033042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016"/>
              <a:ext cx="960" cy="33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NFA</a:t>
              </a:r>
            </a:p>
          </p:txBody>
        </p:sp>
        <p:sp>
          <p:nvSpPr>
            <p:cNvPr id="50183" name="Rectangle 7">
              <a:extLst>
                <a:ext uri="{FF2B5EF4-FFF2-40B4-BE49-F238E27FC236}">
                  <a16:creationId xmlns:a16="http://schemas.microsoft.com/office/drawing/2014/main" id="{2F3CEC51-D5BE-415C-92B3-48D16A0BE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960" cy="33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50184" name="Rectangle 8">
              <a:extLst>
                <a:ext uri="{FF2B5EF4-FFF2-40B4-BE49-F238E27FC236}">
                  <a16:creationId xmlns:a16="http://schemas.microsoft.com/office/drawing/2014/main" id="{864334E7-233F-423F-B39D-FB32339FF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496"/>
              <a:ext cx="960" cy="336"/>
            </a:xfrm>
            <a:prstGeom prst="rect">
              <a:avLst/>
            </a:prstGeom>
            <a:solidFill>
              <a:schemeClr val="accent2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最简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50185" name="Rectangle 9">
              <a:extLst>
                <a:ext uri="{FF2B5EF4-FFF2-40B4-BE49-F238E27FC236}">
                  <a16:creationId xmlns:a16="http://schemas.microsoft.com/office/drawing/2014/main" id="{505E6828-4D82-493F-B23E-CBA726873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960" cy="336"/>
            </a:xfrm>
            <a:prstGeom prst="rect">
              <a:avLst/>
            </a:prstGeom>
            <a:solidFill>
              <a:schemeClr val="accent2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识别器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E93F63-E021-5CD5-B7D7-522FA9E1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B0FD-444C-4E8E-AD91-09E3BB1FEF60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48B855-E079-9FA6-7DC6-72A10CD8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5DE23C-49DE-C7CF-5CCE-46035566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3853F12-AC47-42CA-BF22-7740D9589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zh-CN" altLang="en-US" sz="4400" dirty="0"/>
              <a:t>补充：从</a:t>
            </a:r>
            <a:r>
              <a:rPr lang="en-US" altLang="zh-CN" sz="4400" dirty="0"/>
              <a:t>DFA</a:t>
            </a:r>
            <a:r>
              <a:rPr lang="zh-CN" altLang="en-US" sz="4400" dirty="0"/>
              <a:t>构造语言识别器</a:t>
            </a:r>
            <a:endParaRPr lang="en-US" altLang="zh-CN" sz="4400" dirty="0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C273200-6980-4CFB-8E40-32762569E7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算法：从</a:t>
            </a:r>
            <a:r>
              <a:rPr lang="en-US" altLang="zh-CN" dirty="0"/>
              <a:t>DFA</a:t>
            </a:r>
            <a:r>
              <a:rPr lang="zh-CN" altLang="en-US" dirty="0"/>
              <a:t>构造语言识别器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输入：串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dirty="0"/>
              <a:t>，由</a:t>
            </a:r>
            <a:r>
              <a:rPr lang="en-US" altLang="zh-CN" b="1" dirty="0" err="1">
                <a:latin typeface="Times New Roman" panose="02020603050405020304" pitchFamily="18" charset="0"/>
              </a:rPr>
              <a:t>eof</a:t>
            </a:r>
            <a:r>
              <a:rPr lang="zh-CN" altLang="en-US" dirty="0"/>
              <a:t>结尾。一个</a:t>
            </a:r>
            <a:r>
              <a:rPr lang="en-US" altLang="zh-CN" dirty="0"/>
              <a:t>DFA </a:t>
            </a:r>
            <a:r>
              <a:rPr lang="en-US" altLang="zh-CN" b="1" dirty="0">
                <a:latin typeface="Times New Roman" panose="02020603050405020304" pitchFamily="18" charset="0"/>
              </a:rPr>
              <a:t>D</a:t>
            </a:r>
            <a:r>
              <a:rPr lang="zh-CN" altLang="en-US" dirty="0"/>
              <a:t>，开始状态为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/>
              <a:t>，接受状态集合是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输出：如果</a:t>
            </a:r>
            <a:r>
              <a:rPr lang="en-US" altLang="zh-CN" b="1" i="1" dirty="0">
                <a:latin typeface="Times New Roman" panose="02020603050405020304" pitchFamily="18" charset="0"/>
              </a:rPr>
              <a:t>D</a:t>
            </a:r>
            <a:r>
              <a:rPr lang="zh-CN" altLang="en-US" dirty="0"/>
              <a:t>接受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dirty="0"/>
              <a:t>，回答“</a:t>
            </a:r>
            <a:r>
              <a:rPr lang="en-US" altLang="zh-CN" b="1" dirty="0">
                <a:latin typeface="Times New Roman" panose="02020603050405020304" pitchFamily="18" charset="0"/>
              </a:rPr>
              <a:t>yes</a:t>
            </a:r>
            <a:r>
              <a:rPr lang="en-US" altLang="zh-CN" dirty="0"/>
              <a:t>”</a:t>
            </a:r>
            <a:r>
              <a:rPr lang="zh-CN" altLang="en-US" dirty="0"/>
              <a:t>，否则回答“</a:t>
            </a:r>
            <a:r>
              <a:rPr lang="en-US" altLang="zh-CN" b="1" dirty="0">
                <a:latin typeface="Times New Roman" panose="02020603050405020304" pitchFamily="18" charset="0"/>
              </a:rPr>
              <a:t>no</a:t>
            </a:r>
            <a:r>
              <a:rPr lang="en-US" altLang="zh-CN" dirty="0"/>
              <a:t>”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BF67D-4F98-63E7-F4D2-69726577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4D809-B2CD-49FF-838A-2C5EF53B485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394822-A9C4-5350-6AB6-90DDEFE7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42F56-2156-2942-90BF-595672D4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0B92EC8-1280-4EE7-BAF0-8EC09DE96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补充：从</a:t>
            </a:r>
            <a:r>
              <a:rPr lang="en-US" altLang="zh-CN" sz="4400" dirty="0"/>
              <a:t>DFA</a:t>
            </a:r>
            <a:r>
              <a:rPr lang="zh-CN" altLang="en-US" sz="4400" dirty="0"/>
              <a:t>构造语言识别器</a:t>
            </a:r>
            <a:endParaRPr lang="zh-CN" altLang="en-US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C679DB6-0A14-41DF-90C7-A4BAAF650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</a:rPr>
              <a:t>move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/>
              <a:t>：返回状态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/>
              <a:t>在面临输入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dirty="0"/>
              <a:t>时转换到的状态</a:t>
            </a:r>
          </a:p>
          <a:p>
            <a:pPr>
              <a:lnSpc>
                <a:spcPct val="80000"/>
              </a:lnSpc>
            </a:pPr>
            <a:r>
              <a:rPr lang="en-US" altLang="zh-CN" sz="2400" b="1" i="1" dirty="0" err="1">
                <a:latin typeface="Times New Roman" panose="02020603050405020304" pitchFamily="18" charset="0"/>
              </a:rPr>
              <a:t>nextChar</a:t>
            </a:r>
            <a:r>
              <a:rPr lang="en-US" altLang="zh-CN" sz="2400" b="1" dirty="0">
                <a:latin typeface="Times New Roman" panose="02020603050405020304" pitchFamily="18" charset="0"/>
              </a:rPr>
              <a:t>()</a:t>
            </a:r>
            <a:r>
              <a:rPr lang="zh-CN" altLang="en-US" sz="2400" dirty="0"/>
              <a:t>：返回输入串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/>
              <a:t>中的下一个字符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Courier New" panose="02070309020205020404" pitchFamily="49" charset="0"/>
              </a:rPr>
              <a:t>            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</a:rPr>
              <a:t>s=s</a:t>
            </a:r>
            <a:r>
              <a:rPr lang="en-US" altLang="zh-CN" sz="2400" b="1" baseline="-25000" dirty="0">
                <a:solidFill>
                  <a:srgbClr val="00800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c=</a:t>
            </a:r>
            <a:r>
              <a:rPr lang="en-US" altLang="zh-CN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nextChar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while(c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!=</a:t>
            </a:r>
            <a:r>
              <a:rPr lang="en-US" altLang="zh-CN" sz="2400" b="1" dirty="0" err="1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eof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			    if (move(</a:t>
            </a:r>
            <a:r>
              <a:rPr lang="en-US" altLang="zh-CN" sz="2400" b="1" dirty="0" err="1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s,c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未定义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			 	 return “no”;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			    else s=move(</a:t>
            </a:r>
            <a:r>
              <a:rPr lang="en-US" altLang="zh-CN" sz="2400" b="1" dirty="0" err="1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s,c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  c=</a:t>
            </a:r>
            <a:r>
              <a:rPr lang="en-US" altLang="zh-CN" sz="2400" b="1" dirty="0" err="1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if (</a:t>
            </a:r>
            <a:r>
              <a:rPr lang="en-US" altLang="zh-CN" sz="2400" b="1" dirty="0" err="1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sF</a:t>
            </a: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  return “yes”;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else return “no”;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CDAF3060-178E-4ED3-9A18-B95E8F58C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935275"/>
            <a:ext cx="4114800" cy="41148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298D23-3188-DE85-1C1E-33239156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2CAD-7EEE-485A-822E-2B4EE2E2C77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67B260-B1E3-DDE8-675A-F753071F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E9B3A-6864-81B8-6288-31DFE5F4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3">
            <a:extLst>
              <a:ext uri="{FF2B5EF4-FFF2-40B4-BE49-F238E27FC236}">
                <a16:creationId xmlns:a16="http://schemas.microsoft.com/office/drawing/2014/main" id="{34EB9D0A-A275-4071-8F94-2A362779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补充：从</a:t>
            </a:r>
            <a:r>
              <a:rPr lang="en-US" altLang="zh-CN" sz="4400" dirty="0"/>
              <a:t>DFA</a:t>
            </a:r>
            <a:r>
              <a:rPr lang="zh-CN" altLang="en-US" sz="4400" dirty="0"/>
              <a:t>构造语言识别器</a:t>
            </a:r>
            <a:endParaRPr lang="zh-CN" altLang="en-US" dirty="0"/>
          </a:p>
        </p:txBody>
      </p:sp>
      <p:sp>
        <p:nvSpPr>
          <p:cNvPr id="53251" name="内容占位符 4">
            <a:extLst>
              <a:ext uri="{FF2B5EF4-FFF2-40B4-BE49-F238E27FC236}">
                <a16:creationId xmlns:a16="http://schemas.microsoft.com/office/drawing/2014/main" id="{348E0A02-CC41-443A-8082-FAE257173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1">
                <a:latin typeface="Times New Roman" panose="02020603050405020304" pitchFamily="18" charset="0"/>
              </a:rPr>
              <a:t>move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 err="1">
                <a:latin typeface="Times New Roman" panose="02020603050405020304" pitchFamily="18" charset="0"/>
              </a:rPr>
              <a:t>s</a:t>
            </a:r>
            <a:r>
              <a:rPr lang="en-US" altLang="zh-CN" b="1" err="1">
                <a:latin typeface="Times New Roman" panose="02020603050405020304" pitchFamily="18" charset="0"/>
              </a:rPr>
              <a:t>,</a:t>
            </a:r>
            <a:r>
              <a:rPr lang="en-US" altLang="zh-CN" b="1" i="1" err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/>
              <a:t>可以通过查状态转换表获得，状态转换表是</a:t>
            </a:r>
            <a:r>
              <a:rPr lang="en-US" altLang="zh-CN"/>
              <a:t>DFA</a:t>
            </a:r>
            <a:r>
              <a:rPr lang="zh-CN" altLang="en-US"/>
              <a:t>在计算机内部的一种表示方式：</a:t>
            </a:r>
            <a:endParaRPr lang="en-US" altLang="zh-CN"/>
          </a:p>
          <a:p>
            <a:endParaRPr lang="zh-CN" altLang="en-US"/>
          </a:p>
        </p:txBody>
      </p:sp>
      <p:graphicFrame>
        <p:nvGraphicFramePr>
          <p:cNvPr id="5" name="Group 29">
            <a:extLst>
              <a:ext uri="{FF2B5EF4-FFF2-40B4-BE49-F238E27FC236}">
                <a16:creationId xmlns:a16="http://schemas.microsoft.com/office/drawing/2014/main" id="{4523AE49-81EA-4B0B-AD09-1912533F3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3555031"/>
              </p:ext>
            </p:extLst>
          </p:nvPr>
        </p:nvGraphicFramePr>
        <p:xfrm>
          <a:off x="5154742" y="2681211"/>
          <a:ext cx="3048000" cy="2478090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45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F68160-93AB-F39D-79F5-9AFD2C67E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D412E-4853-4498-9E9D-951191465128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B30365-3B07-79E2-7949-E7986E37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E16E42-5390-C3C6-6AE1-274B5305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792844F-ED08-41D8-B778-5CF3664A6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本节小结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7C29E4E-C5D1-47E7-B133-FDBD7FCFCE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4000" dirty="0"/>
              <a:t>2.3 </a:t>
            </a:r>
            <a:r>
              <a:rPr lang="zh-CN" altLang="en-US" sz="4000" dirty="0"/>
              <a:t>有限自动机</a:t>
            </a:r>
            <a:endParaRPr lang="en-US" altLang="zh-CN" sz="4000" dirty="0"/>
          </a:p>
          <a:p>
            <a:pPr lvl="1">
              <a:lnSpc>
                <a:spcPct val="110000"/>
              </a:lnSpc>
            </a:pPr>
            <a:r>
              <a:rPr lang="en-US" altLang="zh-CN" sz="3600" dirty="0"/>
              <a:t>2.3.4 DFA</a:t>
            </a:r>
            <a:r>
              <a:rPr lang="zh-CN" altLang="en-US" sz="3600" dirty="0"/>
              <a:t>的化简</a:t>
            </a:r>
            <a:endParaRPr lang="en-US" altLang="zh-CN" sz="3600" dirty="0"/>
          </a:p>
          <a:p>
            <a:pPr lvl="1">
              <a:lnSpc>
                <a:spcPct val="110000"/>
              </a:lnSpc>
            </a:pPr>
            <a:r>
              <a:rPr lang="zh-CN" altLang="en-US" sz="3600" dirty="0"/>
              <a:t>补充：非形式描述的语言 </a:t>
            </a:r>
            <a:r>
              <a:rPr lang="zh-CN" altLang="en-US" sz="40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 </a:t>
            </a:r>
            <a:r>
              <a:rPr lang="en-US" altLang="zh-CN" sz="3600" dirty="0"/>
              <a:t>DFA</a:t>
            </a:r>
          </a:p>
          <a:p>
            <a:pPr lvl="1">
              <a:lnSpc>
                <a:spcPct val="110000"/>
              </a:lnSpc>
            </a:pPr>
            <a:r>
              <a:rPr lang="zh-CN" altLang="en-US" sz="3600" dirty="0"/>
              <a:t>补充：从</a:t>
            </a:r>
            <a:r>
              <a:rPr lang="en-US" altLang="zh-CN" sz="3600" dirty="0"/>
              <a:t>DFA</a:t>
            </a:r>
            <a:r>
              <a:rPr lang="zh-CN" altLang="en-US" sz="3600" dirty="0"/>
              <a:t>构造语言识别器</a:t>
            </a:r>
            <a:endParaRPr lang="en-US" altLang="zh-CN" sz="3600" dirty="0"/>
          </a:p>
          <a:p>
            <a:pPr>
              <a:lnSpc>
                <a:spcPct val="110000"/>
              </a:lnSpc>
            </a:pPr>
            <a:r>
              <a:rPr lang="en-US" altLang="zh-CN" sz="4000" dirty="0"/>
              <a:t>2.5 </a:t>
            </a:r>
            <a:r>
              <a:rPr lang="zh-CN" altLang="en-US" sz="4000" dirty="0"/>
              <a:t>词法分析器的实现</a:t>
            </a:r>
          </a:p>
          <a:p>
            <a:pPr lvl="1">
              <a:lnSpc>
                <a:spcPct val="110000"/>
              </a:lnSpc>
            </a:pPr>
            <a:r>
              <a:rPr lang="zh-CN" altLang="en-US" sz="3600" dirty="0"/>
              <a:t>手工实现</a:t>
            </a:r>
          </a:p>
          <a:p>
            <a:pPr lvl="1">
              <a:lnSpc>
                <a:spcPct val="110000"/>
              </a:lnSpc>
            </a:pPr>
            <a:r>
              <a:rPr lang="zh-CN" altLang="en-US" sz="3600" dirty="0"/>
              <a:t>自动生成</a:t>
            </a:r>
          </a:p>
          <a:p>
            <a:pPr lvl="1">
              <a:lnSpc>
                <a:spcPct val="110000"/>
              </a:lnSpc>
            </a:pPr>
            <a:r>
              <a:rPr lang="en-US" altLang="zh-CN" sz="3600" dirty="0"/>
              <a:t>Lex</a:t>
            </a:r>
            <a:r>
              <a:rPr lang="zh-CN" altLang="en-US" sz="3600" dirty="0"/>
              <a:t>的使用介绍</a:t>
            </a:r>
            <a:endParaRPr lang="en-US" altLang="zh-CN" sz="36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908432-EF16-D5AE-8FA4-4C34F770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7916-E301-47CA-8C3B-71DDE937BE5A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30DD3D-2A29-1645-544F-84E846A2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BB9D61-E857-F62D-5AB9-385D4D11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673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1274AA2-7FE2-4395-8483-43F23DD4F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本章定义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F42D7E0-2CF3-46B9-8EC4-0D9AA2BD09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词法分析器的功能</a:t>
            </a:r>
          </a:p>
          <a:p>
            <a:pPr eaLnBrk="1" hangingPunct="1"/>
            <a:r>
              <a:rPr lang="zh-CN" altLang="en-US" dirty="0"/>
              <a:t>记号、模式、单词</a:t>
            </a:r>
          </a:p>
          <a:p>
            <a:pPr eaLnBrk="1" hangingPunct="1"/>
            <a:r>
              <a:rPr lang="zh-CN" altLang="en-US" dirty="0"/>
              <a:t>字母表、串、语言、句子</a:t>
            </a:r>
          </a:p>
          <a:p>
            <a:pPr eaLnBrk="1" hangingPunct="1"/>
            <a:r>
              <a:rPr lang="zh-CN" altLang="en-US" dirty="0"/>
              <a:t>正规式、正规定义、状态转换图</a:t>
            </a:r>
          </a:p>
          <a:p>
            <a:pPr eaLnBrk="1" hangingPunct="1"/>
            <a:r>
              <a:rPr lang="zh-CN" altLang="en-US" dirty="0"/>
              <a:t>语言识别器、</a:t>
            </a:r>
            <a:r>
              <a:rPr lang="en-US" altLang="zh-CN" dirty="0"/>
              <a:t>NFA</a:t>
            </a:r>
            <a:r>
              <a:rPr lang="zh-CN" altLang="en-US" dirty="0"/>
              <a:t>、</a:t>
            </a:r>
            <a:r>
              <a:rPr lang="en-US" altLang="zh-CN" dirty="0"/>
              <a:t>DFA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5B37FC-6009-CE3C-3AB8-D4AC5A30D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8BEE-BC0F-45BD-AB4D-B3DD966B247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4A27D8-4263-F9A6-C313-EC0BC506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66CBC2-FE12-8687-E99C-7FC469ED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3A0C5E3-BF61-4231-B3A4-42EDA6315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本章线索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52618716-150C-4225-BFF6-1D3A4CE6A9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词法分析器的功能，它与语法分析器的关系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词法分析器的内部表示的相关概念：</a:t>
            </a:r>
            <a:r>
              <a:rPr lang="en-US" altLang="zh-CN" dirty="0"/>
              <a:t>token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词法错误处理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语言和串的相关概念和运算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正规式和正规定义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状态转换图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dirty="0"/>
              <a:t>NFA</a:t>
            </a:r>
            <a:r>
              <a:rPr lang="zh-CN" altLang="en-US" dirty="0"/>
              <a:t>和</a:t>
            </a:r>
            <a:r>
              <a:rPr lang="en-US" altLang="zh-CN" dirty="0"/>
              <a:t>DFA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正规式</a:t>
            </a:r>
            <a:r>
              <a:rPr lang="zh-CN" altLang="en-US" dirty="0">
                <a:sym typeface="Wingdings" panose="05000000000000000000" pitchFamily="2" charset="2"/>
              </a:rPr>
              <a:t>识别器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词法分析器生成工具：</a:t>
            </a:r>
            <a:r>
              <a:rPr lang="en-US" altLang="zh-CN" dirty="0"/>
              <a:t>Lex</a:t>
            </a:r>
            <a:r>
              <a:rPr lang="zh-CN" altLang="en-US" dirty="0"/>
              <a:t>（自学）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848163-4AD4-8D6F-C666-A4C2B5C5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8CBCD-5361-4D99-9B3B-3DDF75DFB77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82440F-C334-C581-F394-DD17093D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B27AA3-F79F-F46C-F4C7-37736DDC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C374AE4-C65A-494E-88F3-697C9F3DB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本章要点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FAB5C03-F9C0-4780-9E8F-013C3A99C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词法分析器的作用和接口，词法分析器的手工实现和自动生成。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掌握下面涉及的一些概念，它们之间转换的技巧、方法或算法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正规式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NFA</a:t>
            </a: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NFA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DFA</a:t>
            </a: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DFA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最简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DFA</a:t>
            </a:r>
          </a:p>
          <a:p>
            <a:pPr lvl="1" algn="just"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非形式描述的语言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</a:t>
            </a:r>
            <a:r>
              <a:rPr lang="zh-CN" altLang="en-US" dirty="0">
                <a:solidFill>
                  <a:srgbClr val="C00000"/>
                </a:solidFill>
              </a:rPr>
              <a:t> 正规式</a:t>
            </a:r>
            <a:endParaRPr lang="en-US" altLang="zh-CN" dirty="0">
              <a:solidFill>
                <a:srgbClr val="C00000"/>
              </a:solidFill>
            </a:endParaRPr>
          </a:p>
          <a:p>
            <a:pPr lvl="1" algn="just"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非形式描述的语言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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NFA</a:t>
            </a: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非形式描述的语言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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DFA</a:t>
            </a:r>
            <a:r>
              <a:rPr lang="zh-CN" altLang="en-US" dirty="0">
                <a:solidFill>
                  <a:srgbClr val="C00000"/>
                </a:solidFill>
              </a:rPr>
              <a:t>（或最简</a:t>
            </a:r>
            <a:r>
              <a:rPr lang="en-US" altLang="zh-CN" dirty="0">
                <a:solidFill>
                  <a:srgbClr val="C00000"/>
                </a:solidFill>
              </a:rPr>
              <a:t>DFA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474CF7-F08A-9A73-028B-D683D009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B826-15EA-44B7-A95E-4E9E46F0E153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1A2B7A-360E-AB96-BE28-DAD014DA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81B3AE-1F85-0EE1-818D-0CE0E0BD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5" name="标注: 线形 4">
            <a:extLst>
              <a:ext uri="{FF2B5EF4-FFF2-40B4-BE49-F238E27FC236}">
                <a16:creationId xmlns:a16="http://schemas.microsoft.com/office/drawing/2014/main" id="{224D91C5-E32C-35D2-5A25-2EEC0B3E4226}"/>
              </a:ext>
            </a:extLst>
          </p:cNvPr>
          <p:cNvSpPr/>
          <p:nvPr/>
        </p:nvSpPr>
        <p:spPr>
          <a:xfrm>
            <a:off x="7234814" y="3657600"/>
            <a:ext cx="1657978" cy="1045028"/>
          </a:xfrm>
          <a:prstGeom prst="borderCallout1">
            <a:avLst>
              <a:gd name="adj1" fmla="val 18750"/>
              <a:gd name="adj2" fmla="val -8333"/>
              <a:gd name="adj3" fmla="val 99202"/>
              <a:gd name="adj4" fmla="val -7847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下节习题课会练习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BDA1FFE-568E-CEBC-6BC7-77CA136CF665}"/>
              </a:ext>
            </a:extLst>
          </p:cNvPr>
          <p:cNvCxnSpPr>
            <a:cxnSpLocks/>
          </p:cNvCxnSpPr>
          <p:nvPr/>
        </p:nvCxnSpPr>
        <p:spPr>
          <a:xfrm flipH="1">
            <a:off x="6606163" y="4124325"/>
            <a:ext cx="449837" cy="115106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52D82DD-2024-4B49-D81C-32ABF7D15EAC}"/>
              </a:ext>
            </a:extLst>
          </p:cNvPr>
          <p:cNvCxnSpPr>
            <a:cxnSpLocks/>
          </p:cNvCxnSpPr>
          <p:nvPr/>
        </p:nvCxnSpPr>
        <p:spPr>
          <a:xfrm flipV="1">
            <a:off x="5928527" y="4000500"/>
            <a:ext cx="1127473" cy="1104063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CBD64ED7-45C1-6AD6-3A40-F4C79F5FD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" r="2401" b="6444"/>
          <a:stretch>
            <a:fillRect/>
          </a:stretch>
        </p:blipFill>
        <p:spPr>
          <a:xfrm>
            <a:off x="2328720" y="312080"/>
            <a:ext cx="6815280" cy="653512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F591714-49B8-2221-2D46-3954321D990F}"/>
              </a:ext>
            </a:extLst>
          </p:cNvPr>
          <p:cNvSpPr/>
          <p:nvPr/>
        </p:nvSpPr>
        <p:spPr>
          <a:xfrm>
            <a:off x="49258" y="3001200"/>
            <a:ext cx="2676035" cy="19470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双击图标可用</a:t>
            </a:r>
            <a:r>
              <a:rPr lang="en-US" altLang="zh-CN" dirty="0">
                <a:solidFill>
                  <a:srgbClr val="C00000"/>
                </a:solidFill>
              </a:rPr>
              <a:t>pdf</a:t>
            </a:r>
            <a:r>
              <a:rPr lang="zh-CN" altLang="en-US" dirty="0">
                <a:solidFill>
                  <a:srgbClr val="C00000"/>
                </a:solidFill>
              </a:rPr>
              <a:t>打开</a:t>
            </a:r>
            <a:endParaRPr lang="en-US" altLang="zh-CN" dirty="0">
              <a:solidFill>
                <a:srgbClr val="C00000"/>
              </a:solidFill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</a:rPr>
              <a:t>第二章的思维导图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DE9545-294A-A4D3-3B86-3549EDB88E71}"/>
              </a:ext>
            </a:extLst>
          </p:cNvPr>
          <p:cNvSpPr/>
          <p:nvPr/>
        </p:nvSpPr>
        <p:spPr>
          <a:xfrm>
            <a:off x="49258" y="1168736"/>
            <a:ext cx="2676035" cy="17090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双击图标可用</a:t>
            </a:r>
            <a:r>
              <a:rPr lang="en-US" altLang="zh-CN" dirty="0" err="1">
                <a:solidFill>
                  <a:srgbClr val="C00000"/>
                </a:solidFill>
              </a:rPr>
              <a:t>xmind</a:t>
            </a:r>
            <a:r>
              <a:rPr lang="zh-CN" altLang="en-US" dirty="0">
                <a:solidFill>
                  <a:srgbClr val="C00000"/>
                </a:solidFill>
              </a:rPr>
              <a:t>打开</a:t>
            </a:r>
            <a:endParaRPr lang="en-US" altLang="zh-CN" dirty="0">
              <a:solidFill>
                <a:srgbClr val="C00000"/>
              </a:solidFill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</a:rPr>
              <a:t>第二章的思维导图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6374BC-AD67-4884-8044-3D5B2A25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A43D7-DE04-4656-DB2A-A2347BE7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20D8-5432-4829-8F80-61CD14C4902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F9C373-17B5-EE18-A7EB-78B4F220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2433E-073B-F212-AE1E-9957A37F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45</a:t>
            </a:fld>
            <a:endParaRPr lang="zh-CN" altLang="en-US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EE5BC4E8-137F-5188-EDC4-6E47D504F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229363"/>
              </p:ext>
            </p:extLst>
          </p:nvPr>
        </p:nvGraphicFramePr>
        <p:xfrm>
          <a:off x="501712" y="3074812"/>
          <a:ext cx="1771125" cy="1485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400" imgH="766626" progId="Acrobat.Document.11">
                  <p:embed/>
                </p:oleObj>
              </mc:Choice>
              <mc:Fallback>
                <p:oleObj name="Acrobat Document" showAsIcon="1" r:id="rId3" imgW="914400" imgH="766626" progId="Acrobat.Document.11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EE5BC4E8-137F-5188-EDC4-6E47D504F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712" y="3074812"/>
                        <a:ext cx="1771125" cy="14851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61D337F-ED50-EEA2-EBCD-4A0E99910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855247"/>
              </p:ext>
            </p:extLst>
          </p:nvPr>
        </p:nvGraphicFramePr>
        <p:xfrm>
          <a:off x="-27737" y="1303549"/>
          <a:ext cx="2830022" cy="101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5" imgW="1438227" imgH="514350" progId="Package">
                  <p:embed/>
                </p:oleObj>
              </mc:Choice>
              <mc:Fallback>
                <p:oleObj name="包装程序外壳对象" showAsIcon="1" r:id="rId5" imgW="1438227" imgH="514350" progId="Package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61D337F-ED50-EEA2-EBCD-4A0E99910E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27737" y="1303549"/>
                        <a:ext cx="2830022" cy="1012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4687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374BC-AD67-4884-8044-3D5B2A25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D1F8C-7D52-4513-8075-29097AA6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P38/2.3</a:t>
            </a:r>
          </a:p>
          <a:p>
            <a:pPr eaLnBrk="1" hangingPunct="1"/>
            <a:r>
              <a:rPr lang="en-US" altLang="zh-CN" dirty="0"/>
              <a:t>P38/2.7(c)</a:t>
            </a:r>
          </a:p>
          <a:p>
            <a:pPr eaLnBrk="1" hangingPunct="1"/>
            <a:r>
              <a:rPr lang="en-US" altLang="zh-CN" dirty="0"/>
              <a:t>P39/2.8(</a:t>
            </a:r>
            <a:r>
              <a:rPr lang="zh-CN" altLang="en-US" dirty="0"/>
              <a:t>只做</a:t>
            </a:r>
            <a:r>
              <a:rPr lang="en-US" altLang="zh-CN" dirty="0"/>
              <a:t>2.7(c)</a:t>
            </a:r>
            <a:r>
              <a:rPr lang="zh-CN" altLang="en-US" dirty="0"/>
              <a:t>对应的</a:t>
            </a:r>
            <a:r>
              <a:rPr lang="en-US" altLang="zh-CN" dirty="0"/>
              <a:t>NFA)</a:t>
            </a:r>
          </a:p>
          <a:p>
            <a:pPr eaLnBrk="1" hangingPunct="1"/>
            <a:r>
              <a:rPr lang="en-US" altLang="zh-CN" dirty="0"/>
              <a:t>P39/2.10 (</a:t>
            </a:r>
            <a:r>
              <a:rPr lang="zh-CN" altLang="en-US" dirty="0"/>
              <a:t>注意，题目中增加一个条件：</a:t>
            </a:r>
            <a:r>
              <a:rPr lang="en-US" altLang="zh-CN" dirty="0"/>
              <a:t>/*/</a:t>
            </a:r>
            <a:r>
              <a:rPr lang="zh-CN" altLang="en-US" dirty="0"/>
              <a:t>不算注释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P39/2.11</a:t>
            </a:r>
            <a:r>
              <a:rPr lang="zh-CN" altLang="en-US" dirty="0"/>
              <a:t>前两个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A43D7-DE04-4656-DB2A-A2347BE7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20D8-5432-4829-8F80-61CD14C4902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F9C373-17B5-EE18-A7EB-78B4F220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2433E-073B-F212-AE1E-9957A37F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36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F530193-2FE2-465F-8C00-AA7993CD0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思考题：猎人过河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09C5807-57E5-43F5-BE33-AFD9FD534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猎人带羊、狼、菜过河，小船仅能装载猎人和另外一样物品。狼、羊不能单独待在一起，羊、菜也不能单独待在一起。用状态转换图描述猎人的摆渡方案，并找出安全的方案来。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E99787-6C5C-C48E-0487-02B4B352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D5C6-D1A0-4996-BF6D-33EF374CD1E4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A04A34-1DFA-0059-36FE-D39E2612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EA5D4E-9E5A-1C88-633E-178E952F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427</TotalTime>
  <Words>4999</Words>
  <Application>Microsoft Office PowerPoint</Application>
  <PresentationFormat>全屏显示(4:3)</PresentationFormat>
  <Paragraphs>1166</Paragraphs>
  <Slides>47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等线</vt:lpstr>
      <vt:lpstr>黑体</vt:lpstr>
      <vt:lpstr>宋体</vt:lpstr>
      <vt:lpstr>Arial</vt:lpstr>
      <vt:lpstr>Courier New</vt:lpstr>
      <vt:lpstr>Symbol</vt:lpstr>
      <vt:lpstr>Tahoma</vt:lpstr>
      <vt:lpstr>Times New Roman</vt:lpstr>
      <vt:lpstr>Wingdings</vt:lpstr>
      <vt:lpstr>主题1</vt:lpstr>
      <vt:lpstr>Acrobat Document</vt:lpstr>
      <vt:lpstr>程序包</vt:lpstr>
      <vt:lpstr>第二章 词法分析(3)</vt:lpstr>
      <vt:lpstr>上次课回顾</vt:lpstr>
      <vt:lpstr>上次课回顾</vt:lpstr>
      <vt:lpstr>上次课回顾</vt:lpstr>
      <vt:lpstr>上次课回顾</vt:lpstr>
      <vt:lpstr>本次课内容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2.3.3 NFA到DFA的变换（续）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2.3.4 DFA的化简</vt:lpstr>
      <vt:lpstr>补充：从DFA构造语言识别器</vt:lpstr>
      <vt:lpstr>补充：从DFA构造语言识别器</vt:lpstr>
      <vt:lpstr>补充：从DFA构造语言识别器</vt:lpstr>
      <vt:lpstr>补充：从DFA构造语言识别器</vt:lpstr>
      <vt:lpstr>本节小结</vt:lpstr>
      <vt:lpstr>本章定义</vt:lpstr>
      <vt:lpstr>本章线索</vt:lpstr>
      <vt:lpstr>本章要点</vt:lpstr>
      <vt:lpstr>本章小结</vt:lpstr>
      <vt:lpstr>本章作业</vt:lpstr>
      <vt:lpstr>思考题：猎人过河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欣捷</dc:creator>
  <cp:lastModifiedBy>欣捷 王</cp:lastModifiedBy>
  <cp:revision>36</cp:revision>
  <dcterms:created xsi:type="dcterms:W3CDTF">2021-02-17T04:10:24Z</dcterms:created>
  <dcterms:modified xsi:type="dcterms:W3CDTF">2026-03-25T08:18:31Z</dcterms:modified>
</cp:coreProperties>
</file>