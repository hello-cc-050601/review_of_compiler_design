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37"/>
  </p:notesMasterIdLst>
  <p:sldIdLst>
    <p:sldId id="256" r:id="rId2"/>
    <p:sldId id="668" r:id="rId3"/>
    <p:sldId id="692" r:id="rId4"/>
    <p:sldId id="472" r:id="rId5"/>
    <p:sldId id="473" r:id="rId6"/>
    <p:sldId id="475" r:id="rId7"/>
    <p:sldId id="476" r:id="rId8"/>
    <p:sldId id="474" r:id="rId9"/>
    <p:sldId id="430" r:id="rId10"/>
    <p:sldId id="587" r:id="rId11"/>
    <p:sldId id="588" r:id="rId12"/>
    <p:sldId id="689" r:id="rId13"/>
    <p:sldId id="477" r:id="rId14"/>
    <p:sldId id="693" r:id="rId15"/>
    <p:sldId id="694" r:id="rId16"/>
    <p:sldId id="695" r:id="rId17"/>
    <p:sldId id="696" r:id="rId18"/>
    <p:sldId id="697" r:id="rId19"/>
    <p:sldId id="691" r:id="rId20"/>
    <p:sldId id="448" r:id="rId21"/>
    <p:sldId id="443" r:id="rId22"/>
    <p:sldId id="444" r:id="rId23"/>
    <p:sldId id="462" r:id="rId24"/>
    <p:sldId id="446" r:id="rId25"/>
    <p:sldId id="449" r:id="rId26"/>
    <p:sldId id="469" r:id="rId27"/>
    <p:sldId id="450" r:id="rId28"/>
    <p:sldId id="690" r:id="rId29"/>
    <p:sldId id="470" r:id="rId30"/>
    <p:sldId id="471" r:id="rId31"/>
    <p:sldId id="451" r:id="rId32"/>
    <p:sldId id="452" r:id="rId33"/>
    <p:sldId id="463" r:id="rId34"/>
    <p:sldId id="464" r:id="rId35"/>
    <p:sldId id="46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617D"/>
    <a:srgbClr val="316886"/>
    <a:srgbClr val="3A7B9F"/>
    <a:srgbClr val="20455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245EE-6632-4524-A9B4-DC7CCA9FF7AD}" v="20" dt="2026-03-25T08:20:34.69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68230" autoAdjust="0"/>
  </p:normalViewPr>
  <p:slideViewPr>
    <p:cSldViewPr snapToGrid="0">
      <p:cViewPr varScale="1">
        <p:scale>
          <a:sx n="77" d="100"/>
          <a:sy n="77" d="100"/>
        </p:scale>
        <p:origin x="1659" y="48"/>
      </p:cViewPr>
      <p:guideLst/>
    </p:cSldViewPr>
  </p:slideViewPr>
  <p:outlineViewPr>
    <p:cViewPr>
      <p:scale>
        <a:sx n="33" d="100"/>
        <a:sy n="33" d="100"/>
      </p:scale>
      <p:origin x="0" y="-13878"/>
    </p:cViewPr>
  </p:outlin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欣捷 王" userId="b965477fa0aef5e6" providerId="LiveId" clId="{97C6B45D-85CF-4E4B-9C99-FFEAE701DD4A}"/>
    <pc:docChg chg="undo custSel modSld">
      <pc:chgData name="欣捷 王" userId="b965477fa0aef5e6" providerId="LiveId" clId="{97C6B45D-85CF-4E4B-9C99-FFEAE701DD4A}" dt="2026-03-25T08:20:59.125" v="28"/>
      <pc:docMkLst>
        <pc:docMk/>
      </pc:docMkLst>
      <pc:sldChg chg="addSp delSp modSp modAnim">
        <pc:chgData name="欣捷 王" userId="b965477fa0aef5e6" providerId="LiveId" clId="{97C6B45D-85CF-4E4B-9C99-FFEAE701DD4A}" dt="2026-03-25T07:56:43.461" v="3" actId="1076"/>
        <pc:sldMkLst>
          <pc:docMk/>
          <pc:sldMk cId="0" sldId="450"/>
        </pc:sldMkLst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13" creationId="{F899AE6F-19BF-57F2-CF01-E53091E8979D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16" creationId="{6234621B-409C-60BE-7DF6-EEE82C57315E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18" creationId="{7750E048-AE9C-2D9F-3EA7-FA491F87DC32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20" creationId="{42481E8C-8A57-91F9-BA16-42A5C12BF7DA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30" creationId="{0E9EFBDC-4F52-3CF2-4CD4-BFDB47094939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39" creationId="{250D0E0A-6CE8-D7B7-0A75-505D440763CE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46" creationId="{DCF7A937-9855-2980-058E-7A5D2F6FBE18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47" creationId="{B16E4234-AD91-C83D-CB33-8E196F077ABF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54" creationId="{5D5D1335-B6B0-50F5-3175-64359462C0F8}"/>
          </ac:spMkLst>
        </pc:spChg>
        <pc:spChg chg="mod">
          <ac:chgData name="欣捷 王" userId="b965477fa0aef5e6" providerId="LiveId" clId="{97C6B45D-85CF-4E4B-9C99-FFEAE701DD4A}" dt="2026-03-25T07:56:43.461" v="3" actId="1076"/>
          <ac:spMkLst>
            <pc:docMk/>
            <pc:sldMk cId="0" sldId="450"/>
            <ac:spMk id="57" creationId="{280CDEB9-35DC-319A-1287-341CA51A871E}"/>
          </ac:spMkLst>
        </pc:spChg>
        <pc:grpChg chg="del">
          <ac:chgData name="欣捷 王" userId="b965477fa0aef5e6" providerId="LiveId" clId="{97C6B45D-85CF-4E4B-9C99-FFEAE701DD4A}" dt="2026-03-25T07:56:30.586" v="0" actId="478"/>
          <ac:grpSpMkLst>
            <pc:docMk/>
            <pc:sldMk cId="0" sldId="450"/>
            <ac:grpSpMk id="7" creationId="{A48F2457-B70D-B110-C135-BD4F53F3967A}"/>
          </ac:grpSpMkLst>
        </pc:grpChg>
      </pc:sldChg>
      <pc:sldChg chg="addSp delSp modSp mod addAnim delAnim modAnim">
        <pc:chgData name="欣捷 王" userId="b965477fa0aef5e6" providerId="LiveId" clId="{97C6B45D-85CF-4E4B-9C99-FFEAE701DD4A}" dt="2026-03-25T08:20:59.125" v="28"/>
        <pc:sldMkLst>
          <pc:docMk/>
          <pc:sldMk cId="0" sldId="451"/>
        </pc:sldMkLst>
        <pc:spChg chg="mod">
          <ac:chgData name="欣捷 王" userId="b965477fa0aef5e6" providerId="LiveId" clId="{97C6B45D-85CF-4E4B-9C99-FFEAE701DD4A}" dt="2026-03-25T08:20:24.593" v="21" actId="164"/>
          <ac:spMkLst>
            <pc:docMk/>
            <pc:sldMk cId="0" sldId="451"/>
            <ac:spMk id="3" creationId="{87E0181E-D53F-4B8A-B19D-8F094A20A3B2}"/>
          </ac:spMkLst>
        </pc:spChg>
        <pc:spChg chg="mod">
          <ac:chgData name="欣捷 王" userId="b965477fa0aef5e6" providerId="LiveId" clId="{97C6B45D-85CF-4E4B-9C99-FFEAE701DD4A}" dt="2026-03-25T08:19:45.348" v="15" actId="1076"/>
          <ac:spMkLst>
            <pc:docMk/>
            <pc:sldMk cId="0" sldId="451"/>
            <ac:spMk id="40" creationId="{2A3F5FA5-9023-4C14-BD4D-F354E8408D64}"/>
          </ac:spMkLst>
        </pc:spChg>
        <pc:spChg chg="mod">
          <ac:chgData name="欣捷 王" userId="b965477fa0aef5e6" providerId="LiveId" clId="{97C6B45D-85CF-4E4B-9C99-FFEAE701DD4A}" dt="2026-03-25T08:18:56.763" v="4"/>
          <ac:spMkLst>
            <pc:docMk/>
            <pc:sldMk cId="0" sldId="451"/>
            <ac:spMk id="32771" creationId="{386A8551-D777-4451-BA6F-CD1E3AA1D698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74" creationId="{36645097-A43D-4D1E-BC4E-0BD531CEC7DF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79" creationId="{D9996965-2808-4853-A104-242CE3805913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80" creationId="{2FCE18A5-933E-42AA-9792-4A75912984EC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81" creationId="{7DA05749-A698-4818-9CC4-C9ACD1191647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83" creationId="{929D747F-E521-46D0-847D-788CCDD3CBEE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86" creationId="{E5576592-3CF2-4C6D-928A-CCA0E5C0C700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94" creationId="{DC9D0A9C-E6A0-4A4D-9ACE-68BD765FE4D6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799" creationId="{5377BC99-9730-49F1-8250-7A20DF7EAF04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801" creationId="{D929E9EB-3D76-48A8-9F4E-1ACA75DD4182}"/>
          </ac:spMkLst>
        </pc:spChg>
        <pc:spChg chg="mod">
          <ac:chgData name="欣捷 王" userId="b965477fa0aef5e6" providerId="LiveId" clId="{97C6B45D-85CF-4E4B-9C99-FFEAE701DD4A}" dt="2026-03-25T08:19:49.723" v="16" actId="165"/>
          <ac:spMkLst>
            <pc:docMk/>
            <pc:sldMk cId="0" sldId="451"/>
            <ac:spMk id="32802" creationId="{0187BCFF-E341-4BAA-8AB4-E7AC83B10AEA}"/>
          </ac:spMkLst>
        </pc:spChg>
        <pc:grpChg chg="mod">
          <ac:chgData name="欣捷 王" userId="b965477fa0aef5e6" providerId="LiveId" clId="{97C6B45D-85CF-4E4B-9C99-FFEAE701DD4A}" dt="2026-03-25T08:19:40.337" v="13" actId="164"/>
          <ac:grpSpMkLst>
            <pc:docMk/>
            <pc:sldMk cId="0" sldId="451"/>
            <ac:grpSpMk id="2" creationId="{120B884A-1E56-4B94-A1EE-A7592E5BAF73}"/>
          </ac:grpSpMkLst>
        </pc:grpChg>
        <pc:grpChg chg="mod">
          <ac:chgData name="欣捷 王" userId="b965477fa0aef5e6" providerId="LiveId" clId="{97C6B45D-85CF-4E4B-9C99-FFEAE701DD4A}" dt="2026-03-25T08:20:24.593" v="21" actId="164"/>
          <ac:grpSpMkLst>
            <pc:docMk/>
            <pc:sldMk cId="0" sldId="451"/>
            <ac:grpSpMk id="4" creationId="{6E620D5E-F5FD-4855-902D-6B1183D1E6C3}"/>
          </ac:grpSpMkLst>
        </pc:grpChg>
        <pc:grpChg chg="add mod">
          <ac:chgData name="欣捷 王" userId="b965477fa0aef5e6" providerId="LiveId" clId="{97C6B45D-85CF-4E4B-9C99-FFEAE701DD4A}" dt="2026-03-25T08:19:40.337" v="13" actId="164"/>
          <ac:grpSpMkLst>
            <pc:docMk/>
            <pc:sldMk cId="0" sldId="451"/>
            <ac:grpSpMk id="8" creationId="{3131DE9C-502A-B49E-85B4-955EBB01E837}"/>
          </ac:grpSpMkLst>
        </pc:grpChg>
        <pc:grpChg chg="add mod">
          <ac:chgData name="欣捷 王" userId="b965477fa0aef5e6" providerId="LiveId" clId="{97C6B45D-85CF-4E4B-9C99-FFEAE701DD4A}" dt="2026-03-25T08:20:24.593" v="21" actId="164"/>
          <ac:grpSpMkLst>
            <pc:docMk/>
            <pc:sldMk cId="0" sldId="451"/>
            <ac:grpSpMk id="9" creationId="{65166D94-E628-7BC1-7247-F6EC798231CB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9D049-5B44-483E-9C3C-697C85C65D4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C3482-A6A0-4CF0-A287-4BD4EF082C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94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多写一些串的例子，找规律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84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偶数个</a:t>
            </a:r>
            <a:r>
              <a:rPr lang="en-US" altLang="zh-CN" dirty="0"/>
              <a:t>0</a:t>
            </a:r>
            <a:r>
              <a:rPr lang="zh-CN" altLang="en-US" dirty="0"/>
              <a:t>奇数个</a:t>
            </a:r>
            <a:r>
              <a:rPr lang="en-US" altLang="zh-CN" dirty="0"/>
              <a:t>1</a:t>
            </a:r>
            <a:r>
              <a:rPr lang="zh-CN" altLang="en-US" dirty="0"/>
              <a:t>写成</a:t>
            </a:r>
            <a:r>
              <a:rPr lang="en-US" altLang="zh-CN" dirty="0"/>
              <a:t>E 1 E</a:t>
            </a:r>
            <a:r>
              <a:rPr lang="zh-CN" altLang="en-US" dirty="0"/>
              <a:t>是错的，比如</a:t>
            </a:r>
            <a:r>
              <a:rPr lang="en-US" altLang="zh-CN" dirty="0"/>
              <a:t>010</a:t>
            </a:r>
            <a:r>
              <a:rPr lang="zh-CN" altLang="en-US" dirty="0"/>
              <a:t>就无法用这个正规式表达。</a:t>
            </a:r>
            <a:endParaRPr lang="en-US" altLang="zh-CN" dirty="0"/>
          </a:p>
          <a:p>
            <a:pPr eaLnBrk="1" hangingPunct="1"/>
            <a:r>
              <a:rPr lang="zh-CN" altLang="en-US" dirty="0"/>
              <a:t>偶数个</a:t>
            </a:r>
            <a:r>
              <a:rPr lang="en-US" altLang="zh-CN" dirty="0"/>
              <a:t>0</a:t>
            </a:r>
            <a:r>
              <a:rPr lang="zh-CN" altLang="en-US" dirty="0"/>
              <a:t>奇数个</a:t>
            </a:r>
            <a:r>
              <a:rPr lang="en-US" altLang="zh-CN" dirty="0"/>
              <a:t>1</a:t>
            </a:r>
            <a:r>
              <a:rPr lang="zh-CN" altLang="en-US" dirty="0"/>
              <a:t>写成：</a:t>
            </a:r>
            <a:r>
              <a:rPr lang="en-US" altLang="zh-CN" dirty="0"/>
              <a:t>E 1 E | E 0 E 1 E 0 E</a:t>
            </a:r>
            <a:r>
              <a:rPr lang="zh-CN" altLang="en-US" dirty="0"/>
              <a:t>对不对？个人认为对。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偶数个</a:t>
            </a:r>
            <a:r>
              <a:rPr lang="en-US" altLang="zh-CN" dirty="0"/>
              <a:t>0</a:t>
            </a:r>
            <a:r>
              <a:rPr lang="zh-CN" altLang="en-US" dirty="0"/>
              <a:t>，不考虑</a:t>
            </a:r>
            <a:r>
              <a:rPr lang="en-US" altLang="zh-CN" dirty="0"/>
              <a:t>1</a:t>
            </a:r>
            <a:r>
              <a:rPr lang="zh-CN" altLang="en-US" dirty="0"/>
              <a:t>的个数： </a:t>
            </a:r>
            <a:r>
              <a:rPr lang="en-US" altLang="zh-CN" dirty="0"/>
              <a:t>e_0 = 1* | (1* 0 1* 0 1*)*  ——</a:t>
            </a:r>
            <a:r>
              <a:rPr lang="zh-CN" altLang="en-US" dirty="0"/>
              <a:t>要么没有</a:t>
            </a:r>
            <a:r>
              <a:rPr lang="en-US" altLang="zh-CN" dirty="0"/>
              <a:t>0</a:t>
            </a:r>
            <a:r>
              <a:rPr lang="zh-CN" altLang="en-US" dirty="0"/>
              <a:t>，要么是（两个</a:t>
            </a:r>
            <a:r>
              <a:rPr lang="en-US" altLang="zh-CN" dirty="0"/>
              <a:t>0</a:t>
            </a:r>
            <a:r>
              <a:rPr lang="zh-CN" altLang="en-US" dirty="0"/>
              <a:t>中间有若干个</a:t>
            </a:r>
            <a:r>
              <a:rPr lang="en-US" altLang="zh-CN" dirty="0"/>
              <a:t>1</a:t>
            </a:r>
            <a:r>
              <a:rPr lang="zh-CN" altLang="en-US" dirty="0"/>
              <a:t>）的闭包</a:t>
            </a:r>
            <a:endParaRPr lang="en-US" altLang="zh-CN" dirty="0"/>
          </a:p>
          <a:p>
            <a:pPr eaLnBrk="1" hangingPunct="1"/>
            <a:r>
              <a:rPr lang="zh-CN" altLang="en-US" dirty="0"/>
              <a:t>奇数个</a:t>
            </a:r>
            <a:r>
              <a:rPr lang="en-US" altLang="zh-CN" dirty="0"/>
              <a:t>0</a:t>
            </a:r>
            <a:r>
              <a:rPr lang="zh-CN" altLang="en-US" dirty="0"/>
              <a:t>，不考虑</a:t>
            </a:r>
            <a:r>
              <a:rPr lang="en-US" altLang="zh-CN" dirty="0"/>
              <a:t>1</a:t>
            </a:r>
            <a:r>
              <a:rPr lang="zh-CN" altLang="en-US" dirty="0"/>
              <a:t>的个数： </a:t>
            </a:r>
            <a:r>
              <a:rPr lang="en-US" altLang="zh-CN" dirty="0"/>
              <a:t>o_0 = 0 e_0 | 1</a:t>
            </a:r>
            <a:r>
              <a:rPr lang="zh-CN" altLang="en-US" dirty="0"/>
              <a:t> </a:t>
            </a:r>
            <a:r>
              <a:rPr lang="en-US" altLang="zh-CN" dirty="0"/>
              <a:t>e_0 0 e_0  ——</a:t>
            </a:r>
            <a:r>
              <a:rPr lang="zh-CN" altLang="en-US" dirty="0"/>
              <a:t>如果</a:t>
            </a:r>
            <a:r>
              <a:rPr lang="en-US" altLang="zh-CN" dirty="0"/>
              <a:t>0</a:t>
            </a:r>
            <a:r>
              <a:rPr lang="zh-CN" altLang="en-US" dirty="0"/>
              <a:t>开头，那么剩余部分是偶</a:t>
            </a:r>
            <a:r>
              <a:rPr lang="en-US" altLang="zh-CN" dirty="0"/>
              <a:t>0</a:t>
            </a:r>
            <a:r>
              <a:rPr lang="zh-CN" altLang="en-US" dirty="0"/>
              <a:t>，如果</a:t>
            </a:r>
            <a:r>
              <a:rPr lang="en-US" altLang="zh-CN" dirty="0"/>
              <a:t>1</a:t>
            </a:r>
            <a:r>
              <a:rPr lang="zh-CN" altLang="en-US" dirty="0"/>
              <a:t>开头，那么剩余部分是 偶</a:t>
            </a:r>
            <a:r>
              <a:rPr lang="en-US" altLang="zh-CN" dirty="0"/>
              <a:t>0 0 </a:t>
            </a:r>
            <a:r>
              <a:rPr lang="zh-CN" altLang="en-US" dirty="0"/>
              <a:t>偶</a:t>
            </a:r>
            <a:r>
              <a:rPr lang="en-US" altLang="zh-CN" dirty="0"/>
              <a:t>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897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问题的关键是用一种合适的观点来看待这种句子结构。可以按这样的观点：每个这样的句子由若干个</a:t>
            </a:r>
            <a:r>
              <a:rPr lang="en-US" altLang="zh-CN" dirty="0"/>
              <a:t>0</a:t>
            </a:r>
            <a:r>
              <a:rPr lang="zh-CN" altLang="en-US" dirty="0"/>
              <a:t>把它分成若干段，如：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	1230313571067803590123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可以看成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	123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313571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678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359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123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0</a:t>
            </a:r>
            <a:r>
              <a:rPr lang="zh-CN" altLang="en-US" dirty="0"/>
              <a:t>隔开的每一段，如</a:t>
            </a:r>
            <a:r>
              <a:rPr lang="en-US" altLang="zh-CN" dirty="0"/>
              <a:t>313571</a:t>
            </a:r>
            <a:r>
              <a:rPr lang="zh-CN" altLang="en-US" dirty="0"/>
              <a:t>，它不含</a:t>
            </a:r>
            <a:r>
              <a:rPr lang="en-US" altLang="zh-CN" dirty="0"/>
              <a:t>0</a:t>
            </a:r>
            <a:r>
              <a:rPr lang="zh-CN" altLang="en-US" dirty="0"/>
              <a:t>，并且又可以看成由若干个</a:t>
            </a:r>
            <a:r>
              <a:rPr lang="en-US" altLang="zh-CN" dirty="0"/>
              <a:t>1</a:t>
            </a:r>
            <a:r>
              <a:rPr lang="zh-CN" altLang="en-US" dirty="0"/>
              <a:t>把它分成多段。如此下去，就能找到该语言的正规定义。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按这个思路，上面的正规定义应该逆序看。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	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answer 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200" b="1" dirty="0">
                <a:latin typeface="Times New Roman" panose="02020603050405020304" pitchFamily="18" charset="0"/>
              </a:rPr>
              <a:t> (0  | 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  </a:t>
            </a:r>
            <a:r>
              <a:rPr lang="en-US" altLang="zh-CN" sz="1200" b="1" dirty="0">
                <a:latin typeface="Times New Roman" panose="02020603050405020304" pitchFamily="18" charset="0"/>
              </a:rPr>
              <a:t>0 ) 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  </a:t>
            </a:r>
            <a:r>
              <a:rPr lang="en-US" altLang="zh-CN" sz="1200" b="1" dirty="0">
                <a:latin typeface="Times New Roman" panose="02020603050405020304" pitchFamily="18" charset="0"/>
              </a:rPr>
              <a:t>0 )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200" b="1" dirty="0">
                <a:latin typeface="Times New Roman" panose="02020603050405020304" pitchFamily="18" charset="0"/>
              </a:rPr>
              <a:t> 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  | </a:t>
            </a:r>
            <a:r>
              <a:rPr lang="en-US" altLang="zh-CN" sz="1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</a:rPr>
              <a:t>)  | 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表示一个句子由若干个</a:t>
            </a:r>
            <a:r>
              <a:rPr lang="en-US" altLang="zh-CN" dirty="0"/>
              <a:t>0</a:t>
            </a:r>
            <a:r>
              <a:rPr lang="zh-CN" altLang="en-US" dirty="0"/>
              <a:t>分成若干段，特殊情况是整个句子不含</a:t>
            </a:r>
            <a:r>
              <a:rPr lang="en-US" altLang="zh-CN" dirty="0"/>
              <a:t>0</a:t>
            </a:r>
            <a:r>
              <a:rPr lang="zh-CN" altLang="en-US" dirty="0"/>
              <a:t>。在这个正规定义中，所引用的</a:t>
            </a:r>
            <a:r>
              <a:rPr lang="en-US" altLang="zh-CN" dirty="0"/>
              <a:t>no_0</a:t>
            </a:r>
            <a:r>
              <a:rPr lang="zh-CN" altLang="en-US" dirty="0"/>
              <a:t>表示不含</a:t>
            </a:r>
            <a:r>
              <a:rPr lang="en-US" altLang="zh-CN" dirty="0"/>
              <a:t>0</a:t>
            </a:r>
            <a:r>
              <a:rPr lang="zh-CN" altLang="en-US" dirty="0"/>
              <a:t>的串，它的定义和这个定义的形式一样，因为串的形式是一样的，只不过没有数字</a:t>
            </a:r>
            <a:r>
              <a:rPr lang="en-US" altLang="zh-CN" dirty="0"/>
              <a:t>0</a:t>
            </a:r>
            <a:r>
              <a:rPr lang="zh-CN" altLang="en-US" dirty="0"/>
              <a:t>。所以有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	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 </a:t>
            </a:r>
            <a:r>
              <a:rPr lang="en-US" altLang="zh-CN" sz="1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1200" b="1" dirty="0">
                <a:latin typeface="Times New Roman" panose="02020603050405020304" pitchFamily="18" charset="0"/>
              </a:rPr>
              <a:t> (1 |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-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1 </a:t>
            </a:r>
            <a:r>
              <a:rPr lang="en-US" altLang="zh-CN" sz="1200" b="1" dirty="0">
                <a:latin typeface="Times New Roman" panose="02020603050405020304" pitchFamily="18" charset="0"/>
              </a:rPr>
              <a:t>1 ) 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-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1 </a:t>
            </a:r>
            <a:r>
              <a:rPr lang="en-US" altLang="zh-CN" sz="1200" b="1" dirty="0">
                <a:latin typeface="Times New Roman" panose="02020603050405020304" pitchFamily="18" charset="0"/>
              </a:rPr>
              <a:t>1 )</a:t>
            </a:r>
            <a:r>
              <a:rPr lang="en-US" altLang="zh-CN" sz="1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1200" b="1" dirty="0">
                <a:latin typeface="Times New Roman" panose="02020603050405020304" pitchFamily="18" charset="0"/>
              </a:rPr>
              <a:t> (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-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Times New Roman" panose="02020603050405020304" pitchFamily="18" charset="0"/>
              </a:rPr>
              <a:t> | </a:t>
            </a:r>
            <a:r>
              <a:rPr lang="en-US" altLang="zh-CN" sz="1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1200" b="1" dirty="0">
                <a:latin typeface="Times New Roman" panose="02020603050405020304" pitchFamily="18" charset="0"/>
              </a:rPr>
              <a:t>) | 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1200" b="1" dirty="0">
                <a:latin typeface="Times New Roman" panose="02020603050405020304" pitchFamily="18" charset="0"/>
              </a:rPr>
              <a:t>_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1200" b="1" dirty="0">
                <a:latin typeface="Times New Roman" panose="02020603050405020304" pitchFamily="18" charset="0"/>
              </a:rPr>
              <a:t>-</a:t>
            </a:r>
            <a:r>
              <a:rPr lang="en-US" altLang="zh-CN" sz="1200" b="1" i="1" dirty="0">
                <a:latin typeface="Times New Roman" panose="02020603050405020304" pitchFamily="18" charset="0"/>
              </a:rPr>
              <a:t>1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其中，</a:t>
            </a:r>
            <a:r>
              <a:rPr lang="en-US" altLang="zh-CN" dirty="0"/>
              <a:t>no_0-1</a:t>
            </a:r>
            <a:r>
              <a:rPr lang="zh-CN" altLang="en-US" dirty="0"/>
              <a:t>表示不含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的串。以此类推，最后</a:t>
            </a:r>
            <a:r>
              <a:rPr lang="en-US" altLang="zh-CN" dirty="0"/>
              <a:t>no_0-8</a:t>
            </a:r>
            <a:r>
              <a:rPr lang="zh-CN" altLang="en-US" dirty="0"/>
              <a:t>是表示不含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的、没有重复数字的串，它只可能是单个</a:t>
            </a:r>
            <a:r>
              <a:rPr lang="en-US" altLang="zh-CN" dirty="0"/>
              <a:t>9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599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这类问题难点在于如何转化成合适的描述。需要多写一些串的例子，找规律。然后将这个“规律”描述出来。</a:t>
            </a:r>
            <a:endParaRPr lang="en-US" altLang="zh-CN" dirty="0"/>
          </a:p>
          <a:p>
            <a:r>
              <a:rPr lang="zh-CN" altLang="en-US" dirty="0"/>
              <a:t>有些不太容易看出来的，尝试分析个数（比如奇偶），或者分析是否一定有或不允许有特定的子串，或者子串的先后顺序等等。</a:t>
            </a:r>
            <a:endParaRPr lang="en-US" altLang="zh-CN" dirty="0"/>
          </a:p>
          <a:p>
            <a:r>
              <a:rPr lang="zh-CN" altLang="en-US" dirty="0"/>
              <a:t>有些闭包套闭包的，从里到外依次来分析。并且尝试写出更简单的正规式。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请同学们多做多练，熟能生巧。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486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可以使用</a:t>
            </a:r>
            <a:r>
              <a:rPr lang="en-US" altLang="zh-CN" dirty="0"/>
              <a:t>Thompson</a:t>
            </a:r>
            <a:r>
              <a:rPr lang="zh-CN" altLang="en-US" dirty="0"/>
              <a:t>算法生成</a:t>
            </a:r>
            <a:r>
              <a:rPr lang="en-US" altLang="zh-CN" dirty="0"/>
              <a:t>NFA</a:t>
            </a:r>
            <a:r>
              <a:rPr lang="zh-CN" altLang="en-US" dirty="0"/>
              <a:t>，再用子集构造法得到</a:t>
            </a:r>
            <a:r>
              <a:rPr lang="en-US" altLang="zh-CN" dirty="0"/>
              <a:t>DFA</a:t>
            </a:r>
            <a:r>
              <a:rPr lang="zh-CN" altLang="en-US" dirty="0"/>
              <a:t>，然后化简。</a:t>
            </a:r>
            <a:endParaRPr lang="en-US" altLang="zh-CN" dirty="0"/>
          </a:p>
          <a:p>
            <a:r>
              <a:rPr lang="zh-CN" altLang="en-US" dirty="0"/>
              <a:t>虽然这种方式便于利用计算机实现，但是手工构造时会因为引入更多的</a:t>
            </a:r>
            <a:r>
              <a:rPr lang="en-US" altLang="zh-CN" dirty="0"/>
              <a:t>epsilon</a:t>
            </a:r>
            <a:r>
              <a:rPr lang="zh-CN" altLang="en-US" dirty="0"/>
              <a:t>字符而变得复杂。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因此，手工构造时，可以采用直接法，即我们尝试去理解这个正规式的含义，比如本题，</a:t>
            </a:r>
            <a:r>
              <a:rPr lang="zh-CN" altLang="en-US" dirty="0">
                <a:latin typeface="宋体" panose="02010600030101010101" pitchFamily="2" charset="-122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</a:rPr>
              <a:t>(1|01)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可以看出，任何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的前面不可能有多于一个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，即不可能出现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001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这种状况，但是最后一个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后面可以有任意多个</a:t>
            </a:r>
            <a:r>
              <a:rPr lang="en-US" altLang="zh-CN" b="1" dirty="0">
                <a:latin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Arial" panose="020B0604020202020204" pitchFamily="34" charset="0"/>
              </a:rPr>
              <a:t>。</a:t>
            </a:r>
            <a:r>
              <a:rPr lang="zh-CN" altLang="en-US" dirty="0"/>
              <a:t>所以本题正规式的含义是“不包含</a:t>
            </a:r>
            <a:r>
              <a:rPr lang="en-US" altLang="zh-CN" dirty="0"/>
              <a:t>001</a:t>
            </a:r>
            <a:r>
              <a:rPr lang="zh-CN" altLang="en-US" dirty="0"/>
              <a:t>子串的由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构成的串</a:t>
            </a:r>
            <a:r>
              <a:rPr lang="en-US" altLang="zh-CN" dirty="0"/>
              <a:t>(</a:t>
            </a:r>
            <a:r>
              <a:rPr lang="zh-CN" altLang="en-US" dirty="0"/>
              <a:t>包括空串</a:t>
            </a:r>
            <a:r>
              <a:rPr lang="en-US" altLang="zh-CN" dirty="0"/>
              <a:t>)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根据这个含义，我们给出三个状态，分别代表“刚读过的字符不是</a:t>
            </a:r>
            <a:r>
              <a:rPr lang="en-US" altLang="zh-CN" dirty="0"/>
              <a:t>0</a:t>
            </a:r>
            <a:r>
              <a:rPr lang="zh-CN" altLang="en-US" dirty="0"/>
              <a:t>”、“读了一个</a:t>
            </a:r>
            <a:r>
              <a:rPr lang="en-US" altLang="zh-CN" dirty="0"/>
              <a:t>0</a:t>
            </a:r>
            <a:r>
              <a:rPr lang="zh-CN" altLang="en-US" dirty="0"/>
              <a:t>”、“读了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0</a:t>
            </a:r>
            <a:r>
              <a:rPr lang="zh-CN" altLang="en-US" dirty="0"/>
              <a:t>”。然后分别给每个状态写出状态转换边。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在读了</a:t>
            </a:r>
            <a:r>
              <a:rPr lang="en-US" altLang="zh-CN" dirty="0"/>
              <a:t>2</a:t>
            </a:r>
            <a:r>
              <a:rPr lang="zh-CN" altLang="en-US" dirty="0"/>
              <a:t>个</a:t>
            </a:r>
            <a:r>
              <a:rPr lang="en-US" altLang="zh-CN" dirty="0"/>
              <a:t>0</a:t>
            </a:r>
            <a:r>
              <a:rPr lang="zh-CN" altLang="en-US" dirty="0"/>
              <a:t>的情况下，就不能再读</a:t>
            </a:r>
            <a:r>
              <a:rPr lang="en-US" altLang="zh-CN" dirty="0"/>
              <a:t>1</a:t>
            </a:r>
            <a:r>
              <a:rPr lang="zh-CN" altLang="en-US" dirty="0"/>
              <a:t>了，否则就违背了含义。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14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从语言描述或正规式构造</a:t>
            </a:r>
            <a:r>
              <a:rPr lang="en-US" altLang="zh-CN" dirty="0"/>
              <a:t>DFA/NFA</a:t>
            </a:r>
            <a:r>
              <a:rPr lang="zh-CN" altLang="en-US" dirty="0"/>
              <a:t>时，除了按照</a:t>
            </a:r>
            <a:r>
              <a:rPr lang="en-US" altLang="zh-CN" dirty="0"/>
              <a:t>Thompson</a:t>
            </a:r>
            <a:r>
              <a:rPr lang="zh-CN" altLang="en-US" dirty="0"/>
              <a:t>法的一般形式来构造之外，还可以考虑手工直接构造法，弄懂语言描述或正规式的含义，再根据自己的理解去画</a:t>
            </a:r>
            <a:r>
              <a:rPr lang="en-US" altLang="zh-CN" dirty="0"/>
              <a:t>NFA</a:t>
            </a:r>
            <a:r>
              <a:rPr lang="zh-CN" altLang="en-US" dirty="0"/>
              <a:t>或</a:t>
            </a:r>
            <a:r>
              <a:rPr lang="en-US" altLang="zh-CN" dirty="0"/>
              <a:t>DFA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这样做的原因是，</a:t>
            </a:r>
            <a:r>
              <a:rPr lang="en-US" altLang="zh-CN" dirty="0"/>
              <a:t>Thompson</a:t>
            </a:r>
            <a:r>
              <a:rPr lang="zh-CN" altLang="en-US" dirty="0"/>
              <a:t>法等构造算法通常会在</a:t>
            </a:r>
            <a:r>
              <a:rPr lang="en-US" altLang="zh-CN" dirty="0"/>
              <a:t>NFA</a:t>
            </a:r>
            <a:r>
              <a:rPr lang="zh-CN" altLang="en-US" dirty="0"/>
              <a:t>中引入</a:t>
            </a:r>
            <a:r>
              <a:rPr lang="zh-CN" altLang="en-US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dirty="0">
                <a:sym typeface="Symbol" panose="05050102010706020507" pitchFamily="18" charset="2"/>
              </a:rPr>
              <a:t>转换，这会让状态转换图变得复杂，尤其是题目还要求画出</a:t>
            </a:r>
            <a:r>
              <a:rPr lang="en-US" altLang="zh-CN" sz="1200" dirty="0">
                <a:sym typeface="Symbol" panose="05050102010706020507" pitchFamily="18" charset="2"/>
              </a:rPr>
              <a:t>DFA</a:t>
            </a:r>
            <a:r>
              <a:rPr lang="zh-CN" altLang="en-US" sz="1200" dirty="0">
                <a:sym typeface="Symbol" panose="05050102010706020507" pitchFamily="18" charset="2"/>
              </a:rPr>
              <a:t>时，状态数的增多使得手工完成从</a:t>
            </a:r>
            <a:r>
              <a:rPr lang="en-US" altLang="zh-CN" sz="1200" dirty="0">
                <a:sym typeface="Symbol" panose="05050102010706020507" pitchFamily="18" charset="2"/>
              </a:rPr>
              <a:t>NFA</a:t>
            </a:r>
            <a:r>
              <a:rPr lang="zh-CN" altLang="en-US" sz="1200" dirty="0">
                <a:sym typeface="Symbol" panose="05050102010706020507" pitchFamily="18" charset="2"/>
              </a:rPr>
              <a:t>到</a:t>
            </a:r>
            <a:r>
              <a:rPr lang="en-US" altLang="zh-CN" sz="1200" dirty="0">
                <a:sym typeface="Symbol" panose="05050102010706020507" pitchFamily="18" charset="2"/>
              </a:rPr>
              <a:t>DFA</a:t>
            </a:r>
            <a:r>
              <a:rPr lang="zh-CN" altLang="en-US" sz="1200" dirty="0">
                <a:sym typeface="Symbol" panose="05050102010706020507" pitchFamily="18" charset="2"/>
              </a:rPr>
              <a:t>的过程更容易出错。因此，既要会用教材上的算法来构造</a:t>
            </a:r>
            <a:r>
              <a:rPr lang="en-US" altLang="zh-CN" sz="1200" dirty="0">
                <a:sym typeface="Symbol" panose="05050102010706020507" pitchFamily="18" charset="2"/>
              </a:rPr>
              <a:t>NFA</a:t>
            </a:r>
            <a:r>
              <a:rPr lang="zh-CN" altLang="en-US" sz="1200" dirty="0">
                <a:sym typeface="Symbol" panose="05050102010706020507" pitchFamily="18" charset="2"/>
              </a:rPr>
              <a:t>，也要会手工构造更简洁的</a:t>
            </a:r>
            <a:r>
              <a:rPr lang="en-US" altLang="zh-CN" sz="1200" dirty="0">
                <a:sym typeface="Symbol" panose="05050102010706020507" pitchFamily="18" charset="2"/>
              </a:rPr>
              <a:t>NFA</a:t>
            </a:r>
            <a:r>
              <a:rPr lang="zh-CN" altLang="en-US" sz="1200" dirty="0">
                <a:sym typeface="Symbol" panose="05050102010706020507" pitchFamily="18" charset="2"/>
              </a:rPr>
              <a:t>和</a:t>
            </a:r>
            <a:r>
              <a:rPr lang="en-US" altLang="zh-CN" sz="1200" dirty="0">
                <a:sym typeface="Symbol" panose="05050102010706020507" pitchFamily="18" charset="2"/>
              </a:rPr>
              <a:t>DFA</a:t>
            </a:r>
            <a:r>
              <a:rPr lang="zh-CN" altLang="en-US" sz="1200" dirty="0">
                <a:sym typeface="Symbol" panose="05050102010706020507" pitchFamily="18" charset="2"/>
              </a:rPr>
              <a:t>，构造时尽量避免在</a:t>
            </a:r>
            <a:r>
              <a:rPr lang="en-US" altLang="zh-CN" sz="1200" dirty="0">
                <a:sym typeface="Symbol" panose="05050102010706020507" pitchFamily="18" charset="2"/>
              </a:rPr>
              <a:t>NFA</a:t>
            </a:r>
            <a:r>
              <a:rPr lang="zh-CN" altLang="en-US" sz="1200" dirty="0">
                <a:sym typeface="Symbol" panose="05050102010706020507" pitchFamily="18" charset="2"/>
              </a:rPr>
              <a:t>中出现</a:t>
            </a:r>
            <a:r>
              <a:rPr lang="zh-CN" altLang="en-US" sz="1200" b="1" dirty="0">
                <a:sym typeface="Symbol" panose="05050102010706020507" pitchFamily="18" charset="2"/>
              </a:rPr>
              <a:t></a:t>
            </a:r>
            <a:r>
              <a:rPr lang="zh-CN" altLang="en-US" sz="1200" dirty="0">
                <a:sym typeface="Symbol" panose="05050102010706020507" pitchFamily="18" charset="2"/>
              </a:rPr>
              <a:t>转换。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如果只含有单个字母的闭包，那么可以用指向自身的边来表示闭包，这样通常能够构造出</a:t>
            </a:r>
            <a:r>
              <a:rPr lang="en-US" altLang="zh-CN" dirty="0"/>
              <a:t>NFA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给图中每个状态定义一种含义，各个状态之前的含义互不相同，这样通常能够构造出</a:t>
            </a:r>
            <a:r>
              <a:rPr lang="en-US" altLang="zh-CN" dirty="0"/>
              <a:t>DFA</a:t>
            </a:r>
            <a:r>
              <a:rPr lang="zh-CN" altLang="en-US" dirty="0"/>
              <a:t>或最简</a:t>
            </a:r>
            <a:r>
              <a:rPr lang="en-US" altLang="zh-CN" dirty="0"/>
              <a:t>DFA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97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824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520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14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144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90FD29C-CA1F-42C1-80C0-DDC25B4A0C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BF62361-919D-45BD-B33A-A9E9E3D84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6BD362E-FE2A-45D2-9D89-05C4F57E1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AC7A9D8-F20B-4AC3-92E5-0687695DD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不要忘记空串。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C1E045F-DE39-4544-85B8-3561D4E185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A2BD45D-6264-431C-8FC3-6B80AE34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C1E045F-DE39-4544-85B8-3561D4E185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A2BD45D-6264-431C-8FC3-6B80AE34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提示：这个</a:t>
            </a:r>
            <a:r>
              <a:rPr lang="en-US" altLang="zh-CN" dirty="0"/>
              <a:t>DFA</a:t>
            </a:r>
            <a:r>
              <a:rPr lang="zh-CN" altLang="en-US" dirty="0"/>
              <a:t>是不是最简</a:t>
            </a:r>
            <a:r>
              <a:rPr lang="en-US" altLang="zh-CN" dirty="0"/>
              <a:t>DFA</a:t>
            </a:r>
            <a:r>
              <a:rPr lang="zh-CN" altLang="en-US" dirty="0"/>
              <a:t>？如果不是，化简后是何种状态图？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其实本题与作业</a:t>
            </a:r>
            <a:r>
              <a:rPr lang="en-US" altLang="zh-CN" dirty="0"/>
              <a:t>2</a:t>
            </a:r>
            <a:r>
              <a:rPr lang="zh-CN" altLang="en-US" dirty="0"/>
              <a:t>完全一样！你可以先化简成</a:t>
            </a:r>
            <a:r>
              <a:rPr lang="en-US" altLang="zh-CN" dirty="0"/>
              <a:t>(</a:t>
            </a:r>
            <a:r>
              <a:rPr lang="en-US" altLang="zh-CN" dirty="0" err="1"/>
              <a:t>a|b</a:t>
            </a:r>
            <a:r>
              <a:rPr lang="en-US" altLang="zh-CN" dirty="0"/>
              <a:t>)*</a:t>
            </a:r>
            <a:r>
              <a:rPr lang="zh-CN" altLang="en-US" dirty="0"/>
              <a:t>，直接写出最简</a:t>
            </a:r>
            <a:r>
              <a:rPr lang="en-US" altLang="zh-CN" dirty="0"/>
              <a:t>DFA</a:t>
            </a:r>
            <a:r>
              <a:rPr lang="zh-CN" altLang="en-US" dirty="0"/>
              <a:t>即可。</a:t>
            </a:r>
          </a:p>
        </p:txBody>
      </p:sp>
    </p:spTree>
    <p:extLst>
      <p:ext uri="{BB962C8B-B14F-4D97-AF65-F5344CB8AC3E}">
        <p14:creationId xmlns:p14="http://schemas.microsoft.com/office/powerpoint/2010/main" val="2436112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C1E045F-DE39-4544-85B8-3561D4E185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A2BD45D-6264-431C-8FC3-6B80AE34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该作业没布置，供同学们自行练习</a:t>
            </a:r>
          </a:p>
        </p:txBody>
      </p:sp>
    </p:spTree>
    <p:extLst>
      <p:ext uri="{BB962C8B-B14F-4D97-AF65-F5344CB8AC3E}">
        <p14:creationId xmlns:p14="http://schemas.microsoft.com/office/powerpoint/2010/main" val="8574629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C1E045F-DE39-4544-85B8-3561D4E185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A2BD45D-6264-431C-8FC3-6B80AE345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该作业没布置，供同学们自行练习</a:t>
            </a:r>
          </a:p>
        </p:txBody>
      </p:sp>
    </p:spTree>
    <p:extLst>
      <p:ext uri="{BB962C8B-B14F-4D97-AF65-F5344CB8AC3E}">
        <p14:creationId xmlns:p14="http://schemas.microsoft.com/office/powerpoint/2010/main" val="883772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B48071C-589A-4878-A455-C64BA5430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957F467-84D8-4C69-A29F-1A223A238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此题也属于从非形式描述的语言直接构造</a:t>
            </a:r>
            <a:r>
              <a:rPr lang="en-US" altLang="zh-CN" dirty="0"/>
              <a:t>DFA</a:t>
            </a:r>
            <a:r>
              <a:rPr lang="zh-CN" altLang="en-US" dirty="0"/>
              <a:t>的例子。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若后续无化简</a:t>
            </a:r>
            <a:r>
              <a:rPr lang="en-US" altLang="zh-CN" dirty="0"/>
              <a:t>DFA</a:t>
            </a:r>
            <a:r>
              <a:rPr lang="zh-CN" altLang="en-US" dirty="0"/>
              <a:t>步骤，则死状态也可以不写。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因为这是个证明题，我们不能化简正规式，与题意不符。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所以没有什么技巧，老老实实从</a:t>
            </a:r>
            <a:r>
              <a:rPr lang="en-US" altLang="zh-CN" dirty="0"/>
              <a:t>NFA</a:t>
            </a:r>
            <a:r>
              <a:rPr lang="zh-CN" altLang="en-US" dirty="0"/>
              <a:t>构造</a:t>
            </a:r>
            <a:r>
              <a:rPr lang="en-US" altLang="zh-CN" dirty="0"/>
              <a:t>DFA</a:t>
            </a:r>
            <a:r>
              <a:rPr lang="zh-CN" altLang="en-US" dirty="0"/>
              <a:t>，再化简。这里只列出了</a:t>
            </a:r>
            <a:r>
              <a:rPr lang="en-US" altLang="zh-CN" dirty="0"/>
              <a:t>DFA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请结合作业</a:t>
            </a:r>
            <a:r>
              <a:rPr lang="en-US" altLang="zh-CN" dirty="0"/>
              <a:t>2</a:t>
            </a:r>
            <a:r>
              <a:rPr lang="zh-CN" altLang="en-US" dirty="0"/>
              <a:t>和作业</a:t>
            </a:r>
            <a:r>
              <a:rPr lang="en-US" altLang="zh-CN" dirty="0"/>
              <a:t>8</a:t>
            </a:r>
            <a:r>
              <a:rPr lang="zh-CN" altLang="en-US"/>
              <a:t>一起复习。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C3482-A6A0-4CF0-A287-4BD4EF082C88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80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204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629830-5336-4949-A8B2-948D6B2F12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41494"/>
            <a:ext cx="7772400" cy="219215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966310"/>
            <a:ext cx="6858000" cy="93695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01A93-E996-4DF8-B9CC-4F6E64C77D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9344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E5C8847-8830-597C-18F5-206C381BB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6" r="10656"/>
          <a:stretch/>
        </p:blipFill>
        <p:spPr>
          <a:xfrm>
            <a:off x="0" y="0"/>
            <a:ext cx="9144000" cy="29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1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D20E6C-FB89-68E9-164A-0E504C4D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2470-5A61-4767-A56E-0B3E28AC65A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A6C13-CFA3-3AF6-23F4-C8246972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E45253-17F5-89F1-7504-AB07B9F2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75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B14192-683D-1581-6D26-BAED78CA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1F349-6C7C-4EA7-825A-4CF1A8F51524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7685F-6B1C-E4EB-B539-2D58EFF0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AF35F3-E92D-A082-789F-7BFB914AD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3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77471"/>
            <a:ext cx="3886200" cy="48994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53813-9B64-D01F-A1A0-28EB194F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2D002-05C2-4741-8C87-0596E5418A7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7FFD18-D5B1-8011-F6EB-7029B196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FE5783-5E55-B2F6-56C2-831CAD47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18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924287"/>
            <a:ext cx="3887391" cy="426537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89DA9E-6D2C-ECFE-516A-4D7CBF5D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FA3F8-E66D-4EB8-9CF9-1129830F3418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84D214C7-BE70-775E-3184-699E828CA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E63B42C-0A8D-3187-C6A2-EC53CC68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313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F910E3A-F2ED-EEF4-F254-EC2E311F2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A9214-7638-4DD3-9133-4245DB8C463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EB21E9-A4F5-FC64-1354-7982178B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089F21-B949-2FD1-743C-8877F798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2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F0BF46A-E386-812F-0D08-5F82291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6C408-C060-43C8-945B-F6478B02A62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34F61A-207B-527E-FBEF-08F5D67B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0BB434-81FB-B74A-0CBE-68F34BF4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22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04851"/>
            <a:ext cx="4629150" cy="515620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2"/>
            <a:ext cx="2949178" cy="44973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D298AE-E700-D985-6042-9D007D8F3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B4260-2430-4907-BBCE-4F0B9DA2C82D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58D42-CF72-34ED-F56F-AE9B813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DFD631-A3E9-165A-35DB-0DEA1F6E9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97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7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781ADDD-B50D-2265-4F73-7D94A8CA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C5EE9-77E0-46C3-AFCC-BEF734E66CB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C0C95-F80D-C1E1-CCD9-FED7EC490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A04C7-B65F-289E-E03D-12535DA8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32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58B23B-E63C-7924-6739-DE03BC37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FE40-E3C2-4BF5-BAB0-7341BF6D0178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DC46F-A2C9-DCCE-53CA-FD68C17A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5539E-CDF7-804D-9506-F8F80876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967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09B39-3007-BEB7-B5AD-FF5977A9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72E5D-82C6-426D-A916-BE2DC502999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64B84-DDCA-A2A7-6AF5-422C28B87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739592-4F64-1117-E412-90F33146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524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DFF38CD5-A72C-F759-0789-EEDBD4DE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963FBB-177D-40DE-AAAE-94285DC139C2}" type="datetime2">
              <a:rPr lang="zh-CN" altLang="en-US" smtClean="0"/>
              <a:t>2026年3月25日</a:t>
            </a:fld>
            <a:endParaRPr lang="en-US" altLang="zh-CN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538FBA95-D414-F06C-DB52-00D94A9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en-US" altLang="zh-CN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FA977F0-2D4E-D075-7789-0395E8EE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5BFC72-4464-4E9C-B802-3C30CF9E876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1818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9" y="214314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A8814B-8A88-C255-1CC9-3C519F1E8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4E31D-A611-4867-B1B2-6F0F693DA210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9516C1-45F7-9ADE-2F07-8A46D245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007FEB-0C75-86B7-2DB2-264DC6B13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93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18094"/>
            <a:ext cx="3868340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24287"/>
            <a:ext cx="3868340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18094"/>
            <a:ext cx="3887391" cy="4703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24287"/>
            <a:ext cx="3887391" cy="4265376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226026-9100-429E-A7E2-D154A72B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29134"/>
            <a:ext cx="7886700" cy="95313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8262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14376"/>
            <a:ext cx="4629150" cy="5146676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81125"/>
            <a:ext cx="2949178" cy="4487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2FE7C6-2AD9-404C-A485-6AF34B75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7692"/>
            <a:ext cx="2949178" cy="1143000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0F3958B-01C0-0A96-68C9-F7752383FD9A}"/>
              </a:ext>
            </a:extLst>
          </p:cNvPr>
          <p:cNvSpPr/>
          <p:nvPr/>
        </p:nvSpPr>
        <p:spPr>
          <a:xfrm>
            <a:off x="0" y="0"/>
            <a:ext cx="9144000" cy="229128"/>
          </a:xfrm>
          <a:prstGeom prst="rect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D5E4ABF-DD54-6BBA-BAC2-E1D45644836D}"/>
              </a:ext>
            </a:extLst>
          </p:cNvPr>
          <p:cNvCxnSpPr/>
          <p:nvPr/>
        </p:nvCxnSpPr>
        <p:spPr>
          <a:xfrm>
            <a:off x="0" y="229136"/>
            <a:ext cx="914400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9136"/>
            <a:ext cx="7886700" cy="953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57300"/>
            <a:ext cx="7886700" cy="4919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6CBCA317-D25B-4606-AB40-B04900150411}"/>
              </a:ext>
            </a:extLst>
          </p:cNvPr>
          <p:cNvSpPr/>
          <p:nvPr/>
        </p:nvSpPr>
        <p:spPr>
          <a:xfrm>
            <a:off x="0" y="365136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97360822-865F-4201-A117-CC1E539ED999}"/>
              </a:ext>
            </a:extLst>
          </p:cNvPr>
          <p:cNvSpPr/>
          <p:nvPr/>
        </p:nvSpPr>
        <p:spPr>
          <a:xfrm>
            <a:off x="0" y="365128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45553-EF4A-DBDE-C790-A708CC05CA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0800"/>
            <a:ext cx="30861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023F4F9-B6BF-0026-295C-0157F77F3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6000" y="10800"/>
            <a:ext cx="20574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94DEB03-EFC6-4C20-8FC8-295189A5386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0115C-8837-19E6-64B4-FBB7C7E3D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400" y="10800"/>
            <a:ext cx="2059200" cy="18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2537F9E-6A5E-4E3C-905C-441CA1AB9E3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02EC4779-49EC-E1B3-FAA1-645B9C675D08}"/>
              </a:ext>
            </a:extLst>
          </p:cNvPr>
          <p:cNvSpPr/>
          <p:nvPr userDrawn="1"/>
        </p:nvSpPr>
        <p:spPr>
          <a:xfrm>
            <a:off x="0" y="365134"/>
            <a:ext cx="628650" cy="681135"/>
          </a:xfrm>
          <a:prstGeom prst="homePlate">
            <a:avLst/>
          </a:prstGeom>
          <a:gradFill flip="none" rotWithShape="1">
            <a:gsLst>
              <a:gs pos="0">
                <a:srgbClr val="3A7B9F">
                  <a:lumMod val="89000"/>
                </a:srgbClr>
              </a:gs>
              <a:gs pos="23000">
                <a:srgbClr val="3A7B9F">
                  <a:lumMod val="89000"/>
                </a:srgbClr>
              </a:gs>
              <a:gs pos="69000">
                <a:srgbClr val="316886">
                  <a:lumMod val="75000"/>
                </a:srgbClr>
              </a:gs>
              <a:gs pos="97000">
                <a:srgbClr val="2E617D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10593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67" r:id="rId14"/>
    <p:sldLayoutId id="2147483669" r:id="rId15"/>
    <p:sldLayoutId id="2147483671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3515-54D4-4A44-A409-1AD3C10C63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第二章 词法分析</a:t>
            </a:r>
            <a:r>
              <a:rPr lang="en-US" altLang="zh-CN" sz="5400" dirty="0"/>
              <a:t>-</a:t>
            </a:r>
            <a:r>
              <a:rPr lang="zh-CN" altLang="en-US" sz="5400" dirty="0"/>
              <a:t>习题课</a:t>
            </a:r>
            <a:endParaRPr lang="zh-CN" altLang="en-US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F7C19A-4716-4FDA-9AAE-2A3CD35E5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altLang="zh-CN" sz="1800"/>
          </a:p>
          <a:p>
            <a:r>
              <a:rPr lang="zh-CN" altLang="en-US" sz="1800"/>
              <a:t>中国海洋大学 计算机系 王欣捷</a:t>
            </a:r>
            <a:endParaRPr lang="en-US" altLang="zh-CN" sz="1800"/>
          </a:p>
          <a:p>
            <a:r>
              <a:rPr lang="en-US" altLang="zh-CN" sz="1800"/>
              <a:t>wangxinjie@ouc.edu.cn</a:t>
            </a:r>
            <a:endParaRPr lang="zh-CN" altLang="en-US" sz="1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9EEABF-8F2E-4A8A-9369-F41B0C31DBC7}"/>
              </a:ext>
            </a:extLst>
          </p:cNvPr>
          <p:cNvSpPr txBox="1"/>
          <p:nvPr/>
        </p:nvSpPr>
        <p:spPr>
          <a:xfrm>
            <a:off x="3363977" y="3105834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</a:rPr>
              <a:t>编 译 原 理</a:t>
            </a:r>
          </a:p>
        </p:txBody>
      </p:sp>
    </p:spTree>
    <p:extLst>
      <p:ext uri="{BB962C8B-B14F-4D97-AF65-F5344CB8AC3E}">
        <p14:creationId xmlns:p14="http://schemas.microsoft.com/office/powerpoint/2010/main" val="2470898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C374AE4-C65A-494E-88F3-697C9F3DB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/>
              <a:t>本章要点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0FAB5C03-F9C0-4780-9E8F-013C3A99CF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词法分析器的作用和接口，词法分析器的手工实现和自动生成。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/>
              <a:t>掌握下面涉及的一些概念，它们之间转换的技巧、方法或算法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正规式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NFA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DFA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DFA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最简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DFA</a:t>
            </a:r>
          </a:p>
          <a:p>
            <a:pPr lvl="1" algn="just"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正规式</a:t>
            </a:r>
            <a:endParaRPr lang="en-US" altLang="zh-CN" dirty="0">
              <a:solidFill>
                <a:srgbClr val="C00000"/>
              </a:solidFill>
            </a:endParaRPr>
          </a:p>
          <a:p>
            <a:pPr lvl="1" algn="just"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NFA</a:t>
            </a:r>
          </a:p>
          <a:p>
            <a:pPr lvl="1" algn="just" eaLnBrk="1" hangingPunct="1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非形式描述的语言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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（或最简</a:t>
            </a:r>
            <a:r>
              <a:rPr lang="en-US" altLang="zh-CN" dirty="0">
                <a:solidFill>
                  <a:srgbClr val="C00000"/>
                </a:solidFill>
              </a:rPr>
              <a:t>DFA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474CF7-F08A-9A73-028B-D683D0093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3474-6FBC-48D0-8672-0E488CBA0E6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1A2B7A-360E-AB96-BE28-DAD014DA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81B3AE-1F85-0EE1-818D-0CE0E0BD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0ADE6D70-223B-5030-2408-E4E454CC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巩固练习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08650B92-F264-760B-B1D6-7EF0C4B97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97A68-BF0D-DF2A-C3B1-72F4305A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2470-5A61-4767-A56E-0B3E28AC65A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78C99-DD41-4461-9E0E-87CE3DD7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D05CEF-6E8E-0F28-D88F-6999086D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31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巩固练习 非形式描述语言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正规式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3715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dirty="0"/>
              <a:t>很多同学反映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非形式描述语言</a:t>
            </a:r>
            <a:r>
              <a:rPr lang="zh-CN" altLang="en-US" sz="2800" dirty="0">
                <a:solidFill>
                  <a:srgbClr val="FF0000"/>
                </a:solidFill>
              </a:rPr>
              <a:t>正规式</a:t>
            </a:r>
            <a:r>
              <a:rPr lang="zh-CN" altLang="en-US" sz="2800" dirty="0">
                <a:sym typeface="Symbol" panose="05050102010706020507" pitchFamily="18" charset="2"/>
              </a:rPr>
              <a:t>的题目有难度，这里放了一些练习来巩固此类题型。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练习</a:t>
            </a:r>
            <a:r>
              <a:rPr lang="en-US" altLang="zh-CN" sz="2800" dirty="0">
                <a:solidFill>
                  <a:schemeClr val="accent1"/>
                </a:solidFill>
                <a:sym typeface="Symbol" panose="05050102010706020507" pitchFamily="18" charset="2"/>
              </a:rPr>
              <a:t>1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：</a:t>
            </a:r>
            <a:r>
              <a:rPr lang="en-US" altLang="zh-CN" sz="2800" dirty="0">
                <a:solidFill>
                  <a:schemeClr val="accent1"/>
                </a:solidFill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</a:rPr>
              <a:t>由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非形式描述语言写出正规式：</a:t>
            </a:r>
            <a:endParaRPr lang="en-US" altLang="zh-CN" sz="2800" dirty="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、定义在∑</a:t>
            </a:r>
            <a:r>
              <a:rPr lang="en-US" altLang="zh-CN" sz="2400" dirty="0">
                <a:sym typeface="Symbol" panose="05050102010706020507" pitchFamily="18" charset="2"/>
              </a:rPr>
              <a:t>={0,1}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交替出现的串所形成的语言（不能有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个</a:t>
            </a:r>
            <a:r>
              <a:rPr lang="en-US" altLang="zh-CN" sz="2400" dirty="0"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sym typeface="Symbol" panose="05050102010706020507" pitchFamily="18" charset="2"/>
              </a:rPr>
              <a:t>或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个</a:t>
            </a:r>
            <a:r>
              <a:rPr lang="en-US" altLang="zh-CN" sz="2400" dirty="0"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sym typeface="Symbol" panose="05050102010706020507" pitchFamily="18" charset="2"/>
              </a:rPr>
              <a:t>连在一起），包括空串。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>
              <a:lnSpc>
                <a:spcPct val="10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ym typeface="Symbol" panose="05050102010706020507" pitchFamily="18" charset="2"/>
              </a:rPr>
              <a:t>b</a:t>
            </a:r>
            <a:r>
              <a:rPr lang="zh-CN" altLang="en-US" sz="2400" dirty="0">
                <a:sym typeface="Symbol" panose="05050102010706020507" pitchFamily="18" charset="2"/>
              </a:rPr>
              <a:t>的个数为</a:t>
            </a:r>
            <a:r>
              <a:rPr lang="en-US" altLang="zh-CN" sz="2400" dirty="0"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sym typeface="Symbol" panose="05050102010706020507" pitchFamily="18" charset="2"/>
              </a:rPr>
              <a:t>的整数倍的由</a:t>
            </a:r>
            <a:r>
              <a:rPr lang="en-US" altLang="zh-CN" sz="2400" dirty="0" err="1">
                <a:sym typeface="Symbol" panose="05050102010706020507" pitchFamily="18" charset="2"/>
              </a:rPr>
              <a:t>a,b</a:t>
            </a:r>
            <a:r>
              <a:rPr lang="zh-CN" altLang="en-US" sz="2400" dirty="0">
                <a:sym typeface="Symbol" panose="05050102010706020507" pitchFamily="18" charset="2"/>
              </a:rPr>
              <a:t>组成的串所形成的语言，包括空串。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A3729B-0131-4FDE-9EDC-5F3DE8BE5840}"/>
              </a:ext>
            </a:extLst>
          </p:cNvPr>
          <p:cNvSpPr txBox="1"/>
          <p:nvPr/>
        </p:nvSpPr>
        <p:spPr>
          <a:xfrm>
            <a:off x="1370975" y="3527584"/>
            <a:ext cx="67185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串的规律是 </a:t>
            </a:r>
            <a:r>
              <a:rPr lang="en-US" altLang="zh-CN" sz="2400" dirty="0">
                <a:solidFill>
                  <a:schemeClr val="accent2"/>
                </a:solidFill>
              </a:rPr>
              <a:t>01 01 01 01… </a:t>
            </a:r>
          </a:p>
          <a:p>
            <a:r>
              <a:rPr lang="zh-CN" altLang="en-US" sz="2400" dirty="0">
                <a:solidFill>
                  <a:schemeClr val="accent2"/>
                </a:solidFill>
              </a:rPr>
              <a:t>此外，前面可能会有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个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，后面可能会有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个</a:t>
            </a:r>
            <a:r>
              <a:rPr lang="en-US" altLang="zh-CN" sz="2400" dirty="0">
                <a:solidFill>
                  <a:schemeClr val="accent2"/>
                </a:solidFill>
              </a:rPr>
              <a:t>0</a:t>
            </a:r>
            <a:r>
              <a:rPr lang="zh-CN" altLang="en-US" sz="2400" dirty="0">
                <a:solidFill>
                  <a:schemeClr val="accent2"/>
                </a:solidFill>
              </a:rPr>
              <a:t>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(1|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)(01)*(0|)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，还有一种写法是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(0|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)(10)*(1|)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AC5547-A42D-49D6-99CC-4E52567CE2B5}"/>
              </a:ext>
            </a:extLst>
          </p:cNvPr>
          <p:cNvSpPr txBox="1"/>
          <p:nvPr/>
        </p:nvSpPr>
        <p:spPr>
          <a:xfrm>
            <a:off x="1370975" y="5703353"/>
            <a:ext cx="4910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参考作业</a:t>
            </a:r>
            <a:r>
              <a:rPr lang="en-US" altLang="zh-CN" sz="2400" dirty="0">
                <a:solidFill>
                  <a:schemeClr val="accent2"/>
                </a:solidFill>
              </a:rPr>
              <a:t>4</a:t>
            </a:r>
            <a:r>
              <a:rPr lang="zh-CN" altLang="en-US" sz="2400" dirty="0">
                <a:solidFill>
                  <a:schemeClr val="accent2"/>
                </a:solidFill>
              </a:rPr>
              <a:t>，答案是</a:t>
            </a:r>
            <a:r>
              <a:rPr lang="en-US" altLang="zh-CN" sz="2400" dirty="0">
                <a:solidFill>
                  <a:schemeClr val="accent2"/>
                </a:solidFill>
              </a:rPr>
              <a:t>(a*</a:t>
            </a:r>
            <a:r>
              <a:rPr lang="en-US" altLang="zh-CN" sz="2400" dirty="0" err="1">
                <a:solidFill>
                  <a:schemeClr val="accent2"/>
                </a:solidFill>
              </a:rPr>
              <a:t>ba</a:t>
            </a:r>
            <a:r>
              <a:rPr lang="en-US" altLang="zh-CN" sz="2400" dirty="0">
                <a:solidFill>
                  <a:schemeClr val="accent2"/>
                </a:solidFill>
              </a:rPr>
              <a:t>*</a:t>
            </a:r>
            <a:r>
              <a:rPr lang="en-US" altLang="zh-CN" sz="2400" dirty="0" err="1">
                <a:solidFill>
                  <a:schemeClr val="accent2"/>
                </a:solidFill>
              </a:rPr>
              <a:t>ba</a:t>
            </a:r>
            <a:r>
              <a:rPr lang="en-US" altLang="zh-CN" sz="2400" dirty="0">
                <a:solidFill>
                  <a:schemeClr val="accent2"/>
                </a:solidFill>
              </a:rPr>
              <a:t>*</a:t>
            </a:r>
            <a:r>
              <a:rPr lang="en-US" altLang="zh-CN" sz="2400" dirty="0" err="1">
                <a:solidFill>
                  <a:schemeClr val="accent2"/>
                </a:solidFill>
              </a:rPr>
              <a:t>ba</a:t>
            </a:r>
            <a:r>
              <a:rPr lang="en-US" altLang="zh-CN" sz="2400" dirty="0">
                <a:solidFill>
                  <a:schemeClr val="accent2"/>
                </a:solidFill>
              </a:rPr>
              <a:t>*)*</a:t>
            </a:r>
            <a:endParaRPr lang="zh-CN" altLang="en-US" sz="2400" dirty="0">
              <a:solidFill>
                <a:schemeClr val="accent2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E5012-7DA9-5DE5-B370-7A4DC471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50E1B-20AA-45F6-B0C3-C2947271A91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5ED23-99E7-4E4B-9E38-591695A6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CE2A3A1-0FBA-6CE2-C4B1-4485DD1D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9" name="图片 8" descr="卡通人物&#10;&#10;描述已自动生成">
            <a:extLst>
              <a:ext uri="{FF2B5EF4-FFF2-40B4-BE49-F238E27FC236}">
                <a16:creationId xmlns:a16="http://schemas.microsoft.com/office/drawing/2014/main" id="{E8537B49-2CDD-0A30-D94E-72B51B206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2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巩固练习 非形式描述语言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正规式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还有一类由非形式描述语言写出正规式的问题，表述看上去有些复杂，</a:t>
            </a:r>
            <a:r>
              <a:rPr lang="zh-CN" altLang="en-US" sz="2800" dirty="0">
                <a:sym typeface="Symbol" panose="05050102010706020507" pitchFamily="18" charset="2"/>
              </a:rPr>
              <a:t>可以先分解问题，再归纳起来，用正规定义表示。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r>
              <a:rPr lang="zh-CN" altLang="en-US" sz="2800" dirty="0">
                <a:solidFill>
                  <a:schemeClr val="accent1"/>
                </a:solidFill>
              </a:rPr>
              <a:t>练习</a:t>
            </a:r>
            <a:r>
              <a:rPr lang="en-US" altLang="zh-CN" sz="2800" dirty="0">
                <a:solidFill>
                  <a:schemeClr val="accent1"/>
                </a:solidFill>
              </a:rPr>
              <a:t>34</a:t>
            </a:r>
            <a:r>
              <a:rPr lang="zh-CN" altLang="en-US" sz="2800" dirty="0">
                <a:solidFill>
                  <a:schemeClr val="accent1"/>
                </a:solidFill>
              </a:rPr>
              <a:t>：由</a:t>
            </a:r>
            <a:r>
              <a:rPr lang="zh-CN" altLang="en-US" sz="2800" dirty="0">
                <a:solidFill>
                  <a:schemeClr val="accent1"/>
                </a:solidFill>
                <a:sym typeface="Symbol" panose="05050102010706020507" pitchFamily="18" charset="2"/>
              </a:rPr>
              <a:t>非形式描述语言写出正规定义：</a:t>
            </a:r>
            <a:endParaRPr lang="en-US" altLang="zh-CN" sz="2800" dirty="0">
              <a:solidFill>
                <a:schemeClr val="accent1"/>
              </a:solidFill>
              <a:sym typeface="Symbol" panose="05050102010706020507" pitchFamily="18" charset="2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</a:rPr>
              <a:t>(P38/2.4(f)) </a:t>
            </a:r>
            <a:r>
              <a:rPr lang="zh-CN" altLang="en-US" sz="2400" dirty="0"/>
              <a:t>由偶数个</a:t>
            </a:r>
            <a:r>
              <a:rPr lang="en-US" altLang="zh-CN" sz="2400" dirty="0"/>
              <a:t>0</a:t>
            </a:r>
            <a:r>
              <a:rPr lang="zh-CN" altLang="en-US" sz="2400" dirty="0"/>
              <a:t>和偶数个</a:t>
            </a:r>
            <a:r>
              <a:rPr lang="en-US" altLang="zh-CN" sz="2400" dirty="0"/>
              <a:t>1</a:t>
            </a:r>
            <a:r>
              <a:rPr lang="zh-CN" altLang="en-US" sz="2400" dirty="0"/>
              <a:t>构成的所有</a:t>
            </a:r>
            <a:r>
              <a:rPr lang="en-US" altLang="zh-CN" sz="2400" dirty="0"/>
              <a:t>0</a:t>
            </a:r>
            <a:r>
              <a:rPr lang="zh-CN" altLang="en-US" sz="2400" dirty="0"/>
              <a:t>和</a:t>
            </a:r>
            <a:r>
              <a:rPr lang="en-US" altLang="zh-CN" sz="2400" dirty="0"/>
              <a:t>1</a:t>
            </a:r>
            <a:r>
              <a:rPr lang="zh-CN" altLang="en-US" sz="2400" dirty="0"/>
              <a:t>的串</a:t>
            </a:r>
          </a:p>
          <a:p>
            <a:pPr lvl="1"/>
            <a:r>
              <a:rPr lang="en-US" altLang="zh-CN" sz="2400" dirty="0">
                <a:latin typeface="Arial Unicode MS" pitchFamily="34" charset="-122"/>
                <a:ea typeface="Arial Unicode MS" pitchFamily="34" charset="-122"/>
              </a:rPr>
              <a:t>4</a:t>
            </a:r>
            <a:r>
              <a:rPr lang="zh-CN" altLang="en-US" sz="2400" dirty="0">
                <a:latin typeface="Arial Unicode MS" pitchFamily="34" charset="-122"/>
                <a:ea typeface="Arial Unicode MS" pitchFamily="34" charset="-122"/>
              </a:rPr>
              <a:t>、</a:t>
            </a:r>
            <a:r>
              <a:rPr lang="en-US" altLang="zh-CN" sz="2400" dirty="0">
                <a:latin typeface="Arial Unicode MS" pitchFamily="34" charset="-122"/>
                <a:ea typeface="Arial Unicode MS" pitchFamily="34" charset="-122"/>
              </a:rPr>
              <a:t>(P38/2.4(g)) </a:t>
            </a:r>
            <a:r>
              <a:rPr lang="zh-CN" altLang="en-US" sz="2400" dirty="0"/>
              <a:t>由偶数个</a:t>
            </a:r>
            <a:r>
              <a:rPr lang="en-US" altLang="zh-CN" sz="2400" dirty="0"/>
              <a:t>0</a:t>
            </a:r>
            <a:r>
              <a:rPr lang="zh-CN" altLang="en-US" sz="2400" dirty="0"/>
              <a:t>和奇数个</a:t>
            </a:r>
            <a:r>
              <a:rPr lang="en-US" altLang="zh-CN" sz="2400" dirty="0"/>
              <a:t>1</a:t>
            </a:r>
            <a:r>
              <a:rPr lang="zh-CN" altLang="en-US" sz="2400" dirty="0"/>
              <a:t>构成的所有</a:t>
            </a:r>
            <a:r>
              <a:rPr lang="en-US" altLang="zh-CN" sz="2400" dirty="0"/>
              <a:t>0</a:t>
            </a:r>
            <a:r>
              <a:rPr lang="zh-CN" altLang="en-US" sz="2400" dirty="0"/>
              <a:t>和</a:t>
            </a:r>
            <a:r>
              <a:rPr lang="en-US" altLang="zh-CN" sz="2400" dirty="0"/>
              <a:t>1</a:t>
            </a:r>
            <a:r>
              <a:rPr lang="zh-CN" altLang="en-US" sz="2400" dirty="0"/>
              <a:t>的串</a:t>
            </a:r>
          </a:p>
          <a:p>
            <a:pPr lvl="1"/>
            <a:r>
              <a:rPr lang="en-US" altLang="zh-CN" sz="2400" dirty="0"/>
              <a:t>5</a:t>
            </a:r>
            <a:r>
              <a:rPr lang="zh-CN" altLang="en-US" sz="2400" dirty="0"/>
              <a:t>、</a:t>
            </a:r>
            <a:r>
              <a:rPr lang="en-US" altLang="zh-CN" sz="2400" dirty="0"/>
              <a:t>(P38/2.4(d)) </a:t>
            </a:r>
            <a:r>
              <a:rPr lang="zh-CN" altLang="en-US" sz="2400" dirty="0"/>
              <a:t>：</a:t>
            </a:r>
            <a:r>
              <a:rPr lang="zh-CN" altLang="en-US" sz="2400" dirty="0">
                <a:latin typeface="宋体" panose="02010600030101010101" pitchFamily="2" charset="-122"/>
              </a:rPr>
              <a:t>写出语言</a:t>
            </a:r>
            <a:r>
              <a:rPr lang="zh-CN" altLang="en-US" sz="2400" dirty="0"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</a:rPr>
              <a:t>所有相邻数字都不相同的非空数字串</a:t>
            </a:r>
            <a:r>
              <a:rPr lang="zh-CN" altLang="en-US" sz="2400" dirty="0"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</a:rPr>
              <a:t>的正规定义</a:t>
            </a:r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B4E029-99CF-D26D-FDBE-A5F5D65D8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F550-9B23-469B-98F8-F8A036F7587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4B91A-BE8B-CCFF-33E3-BD169BA5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E1E434-9B1B-627E-35EF-119616AE5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54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巩固练习 非形式描述语言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正规式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257300"/>
            <a:ext cx="8268215" cy="53715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</a:rPr>
              <a:t>(P38/2.4(f)) </a:t>
            </a:r>
            <a:r>
              <a:rPr lang="zh-CN" altLang="en-US" sz="2400" dirty="0">
                <a:solidFill>
                  <a:schemeClr val="accent1"/>
                </a:solidFill>
              </a:rPr>
              <a:t>由偶数个</a:t>
            </a:r>
            <a:r>
              <a:rPr lang="en-US" altLang="zh-CN" sz="2400" dirty="0">
                <a:solidFill>
                  <a:schemeClr val="accent1"/>
                </a:solidFill>
              </a:rPr>
              <a:t>0</a:t>
            </a:r>
            <a:r>
              <a:rPr lang="zh-CN" altLang="en-US" sz="2400" dirty="0">
                <a:solidFill>
                  <a:schemeClr val="accent1"/>
                </a:solidFill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</a:rPr>
              <a:t>偶数</a:t>
            </a:r>
            <a:r>
              <a:rPr lang="zh-CN" altLang="en-US" sz="2400" dirty="0">
                <a:solidFill>
                  <a:schemeClr val="accent1"/>
                </a:solidFill>
              </a:rPr>
              <a:t>个</a:t>
            </a:r>
            <a:r>
              <a:rPr lang="en-US" altLang="zh-CN" sz="2400" dirty="0">
                <a:solidFill>
                  <a:schemeClr val="accent1"/>
                </a:solidFill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</a:rPr>
              <a:t>构成的所有</a:t>
            </a:r>
            <a:r>
              <a:rPr lang="en-US" altLang="zh-CN" sz="2400" dirty="0">
                <a:solidFill>
                  <a:schemeClr val="accent1"/>
                </a:solidFill>
              </a:rPr>
              <a:t>0</a:t>
            </a:r>
            <a:r>
              <a:rPr lang="zh-CN" altLang="en-US" sz="2400" dirty="0">
                <a:solidFill>
                  <a:schemeClr val="accent1"/>
                </a:solidFill>
              </a:rPr>
              <a:t>和</a:t>
            </a:r>
            <a:r>
              <a:rPr lang="en-US" altLang="zh-CN" sz="2400" dirty="0">
                <a:solidFill>
                  <a:schemeClr val="accent1"/>
                </a:solidFill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</a:rPr>
              <a:t>的串</a:t>
            </a:r>
          </a:p>
          <a:p>
            <a:pPr>
              <a:lnSpc>
                <a:spcPct val="110000"/>
              </a:lnSpc>
            </a:pPr>
            <a:r>
              <a:rPr lang="en-US" altLang="zh-CN" sz="2400" dirty="0">
                <a:solidFill>
                  <a:schemeClr val="accent1"/>
                </a:solidFill>
                <a:latin typeface="Arial Unicode MS" pitchFamily="34" charset="-122"/>
                <a:ea typeface="Arial Unicode MS" pitchFamily="34" charset="-122"/>
              </a:rPr>
              <a:t>(P38/2.4(g)) </a:t>
            </a:r>
            <a:r>
              <a:rPr lang="zh-CN" altLang="en-US" sz="2400" dirty="0">
                <a:solidFill>
                  <a:schemeClr val="accent1"/>
                </a:solidFill>
              </a:rPr>
              <a:t>由偶数个</a:t>
            </a:r>
            <a:r>
              <a:rPr lang="en-US" altLang="zh-CN" sz="2400" dirty="0">
                <a:solidFill>
                  <a:schemeClr val="accent1"/>
                </a:solidFill>
              </a:rPr>
              <a:t>0</a:t>
            </a:r>
            <a:r>
              <a:rPr lang="zh-CN" altLang="en-US" sz="2400" dirty="0">
                <a:solidFill>
                  <a:schemeClr val="accent1"/>
                </a:solidFill>
              </a:rPr>
              <a:t>和</a:t>
            </a:r>
            <a:r>
              <a:rPr lang="zh-CN" altLang="en-US" sz="2400" dirty="0">
                <a:solidFill>
                  <a:srgbClr val="C00000"/>
                </a:solidFill>
              </a:rPr>
              <a:t>奇数</a:t>
            </a:r>
            <a:r>
              <a:rPr lang="zh-CN" altLang="en-US" sz="2400" dirty="0">
                <a:solidFill>
                  <a:schemeClr val="accent1"/>
                </a:solidFill>
              </a:rPr>
              <a:t>个</a:t>
            </a:r>
            <a:r>
              <a:rPr lang="en-US" altLang="zh-CN" sz="2400" dirty="0">
                <a:solidFill>
                  <a:schemeClr val="accent1"/>
                </a:solidFill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</a:rPr>
              <a:t>构成的所有</a:t>
            </a:r>
            <a:r>
              <a:rPr lang="en-US" altLang="zh-CN" sz="2400" dirty="0">
                <a:solidFill>
                  <a:schemeClr val="accent1"/>
                </a:solidFill>
              </a:rPr>
              <a:t>0</a:t>
            </a:r>
            <a:r>
              <a:rPr lang="zh-CN" altLang="en-US" sz="2400" dirty="0">
                <a:solidFill>
                  <a:schemeClr val="accent1"/>
                </a:solidFill>
              </a:rPr>
              <a:t>和</a:t>
            </a:r>
            <a:r>
              <a:rPr lang="en-US" altLang="zh-CN" sz="2400" dirty="0">
                <a:solidFill>
                  <a:schemeClr val="accent1"/>
                </a:solidFill>
              </a:rPr>
              <a:t>1</a:t>
            </a:r>
            <a:r>
              <a:rPr lang="zh-CN" altLang="en-US" sz="2400" dirty="0">
                <a:solidFill>
                  <a:schemeClr val="accent1"/>
                </a:solidFill>
              </a:rPr>
              <a:t>的串</a:t>
            </a:r>
            <a:endParaRPr lang="en-US" altLang="zh-CN" sz="2400" dirty="0">
              <a:solidFill>
                <a:schemeClr val="accent1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思路：偶</a:t>
            </a:r>
            <a:r>
              <a:rPr lang="en-US" altLang="zh-CN" sz="2400" dirty="0"/>
              <a:t>0</a:t>
            </a:r>
            <a:r>
              <a:rPr lang="zh-CN" altLang="en-US" sz="2400" dirty="0"/>
              <a:t>偶</a:t>
            </a:r>
            <a:r>
              <a:rPr lang="en-US" altLang="zh-CN" sz="2400" dirty="0"/>
              <a:t>1</a:t>
            </a:r>
            <a:r>
              <a:rPr lang="zh-CN" altLang="en-US" sz="2400" dirty="0"/>
              <a:t>的串</a:t>
            </a:r>
            <a:r>
              <a:rPr lang="en-US" altLang="zh-CN" sz="2400" dirty="0"/>
              <a:t>?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e_0_e_1</a:t>
            </a:r>
            <a:r>
              <a:rPr lang="en-US" altLang="zh-CN" sz="2400" dirty="0">
                <a:sym typeface="Wingdings" panose="05000000000000000000" pitchFamily="2" charset="2"/>
              </a:rPr>
              <a:t> </a:t>
            </a:r>
            <a:r>
              <a:rPr lang="en-US" altLang="zh-CN" sz="2400" b="1" dirty="0">
                <a:latin typeface="Times New Roman" panose="02020603050405020304" pitchFamily="18" charset="0"/>
              </a:rPr>
              <a:t>(00 | 11| ((01|10) (00|11)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(01 | 10)))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偶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奇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的串：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如果第一个字符是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：剩余部分是偶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偶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如果第一个字符是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：经过若干个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11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后，一定会出现一个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01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才能保证偶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奇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，若串未结束，则剩余部分是偶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偶</a:t>
            </a:r>
            <a:r>
              <a:rPr lang="en-US" altLang="zh-CN" sz="2000" b="1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结论：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e_0_o_1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               1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e_0_e_1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 | 0(00|11)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(01|10) </a:t>
            </a:r>
            <a:r>
              <a:rPr lang="en-US" altLang="zh-CN" sz="2400" b="1" i="1" dirty="0">
                <a:latin typeface="Times New Roman" panose="02020603050405020304" pitchFamily="18" charset="0"/>
                <a:sym typeface="Wingdings" panose="05000000000000000000" pitchFamily="2" charset="2"/>
              </a:rPr>
              <a:t>e_0_e_1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要学会举一反三</a:t>
            </a:r>
          </a:p>
          <a:p>
            <a:pPr>
              <a:lnSpc>
                <a:spcPct val="110000"/>
              </a:lnSpc>
            </a:pPr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1FC6B1-9C51-D28D-6900-1A5E9BCA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3A209-E73C-4E40-AFC1-628D8C6B8B8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1364E-42D7-FA10-608B-3DD81B0B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3C0F8-BCA3-1FBB-0F0F-137E55A8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31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巩固练习 非形式描述语言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正规式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</a:rPr>
              <a:t>(P38/2.4(d)) </a:t>
            </a:r>
            <a:r>
              <a:rPr lang="zh-CN" altLang="en-US" sz="2400" dirty="0">
                <a:solidFill>
                  <a:schemeClr val="accent1"/>
                </a:solidFill>
              </a:rPr>
              <a:t>：</a:t>
            </a:r>
            <a:r>
              <a:rPr lang="zh-CN" altLang="en-US" sz="2400" dirty="0">
                <a:solidFill>
                  <a:schemeClr val="accent1"/>
                </a:solidFill>
                <a:latin typeface="宋体" panose="02010600030101010101" pitchFamily="2" charset="-122"/>
              </a:rPr>
              <a:t>写出语言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400" dirty="0">
                <a:solidFill>
                  <a:schemeClr val="accent1"/>
                </a:solidFill>
                <a:latin typeface="宋体" panose="02010600030101010101" pitchFamily="2" charset="-122"/>
              </a:rPr>
              <a:t>所有相邻数字都不相同的非空数字串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400" dirty="0">
                <a:solidFill>
                  <a:schemeClr val="accent1"/>
                </a:solidFill>
                <a:latin typeface="宋体" panose="02010600030101010101" pitchFamily="2" charset="-122"/>
              </a:rPr>
              <a:t>的正规定义</a:t>
            </a:r>
            <a:endParaRPr lang="zh-CN" altLang="en-US" sz="2400" dirty="0">
              <a:solidFill>
                <a:schemeClr val="accent1"/>
              </a:solidFill>
            </a:endParaRPr>
          </a:p>
          <a:p>
            <a:endParaRPr lang="en-US" altLang="zh-CN" sz="2400" dirty="0"/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3399"/>
                </a:solidFill>
              </a:rPr>
              <a:t> 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123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313571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6798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3579</a:t>
            </a:r>
            <a:r>
              <a:rPr lang="en-US" altLang="zh-CN" sz="2800" b="1" dirty="0">
                <a:latin typeface="Times New Roman" panose="02020603050405020304" pitchFamily="18" charset="0"/>
              </a:rPr>
              <a:t>0</a:t>
            </a:r>
            <a:r>
              <a:rPr lang="en-US" altLang="zh-CN" sz="2800" b="1" dirty="0">
                <a:solidFill>
                  <a:srgbClr val="FF3399"/>
                </a:solidFill>
                <a:latin typeface="Times New Roman" panose="02020603050405020304" pitchFamily="18" charset="0"/>
              </a:rPr>
              <a:t>123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answer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(0  |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  </a:t>
            </a:r>
            <a:r>
              <a:rPr lang="en-US" altLang="zh-CN" sz="2400" b="1" dirty="0">
                <a:latin typeface="Times New Roman" panose="02020603050405020304" pitchFamily="18" charset="0"/>
              </a:rPr>
              <a:t>0 )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  </a:t>
            </a:r>
            <a:r>
              <a:rPr lang="en-US" altLang="zh-CN" sz="2400" b="1" dirty="0">
                <a:latin typeface="Times New Roman" panose="02020603050405020304" pitchFamily="18" charset="0"/>
              </a:rPr>
              <a:t>0 )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 |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)  |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(1 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1 )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latin typeface="Times New Roman" panose="02020603050405020304" pitchFamily="18" charset="0"/>
              </a:rPr>
              <a:t>1 )</a:t>
            </a:r>
            <a:r>
              <a:rPr lang="en-US" altLang="zh-CN" sz="24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sz="2400" b="1" dirty="0">
                <a:latin typeface="Times New Roman" panose="02020603050405020304" pitchFamily="18" charset="0"/>
              </a:rPr>
              <a:t> (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|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) |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		. . .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i="1" dirty="0">
                <a:latin typeface="Times New Roman" panose="02020603050405020304" pitchFamily="18" charset="0"/>
              </a:rPr>
              <a:t>    no</a:t>
            </a:r>
            <a:r>
              <a:rPr lang="en-US" altLang="zh-CN" sz="2400" b="1" dirty="0">
                <a:latin typeface="Times New Roman" panose="02020603050405020304" pitchFamily="18" charset="0"/>
              </a:rPr>
              <a:t>_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8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Times New Roman" panose="02020603050405020304" pitchFamily="18" charset="0"/>
              </a:rPr>
              <a:t> 9 </a:t>
            </a: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zh-CN" altLang="en-US" sz="2800" dirty="0"/>
              <a:t>将这些正规定义</a:t>
            </a:r>
            <a:r>
              <a:rPr lang="zh-CN" altLang="en-US" sz="2800" dirty="0">
                <a:solidFill>
                  <a:schemeClr val="accent2"/>
                </a:solidFill>
              </a:rPr>
              <a:t>逆序</a:t>
            </a:r>
            <a:r>
              <a:rPr lang="zh-CN" altLang="en-US" sz="2800" dirty="0"/>
              <a:t>排列就是答案</a:t>
            </a:r>
            <a:endParaRPr lang="zh-CN" altLang="en-US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A5775-1F94-9D32-BD9A-792CC2D8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59C27-AFA5-4D60-A743-4F317E3BB563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C0D93-9F26-F295-A98D-61334BC7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7B49BC-6450-3855-E91C-190420A0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337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600" dirty="0"/>
              <a:t>巩固练习</a:t>
            </a:r>
            <a:r>
              <a:rPr lang="en-US" altLang="zh-CN" sz="3600" dirty="0"/>
              <a:t> </a:t>
            </a:r>
            <a:r>
              <a:rPr lang="zh-CN" altLang="en-US" sz="3600" dirty="0"/>
              <a:t>非形式描述语言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正规式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4707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>
                <a:solidFill>
                  <a:schemeClr val="accent1"/>
                </a:solidFill>
              </a:rPr>
              <a:t>练习</a:t>
            </a:r>
            <a:r>
              <a:rPr lang="en-US" altLang="zh-CN" sz="2800" dirty="0">
                <a:solidFill>
                  <a:schemeClr val="accent1"/>
                </a:solidFill>
              </a:rPr>
              <a:t>2</a:t>
            </a:r>
            <a:r>
              <a:rPr lang="zh-CN" altLang="en-US" sz="2800" dirty="0">
                <a:solidFill>
                  <a:schemeClr val="accent1"/>
                </a:solidFill>
              </a:rPr>
              <a:t>：从正规式写出非形式描述语言：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1*01*</a:t>
            </a:r>
          </a:p>
          <a:p>
            <a:pPr lvl="1">
              <a:lnSpc>
                <a:spcPct val="110000"/>
              </a:lnSpc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(11)*</a:t>
            </a:r>
          </a:p>
          <a:p>
            <a:pPr lvl="1">
              <a:lnSpc>
                <a:spcPct val="110000"/>
              </a:lnSpc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(0|1)*01(0|1)*</a:t>
            </a:r>
          </a:p>
          <a:p>
            <a:pPr lvl="1">
              <a:lnSpc>
                <a:spcPct val="110000"/>
              </a:lnSpc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((10)|0)*(1|(10))*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zh-CN" sz="2400" dirty="0">
                <a:latin typeface="Arial" panose="020B0604020202020204" pitchFamily="34" charset="0"/>
              </a:rPr>
              <a:t>0*(1|(000*))*0*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29A623-D42D-4F49-A25B-1AADA8F6A9F0}"/>
              </a:ext>
            </a:extLst>
          </p:cNvPr>
          <p:cNvSpPr txBox="1"/>
          <p:nvPr/>
        </p:nvSpPr>
        <p:spPr>
          <a:xfrm>
            <a:off x="1227366" y="2256047"/>
            <a:ext cx="509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只有一个</a:t>
            </a:r>
            <a:r>
              <a:rPr lang="en-US" altLang="zh-CN" sz="2400" dirty="0">
                <a:solidFill>
                  <a:schemeClr val="accent2"/>
                </a:solidFill>
              </a:rPr>
              <a:t>0</a:t>
            </a:r>
            <a:r>
              <a:rPr lang="zh-CN" altLang="en-US" sz="2400" dirty="0">
                <a:solidFill>
                  <a:schemeClr val="accent2"/>
                </a:solidFill>
              </a:rPr>
              <a:t>的，由</a:t>
            </a:r>
            <a:r>
              <a:rPr lang="en-US" altLang="zh-CN" sz="2400" dirty="0">
                <a:solidFill>
                  <a:schemeClr val="accent2"/>
                </a:solidFill>
              </a:rPr>
              <a:t>0,1</a:t>
            </a:r>
            <a:r>
              <a:rPr lang="zh-CN" altLang="en-US" sz="2400" dirty="0">
                <a:solidFill>
                  <a:schemeClr val="accent2"/>
                </a:solidFill>
              </a:rPr>
              <a:t>组成的串的集合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4E2DB5-F663-4BCB-9CD9-459F8990775D}"/>
              </a:ext>
            </a:extLst>
          </p:cNvPr>
          <p:cNvSpPr txBox="1"/>
          <p:nvPr/>
        </p:nvSpPr>
        <p:spPr>
          <a:xfrm>
            <a:off x="1227366" y="3160290"/>
            <a:ext cx="5280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只由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组成的，</a:t>
            </a:r>
            <a:r>
              <a:rPr lang="zh-CN" altLang="en-US" sz="2400" dirty="0">
                <a:solidFill>
                  <a:srgbClr val="FF0000"/>
                </a:solidFill>
              </a:rPr>
              <a:t>长度为偶数</a:t>
            </a:r>
            <a:r>
              <a:rPr lang="zh-CN" altLang="en-US" sz="2400" dirty="0">
                <a:solidFill>
                  <a:schemeClr val="accent2"/>
                </a:solidFill>
              </a:rPr>
              <a:t>的串的集合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03A654-6923-4D11-A912-0E8ABA8F859D}"/>
              </a:ext>
            </a:extLst>
          </p:cNvPr>
          <p:cNvSpPr txBox="1"/>
          <p:nvPr/>
        </p:nvSpPr>
        <p:spPr>
          <a:xfrm>
            <a:off x="1227366" y="4118078"/>
            <a:ext cx="5187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包含</a:t>
            </a:r>
            <a:r>
              <a:rPr lang="en-US" altLang="zh-CN" sz="2400" dirty="0">
                <a:solidFill>
                  <a:schemeClr val="accent2"/>
                </a:solidFill>
              </a:rPr>
              <a:t>01</a:t>
            </a:r>
            <a:r>
              <a:rPr lang="zh-CN" altLang="en-US" sz="2400" dirty="0">
                <a:solidFill>
                  <a:schemeClr val="accent2"/>
                </a:solidFill>
              </a:rPr>
              <a:t>子串的，由</a:t>
            </a:r>
            <a:r>
              <a:rPr lang="en-US" altLang="zh-CN" sz="2400" dirty="0">
                <a:solidFill>
                  <a:schemeClr val="accent2"/>
                </a:solidFill>
              </a:rPr>
              <a:t>0,1</a:t>
            </a:r>
            <a:r>
              <a:rPr lang="zh-CN" altLang="en-US" sz="2400" dirty="0">
                <a:solidFill>
                  <a:schemeClr val="accent2"/>
                </a:solidFill>
              </a:rPr>
              <a:t>组成的串的集合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74CFD53-D588-4C62-9339-8A65F1715347}"/>
              </a:ext>
            </a:extLst>
          </p:cNvPr>
          <p:cNvSpPr txBox="1"/>
          <p:nvPr/>
        </p:nvSpPr>
        <p:spPr>
          <a:xfrm>
            <a:off x="1227366" y="4879633"/>
            <a:ext cx="6689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</a:rPr>
              <a:t>(10)|0)*</a:t>
            </a:r>
            <a:r>
              <a:rPr lang="zh-CN" altLang="en-US" sz="2400" dirty="0">
                <a:solidFill>
                  <a:schemeClr val="accent2"/>
                </a:solidFill>
              </a:rPr>
              <a:t>不包含</a:t>
            </a:r>
            <a:r>
              <a:rPr lang="en-US" altLang="zh-CN" sz="2400" dirty="0">
                <a:solidFill>
                  <a:schemeClr val="accent2"/>
                </a:solidFill>
              </a:rPr>
              <a:t>11</a:t>
            </a:r>
            <a:r>
              <a:rPr lang="zh-CN" altLang="en-US" sz="2400" dirty="0">
                <a:solidFill>
                  <a:schemeClr val="accent2"/>
                </a:solidFill>
              </a:rPr>
              <a:t>，</a:t>
            </a:r>
            <a:r>
              <a:rPr lang="en-US" altLang="zh-CN" sz="2400" dirty="0">
                <a:solidFill>
                  <a:schemeClr val="accent2"/>
                </a:solidFill>
              </a:rPr>
              <a:t>(1|(10))*</a:t>
            </a:r>
            <a:r>
              <a:rPr lang="zh-CN" altLang="en-US" sz="2400" dirty="0">
                <a:solidFill>
                  <a:schemeClr val="accent2"/>
                </a:solidFill>
              </a:rPr>
              <a:t>不包含</a:t>
            </a:r>
            <a:r>
              <a:rPr lang="en-US" altLang="zh-CN" sz="2400" dirty="0">
                <a:solidFill>
                  <a:schemeClr val="accent2"/>
                </a:solidFill>
              </a:rPr>
              <a:t>00</a:t>
            </a:r>
            <a:r>
              <a:rPr lang="zh-CN" altLang="en-US" sz="2400" dirty="0">
                <a:solidFill>
                  <a:schemeClr val="accent2"/>
                </a:solidFill>
              </a:rPr>
              <a:t>，所以是：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zh-CN" altLang="en-US" sz="2400" dirty="0">
                <a:solidFill>
                  <a:schemeClr val="accent2"/>
                </a:solidFill>
              </a:rPr>
              <a:t>所有</a:t>
            </a:r>
            <a:r>
              <a:rPr lang="en-US" altLang="zh-CN" sz="2400" dirty="0">
                <a:solidFill>
                  <a:schemeClr val="accent2"/>
                </a:solidFill>
              </a:rPr>
              <a:t>00</a:t>
            </a:r>
            <a:r>
              <a:rPr lang="zh-CN" altLang="en-US" sz="2400" dirty="0">
                <a:solidFill>
                  <a:schemeClr val="accent2"/>
                </a:solidFill>
              </a:rPr>
              <a:t>子串都出现在</a:t>
            </a:r>
            <a:r>
              <a:rPr lang="en-US" altLang="zh-CN" sz="2400" dirty="0">
                <a:solidFill>
                  <a:schemeClr val="accent2"/>
                </a:solidFill>
              </a:rPr>
              <a:t>11</a:t>
            </a:r>
            <a:r>
              <a:rPr lang="zh-CN" altLang="en-US" sz="2400" dirty="0">
                <a:solidFill>
                  <a:schemeClr val="accent2"/>
                </a:solidFill>
              </a:rPr>
              <a:t>子串前面的串的集合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E59835-CCCD-4E1B-8542-51BB76AC1AB7}"/>
              </a:ext>
            </a:extLst>
          </p:cNvPr>
          <p:cNvSpPr txBox="1"/>
          <p:nvPr/>
        </p:nvSpPr>
        <p:spPr>
          <a:xfrm>
            <a:off x="1227366" y="5900868"/>
            <a:ext cx="61029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两个</a:t>
            </a:r>
            <a:r>
              <a:rPr lang="en-US" altLang="zh-CN" sz="2400" dirty="0">
                <a:solidFill>
                  <a:schemeClr val="accent2"/>
                </a:solidFill>
              </a:rPr>
              <a:t>1</a:t>
            </a:r>
            <a:r>
              <a:rPr lang="zh-CN" altLang="en-US" sz="2400" dirty="0">
                <a:solidFill>
                  <a:schemeClr val="accent2"/>
                </a:solidFill>
              </a:rPr>
              <a:t>之间肯定有</a:t>
            </a:r>
            <a:r>
              <a:rPr lang="en-US" altLang="zh-CN" sz="2400" dirty="0">
                <a:solidFill>
                  <a:schemeClr val="accent2"/>
                </a:solidFill>
              </a:rPr>
              <a:t>00</a:t>
            </a:r>
            <a:r>
              <a:rPr lang="zh-CN" altLang="en-US" sz="2400" dirty="0">
                <a:solidFill>
                  <a:schemeClr val="accent2"/>
                </a:solidFill>
              </a:rPr>
              <a:t>，或者没有</a:t>
            </a:r>
            <a:r>
              <a:rPr lang="en-US" altLang="zh-CN" sz="2400" dirty="0">
                <a:solidFill>
                  <a:schemeClr val="accent2"/>
                </a:solidFill>
              </a:rPr>
              <a:t>0</a:t>
            </a:r>
            <a:r>
              <a:rPr lang="zh-CN" altLang="en-US" sz="2400" dirty="0">
                <a:solidFill>
                  <a:schemeClr val="accent2"/>
                </a:solidFill>
              </a:rPr>
              <a:t>，所以是：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zh-CN" altLang="en-US" sz="2400" dirty="0">
                <a:solidFill>
                  <a:schemeClr val="accent2"/>
                </a:solidFill>
              </a:rPr>
              <a:t>不包含</a:t>
            </a:r>
            <a:r>
              <a:rPr lang="en-US" altLang="zh-CN" sz="2400" dirty="0">
                <a:solidFill>
                  <a:schemeClr val="accent2"/>
                </a:solidFill>
              </a:rPr>
              <a:t>101</a:t>
            </a:r>
            <a:r>
              <a:rPr lang="zh-CN" altLang="en-US" sz="2400" dirty="0">
                <a:solidFill>
                  <a:schemeClr val="accent2"/>
                </a:solidFill>
              </a:rPr>
              <a:t>子串的串的集合</a:t>
            </a:r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D6379F30-F29D-D4ED-AA6E-D3D40A53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0E66-8F06-4858-804C-BDAE29F97E0A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125DA52E-9D0C-E6D0-F492-434F242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1ADC224C-EA1B-D532-8391-B3F05C73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12" name="图片 11" descr="图标&#10;&#10;描述已自动生成">
            <a:extLst>
              <a:ext uri="{FF2B5EF4-FFF2-40B4-BE49-F238E27FC236}">
                <a16:creationId xmlns:a16="http://schemas.microsoft.com/office/drawing/2014/main" id="{A63D8056-E6FC-55B8-0DB4-6AFD338846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8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2B8A93F-1277-4CFB-A024-E6B46A33B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巩固练习 非形式描述的语言 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 </a:t>
            </a:r>
            <a:r>
              <a:rPr lang="en-US" altLang="zh-CN" sz="3600" dirty="0"/>
              <a:t>DFA</a:t>
            </a:r>
            <a:endParaRPr lang="zh-CN" altLang="en-US" sz="3600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6F22037-5FDF-46BE-87AD-FB8572FE95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有一些场合，需要根据语言描述或正规式，直接构造</a:t>
            </a:r>
            <a:r>
              <a:rPr lang="en-US" altLang="zh-CN" dirty="0"/>
              <a:t>DFA</a:t>
            </a:r>
            <a:r>
              <a:rPr lang="zh-CN" altLang="en-US" dirty="0"/>
              <a:t>，通常采用手工构造法。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</a:rPr>
              <a:t>练习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3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</a:rPr>
              <a:t>：叙述下面正规式描述的语言，并画出接受该语言的最简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DFA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</a:rPr>
              <a:t>的状态转换图：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(1|01)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*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*</a:t>
            </a:r>
          </a:p>
        </p:txBody>
      </p:sp>
      <p:grpSp>
        <p:nvGrpSpPr>
          <p:cNvPr id="10244" name="Group 4">
            <a:extLst>
              <a:ext uri="{FF2B5EF4-FFF2-40B4-BE49-F238E27FC236}">
                <a16:creationId xmlns:a16="http://schemas.microsoft.com/office/drawing/2014/main" id="{91880891-0E5C-447F-B4E8-D5E62EFD5A2B}"/>
              </a:ext>
            </a:extLst>
          </p:cNvPr>
          <p:cNvGrpSpPr>
            <a:grpSpLocks/>
          </p:cNvGrpSpPr>
          <p:nvPr/>
        </p:nvGrpSpPr>
        <p:grpSpPr bwMode="auto">
          <a:xfrm>
            <a:off x="543718" y="3816719"/>
            <a:ext cx="8056563" cy="2209800"/>
            <a:chOff x="476" y="2448"/>
            <a:chExt cx="5171" cy="1572"/>
          </a:xfrm>
        </p:grpSpPr>
        <p:grpSp>
          <p:nvGrpSpPr>
            <p:cNvPr id="10245" name="Group 5">
              <a:extLst>
                <a:ext uri="{FF2B5EF4-FFF2-40B4-BE49-F238E27FC236}">
                  <a16:creationId xmlns:a16="http://schemas.microsoft.com/office/drawing/2014/main" id="{59FAA349-FD60-48AE-8A6F-13D92C862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2448"/>
              <a:ext cx="4464" cy="1200"/>
              <a:chOff x="720" y="2448"/>
              <a:chExt cx="4464" cy="1200"/>
            </a:xfrm>
          </p:grpSpPr>
          <p:grpSp>
            <p:nvGrpSpPr>
              <p:cNvPr id="10249" name="Group 6">
                <a:extLst>
                  <a:ext uri="{FF2B5EF4-FFF2-40B4-BE49-F238E27FC236}">
                    <a16:creationId xmlns:a16="http://schemas.microsoft.com/office/drawing/2014/main" id="{27A11749-BB73-4888-A81E-C5FD7BD246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0" y="3177"/>
                <a:ext cx="418" cy="455"/>
                <a:chOff x="5949" y="10436"/>
                <a:chExt cx="454" cy="454"/>
              </a:xfrm>
            </p:grpSpPr>
            <p:sp>
              <p:nvSpPr>
                <p:cNvPr id="10269" name="Oval 7">
                  <a:extLst>
                    <a:ext uri="{FF2B5EF4-FFF2-40B4-BE49-F238E27FC236}">
                      <a16:creationId xmlns:a16="http://schemas.microsoft.com/office/drawing/2014/main" id="{3C07F8F7-F187-4283-AC48-D8092B3BAB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949" y="10436"/>
                  <a:ext cx="454" cy="45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tIns="28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70" name="Oval 8">
                  <a:extLst>
                    <a:ext uri="{FF2B5EF4-FFF2-40B4-BE49-F238E27FC236}">
                      <a16:creationId xmlns:a16="http://schemas.microsoft.com/office/drawing/2014/main" id="{1FADC114-096A-4B25-B7C3-4E636E551EB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006" y="10495"/>
                  <a:ext cx="340" cy="3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54000" tIns="0" rIns="36000" bIns="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</a:p>
              </p:txBody>
            </p:sp>
          </p:grpSp>
          <p:sp>
            <p:nvSpPr>
              <p:cNvPr id="10250" name="Line 9">
                <a:extLst>
                  <a:ext uri="{FF2B5EF4-FFF2-40B4-BE49-F238E27FC236}">
                    <a16:creationId xmlns:a16="http://schemas.microsoft.com/office/drawing/2014/main" id="{72558B3F-4A30-47BA-9F0C-B966711A3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2" y="3407"/>
                <a:ext cx="49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10251" name="Rectangle 10">
                <a:extLst>
                  <a:ext uri="{FF2B5EF4-FFF2-40B4-BE49-F238E27FC236}">
                    <a16:creationId xmlns:a16="http://schemas.microsoft.com/office/drawing/2014/main" id="{18D791BC-9E40-4E56-9DCC-5384BE023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120"/>
                <a:ext cx="624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start</a:t>
                </a:r>
              </a:p>
            </p:txBody>
          </p:sp>
          <p:sp>
            <p:nvSpPr>
              <p:cNvPr id="10252" name="Line 11">
                <a:extLst>
                  <a:ext uri="{FF2B5EF4-FFF2-40B4-BE49-F238E27FC236}">
                    <a16:creationId xmlns:a16="http://schemas.microsoft.com/office/drawing/2014/main" id="{EBABB3FB-81FA-4A44-8467-347517117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6" y="3407"/>
                <a:ext cx="109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10253" name="Line 12">
                <a:extLst>
                  <a:ext uri="{FF2B5EF4-FFF2-40B4-BE49-F238E27FC236}">
                    <a16:creationId xmlns:a16="http://schemas.microsoft.com/office/drawing/2014/main" id="{7F4777AC-AE23-41FD-B01A-9A6096C32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09" y="3413"/>
                <a:ext cx="1082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10254" name="Rectangle 13">
                <a:extLst>
                  <a:ext uri="{FF2B5EF4-FFF2-40B4-BE49-F238E27FC236}">
                    <a16:creationId xmlns:a16="http://schemas.microsoft.com/office/drawing/2014/main" id="{419CBDAC-99D5-4CD5-8D7B-FD3CDDD3E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3120"/>
                <a:ext cx="497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255" name="Rectangle 14">
                <a:extLst>
                  <a:ext uri="{FF2B5EF4-FFF2-40B4-BE49-F238E27FC236}">
                    <a16:creationId xmlns:a16="http://schemas.microsoft.com/office/drawing/2014/main" id="{B368E788-3EDD-486F-A945-8487CDAAB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8" y="3163"/>
                <a:ext cx="49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0256" name="Freeform 15">
                <a:extLst>
                  <a:ext uri="{FF2B5EF4-FFF2-40B4-BE49-F238E27FC236}">
                    <a16:creationId xmlns:a16="http://schemas.microsoft.com/office/drawing/2014/main" id="{CEAD0802-66B2-4072-B8AD-D6653263F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2744"/>
                <a:ext cx="439" cy="511"/>
              </a:xfrm>
              <a:custGeom>
                <a:avLst/>
                <a:gdLst>
                  <a:gd name="T0" fmla="*/ 190 w 439"/>
                  <a:gd name="T1" fmla="*/ 511 h 511"/>
                  <a:gd name="T2" fmla="*/ 370 w 439"/>
                  <a:gd name="T3" fmla="*/ 406 h 511"/>
                  <a:gd name="T4" fmla="*/ 439 w 439"/>
                  <a:gd name="T5" fmla="*/ 225 h 511"/>
                  <a:gd name="T6" fmla="*/ 425 w 439"/>
                  <a:gd name="T7" fmla="*/ 90 h 511"/>
                  <a:gd name="T8" fmla="*/ 301 w 439"/>
                  <a:gd name="T9" fmla="*/ 0 h 511"/>
                  <a:gd name="T10" fmla="*/ 111 w 439"/>
                  <a:gd name="T11" fmla="*/ 21 h 511"/>
                  <a:gd name="T12" fmla="*/ 16 w 439"/>
                  <a:gd name="T13" fmla="*/ 230 h 511"/>
                  <a:gd name="T14" fmla="*/ 24 w 439"/>
                  <a:gd name="T15" fmla="*/ 421 h 51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39"/>
                  <a:gd name="T25" fmla="*/ 0 h 511"/>
                  <a:gd name="T26" fmla="*/ 439 w 439"/>
                  <a:gd name="T27" fmla="*/ 511 h 51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39" h="511">
                    <a:moveTo>
                      <a:pt x="190" y="511"/>
                    </a:moveTo>
                    <a:cubicBezTo>
                      <a:pt x="268" y="490"/>
                      <a:pt x="312" y="469"/>
                      <a:pt x="370" y="406"/>
                    </a:cubicBezTo>
                    <a:cubicBezTo>
                      <a:pt x="412" y="358"/>
                      <a:pt x="430" y="278"/>
                      <a:pt x="439" y="225"/>
                    </a:cubicBezTo>
                    <a:cubicBezTo>
                      <a:pt x="434" y="180"/>
                      <a:pt x="439" y="133"/>
                      <a:pt x="425" y="90"/>
                    </a:cubicBezTo>
                    <a:cubicBezTo>
                      <a:pt x="402" y="52"/>
                      <a:pt x="345" y="10"/>
                      <a:pt x="301" y="0"/>
                    </a:cubicBezTo>
                    <a:cubicBezTo>
                      <a:pt x="296" y="1"/>
                      <a:pt x="127" y="4"/>
                      <a:pt x="111" y="21"/>
                    </a:cubicBezTo>
                    <a:cubicBezTo>
                      <a:pt x="53" y="84"/>
                      <a:pt x="40" y="149"/>
                      <a:pt x="16" y="230"/>
                    </a:cubicBezTo>
                    <a:cubicBezTo>
                      <a:pt x="0" y="281"/>
                      <a:pt x="24" y="367"/>
                      <a:pt x="24" y="421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7200"/>
              <a:lstStyle/>
              <a:p>
                <a:endParaRPr lang="zh-CN" altLang="en-US"/>
              </a:p>
            </p:txBody>
          </p:sp>
          <p:sp>
            <p:nvSpPr>
              <p:cNvPr id="10257" name="Rectangle 16">
                <a:extLst>
                  <a:ext uri="{FF2B5EF4-FFF2-40B4-BE49-F238E27FC236}">
                    <a16:creationId xmlns:a16="http://schemas.microsoft.com/office/drawing/2014/main" id="{C69D54BC-8C96-4D22-AB9E-6F3AB320B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4" y="2604"/>
                <a:ext cx="497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258" name="Rectangle 17">
                <a:extLst>
                  <a:ext uri="{FF2B5EF4-FFF2-40B4-BE49-F238E27FC236}">
                    <a16:creationId xmlns:a16="http://schemas.microsoft.com/office/drawing/2014/main" id="{9A85C51C-F6E7-4F62-B742-D532981E3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8" y="2797"/>
                <a:ext cx="498" cy="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.</a:t>
                </a:r>
              </a:p>
            </p:txBody>
          </p:sp>
          <p:sp>
            <p:nvSpPr>
              <p:cNvPr id="10259" name="Rectangle 18">
                <a:extLst>
                  <a:ext uri="{FF2B5EF4-FFF2-40B4-BE49-F238E27FC236}">
                    <a16:creationId xmlns:a16="http://schemas.microsoft.com/office/drawing/2014/main" id="{0A2C63F6-E84B-46FF-BFE5-62821869E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448"/>
                <a:ext cx="49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0260" name="Rectangle 19">
                <a:extLst>
                  <a:ext uri="{FF2B5EF4-FFF2-40B4-BE49-F238E27FC236}">
                    <a16:creationId xmlns:a16="http://schemas.microsoft.com/office/drawing/2014/main" id="{6369BEED-F72D-445C-B2B0-2DA789627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6" y="2448"/>
                <a:ext cx="49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grpSp>
            <p:nvGrpSpPr>
              <p:cNvPr id="10261" name="Group 20">
                <a:extLst>
                  <a:ext uri="{FF2B5EF4-FFF2-40B4-BE49-F238E27FC236}">
                    <a16:creationId xmlns:a16="http://schemas.microsoft.com/office/drawing/2014/main" id="{83CA46E9-2B57-4853-8154-CACEA4375E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86" y="3178"/>
                <a:ext cx="418" cy="455"/>
                <a:chOff x="3680" y="10437"/>
                <a:chExt cx="454" cy="454"/>
              </a:xfrm>
            </p:grpSpPr>
            <p:sp>
              <p:nvSpPr>
                <p:cNvPr id="10267" name="Oval 21">
                  <a:extLst>
                    <a:ext uri="{FF2B5EF4-FFF2-40B4-BE49-F238E27FC236}">
                      <a16:creationId xmlns:a16="http://schemas.microsoft.com/office/drawing/2014/main" id="{907F8A75-5A64-42FA-A61C-EB59B1A043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3680" y="10437"/>
                  <a:ext cx="454" cy="45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tIns="28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8" name="Oval 22">
                  <a:extLst>
                    <a:ext uri="{FF2B5EF4-FFF2-40B4-BE49-F238E27FC236}">
                      <a16:creationId xmlns:a16="http://schemas.microsoft.com/office/drawing/2014/main" id="{FF2E29CD-F797-43CE-8FE5-49FBA4614C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738" y="10495"/>
                  <a:ext cx="340" cy="3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54000" tIns="0" rIns="36000" bIns="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10262" name="Group 23">
                <a:extLst>
                  <a:ext uri="{FF2B5EF4-FFF2-40B4-BE49-F238E27FC236}">
                    <a16:creationId xmlns:a16="http://schemas.microsoft.com/office/drawing/2014/main" id="{28D83943-8862-498C-BF1C-1019400EA1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8" y="3193"/>
                <a:ext cx="418" cy="455"/>
                <a:chOff x="5949" y="10436"/>
                <a:chExt cx="454" cy="454"/>
              </a:xfrm>
            </p:grpSpPr>
            <p:sp>
              <p:nvSpPr>
                <p:cNvPr id="10265" name="Oval 24">
                  <a:extLst>
                    <a:ext uri="{FF2B5EF4-FFF2-40B4-BE49-F238E27FC236}">
                      <a16:creationId xmlns:a16="http://schemas.microsoft.com/office/drawing/2014/main" id="{B498033D-92E1-4D36-9918-1A6F63A52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5949" y="10436"/>
                  <a:ext cx="454" cy="45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tIns="2880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00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66" name="Oval 25">
                  <a:extLst>
                    <a:ext uri="{FF2B5EF4-FFF2-40B4-BE49-F238E27FC236}">
                      <a16:creationId xmlns:a16="http://schemas.microsoft.com/office/drawing/2014/main" id="{39D3517C-B987-440F-A99F-0ACEB31E77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6006" y="10495"/>
                  <a:ext cx="340" cy="340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54000" tIns="0" rIns="36000" bIns="0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</a:p>
              </p:txBody>
            </p:sp>
          </p:grpSp>
          <p:sp>
            <p:nvSpPr>
              <p:cNvPr id="10263" name="Freeform 26">
                <a:extLst>
                  <a:ext uri="{FF2B5EF4-FFF2-40B4-BE49-F238E27FC236}">
                    <a16:creationId xmlns:a16="http://schemas.microsoft.com/office/drawing/2014/main" id="{FBA79777-902C-48F2-B9EA-72D2B87EC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876"/>
                <a:ext cx="1327" cy="377"/>
              </a:xfrm>
              <a:custGeom>
                <a:avLst/>
                <a:gdLst>
                  <a:gd name="T0" fmla="*/ 690 w 1440"/>
                  <a:gd name="T1" fmla="*/ 332 h 377"/>
                  <a:gd name="T2" fmla="*/ 581 w 1440"/>
                  <a:gd name="T3" fmla="*/ 167 h 377"/>
                  <a:gd name="T4" fmla="*/ 336 w 1440"/>
                  <a:gd name="T5" fmla="*/ 2 h 377"/>
                  <a:gd name="T6" fmla="*/ 114 w 1440"/>
                  <a:gd name="T7" fmla="*/ 182 h 377"/>
                  <a:gd name="T8" fmla="*/ 0 w 1440"/>
                  <a:gd name="T9" fmla="*/ 377 h 3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40"/>
                  <a:gd name="T16" fmla="*/ 0 h 377"/>
                  <a:gd name="T17" fmla="*/ 1440 w 1440"/>
                  <a:gd name="T18" fmla="*/ 377 h 3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40" h="377">
                    <a:moveTo>
                      <a:pt x="1440" y="332"/>
                    </a:moveTo>
                    <a:cubicBezTo>
                      <a:pt x="1402" y="305"/>
                      <a:pt x="1336" y="222"/>
                      <a:pt x="1213" y="167"/>
                    </a:cubicBezTo>
                    <a:cubicBezTo>
                      <a:pt x="1090" y="112"/>
                      <a:pt x="865" y="0"/>
                      <a:pt x="703" y="2"/>
                    </a:cubicBezTo>
                    <a:cubicBezTo>
                      <a:pt x="541" y="4"/>
                      <a:pt x="355" y="120"/>
                      <a:pt x="238" y="182"/>
                    </a:cubicBezTo>
                    <a:cubicBezTo>
                      <a:pt x="121" y="244"/>
                      <a:pt x="50" y="336"/>
                      <a:pt x="0" y="377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4" name="Freeform 27">
                <a:extLst>
                  <a:ext uri="{FF2B5EF4-FFF2-40B4-BE49-F238E27FC236}">
                    <a16:creationId xmlns:a16="http://schemas.microsoft.com/office/drawing/2014/main" id="{117FD9BA-E8CB-4255-AC07-DE1D088AD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4" y="2688"/>
                <a:ext cx="414" cy="480"/>
              </a:xfrm>
              <a:custGeom>
                <a:avLst/>
                <a:gdLst>
                  <a:gd name="T0" fmla="*/ 226 w 414"/>
                  <a:gd name="T1" fmla="*/ 480 h 480"/>
                  <a:gd name="T2" fmla="*/ 362 w 414"/>
                  <a:gd name="T3" fmla="*/ 366 h 480"/>
                  <a:gd name="T4" fmla="*/ 414 w 414"/>
                  <a:gd name="T5" fmla="*/ 251 h 480"/>
                  <a:gd name="T6" fmla="*/ 372 w 414"/>
                  <a:gd name="T7" fmla="*/ 73 h 480"/>
                  <a:gd name="T8" fmla="*/ 257 w 414"/>
                  <a:gd name="T9" fmla="*/ 0 h 480"/>
                  <a:gd name="T10" fmla="*/ 79 w 414"/>
                  <a:gd name="T11" fmla="*/ 52 h 480"/>
                  <a:gd name="T12" fmla="*/ 16 w 414"/>
                  <a:gd name="T13" fmla="*/ 251 h 480"/>
                  <a:gd name="T14" fmla="*/ 47 w 414"/>
                  <a:gd name="T15" fmla="*/ 471 h 4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14"/>
                  <a:gd name="T25" fmla="*/ 0 h 480"/>
                  <a:gd name="T26" fmla="*/ 414 w 414"/>
                  <a:gd name="T27" fmla="*/ 480 h 4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14" h="480">
                    <a:moveTo>
                      <a:pt x="226" y="480"/>
                    </a:moveTo>
                    <a:cubicBezTo>
                      <a:pt x="304" y="459"/>
                      <a:pt x="304" y="429"/>
                      <a:pt x="362" y="366"/>
                    </a:cubicBezTo>
                    <a:cubicBezTo>
                      <a:pt x="404" y="318"/>
                      <a:pt x="405" y="304"/>
                      <a:pt x="414" y="251"/>
                    </a:cubicBezTo>
                    <a:cubicBezTo>
                      <a:pt x="409" y="206"/>
                      <a:pt x="386" y="116"/>
                      <a:pt x="372" y="73"/>
                    </a:cubicBezTo>
                    <a:cubicBezTo>
                      <a:pt x="349" y="35"/>
                      <a:pt x="301" y="10"/>
                      <a:pt x="257" y="0"/>
                    </a:cubicBezTo>
                    <a:cubicBezTo>
                      <a:pt x="252" y="1"/>
                      <a:pt x="95" y="35"/>
                      <a:pt x="79" y="52"/>
                    </a:cubicBezTo>
                    <a:cubicBezTo>
                      <a:pt x="21" y="115"/>
                      <a:pt x="40" y="170"/>
                      <a:pt x="16" y="251"/>
                    </a:cubicBezTo>
                    <a:cubicBezTo>
                      <a:pt x="0" y="302"/>
                      <a:pt x="47" y="417"/>
                      <a:pt x="47" y="471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7200"/>
              <a:lstStyle/>
              <a:p>
                <a:endParaRPr lang="zh-CN" altLang="en-US"/>
              </a:p>
            </p:txBody>
          </p:sp>
        </p:grpSp>
        <p:sp>
          <p:nvSpPr>
            <p:cNvPr id="10246" name="Rectangle 28">
              <a:extLst>
                <a:ext uri="{FF2B5EF4-FFF2-40B4-BE49-F238E27FC236}">
                  <a16:creationId xmlns:a16="http://schemas.microsoft.com/office/drawing/2014/main" id="{25490010-6340-4A4C-985F-E8E1D171B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702"/>
              <a:ext cx="14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 dirty="0">
                  <a:latin typeface="Times New Roman" panose="02020603050405020304" pitchFamily="18" charset="0"/>
                </a:rPr>
                <a:t>刚读过的不是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247" name="Rectangle 29">
              <a:extLst>
                <a:ext uri="{FF2B5EF4-FFF2-40B4-BE49-F238E27FC236}">
                  <a16:creationId xmlns:a16="http://schemas.microsoft.com/office/drawing/2014/main" id="{F2454775-628C-4B2E-8BDE-E420284DB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702"/>
              <a:ext cx="1497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</a:rPr>
                <a:t>连续读过一个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0248" name="Rectangle 30">
              <a:extLst>
                <a:ext uri="{FF2B5EF4-FFF2-40B4-BE49-F238E27FC236}">
                  <a16:creationId xmlns:a16="http://schemas.microsoft.com/office/drawing/2014/main" id="{36FECDD5-9CDB-4279-B44A-3069333D9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3702"/>
              <a:ext cx="1769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 type="none" w="lg" len="med"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0">
                  <a:latin typeface="Times New Roman" panose="02020603050405020304" pitchFamily="18" charset="0"/>
                </a:rPr>
                <a:t>连续读过不少于两个</a:t>
              </a: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3C8466D-819A-85B2-E5F4-DBA951D8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5EFB0-F9B2-4CBA-B9F2-3E3D8229929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F54FCA-1933-2F16-9137-CC293060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C2C067-34ED-A10D-8D2E-B182D88E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69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FF20DD5-6D8E-4774-A565-1C30C632B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巩固练习 非形式描述的语言 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 </a:t>
            </a:r>
            <a:r>
              <a:rPr lang="en-US" altLang="zh-CN" sz="3600" dirty="0"/>
              <a:t>DFA</a:t>
            </a:r>
            <a:endParaRPr lang="zh-CN" altLang="en-US" sz="3600" dirty="0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47877C6-160B-4C5B-8E93-92114F540A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练习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4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：构造一个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DFA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，它识别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 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=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{</a:t>
            </a:r>
            <a:r>
              <a:rPr lang="zh-CN" altLang="zh-CN" sz="3600" dirty="0">
                <a:solidFill>
                  <a:schemeClr val="accent6">
                    <a:lumMod val="75000"/>
                  </a:schemeClr>
                </a:solidFill>
              </a:rPr>
              <a:t>0,1}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上能被</a:t>
            </a:r>
            <a:r>
              <a:rPr lang="en-US" altLang="zh-CN" sz="3600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zh-CN" altLang="en-US" sz="3600" dirty="0">
                <a:solidFill>
                  <a:schemeClr val="accent6">
                    <a:lumMod val="75000"/>
                  </a:schemeClr>
                </a:solidFill>
              </a:rPr>
              <a:t>整除的二进制数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dirty="0"/>
              <a:t>  </a:t>
            </a:r>
            <a:r>
              <a:rPr lang="zh-CN" altLang="en-US" sz="3600" dirty="0">
                <a:solidFill>
                  <a:schemeClr val="accent2"/>
                </a:solidFill>
              </a:rPr>
              <a:t>思路：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dirty="0"/>
              <a:t>一共多少状态？（模</a:t>
            </a:r>
            <a:r>
              <a:rPr lang="en-US" altLang="zh-CN" sz="3200" dirty="0"/>
              <a:t>5</a:t>
            </a:r>
            <a:r>
              <a:rPr lang="zh-CN" altLang="en-US" sz="3200" dirty="0"/>
              <a:t>余</a:t>
            </a:r>
            <a:r>
              <a:rPr lang="en-US" altLang="zh-CN" sz="3200" dirty="0"/>
              <a:t>0</a:t>
            </a:r>
            <a:r>
              <a:rPr lang="zh-CN" altLang="en-US" sz="3200" dirty="0"/>
              <a:t>，</a:t>
            </a:r>
            <a:r>
              <a:rPr lang="en-US" altLang="zh-CN" sz="3200" dirty="0"/>
              <a:t>1</a:t>
            </a:r>
            <a:r>
              <a:rPr lang="zh-CN" altLang="en-US" sz="3200" dirty="0"/>
              <a:t>，</a:t>
            </a:r>
            <a:r>
              <a:rPr lang="en-US" altLang="zh-CN" sz="3200" dirty="0"/>
              <a:t>2</a:t>
            </a:r>
            <a:r>
              <a:rPr lang="zh-CN" altLang="en-US" sz="3200" dirty="0"/>
              <a:t>，</a:t>
            </a:r>
            <a:r>
              <a:rPr lang="en-US" altLang="zh-CN" sz="3200" dirty="0"/>
              <a:t>3</a:t>
            </a:r>
            <a:r>
              <a:rPr lang="zh-CN" altLang="en-US" sz="3200" dirty="0"/>
              <a:t>，</a:t>
            </a:r>
            <a:r>
              <a:rPr lang="en-US" altLang="zh-CN" sz="3200" dirty="0"/>
              <a:t>4</a:t>
            </a:r>
            <a:r>
              <a:rPr lang="zh-CN" altLang="en-US" sz="3200" dirty="0"/>
              <a:t>）哪是开始状态？哪是接受状态？</a:t>
            </a:r>
            <a:endParaRPr lang="en-US" altLang="zh-CN" sz="320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dirty="0"/>
              <a:t>各状态之间如何转换？二进制数后面加</a:t>
            </a:r>
            <a:r>
              <a:rPr lang="en-US" altLang="zh-CN" sz="3200" dirty="0"/>
              <a:t>0</a:t>
            </a:r>
            <a:r>
              <a:rPr lang="zh-CN" altLang="en-US" sz="3200" dirty="0"/>
              <a:t>则变为原来的</a:t>
            </a:r>
            <a:r>
              <a:rPr lang="en-US" altLang="zh-CN" sz="3200" dirty="0"/>
              <a:t>2</a:t>
            </a:r>
            <a:r>
              <a:rPr lang="zh-CN" altLang="en-US" sz="3200" dirty="0"/>
              <a:t>倍，后面加</a:t>
            </a:r>
            <a:r>
              <a:rPr lang="en-US" altLang="zh-CN" sz="3200" dirty="0"/>
              <a:t>1</a:t>
            </a:r>
            <a:r>
              <a:rPr lang="zh-CN" altLang="en-US" sz="3200" dirty="0"/>
              <a:t>则变为原来的</a:t>
            </a:r>
            <a:r>
              <a:rPr lang="en-US" altLang="zh-CN" sz="3200" dirty="0"/>
              <a:t>2</a:t>
            </a:r>
            <a:r>
              <a:rPr lang="zh-CN" altLang="en-US" sz="3200" dirty="0"/>
              <a:t>倍加</a:t>
            </a:r>
            <a:r>
              <a:rPr lang="en-US" altLang="zh-CN" sz="3200" dirty="0"/>
              <a:t>1</a:t>
            </a:r>
            <a:r>
              <a:rPr lang="zh-CN" altLang="en-US" sz="3200" dirty="0"/>
              <a:t>，余数也一样。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C0C6CD-0CA7-8A4E-0AD8-5842F234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6FF49-E842-445A-AE49-A7C230B210BD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48DF71-2BD7-2493-44EA-45C482C9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EDED4F-5080-99A7-C13F-85B1057E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5" name="图片 4" descr="卡通人物&#10;&#10;描述已自动生成">
            <a:extLst>
              <a:ext uri="{FF2B5EF4-FFF2-40B4-BE49-F238E27FC236}">
                <a16:creationId xmlns:a16="http://schemas.microsoft.com/office/drawing/2014/main" id="{41314CFC-B5C8-0156-D3B1-573CA4DBA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802" y="239854"/>
            <a:ext cx="731598" cy="101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0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B7F9051-EE7D-4DAB-AB83-C69D42AD5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巩固练习 非形式描述的语言 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 </a:t>
            </a:r>
            <a:r>
              <a:rPr lang="en-US" altLang="zh-CN" sz="3600" dirty="0"/>
              <a:t>DFA</a:t>
            </a:r>
            <a:endParaRPr lang="zh-CN" altLang="en-US" sz="360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79AA06E-FF60-4A06-9013-39A8DFA5F550}"/>
              </a:ext>
            </a:extLst>
          </p:cNvPr>
          <p:cNvGrpSpPr/>
          <p:nvPr/>
        </p:nvGrpSpPr>
        <p:grpSpPr>
          <a:xfrm>
            <a:off x="178981" y="2000693"/>
            <a:ext cx="8636000" cy="3124200"/>
            <a:chOff x="381000" y="2819400"/>
            <a:chExt cx="8636000" cy="3124200"/>
          </a:xfrm>
        </p:grpSpPr>
        <p:sp>
          <p:nvSpPr>
            <p:cNvPr id="62468" name="Oval 5">
              <a:extLst>
                <a:ext uri="{FF2B5EF4-FFF2-40B4-BE49-F238E27FC236}">
                  <a16:creationId xmlns:a16="http://schemas.microsoft.com/office/drawing/2014/main" id="{476B4613-149C-4AB1-84A1-6F0A619C3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275" y="3957638"/>
              <a:ext cx="4572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endParaRPr kumimoji="1" lang="zh-CN" altLang="zh-CN" sz="2400" b="1">
                <a:solidFill>
                  <a:srgbClr val="000000"/>
                </a:solidFill>
                <a:latin typeface="Courier New" panose="020703090202050204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62469" name="Oval 6">
              <a:extLst>
                <a:ext uri="{FF2B5EF4-FFF2-40B4-BE49-F238E27FC236}">
                  <a16:creationId xmlns:a16="http://schemas.microsoft.com/office/drawing/2014/main" id="{F82DEAE9-3C11-4590-BC49-228113BA9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500" y="3957638"/>
              <a:ext cx="4572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62470" name="Oval 7">
              <a:extLst>
                <a:ext uri="{FF2B5EF4-FFF2-40B4-BE49-F238E27FC236}">
                  <a16:creationId xmlns:a16="http://schemas.microsoft.com/office/drawing/2014/main" id="{F211EF3D-46E5-4218-99B0-11B5A343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138" y="3957638"/>
              <a:ext cx="4572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62471" name="Oval 8">
              <a:extLst>
                <a:ext uri="{FF2B5EF4-FFF2-40B4-BE49-F238E27FC236}">
                  <a16:creationId xmlns:a16="http://schemas.microsoft.com/office/drawing/2014/main" id="{9312465D-F2BF-4350-B2F2-9FB0636AD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7363" y="3957638"/>
              <a:ext cx="4572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62472" name="Line 9">
              <a:extLst>
                <a:ext uri="{FF2B5EF4-FFF2-40B4-BE49-F238E27FC236}">
                  <a16:creationId xmlns:a16="http://schemas.microsoft.com/office/drawing/2014/main" id="{41E49F15-F79D-4A2D-A8E9-BB5320460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4191000"/>
              <a:ext cx="990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473" name="Rectangle 10" descr="Green marble">
              <a:extLst>
                <a:ext uri="{FF2B5EF4-FFF2-40B4-BE49-F238E27FC236}">
                  <a16:creationId xmlns:a16="http://schemas.microsoft.com/office/drawing/2014/main" id="{EA4234E2-01B1-4793-9207-39695DA15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4343400"/>
              <a:ext cx="7620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zh-CN" altLang="en-US" sz="2400">
                  <a:solidFill>
                    <a:srgbClr val="000000"/>
                  </a:solidFill>
                  <a:latin typeface="Courier New" panose="02070309020205020404" pitchFamily="49" charset="0"/>
                </a:rPr>
                <a:t>开始</a:t>
              </a:r>
            </a:p>
          </p:txBody>
        </p:sp>
        <p:sp>
          <p:nvSpPr>
            <p:cNvPr id="62474" name="Oval 11">
              <a:extLst>
                <a:ext uri="{FF2B5EF4-FFF2-40B4-BE49-F238E27FC236}">
                  <a16:creationId xmlns:a16="http://schemas.microsoft.com/office/drawing/2014/main" id="{D596224E-0FC7-4BA1-9184-418244331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3957638"/>
              <a:ext cx="457200" cy="4572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4</a:t>
              </a:r>
            </a:p>
          </p:txBody>
        </p:sp>
        <p:grpSp>
          <p:nvGrpSpPr>
            <p:cNvPr id="2" name="Group 34">
              <a:extLst>
                <a:ext uri="{FF2B5EF4-FFF2-40B4-BE49-F238E27FC236}">
                  <a16:creationId xmlns:a16="http://schemas.microsoft.com/office/drawing/2014/main" id="{CF9D929A-B7DD-46EF-AAFB-288E02D08E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4191000"/>
              <a:ext cx="1295400" cy="381000"/>
              <a:chOff x="1200" y="2640"/>
              <a:chExt cx="816" cy="240"/>
            </a:xfrm>
          </p:grpSpPr>
          <p:sp>
            <p:nvSpPr>
              <p:cNvPr id="62504" name="Line 12">
                <a:extLst>
                  <a:ext uri="{FF2B5EF4-FFF2-40B4-BE49-F238E27FC236}">
                    <a16:creationId xmlns:a16="http://schemas.microsoft.com/office/drawing/2014/main" id="{9AFC02D6-0CC3-430E-AB97-D13BFD0DC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0" y="2640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05" name="Rectangle 14" descr="Green marble">
                <a:extLst>
                  <a:ext uri="{FF2B5EF4-FFF2-40B4-BE49-F238E27FC236}">
                    <a16:creationId xmlns:a16="http://schemas.microsoft.com/office/drawing/2014/main" id="{BABA0CAF-F71A-4075-AF91-DFED49062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688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" name="Group 33">
              <a:extLst>
                <a:ext uri="{FF2B5EF4-FFF2-40B4-BE49-F238E27FC236}">
                  <a16:creationId xmlns:a16="http://schemas.microsoft.com/office/drawing/2014/main" id="{D8C787E0-901C-4867-A4F0-A0D984C18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1100" y="2819400"/>
              <a:ext cx="1041400" cy="1219200"/>
              <a:chOff x="744" y="1776"/>
              <a:chExt cx="656" cy="768"/>
            </a:xfrm>
          </p:grpSpPr>
          <p:sp>
            <p:nvSpPr>
              <p:cNvPr id="62502" name="Freeform 13" descr="Green marble">
                <a:extLst>
                  <a:ext uri="{FF2B5EF4-FFF2-40B4-BE49-F238E27FC236}">
                    <a16:creationId xmlns:a16="http://schemas.microsoft.com/office/drawing/2014/main" id="{BC2EDFD8-4317-4E64-AEFE-01C27862C0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1776"/>
                <a:ext cx="656" cy="768"/>
              </a:xfrm>
              <a:custGeom>
                <a:avLst/>
                <a:gdLst>
                  <a:gd name="T0" fmla="*/ 408 w 656"/>
                  <a:gd name="T1" fmla="*/ 768 h 768"/>
                  <a:gd name="T2" fmla="*/ 648 w 656"/>
                  <a:gd name="T3" fmla="*/ 384 h 768"/>
                  <a:gd name="T4" fmla="*/ 360 w 656"/>
                  <a:gd name="T5" fmla="*/ 0 h 768"/>
                  <a:gd name="T6" fmla="*/ 24 w 656"/>
                  <a:gd name="T7" fmla="*/ 384 h 768"/>
                  <a:gd name="T8" fmla="*/ 216 w 656"/>
                  <a:gd name="T9" fmla="*/ 720 h 7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56"/>
                  <a:gd name="T16" fmla="*/ 0 h 768"/>
                  <a:gd name="T17" fmla="*/ 656 w 656"/>
                  <a:gd name="T18" fmla="*/ 768 h 7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56" h="768">
                    <a:moveTo>
                      <a:pt x="408" y="768"/>
                    </a:moveTo>
                    <a:cubicBezTo>
                      <a:pt x="532" y="640"/>
                      <a:pt x="656" y="512"/>
                      <a:pt x="648" y="384"/>
                    </a:cubicBezTo>
                    <a:cubicBezTo>
                      <a:pt x="640" y="256"/>
                      <a:pt x="464" y="0"/>
                      <a:pt x="360" y="0"/>
                    </a:cubicBezTo>
                    <a:cubicBezTo>
                      <a:pt x="256" y="0"/>
                      <a:pt x="48" y="264"/>
                      <a:pt x="24" y="384"/>
                    </a:cubicBezTo>
                    <a:cubicBezTo>
                      <a:pt x="0" y="504"/>
                      <a:pt x="184" y="664"/>
                      <a:pt x="216" y="72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03" name="Rectangle 15" descr="Green marble">
                <a:extLst>
                  <a:ext uri="{FF2B5EF4-FFF2-40B4-BE49-F238E27FC236}">
                    <a16:creationId xmlns:a16="http://schemas.microsoft.com/office/drawing/2014/main" id="{14EABCE5-AC60-4065-859F-8C1E94F12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192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36">
              <a:extLst>
                <a:ext uri="{FF2B5EF4-FFF2-40B4-BE49-F238E27FC236}">
                  <a16:creationId xmlns:a16="http://schemas.microsoft.com/office/drawing/2014/main" id="{0330F777-DF4E-40E4-BE71-79BD74691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3886200"/>
              <a:ext cx="1295400" cy="304800"/>
              <a:chOff x="2352" y="2448"/>
              <a:chExt cx="816" cy="192"/>
            </a:xfrm>
          </p:grpSpPr>
          <p:sp>
            <p:nvSpPr>
              <p:cNvPr id="62500" name="Line 16">
                <a:extLst>
                  <a:ext uri="{FF2B5EF4-FFF2-40B4-BE49-F238E27FC236}">
                    <a16:creationId xmlns:a16="http://schemas.microsoft.com/office/drawing/2014/main" id="{E88AA7D0-5BE0-44ED-996D-435156D9B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640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501" name="Rectangle 17" descr="Green marble">
                <a:extLst>
                  <a:ext uri="{FF2B5EF4-FFF2-40B4-BE49-F238E27FC236}">
                    <a16:creationId xmlns:a16="http://schemas.microsoft.com/office/drawing/2014/main" id="{B6AB1614-9BFF-4D20-A7AB-800E6D039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5" name="Group 37">
              <a:extLst>
                <a:ext uri="{FF2B5EF4-FFF2-40B4-BE49-F238E27FC236}">
                  <a16:creationId xmlns:a16="http://schemas.microsoft.com/office/drawing/2014/main" id="{27AF785D-5337-4A30-8BE8-D03CA58398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7600" y="4343400"/>
              <a:ext cx="3200400" cy="838200"/>
              <a:chOff x="2304" y="2736"/>
              <a:chExt cx="2016" cy="528"/>
            </a:xfrm>
          </p:grpSpPr>
          <p:sp>
            <p:nvSpPr>
              <p:cNvPr id="62498" name="Freeform 18" descr="Green marble">
                <a:extLst>
                  <a:ext uri="{FF2B5EF4-FFF2-40B4-BE49-F238E27FC236}">
                    <a16:creationId xmlns:a16="http://schemas.microsoft.com/office/drawing/2014/main" id="{B6C80487-8E93-4CA5-ABA6-01A9B3D74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2736"/>
                <a:ext cx="2016" cy="528"/>
              </a:xfrm>
              <a:custGeom>
                <a:avLst/>
                <a:gdLst>
                  <a:gd name="T0" fmla="*/ 0 w 2016"/>
                  <a:gd name="T1" fmla="*/ 0 h 528"/>
                  <a:gd name="T2" fmla="*/ 1008 w 2016"/>
                  <a:gd name="T3" fmla="*/ 528 h 528"/>
                  <a:gd name="T4" fmla="*/ 2016 w 2016"/>
                  <a:gd name="T5" fmla="*/ 0 h 528"/>
                  <a:gd name="T6" fmla="*/ 0 60000 65536"/>
                  <a:gd name="T7" fmla="*/ 0 60000 65536"/>
                  <a:gd name="T8" fmla="*/ 0 60000 65536"/>
                  <a:gd name="T9" fmla="*/ 0 w 2016"/>
                  <a:gd name="T10" fmla="*/ 0 h 528"/>
                  <a:gd name="T11" fmla="*/ 2016 w 2016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16" h="528">
                    <a:moveTo>
                      <a:pt x="0" y="0"/>
                    </a:moveTo>
                    <a:cubicBezTo>
                      <a:pt x="336" y="264"/>
                      <a:pt x="672" y="528"/>
                      <a:pt x="1008" y="528"/>
                    </a:cubicBezTo>
                    <a:cubicBezTo>
                      <a:pt x="1344" y="528"/>
                      <a:pt x="1848" y="88"/>
                      <a:pt x="2016" y="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9" name="Rectangle 19" descr="Green marble">
                <a:extLst>
                  <a:ext uri="{FF2B5EF4-FFF2-40B4-BE49-F238E27FC236}">
                    <a16:creationId xmlns:a16="http://schemas.microsoft.com/office/drawing/2014/main" id="{A2C62A41-57B0-4483-AD20-D1AB1F8A7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02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6" name="Group 38">
              <a:extLst>
                <a:ext uri="{FF2B5EF4-FFF2-40B4-BE49-F238E27FC236}">
                  <a16:creationId xmlns:a16="http://schemas.microsoft.com/office/drawing/2014/main" id="{D154F17F-51AB-4B87-92B8-5F3458F69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0" y="3048000"/>
              <a:ext cx="3124200" cy="914400"/>
              <a:chOff x="3360" y="1920"/>
              <a:chExt cx="1968" cy="576"/>
            </a:xfrm>
          </p:grpSpPr>
          <p:sp>
            <p:nvSpPr>
              <p:cNvPr id="62496" name="Freeform 20" descr="Green marble">
                <a:extLst>
                  <a:ext uri="{FF2B5EF4-FFF2-40B4-BE49-F238E27FC236}">
                    <a16:creationId xmlns:a16="http://schemas.microsoft.com/office/drawing/2014/main" id="{778DAF29-E6E0-4290-9B4B-B147CBA7B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1920"/>
                <a:ext cx="1968" cy="576"/>
              </a:xfrm>
              <a:custGeom>
                <a:avLst/>
                <a:gdLst>
                  <a:gd name="T0" fmla="*/ 0 w 1968"/>
                  <a:gd name="T1" fmla="*/ 576 h 576"/>
                  <a:gd name="T2" fmla="*/ 960 w 1968"/>
                  <a:gd name="T3" fmla="*/ 0 h 576"/>
                  <a:gd name="T4" fmla="*/ 1968 w 1968"/>
                  <a:gd name="T5" fmla="*/ 576 h 576"/>
                  <a:gd name="T6" fmla="*/ 0 60000 65536"/>
                  <a:gd name="T7" fmla="*/ 0 60000 65536"/>
                  <a:gd name="T8" fmla="*/ 0 60000 65536"/>
                  <a:gd name="T9" fmla="*/ 0 w 1968"/>
                  <a:gd name="T10" fmla="*/ 0 h 576"/>
                  <a:gd name="T11" fmla="*/ 1968 w 196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68" h="576">
                    <a:moveTo>
                      <a:pt x="0" y="576"/>
                    </a:moveTo>
                    <a:cubicBezTo>
                      <a:pt x="316" y="288"/>
                      <a:pt x="632" y="0"/>
                      <a:pt x="960" y="0"/>
                    </a:cubicBezTo>
                    <a:cubicBezTo>
                      <a:pt x="1288" y="0"/>
                      <a:pt x="1800" y="480"/>
                      <a:pt x="1968" y="576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7" name="Rectangle 21" descr="Green marble">
                <a:extLst>
                  <a:ext uri="{FF2B5EF4-FFF2-40B4-BE49-F238E27FC236}">
                    <a16:creationId xmlns:a16="http://schemas.microsoft.com/office/drawing/2014/main" id="{4BFF83CB-87A6-4692-AF31-0996C673D7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968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7" name="Group 35">
              <a:extLst>
                <a:ext uri="{FF2B5EF4-FFF2-40B4-BE49-F238E27FC236}">
                  <a16:creationId xmlns:a16="http://schemas.microsoft.com/office/drawing/2014/main" id="{911A5E65-30E4-4234-B74A-84B7263C40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5000" y="3187700"/>
              <a:ext cx="3276600" cy="850900"/>
              <a:chOff x="1200" y="2008"/>
              <a:chExt cx="2064" cy="536"/>
            </a:xfrm>
          </p:grpSpPr>
          <p:sp>
            <p:nvSpPr>
              <p:cNvPr id="62494" name="Freeform 22" descr="Green marble">
                <a:extLst>
                  <a:ext uri="{FF2B5EF4-FFF2-40B4-BE49-F238E27FC236}">
                    <a16:creationId xmlns:a16="http://schemas.microsoft.com/office/drawing/2014/main" id="{0306696B-ED45-4338-933F-85C8A7CC6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00" y="2008"/>
                <a:ext cx="2064" cy="536"/>
              </a:xfrm>
              <a:custGeom>
                <a:avLst/>
                <a:gdLst>
                  <a:gd name="T0" fmla="*/ 2064 w 2064"/>
                  <a:gd name="T1" fmla="*/ 488 h 536"/>
                  <a:gd name="T2" fmla="*/ 960 w 2064"/>
                  <a:gd name="T3" fmla="*/ 8 h 536"/>
                  <a:gd name="T4" fmla="*/ 0 w 2064"/>
                  <a:gd name="T5" fmla="*/ 536 h 536"/>
                  <a:gd name="T6" fmla="*/ 0 60000 65536"/>
                  <a:gd name="T7" fmla="*/ 0 60000 65536"/>
                  <a:gd name="T8" fmla="*/ 0 60000 65536"/>
                  <a:gd name="T9" fmla="*/ 0 w 2064"/>
                  <a:gd name="T10" fmla="*/ 0 h 536"/>
                  <a:gd name="T11" fmla="*/ 2064 w 2064"/>
                  <a:gd name="T12" fmla="*/ 536 h 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64" h="536">
                    <a:moveTo>
                      <a:pt x="2064" y="488"/>
                    </a:moveTo>
                    <a:cubicBezTo>
                      <a:pt x="1684" y="244"/>
                      <a:pt x="1304" y="0"/>
                      <a:pt x="960" y="8"/>
                    </a:cubicBezTo>
                    <a:cubicBezTo>
                      <a:pt x="616" y="16"/>
                      <a:pt x="160" y="448"/>
                      <a:pt x="0" y="536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5" name="Rectangle 23" descr="Green marble">
                <a:extLst>
                  <a:ext uri="{FF2B5EF4-FFF2-40B4-BE49-F238E27FC236}">
                    <a16:creationId xmlns:a16="http://schemas.microsoft.com/office/drawing/2014/main" id="{2B5B23EE-399B-4F76-A022-FC3100076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06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" name="Group 40">
              <a:extLst>
                <a:ext uri="{FF2B5EF4-FFF2-40B4-BE49-F238E27FC236}">
                  <a16:creationId xmlns:a16="http://schemas.microsoft.com/office/drawing/2014/main" id="{A1C23FE5-4F6C-4388-9D02-1DCEC6F95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5200" y="4419600"/>
              <a:ext cx="3505200" cy="1524000"/>
              <a:chOff x="2208" y="2784"/>
              <a:chExt cx="2208" cy="960"/>
            </a:xfrm>
          </p:grpSpPr>
          <p:sp>
            <p:nvSpPr>
              <p:cNvPr id="62492" name="Freeform 24" descr="Green marble">
                <a:extLst>
                  <a:ext uri="{FF2B5EF4-FFF2-40B4-BE49-F238E27FC236}">
                    <a16:creationId xmlns:a16="http://schemas.microsoft.com/office/drawing/2014/main" id="{660294B7-7D0E-474D-B6FB-609A30C0D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8" y="2784"/>
                <a:ext cx="2208" cy="960"/>
              </a:xfrm>
              <a:custGeom>
                <a:avLst/>
                <a:gdLst>
                  <a:gd name="T0" fmla="*/ 2208 w 2208"/>
                  <a:gd name="T1" fmla="*/ 0 h 960"/>
                  <a:gd name="T2" fmla="*/ 1104 w 2208"/>
                  <a:gd name="T3" fmla="*/ 960 h 960"/>
                  <a:gd name="T4" fmla="*/ 0 w 2208"/>
                  <a:gd name="T5" fmla="*/ 0 h 960"/>
                  <a:gd name="T6" fmla="*/ 0 60000 65536"/>
                  <a:gd name="T7" fmla="*/ 0 60000 65536"/>
                  <a:gd name="T8" fmla="*/ 0 60000 65536"/>
                  <a:gd name="T9" fmla="*/ 0 w 2208"/>
                  <a:gd name="T10" fmla="*/ 0 h 960"/>
                  <a:gd name="T11" fmla="*/ 2208 w 2208"/>
                  <a:gd name="T12" fmla="*/ 960 h 9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8" h="960">
                    <a:moveTo>
                      <a:pt x="2208" y="0"/>
                    </a:moveTo>
                    <a:cubicBezTo>
                      <a:pt x="1840" y="480"/>
                      <a:pt x="1472" y="960"/>
                      <a:pt x="1104" y="960"/>
                    </a:cubicBezTo>
                    <a:cubicBezTo>
                      <a:pt x="736" y="960"/>
                      <a:pt x="184" y="160"/>
                      <a:pt x="0" y="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3" name="Rectangle 25" descr="Green marble">
                <a:extLst>
                  <a:ext uri="{FF2B5EF4-FFF2-40B4-BE49-F238E27FC236}">
                    <a16:creationId xmlns:a16="http://schemas.microsoft.com/office/drawing/2014/main" id="{F682EBF7-12BE-4438-90EF-E40C835FB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3504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" name="Group 39">
              <a:extLst>
                <a:ext uri="{FF2B5EF4-FFF2-40B4-BE49-F238E27FC236}">
                  <a16:creationId xmlns:a16="http://schemas.microsoft.com/office/drawing/2014/main" id="{2DD71B1F-9C2C-49D5-A68C-33E6E9D72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3810000"/>
              <a:ext cx="1295400" cy="381000"/>
              <a:chOff x="3504" y="2400"/>
              <a:chExt cx="816" cy="240"/>
            </a:xfrm>
          </p:grpSpPr>
          <p:sp>
            <p:nvSpPr>
              <p:cNvPr id="62490" name="Line 26">
                <a:extLst>
                  <a:ext uri="{FF2B5EF4-FFF2-40B4-BE49-F238E27FC236}">
                    <a16:creationId xmlns:a16="http://schemas.microsoft.com/office/drawing/2014/main" id="{269744B5-129A-4AA0-895D-E114331891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640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91" name="Rectangle 27" descr="Green marble">
                <a:extLst>
                  <a:ext uri="{FF2B5EF4-FFF2-40B4-BE49-F238E27FC236}">
                    <a16:creationId xmlns:a16="http://schemas.microsoft.com/office/drawing/2014/main" id="{45077EE6-8FC9-45FA-89F2-5BEC00C0D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2400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" name="Group 41">
              <a:extLst>
                <a:ext uri="{FF2B5EF4-FFF2-40B4-BE49-F238E27FC236}">
                  <a16:creationId xmlns:a16="http://schemas.microsoft.com/office/drawing/2014/main" id="{19B39C6E-2088-469C-B381-DAE7F9705C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5200" y="3886200"/>
              <a:ext cx="990600" cy="304800"/>
              <a:chOff x="4608" y="2448"/>
              <a:chExt cx="624" cy="192"/>
            </a:xfrm>
          </p:grpSpPr>
          <p:sp>
            <p:nvSpPr>
              <p:cNvPr id="62488" name="Line 28">
                <a:extLst>
                  <a:ext uri="{FF2B5EF4-FFF2-40B4-BE49-F238E27FC236}">
                    <a16:creationId xmlns:a16="http://schemas.microsoft.com/office/drawing/2014/main" id="{262D89B8-7BC7-4BDA-85EA-1B0CA2A98D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640"/>
                <a:ext cx="6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9" name="Rectangle 29" descr="Green marble">
                <a:extLst>
                  <a:ext uri="{FF2B5EF4-FFF2-40B4-BE49-F238E27FC236}">
                    <a16:creationId xmlns:a16="http://schemas.microsoft.com/office/drawing/2014/main" id="{244C8FFC-29B1-4D74-9D0B-49B0A7979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2448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" name="Group 42">
              <a:extLst>
                <a:ext uri="{FF2B5EF4-FFF2-40B4-BE49-F238E27FC236}">
                  <a16:creationId xmlns:a16="http://schemas.microsoft.com/office/drawing/2014/main" id="{3E4C6AD7-A55B-4251-A09D-82D19ACF48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1800" y="4419600"/>
              <a:ext cx="965200" cy="1231900"/>
              <a:chOff x="5072" y="2784"/>
              <a:chExt cx="608" cy="776"/>
            </a:xfrm>
          </p:grpSpPr>
          <p:sp>
            <p:nvSpPr>
              <p:cNvPr id="62486" name="Freeform 30" descr="Green marble">
                <a:extLst>
                  <a:ext uri="{FF2B5EF4-FFF2-40B4-BE49-F238E27FC236}">
                    <a16:creationId xmlns:a16="http://schemas.microsoft.com/office/drawing/2014/main" id="{818F6A9B-3756-41DD-8E41-06F477EF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2" y="2784"/>
                <a:ext cx="608" cy="776"/>
              </a:xfrm>
              <a:custGeom>
                <a:avLst/>
                <a:gdLst>
                  <a:gd name="T0" fmla="*/ 400 w 608"/>
                  <a:gd name="T1" fmla="*/ 0 h 776"/>
                  <a:gd name="T2" fmla="*/ 592 w 608"/>
                  <a:gd name="T3" fmla="*/ 384 h 776"/>
                  <a:gd name="T4" fmla="*/ 304 w 608"/>
                  <a:gd name="T5" fmla="*/ 768 h 776"/>
                  <a:gd name="T6" fmla="*/ 16 w 608"/>
                  <a:gd name="T7" fmla="*/ 336 h 776"/>
                  <a:gd name="T8" fmla="*/ 208 w 608"/>
                  <a:gd name="T9" fmla="*/ 0 h 7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08"/>
                  <a:gd name="T16" fmla="*/ 0 h 776"/>
                  <a:gd name="T17" fmla="*/ 608 w 608"/>
                  <a:gd name="T18" fmla="*/ 776 h 77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08" h="776">
                    <a:moveTo>
                      <a:pt x="400" y="0"/>
                    </a:moveTo>
                    <a:cubicBezTo>
                      <a:pt x="504" y="128"/>
                      <a:pt x="608" y="256"/>
                      <a:pt x="592" y="384"/>
                    </a:cubicBezTo>
                    <a:cubicBezTo>
                      <a:pt x="576" y="512"/>
                      <a:pt x="400" y="776"/>
                      <a:pt x="304" y="768"/>
                    </a:cubicBezTo>
                    <a:cubicBezTo>
                      <a:pt x="208" y="760"/>
                      <a:pt x="32" y="464"/>
                      <a:pt x="16" y="336"/>
                    </a:cubicBezTo>
                    <a:cubicBezTo>
                      <a:pt x="0" y="208"/>
                      <a:pt x="176" y="56"/>
                      <a:pt x="208" y="0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87" name="Rectangle 31" descr="Green marble">
                <a:extLst>
                  <a:ext uri="{FF2B5EF4-FFF2-40B4-BE49-F238E27FC236}">
                    <a16:creationId xmlns:a16="http://schemas.microsoft.com/office/drawing/2014/main" id="{B40F560F-A3F3-4630-89B0-BD8D3C284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3312"/>
                <a:ext cx="24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 eaLnBrk="1" hangingPunct="1">
                  <a:buClrTx/>
                  <a:buSzTx/>
                  <a:buFontTx/>
                  <a:buNone/>
                </a:pPr>
                <a:r>
                  <a:rPr kumimoji="1" lang="en-US" altLang="zh-CN" sz="24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62485" name="Oval 32">
              <a:extLst>
                <a:ext uri="{FF2B5EF4-FFF2-40B4-BE49-F238E27FC236}">
                  <a16:creationId xmlns:a16="http://schemas.microsoft.com/office/drawing/2014/main" id="{C39AAA05-61C6-4854-9647-B8A870405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5900" y="4025900"/>
              <a:ext cx="355600" cy="334963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rPr>
                <a:t>0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4E5CEAB-B8F1-4178-98F1-BE5B9C5B160F}"/>
              </a:ext>
            </a:extLst>
          </p:cNvPr>
          <p:cNvSpPr txBox="1"/>
          <p:nvPr/>
        </p:nvSpPr>
        <p:spPr>
          <a:xfrm>
            <a:off x="979081" y="5048693"/>
            <a:ext cx="25074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1010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=10</a:t>
            </a:r>
            <a:r>
              <a:rPr lang="en-US" altLang="zh-CN" sz="3600" baseline="-25000" dirty="0"/>
              <a:t>10</a:t>
            </a:r>
          </a:p>
          <a:p>
            <a:r>
              <a:rPr lang="en-US" altLang="zh-CN" sz="3600" dirty="0"/>
              <a:t>111</a:t>
            </a:r>
            <a:r>
              <a:rPr lang="en-US" altLang="zh-CN" sz="3600" baseline="-25000" dirty="0"/>
              <a:t>2</a:t>
            </a:r>
            <a:r>
              <a:rPr lang="en-US" altLang="zh-CN" sz="3600" dirty="0"/>
              <a:t>=7</a:t>
            </a:r>
            <a:r>
              <a:rPr lang="en-US" altLang="zh-CN" sz="3600" baseline="-25000" dirty="0"/>
              <a:t>10</a:t>
            </a:r>
            <a:endParaRPr lang="zh-CN" altLang="en-US" sz="3600" baseline="-25000" dirty="0"/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7A6D6905-3A9D-5FA4-6480-ED09CCE2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C6CF2-CD61-484C-8C9E-9D2E839AE444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15" name="页脚占位符 14">
            <a:extLst>
              <a:ext uri="{FF2B5EF4-FFF2-40B4-BE49-F238E27FC236}">
                <a16:creationId xmlns:a16="http://schemas.microsoft.com/office/drawing/2014/main" id="{D988C3F2-C039-5926-D721-FA4092825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E738A451-B926-7F4F-B227-D0522D22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8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174ED64-91A0-478C-9B44-2078C7654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zh-CN" altLang="en-US" sz="3600" dirty="0"/>
              <a:t>巩固练习 非形式描述的语言 </a:t>
            </a:r>
            <a:r>
              <a:rPr lang="zh-CN" altLang="en-US" sz="3600" dirty="0">
                <a:sym typeface="Symbol" panose="05050102010706020507" pitchFamily="18" charset="2"/>
              </a:rPr>
              <a:t></a:t>
            </a:r>
            <a:r>
              <a:rPr lang="zh-CN" altLang="en-US" sz="3600" dirty="0"/>
              <a:t> </a:t>
            </a:r>
            <a:r>
              <a:rPr lang="en-US" altLang="zh-CN" sz="3600" dirty="0"/>
              <a:t>DFA</a:t>
            </a:r>
            <a:endParaRPr lang="zh-CN" altLang="en-US" sz="3600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F2E18D36-D526-4B3D-BD63-AFF51F6FB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练习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： 构造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DFA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，接受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1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的个数都是偶数的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0,1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组成的字符串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F485D3-6964-C567-2CA8-704C121A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FDBA5-15BE-4BF7-9EEF-940CD52EEE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963D78-7FB6-92BE-778D-F6FA669E5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74442A-2A7F-0F80-73E0-16E08308C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12</a:t>
            </a:fld>
            <a:endParaRPr lang="zh-CN" altLang="en-US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74970A6-F608-4759-8C5C-3782A5C9DD2B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2546498"/>
            <a:ext cx="7162800" cy="3886200"/>
            <a:chOff x="816" y="1632"/>
            <a:chExt cx="4512" cy="2448"/>
          </a:xfrm>
        </p:grpSpPr>
        <p:grpSp>
          <p:nvGrpSpPr>
            <p:cNvPr id="63493" name="Group 5">
              <a:extLst>
                <a:ext uri="{FF2B5EF4-FFF2-40B4-BE49-F238E27FC236}">
                  <a16:creationId xmlns:a16="http://schemas.microsoft.com/office/drawing/2014/main" id="{7893BE0D-B8FC-441E-8B2B-32803369E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632"/>
              <a:ext cx="3536" cy="2352"/>
              <a:chOff x="1152" y="1632"/>
              <a:chExt cx="3536" cy="2352"/>
            </a:xfrm>
          </p:grpSpPr>
          <p:sp>
            <p:nvSpPr>
              <p:cNvPr id="63498" name="Oval 6">
                <a:extLst>
                  <a:ext uri="{FF2B5EF4-FFF2-40B4-BE49-F238E27FC236}">
                    <a16:creationId xmlns:a16="http://schemas.microsoft.com/office/drawing/2014/main" id="{F090B44C-8666-4626-86A1-593B3ABF2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920" y="1872"/>
                <a:ext cx="472" cy="44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28800" bIns="46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99" name="Oval 7">
                <a:extLst>
                  <a:ext uri="{FF2B5EF4-FFF2-40B4-BE49-F238E27FC236}">
                    <a16:creationId xmlns:a16="http://schemas.microsoft.com/office/drawing/2014/main" id="{A85CBBC5-BB43-4001-B341-3D6AA1EA8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706" y="3538"/>
                <a:ext cx="472" cy="44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28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63500" name="Oval 8">
                <a:extLst>
                  <a:ext uri="{FF2B5EF4-FFF2-40B4-BE49-F238E27FC236}">
                    <a16:creationId xmlns:a16="http://schemas.microsoft.com/office/drawing/2014/main" id="{518B316D-9373-41FD-A555-ACF8A9786C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3706" y="1897"/>
                <a:ext cx="472" cy="44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28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501" name="Oval 9">
                <a:extLst>
                  <a:ext uri="{FF2B5EF4-FFF2-40B4-BE49-F238E27FC236}">
                    <a16:creationId xmlns:a16="http://schemas.microsoft.com/office/drawing/2014/main" id="{3089618C-32AC-468B-98C5-1939BE5B5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943" y="3538"/>
                <a:ext cx="472" cy="44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tIns="288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63502" name="Oval 10">
                <a:extLst>
                  <a:ext uri="{FF2B5EF4-FFF2-40B4-BE49-F238E27FC236}">
                    <a16:creationId xmlns:a16="http://schemas.microsoft.com/office/drawing/2014/main" id="{1025300A-9FAA-4FBE-823A-E435B7D473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00" y="1936"/>
                <a:ext cx="352" cy="334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0" rIns="36000" bIns="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03" name="Line 11">
                <a:extLst>
                  <a:ext uri="{FF2B5EF4-FFF2-40B4-BE49-F238E27FC236}">
                    <a16:creationId xmlns:a16="http://schemas.microsoft.com/office/drawing/2014/main" id="{82AC451C-6368-414C-946F-17D336621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68" y="2248"/>
                <a:ext cx="1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63504" name="Line 12">
                <a:extLst>
                  <a:ext uri="{FF2B5EF4-FFF2-40B4-BE49-F238E27FC236}">
                    <a16:creationId xmlns:a16="http://schemas.microsoft.com/office/drawing/2014/main" id="{FC45DA37-FC3B-49F8-AAD1-DBBE621FB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68" y="1941"/>
                <a:ext cx="1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63505" name="Rectangle 13">
                <a:extLst>
                  <a:ext uri="{FF2B5EF4-FFF2-40B4-BE49-F238E27FC236}">
                    <a16:creationId xmlns:a16="http://schemas.microsoft.com/office/drawing/2014/main" id="{D5C92896-1755-44E2-906E-837F60ED3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632"/>
                <a:ext cx="373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506" name="Rectangle 14">
                <a:extLst>
                  <a:ext uri="{FF2B5EF4-FFF2-40B4-BE49-F238E27FC236}">
                    <a16:creationId xmlns:a16="http://schemas.microsoft.com/office/drawing/2014/main" id="{AD68AA57-29C1-480C-8752-96CF22966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68"/>
                <a:ext cx="373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507" name="Line 15">
                <a:extLst>
                  <a:ext uri="{FF2B5EF4-FFF2-40B4-BE49-F238E27FC236}">
                    <a16:creationId xmlns:a16="http://schemas.microsoft.com/office/drawing/2014/main" id="{6A93445E-1399-415B-B696-58BA306E8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68" y="3621"/>
                <a:ext cx="1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63508" name="Line 16">
                <a:extLst>
                  <a:ext uri="{FF2B5EF4-FFF2-40B4-BE49-F238E27FC236}">
                    <a16:creationId xmlns:a16="http://schemas.microsoft.com/office/drawing/2014/main" id="{7B4F8FA0-23DE-4F9D-9C41-443EB28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3936"/>
                <a:ext cx="130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54000" tIns="0" rIns="36000" bIns="0"/>
              <a:lstStyle/>
              <a:p>
                <a:endParaRPr lang="zh-CN" altLang="en-US"/>
              </a:p>
            </p:txBody>
          </p:sp>
          <p:sp>
            <p:nvSpPr>
              <p:cNvPr id="63509" name="Rectangle 17">
                <a:extLst>
                  <a:ext uri="{FF2B5EF4-FFF2-40B4-BE49-F238E27FC236}">
                    <a16:creationId xmlns:a16="http://schemas.microsoft.com/office/drawing/2014/main" id="{ED00EAB3-7174-4D1A-B08B-F49A18B2C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312"/>
                <a:ext cx="373" cy="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510" name="Rectangle 18">
                <a:extLst>
                  <a:ext uri="{FF2B5EF4-FFF2-40B4-BE49-F238E27FC236}">
                    <a16:creationId xmlns:a16="http://schemas.microsoft.com/office/drawing/2014/main" id="{525E26D2-1B5B-477B-BD8F-99143740C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3648"/>
                <a:ext cx="373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63511" name="Line 19">
                <a:extLst>
                  <a:ext uri="{FF2B5EF4-FFF2-40B4-BE49-F238E27FC236}">
                    <a16:creationId xmlns:a16="http://schemas.microsoft.com/office/drawing/2014/main" id="{77559013-E369-4AF7-BCDC-132C8FAEF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95" y="2248"/>
                <a:ext cx="0" cy="137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28800" bIns="46800"/>
              <a:lstStyle/>
              <a:p>
                <a:endParaRPr lang="zh-CN" altLang="en-US"/>
              </a:p>
            </p:txBody>
          </p:sp>
          <p:sp>
            <p:nvSpPr>
              <p:cNvPr id="63512" name="Line 20">
                <a:extLst>
                  <a:ext uri="{FF2B5EF4-FFF2-40B4-BE49-F238E27FC236}">
                    <a16:creationId xmlns:a16="http://schemas.microsoft.com/office/drawing/2014/main" id="{5BA8467D-B5E2-49EC-B4B1-D80D3C099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1" y="2397"/>
                <a:ext cx="0" cy="111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28800" bIns="46800"/>
              <a:lstStyle/>
              <a:p>
                <a:endParaRPr lang="zh-CN" altLang="en-US"/>
              </a:p>
            </p:txBody>
          </p:sp>
          <p:sp>
            <p:nvSpPr>
              <p:cNvPr id="63513" name="Line 21">
                <a:extLst>
                  <a:ext uri="{FF2B5EF4-FFF2-40B4-BE49-F238E27FC236}">
                    <a16:creationId xmlns:a16="http://schemas.microsoft.com/office/drawing/2014/main" id="{45DBA661-6598-4ECF-B9C5-D5B74919C0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36" y="2341"/>
                <a:ext cx="0" cy="117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28800" bIns="46800"/>
              <a:lstStyle/>
              <a:p>
                <a:endParaRPr lang="zh-CN" altLang="en-US"/>
              </a:p>
            </p:txBody>
          </p:sp>
          <p:sp>
            <p:nvSpPr>
              <p:cNvPr id="63514" name="Line 22">
                <a:extLst>
                  <a:ext uri="{FF2B5EF4-FFF2-40B4-BE49-F238E27FC236}">
                    <a16:creationId xmlns:a16="http://schemas.microsoft.com/office/drawing/2014/main" id="{25D9A3DD-F1A1-4D90-B5C6-4DF66BE3A6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5" y="2302"/>
                <a:ext cx="0" cy="1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28800" bIns="46800"/>
              <a:lstStyle/>
              <a:p>
                <a:endParaRPr lang="zh-CN" altLang="en-US"/>
              </a:p>
            </p:txBody>
          </p:sp>
          <p:sp>
            <p:nvSpPr>
              <p:cNvPr id="63515" name="Rectangle 23">
                <a:extLst>
                  <a:ext uri="{FF2B5EF4-FFF2-40B4-BE49-F238E27FC236}">
                    <a16:creationId xmlns:a16="http://schemas.microsoft.com/office/drawing/2014/main" id="{869D7CF3-A575-4A4E-A8BF-FA2764353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688"/>
                <a:ext cx="560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16" name="Rectangle 24">
                <a:extLst>
                  <a:ext uri="{FF2B5EF4-FFF2-40B4-BE49-F238E27FC236}">
                    <a16:creationId xmlns:a16="http://schemas.microsoft.com/office/drawing/2014/main" id="{704CC09C-450E-4462-8B25-8534F0455D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688"/>
                <a:ext cx="560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17" name="Rectangle 25">
                <a:extLst>
                  <a:ext uri="{FF2B5EF4-FFF2-40B4-BE49-F238E27FC236}">
                    <a16:creationId xmlns:a16="http://schemas.microsoft.com/office/drawing/2014/main" id="{F7A615AC-9342-4321-8212-39F6B2EB1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2688"/>
                <a:ext cx="560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18" name="Rectangle 26">
                <a:extLst>
                  <a:ext uri="{FF2B5EF4-FFF2-40B4-BE49-F238E27FC236}">
                    <a16:creationId xmlns:a16="http://schemas.microsoft.com/office/drawing/2014/main" id="{830DEFB2-F667-4485-B2F5-B20E3008E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688"/>
                <a:ext cx="560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63519" name="Line 27">
                <a:extLst>
                  <a:ext uri="{FF2B5EF4-FFF2-40B4-BE49-F238E27FC236}">
                    <a16:creationId xmlns:a16="http://schemas.microsoft.com/office/drawing/2014/main" id="{A30BE7DC-FBB3-4AA8-B5A9-B70772781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4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tIns="28800" bIns="46800"/>
              <a:lstStyle/>
              <a:p>
                <a:endParaRPr lang="zh-CN" altLang="en-US"/>
              </a:p>
            </p:txBody>
          </p:sp>
          <p:sp>
            <p:nvSpPr>
              <p:cNvPr id="63520" name="Rectangle 28">
                <a:extLst>
                  <a:ext uri="{FF2B5EF4-FFF2-40B4-BE49-F238E27FC236}">
                    <a16:creationId xmlns:a16="http://schemas.microsoft.com/office/drawing/2014/main" id="{43660FF1-E3CC-4FA5-A4B8-C26932B4F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776"/>
                <a:ext cx="933" cy="3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7200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开始</a:t>
                </a:r>
              </a:p>
            </p:txBody>
          </p:sp>
        </p:grpSp>
        <p:sp>
          <p:nvSpPr>
            <p:cNvPr id="63494" name="Rectangle 29">
              <a:extLst>
                <a:ext uri="{FF2B5EF4-FFF2-40B4-BE49-F238E27FC236}">
                  <a16:creationId xmlns:a16="http://schemas.microsoft.com/office/drawing/2014/main" id="{ED52E089-7E56-4A0A-BF5E-5986A030C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064"/>
              <a:ext cx="960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偶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0</a:t>
              </a: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偶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63495" name="Rectangle 30">
              <a:extLst>
                <a:ext uri="{FF2B5EF4-FFF2-40B4-BE49-F238E27FC236}">
                  <a16:creationId xmlns:a16="http://schemas.microsoft.com/office/drawing/2014/main" id="{2D6C90C5-35AA-42D4-9A62-089F7360B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552"/>
              <a:ext cx="960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奇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0</a:t>
              </a: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奇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63496" name="Rectangle 31">
              <a:extLst>
                <a:ext uri="{FF2B5EF4-FFF2-40B4-BE49-F238E27FC236}">
                  <a16:creationId xmlns:a16="http://schemas.microsoft.com/office/drawing/2014/main" id="{B98D9398-4F3D-4575-BBE5-258AB0402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52"/>
              <a:ext cx="960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奇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0</a:t>
              </a: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偶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63497" name="Rectangle 32">
              <a:extLst>
                <a:ext uri="{FF2B5EF4-FFF2-40B4-BE49-F238E27FC236}">
                  <a16:creationId xmlns:a16="http://schemas.microsoft.com/office/drawing/2014/main" id="{7F57B516-D508-4ADF-BB40-21B710A55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064"/>
              <a:ext cx="960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偶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0</a:t>
              </a:r>
              <a:r>
                <a:rPr lang="zh-CN" altLang="en-US" sz="2800">
                  <a:solidFill>
                    <a:srgbClr val="000000"/>
                  </a:solidFill>
                  <a:latin typeface="黑体" panose="02010609060101010101" pitchFamily="49" charset="-122"/>
                </a:rPr>
                <a:t>奇</a:t>
              </a:r>
              <a:r>
                <a:rPr lang="en-US" altLang="zh-CN" sz="2800">
                  <a:solidFill>
                    <a:srgbClr val="000000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</p:grpSp>
      <p:pic>
        <p:nvPicPr>
          <p:cNvPr id="6" name="图片 5" descr="图标&#10;&#10;描述已自动生成">
            <a:extLst>
              <a:ext uri="{FF2B5EF4-FFF2-40B4-BE49-F238E27FC236}">
                <a16:creationId xmlns:a16="http://schemas.microsoft.com/office/drawing/2014/main" id="{C3748DA9-512B-1D7D-9EF5-58CEE1A7B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00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正规式 </a:t>
            </a:r>
            <a:r>
              <a:rPr lang="zh-CN" altLang="en-US" dirty="0">
                <a:sym typeface="Symbol" panose="05050102010706020507" pitchFamily="18" charset="2"/>
              </a:rPr>
              <a:t></a:t>
            </a:r>
            <a:r>
              <a:rPr lang="zh-CN" altLang="en-US" dirty="0"/>
              <a:t> </a:t>
            </a:r>
            <a:r>
              <a:rPr lang="en-US" altLang="zh-CN" dirty="0"/>
              <a:t>NFA/DFA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3715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练习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直接构造作业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7 (P39/2.7(d))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：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bb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的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NFA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DFA(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或最简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DFA)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sym typeface="Symbol" panose="05050102010706020507" pitchFamily="18" charset="2"/>
              </a:rPr>
              <a:t>。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sym typeface="Symbol" panose="05050102010706020507" pitchFamily="18" charset="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DEC93E8-0FEA-44EA-85EB-669AE240D2A8}"/>
              </a:ext>
            </a:extLst>
          </p:cNvPr>
          <p:cNvGrpSpPr/>
          <p:nvPr/>
        </p:nvGrpSpPr>
        <p:grpSpPr>
          <a:xfrm>
            <a:off x="0" y="2862068"/>
            <a:ext cx="3418752" cy="1990317"/>
            <a:chOff x="-73304" y="4089794"/>
            <a:chExt cx="4859163" cy="2828891"/>
          </a:xfrm>
        </p:grpSpPr>
        <p:sp>
          <p:nvSpPr>
            <p:cNvPr id="6" name="Oval 14">
              <a:extLst>
                <a:ext uri="{FF2B5EF4-FFF2-40B4-BE49-F238E27FC236}">
                  <a16:creationId xmlns:a16="http://schemas.microsoft.com/office/drawing/2014/main" id="{F227367D-6030-412D-945D-BD0492A4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894" y="5164494"/>
              <a:ext cx="609600" cy="60960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8" name="Oval 14">
              <a:extLst>
                <a:ext uri="{FF2B5EF4-FFF2-40B4-BE49-F238E27FC236}">
                  <a16:creationId xmlns:a16="http://schemas.microsoft.com/office/drawing/2014/main" id="{4FC4718E-530A-4DE2-9095-79C174FD4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051" y="5164494"/>
              <a:ext cx="609600" cy="60960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9" name="AutoShape 16">
              <a:extLst>
                <a:ext uri="{FF2B5EF4-FFF2-40B4-BE49-F238E27FC236}">
                  <a16:creationId xmlns:a16="http://schemas.microsoft.com/office/drawing/2014/main" id="{2CDF4994-0525-4FC0-9009-0E0F62BD12FA}"/>
                </a:ext>
              </a:extLst>
            </p:cNvPr>
            <p:cNvCxnSpPr>
              <a:cxnSpLocks noChangeShapeType="1"/>
              <a:stCxn id="6" idx="6"/>
            </p:cNvCxnSpPr>
            <p:nvPr/>
          </p:nvCxnSpPr>
          <p:spPr bwMode="auto">
            <a:xfrm flipV="1">
              <a:off x="1518494" y="5468895"/>
              <a:ext cx="469557" cy="399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" name="Text Box 22">
              <a:extLst>
                <a:ext uri="{FF2B5EF4-FFF2-40B4-BE49-F238E27FC236}">
                  <a16:creationId xmlns:a16="http://schemas.microsoft.com/office/drawing/2014/main" id="{2AA2BF03-574F-46B4-BFB9-A2AC8053E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678" y="4904237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13" name="AutoShape 16">
              <a:extLst>
                <a:ext uri="{FF2B5EF4-FFF2-40B4-BE49-F238E27FC236}">
                  <a16:creationId xmlns:a16="http://schemas.microsoft.com/office/drawing/2014/main" id="{BF32F582-2D3C-4ED7-9767-94B4FD55F8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39337" y="5468895"/>
              <a:ext cx="469557" cy="399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" name="Text Box 22">
              <a:extLst>
                <a:ext uri="{FF2B5EF4-FFF2-40B4-BE49-F238E27FC236}">
                  <a16:creationId xmlns:a16="http://schemas.microsoft.com/office/drawing/2014/main" id="{C9855250-6B24-4109-8514-1039AB0D6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3304" y="4904237"/>
              <a:ext cx="1279885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FC6D6BB3-D977-4B37-8ECF-2FAAF6947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38" y="4618394"/>
              <a:ext cx="558800" cy="546100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16" name="Text Box 26">
              <a:extLst>
                <a:ext uri="{FF2B5EF4-FFF2-40B4-BE49-F238E27FC236}">
                  <a16:creationId xmlns:a16="http://schemas.microsoft.com/office/drawing/2014/main" id="{CEADE899-340A-427D-B789-1A0F5EE5A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294" y="4137576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BC4E0B43-B035-4D0E-88A7-07B84B903262}"/>
                </a:ext>
              </a:extLst>
            </p:cNvPr>
            <p:cNvSpPr>
              <a:spLocks/>
            </p:cNvSpPr>
            <p:nvPr/>
          </p:nvSpPr>
          <p:spPr bwMode="auto">
            <a:xfrm rot="11125403">
              <a:off x="941238" y="5805445"/>
              <a:ext cx="558800" cy="546100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325AB960-F9C9-4811-85CF-EBE4AF252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4691" y="6292425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9" name="Oval 14">
              <a:extLst>
                <a:ext uri="{FF2B5EF4-FFF2-40B4-BE49-F238E27FC236}">
                  <a16:creationId xmlns:a16="http://schemas.microsoft.com/office/drawing/2014/main" id="{E32065FB-4783-49E9-96C8-8C9A38A20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2652" y="5183145"/>
              <a:ext cx="609600" cy="60960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20" name="AutoShape 16">
              <a:extLst>
                <a:ext uri="{FF2B5EF4-FFF2-40B4-BE49-F238E27FC236}">
                  <a16:creationId xmlns:a16="http://schemas.microsoft.com/office/drawing/2014/main" id="{45EB120E-87A9-48EE-BD56-67429A4770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585373" y="5468496"/>
              <a:ext cx="469557" cy="399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" name="Text Box 22">
              <a:extLst>
                <a:ext uri="{FF2B5EF4-FFF2-40B4-BE49-F238E27FC236}">
                  <a16:creationId xmlns:a16="http://schemas.microsoft.com/office/drawing/2014/main" id="{17C1A6CE-F61A-4F83-9EE3-2DF95E6A0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767" y="4917303"/>
              <a:ext cx="455835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2" name="Oval 14">
              <a:extLst>
                <a:ext uri="{FF2B5EF4-FFF2-40B4-BE49-F238E27FC236}">
                  <a16:creationId xmlns:a16="http://schemas.microsoft.com/office/drawing/2014/main" id="{EE955A72-E519-4FCC-9FCD-2CD237AB1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1227" y="5183145"/>
              <a:ext cx="609600" cy="609600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23" name="AutoShape 16">
              <a:extLst>
                <a:ext uri="{FF2B5EF4-FFF2-40B4-BE49-F238E27FC236}">
                  <a16:creationId xmlns:a16="http://schemas.microsoft.com/office/drawing/2014/main" id="{5A62A9D7-A5A1-4A0B-986B-DA2D81DB009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646151" y="5487546"/>
              <a:ext cx="469557" cy="399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7FDEB958-D2FF-416A-8477-602A11A9C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3345" y="4938839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19150EEE-2BA2-4851-926F-CD84F09B1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206" y="4637045"/>
              <a:ext cx="558800" cy="546100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26" name="Text Box 26">
              <a:extLst>
                <a:ext uri="{FF2B5EF4-FFF2-40B4-BE49-F238E27FC236}">
                  <a16:creationId xmlns:a16="http://schemas.microsoft.com/office/drawing/2014/main" id="{C769F8F9-B993-473A-9711-CE4FF0C62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3661" y="4089794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2B3D226E-04FB-4C7A-95A6-7D8785A78807}"/>
                </a:ext>
              </a:extLst>
            </p:cNvPr>
            <p:cNvSpPr>
              <a:spLocks/>
            </p:cNvSpPr>
            <p:nvPr/>
          </p:nvSpPr>
          <p:spPr bwMode="auto">
            <a:xfrm rot="11125403">
              <a:off x="4135206" y="5824096"/>
              <a:ext cx="558800" cy="546100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A3E8B6CA-3607-4138-8B5A-54B62B37D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8659" y="6311076"/>
              <a:ext cx="457200" cy="6076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" name="Oval 11">
              <a:extLst>
                <a:ext uri="{FF2B5EF4-FFF2-40B4-BE49-F238E27FC236}">
                  <a16:creationId xmlns:a16="http://schemas.microsoft.com/office/drawing/2014/main" id="{5B0267FA-31A4-452C-8DB4-29C7C9B8B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160" y="5221107"/>
              <a:ext cx="517942" cy="517942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921061AC-220B-4D13-81CF-F70ED19C15F6}"/>
              </a:ext>
            </a:extLst>
          </p:cNvPr>
          <p:cNvSpPr txBox="1"/>
          <p:nvPr/>
        </p:nvSpPr>
        <p:spPr>
          <a:xfrm>
            <a:off x="1464423" y="4892261"/>
            <a:ext cx="942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ym typeface="Symbol" panose="05050102010706020507" pitchFamily="18" charset="2"/>
              </a:rPr>
              <a:t>NFA</a:t>
            </a:r>
            <a:endParaRPr lang="zh-CN" altLang="en-US" sz="24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5E7498D-A9D7-49B0-A7F9-825A53B067A1}"/>
              </a:ext>
            </a:extLst>
          </p:cNvPr>
          <p:cNvSpPr txBox="1"/>
          <p:nvPr/>
        </p:nvSpPr>
        <p:spPr>
          <a:xfrm>
            <a:off x="6204508" y="4892260"/>
            <a:ext cx="9423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ym typeface="Symbol" panose="05050102010706020507" pitchFamily="18" charset="2"/>
              </a:rPr>
              <a:t>DFA</a:t>
            </a:r>
            <a:endParaRPr lang="zh-CN" altLang="en-US" sz="24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71B189-D41E-4742-97FC-5F25F24DA757}"/>
              </a:ext>
            </a:extLst>
          </p:cNvPr>
          <p:cNvGrpSpPr/>
          <p:nvPr/>
        </p:nvGrpSpPr>
        <p:grpSpPr>
          <a:xfrm>
            <a:off x="3875882" y="2800732"/>
            <a:ext cx="5284623" cy="2003506"/>
            <a:chOff x="3875882" y="4095377"/>
            <a:chExt cx="5284623" cy="2003506"/>
          </a:xfrm>
        </p:grpSpPr>
        <p:sp>
          <p:nvSpPr>
            <p:cNvPr id="58" name="Oval 14">
              <a:extLst>
                <a:ext uri="{FF2B5EF4-FFF2-40B4-BE49-F238E27FC236}">
                  <a16:creationId xmlns:a16="http://schemas.microsoft.com/office/drawing/2014/main" id="{4779EA75-E271-4DAF-8DB7-A42FE4E8E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874" y="4864690"/>
              <a:ext cx="428895" cy="428895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59" name="Oval 14">
              <a:extLst>
                <a:ext uri="{FF2B5EF4-FFF2-40B4-BE49-F238E27FC236}">
                  <a16:creationId xmlns:a16="http://schemas.microsoft.com/office/drawing/2014/main" id="{0D087775-F2B8-4F76-BB5C-19F76CC68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9258" y="4864690"/>
              <a:ext cx="428895" cy="428895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60" name="AutoShape 16">
              <a:extLst>
                <a:ext uri="{FF2B5EF4-FFF2-40B4-BE49-F238E27FC236}">
                  <a16:creationId xmlns:a16="http://schemas.microsoft.com/office/drawing/2014/main" id="{28C7BBAE-6979-4301-8390-5C7650D1FF19}"/>
                </a:ext>
              </a:extLst>
            </p:cNvPr>
            <p:cNvCxnSpPr>
              <a:cxnSpLocks noChangeShapeType="1"/>
              <a:stCxn id="58" idx="6"/>
            </p:cNvCxnSpPr>
            <p:nvPr/>
          </p:nvCxnSpPr>
          <p:spPr bwMode="auto">
            <a:xfrm>
              <a:off x="5285769" y="5079138"/>
              <a:ext cx="573649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" name="Text Box 22">
              <a:extLst>
                <a:ext uri="{FF2B5EF4-FFF2-40B4-BE49-F238E27FC236}">
                  <a16:creationId xmlns:a16="http://schemas.microsoft.com/office/drawing/2014/main" id="{61E7656E-DDEB-4646-BFE8-DA8367276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1043" y="4680688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62" name="AutoShape 16">
              <a:extLst>
                <a:ext uri="{FF2B5EF4-FFF2-40B4-BE49-F238E27FC236}">
                  <a16:creationId xmlns:a16="http://schemas.microsoft.com/office/drawing/2014/main" id="{1BE7E47A-4187-4399-8E97-E86DFAFBB6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37889" y="5091932"/>
              <a:ext cx="734537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" name="Text Box 22">
              <a:extLst>
                <a:ext uri="{FF2B5EF4-FFF2-40B4-BE49-F238E27FC236}">
                  <a16:creationId xmlns:a16="http://schemas.microsoft.com/office/drawing/2014/main" id="{CBD7C935-8141-4E8F-9107-CAFA7F9E9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5882" y="4664065"/>
              <a:ext cx="900486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  <p:sp>
          <p:nvSpPr>
            <p:cNvPr id="68" name="Oval 14">
              <a:extLst>
                <a:ext uri="{FF2B5EF4-FFF2-40B4-BE49-F238E27FC236}">
                  <a16:creationId xmlns:a16="http://schemas.microsoft.com/office/drawing/2014/main" id="{E359F0CC-2DEE-4B90-9AD0-317ED0C43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1643" y="4877813"/>
              <a:ext cx="428895" cy="428895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69" name="AutoShape 16">
              <a:extLst>
                <a:ext uri="{FF2B5EF4-FFF2-40B4-BE49-F238E27FC236}">
                  <a16:creationId xmlns:a16="http://schemas.microsoft.com/office/drawing/2014/main" id="{8C3606BD-CC03-49EB-9480-58AF9FCB0DCB}"/>
                </a:ext>
              </a:extLst>
            </p:cNvPr>
            <p:cNvCxnSpPr>
              <a:cxnSpLocks noChangeShapeType="1"/>
              <a:stCxn id="59" idx="6"/>
            </p:cNvCxnSpPr>
            <p:nvPr/>
          </p:nvCxnSpPr>
          <p:spPr bwMode="auto">
            <a:xfrm flipV="1">
              <a:off x="6288153" y="5078577"/>
              <a:ext cx="582128" cy="561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0" name="Text Box 22">
              <a:extLst>
                <a:ext uri="{FF2B5EF4-FFF2-40B4-BE49-F238E27FC236}">
                  <a16:creationId xmlns:a16="http://schemas.microsoft.com/office/drawing/2014/main" id="{4D0508AF-DE6A-4A96-9DB5-25975F38B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7797" y="4690775"/>
              <a:ext cx="32071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1" name="Oval 14">
              <a:extLst>
                <a:ext uri="{FF2B5EF4-FFF2-40B4-BE49-F238E27FC236}">
                  <a16:creationId xmlns:a16="http://schemas.microsoft.com/office/drawing/2014/main" id="{D9684297-92EC-4CFE-9326-220499D84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458" y="4877813"/>
              <a:ext cx="428895" cy="428895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72" name="AutoShape 16">
              <a:extLst>
                <a:ext uri="{FF2B5EF4-FFF2-40B4-BE49-F238E27FC236}">
                  <a16:creationId xmlns:a16="http://schemas.microsoft.com/office/drawing/2014/main" id="{D746A35D-081E-4BDC-9BD7-CD8B74664D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286246" y="5091979"/>
              <a:ext cx="330365" cy="281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Text Box 22">
              <a:extLst>
                <a:ext uri="{FF2B5EF4-FFF2-40B4-BE49-F238E27FC236}">
                  <a16:creationId xmlns:a16="http://schemas.microsoft.com/office/drawing/2014/main" id="{00B4D5EC-36C2-4EA5-9944-16169D304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1307" y="4705927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4" name="Freeform 19">
              <a:extLst>
                <a:ext uri="{FF2B5EF4-FFF2-40B4-BE49-F238E27FC236}">
                  <a16:creationId xmlns:a16="http://schemas.microsoft.com/office/drawing/2014/main" id="{110C2827-600D-4BC4-A341-1CBDF8D34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0329" y="4493594"/>
              <a:ext cx="393154" cy="384218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75" name="Text Box 26">
              <a:extLst>
                <a:ext uri="{FF2B5EF4-FFF2-40B4-BE49-F238E27FC236}">
                  <a16:creationId xmlns:a16="http://schemas.microsoft.com/office/drawing/2014/main" id="{F832F9BF-FF32-4A86-80A6-0C5D0797B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3314" y="4108566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76" name="Freeform 19">
              <a:extLst>
                <a:ext uri="{FF2B5EF4-FFF2-40B4-BE49-F238E27FC236}">
                  <a16:creationId xmlns:a16="http://schemas.microsoft.com/office/drawing/2014/main" id="{4342988C-9BB2-48F1-A6C1-CC33CE86CB5A}"/>
                </a:ext>
              </a:extLst>
            </p:cNvPr>
            <p:cNvSpPr>
              <a:spLocks/>
            </p:cNvSpPr>
            <p:nvPr/>
          </p:nvSpPr>
          <p:spPr bwMode="auto">
            <a:xfrm rot="11125403">
              <a:off x="7630329" y="5328765"/>
              <a:ext cx="393154" cy="384218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77" name="Text Box 26">
              <a:extLst>
                <a:ext uri="{FF2B5EF4-FFF2-40B4-BE49-F238E27FC236}">
                  <a16:creationId xmlns:a16="http://schemas.microsoft.com/office/drawing/2014/main" id="{154BF7C4-559D-4038-B052-A448A070F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66437" y="5671389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78" name="Oval 11">
              <a:extLst>
                <a:ext uri="{FF2B5EF4-FFF2-40B4-BE49-F238E27FC236}">
                  <a16:creationId xmlns:a16="http://schemas.microsoft.com/office/drawing/2014/main" id="{5D31E19E-01AF-419F-B3A3-032557710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5775" y="4904522"/>
              <a:ext cx="364407" cy="364407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EE63BC7E-B3E4-4435-BCF0-2D4BE36926DC}"/>
                </a:ext>
              </a:extLst>
            </p:cNvPr>
            <p:cNvSpPr txBox="1"/>
            <p:nvPr/>
          </p:nvSpPr>
          <p:spPr>
            <a:xfrm>
              <a:off x="4365836" y="4480967"/>
              <a:ext cx="13335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刚读的不是</a:t>
              </a:r>
              <a:r>
                <a:rPr lang="en-US" altLang="zh-CN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a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B73D511E-1D26-404B-8AA3-BE974FC7288D}"/>
                </a:ext>
              </a:extLst>
            </p:cNvPr>
            <p:cNvSpPr txBox="1"/>
            <p:nvPr/>
          </p:nvSpPr>
          <p:spPr>
            <a:xfrm>
              <a:off x="5405194" y="5323250"/>
              <a:ext cx="13335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读了一个</a:t>
              </a:r>
              <a:r>
                <a:rPr lang="en-US" altLang="zh-CN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a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4F5644FD-CD7C-4247-85A7-842C8D063629}"/>
                </a:ext>
              </a:extLst>
            </p:cNvPr>
            <p:cNvSpPr>
              <a:spLocks/>
            </p:cNvSpPr>
            <p:nvPr/>
          </p:nvSpPr>
          <p:spPr bwMode="auto">
            <a:xfrm rot="11125403">
              <a:off x="4866708" y="5304477"/>
              <a:ext cx="393154" cy="384218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84" name="Text Box 26">
              <a:extLst>
                <a:ext uri="{FF2B5EF4-FFF2-40B4-BE49-F238E27FC236}">
                  <a16:creationId xmlns:a16="http://schemas.microsoft.com/office/drawing/2014/main" id="{2F6710CB-28DC-43F5-8F4D-373B3957D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2816" y="5647101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86" name="Freeform 19">
              <a:extLst>
                <a:ext uri="{FF2B5EF4-FFF2-40B4-BE49-F238E27FC236}">
                  <a16:creationId xmlns:a16="http://schemas.microsoft.com/office/drawing/2014/main" id="{92D2E137-0AB7-45E9-A695-BD602A4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7039" y="4480405"/>
              <a:ext cx="393154" cy="384218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sp>
          <p:nvSpPr>
            <p:cNvPr id="87" name="Text Box 26">
              <a:extLst>
                <a:ext uri="{FF2B5EF4-FFF2-40B4-BE49-F238E27FC236}">
                  <a16:creationId xmlns:a16="http://schemas.microsoft.com/office/drawing/2014/main" id="{BCDFA887-0E01-45A1-86E2-F6AC5B753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0024" y="4095377"/>
              <a:ext cx="321671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B5A49F9E-368C-4B80-A8CB-5CD9A101727D}"/>
                </a:ext>
              </a:extLst>
            </p:cNvPr>
            <p:cNvSpPr txBox="1"/>
            <p:nvPr/>
          </p:nvSpPr>
          <p:spPr>
            <a:xfrm>
              <a:off x="6341907" y="4505010"/>
              <a:ext cx="13335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读了</a:t>
              </a:r>
              <a:r>
                <a:rPr lang="en-US" altLang="zh-CN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ab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A28BEEC6-E5B3-4F3C-AC63-2630B0EA9777}"/>
                </a:ext>
              </a:extLst>
            </p:cNvPr>
            <p:cNvSpPr txBox="1"/>
            <p:nvPr/>
          </p:nvSpPr>
          <p:spPr>
            <a:xfrm>
              <a:off x="7826906" y="4931873"/>
              <a:ext cx="133359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读了</a:t>
              </a:r>
              <a:r>
                <a:rPr lang="en-US" altLang="zh-CN" sz="1600" dirty="0">
                  <a:solidFill>
                    <a:srgbClr val="FF0000"/>
                  </a:solidFill>
                  <a:sym typeface="Symbol" panose="05050102010706020507" pitchFamily="18" charset="2"/>
                </a:rPr>
                <a:t>abb</a:t>
              </a:r>
              <a:endParaRPr lang="zh-CN" altLang="en-US" sz="1600" dirty="0">
                <a:solidFill>
                  <a:srgbClr val="FF0000"/>
                </a:solidFill>
              </a:endParaRPr>
            </a:p>
          </p:txBody>
        </p:sp>
        <p:cxnSp>
          <p:nvCxnSpPr>
            <p:cNvPr id="90" name="AutoShape 19">
              <a:extLst>
                <a:ext uri="{FF2B5EF4-FFF2-40B4-BE49-F238E27FC236}">
                  <a16:creationId xmlns:a16="http://schemas.microsoft.com/office/drawing/2014/main" id="{70B5D371-866B-44CF-B97C-C382E7231B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500341" y="4903157"/>
              <a:ext cx="88900" cy="850900"/>
            </a:xfrm>
            <a:prstGeom prst="curvedConnector3">
              <a:avLst>
                <a:gd name="adj1" fmla="val 342856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1" name="Text Box 22">
              <a:extLst>
                <a:ext uri="{FF2B5EF4-FFF2-40B4-BE49-F238E27FC236}">
                  <a16:creationId xmlns:a16="http://schemas.microsoft.com/office/drawing/2014/main" id="{5CD4B11E-4512-41AB-A3D5-E5D7FFE8C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0535" y="5470801"/>
              <a:ext cx="381000" cy="427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92FA9-8BE1-BFE6-1C97-9EEA3BF2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1059-779B-4B6B-8575-7FA30E8E45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4F2298-07B0-64C6-9D94-0601AEA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C65FDB2-3D24-C459-0430-FED7593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13</a:t>
            </a:fld>
            <a:endParaRPr lang="zh-CN" altLang="en-US"/>
          </a:p>
        </p:txBody>
      </p:sp>
      <p:pic>
        <p:nvPicPr>
          <p:cNvPr id="12" name="图片 11" descr="图标&#10;&#10;描述已自动生成">
            <a:extLst>
              <a:ext uri="{FF2B5EF4-FFF2-40B4-BE49-F238E27FC236}">
                <a16:creationId xmlns:a16="http://schemas.microsoft.com/office/drawing/2014/main" id="{E472E4F5-DACD-4990-5017-055658007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210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综合题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3FC4F-E981-4525-B454-EE4E09175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37156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练习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：构造一个最简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DFA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，它接受∑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a,b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上每个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都有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跟在其右边的字符串。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zh-C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首先根据题意写出正规式：</a:t>
            </a: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000" b="1" dirty="0" err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a|ba</a:t>
            </a:r>
            <a:r>
              <a:rPr lang="en-US" altLang="zh-CN" sz="3000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)*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接着可以按照正规式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NFA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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DFA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 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化简的常规方法做，也可以手工构造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DFA/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最简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DFA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如果一开始画的就是最简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DFA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，则需要用化简过程证明得到的确实是最简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DFA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。（需要先添加死状态，化简后再去掉死状态。）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92FA9-8BE1-BFE6-1C97-9EEA3BF2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1059-779B-4B6B-8575-7FA30E8E45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4F2298-07B0-64C6-9D94-0601AEA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C65FDB2-3D24-C459-0430-FED7593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12" name="图片 11" descr="图标&#10;&#10;描述已自动生成">
            <a:extLst>
              <a:ext uri="{FF2B5EF4-FFF2-40B4-BE49-F238E27FC236}">
                <a16:creationId xmlns:a16="http://schemas.microsoft.com/office/drawing/2014/main" id="{E472E4F5-DACD-4990-5017-0556580073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C4052985-2928-C6B9-FB28-02E1081C40DD}"/>
              </a:ext>
            </a:extLst>
          </p:cNvPr>
          <p:cNvSpPr txBox="1"/>
          <p:nvPr/>
        </p:nvSpPr>
        <p:spPr>
          <a:xfrm>
            <a:off x="567821" y="2437565"/>
            <a:ext cx="8008357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</a:rPr>
              <a:t>本题为开发过程中的实际工程问题：如何自动识别特定规则的字符串。为简化解题过程，用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</a:rPr>
              <a:t>、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b</a:t>
            </a: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</a:rPr>
              <a:t>来代表这些规则。</a:t>
            </a:r>
          </a:p>
        </p:txBody>
      </p:sp>
    </p:spTree>
    <p:extLst>
      <p:ext uri="{BB962C8B-B14F-4D97-AF65-F5344CB8AC3E}">
        <p14:creationId xmlns:p14="http://schemas.microsoft.com/office/powerpoint/2010/main" val="242192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C361EB3-5A0E-665A-E92B-1FA53B23A3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05563" y="705702"/>
            <a:ext cx="5636497" cy="255698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综合题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B1D92DF-82BA-4F98-3AD1-AF51737E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Thompson</a:t>
            </a:r>
            <a:r>
              <a:rPr lang="zh-CN" altLang="en-US" dirty="0"/>
              <a:t>法画出</a:t>
            </a:r>
            <a:r>
              <a:rPr lang="en-US" altLang="zh-CN" dirty="0"/>
              <a:t>NFA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子集构造法得出</a:t>
            </a:r>
            <a:r>
              <a:rPr lang="en-US" altLang="zh-CN" dirty="0"/>
              <a:t>DFA:</a:t>
            </a:r>
          </a:p>
          <a:p>
            <a:pPr marL="0" indent="0">
              <a:buNone/>
            </a:pPr>
            <a:r>
              <a:rPr lang="en-US" altLang="zh-CN" sz="2400" dirty="0"/>
              <a:t>A={0,1,2,4,8},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A,a</a:t>
            </a:r>
            <a:r>
              <a:rPr lang="en-US" altLang="zh-CN" sz="2400" dirty="0"/>
              <a:t>)={3}, B=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-closure({3})={1,2,3,4,7,8}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A,b</a:t>
            </a:r>
            <a:r>
              <a:rPr lang="en-US" altLang="zh-CN" sz="2400" dirty="0"/>
              <a:t>)={5}, C=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-closure({5})={5}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B,a</a:t>
            </a:r>
            <a:r>
              <a:rPr lang="en-US" altLang="zh-CN" sz="2400" dirty="0"/>
              <a:t>)={3}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B,b</a:t>
            </a:r>
            <a:r>
              <a:rPr lang="en-US" altLang="zh-CN" sz="2400" dirty="0"/>
              <a:t>)={5}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92FA9-8BE1-BFE6-1C97-9EEA3BF2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1059-779B-4B6B-8575-7FA30E8E45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4F2298-07B0-64C6-9D94-0601AEA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C65FDB2-3D24-C459-0430-FED7593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15</a:t>
            </a:fld>
            <a:endParaRPr lang="zh-CN" altLang="en-US"/>
          </a:p>
        </p:txBody>
      </p:sp>
      <p:graphicFrame>
        <p:nvGraphicFramePr>
          <p:cNvPr id="10" name="Group 29">
            <a:extLst>
              <a:ext uri="{FF2B5EF4-FFF2-40B4-BE49-F238E27FC236}">
                <a16:creationId xmlns:a16="http://schemas.microsoft.com/office/drawing/2014/main" id="{B1BA2938-E10E-8AEB-B4A5-BA2BD000AC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1702998"/>
              </p:ext>
            </p:extLst>
          </p:nvPr>
        </p:nvGraphicFramePr>
        <p:xfrm>
          <a:off x="6623811" y="4087966"/>
          <a:ext cx="2339909" cy="2614676"/>
        </p:xfrm>
        <a:graphic>
          <a:graphicData uri="http://schemas.openxmlformats.org/drawingml/2006/table">
            <a:tbl>
              <a:tblPr/>
              <a:tblGrid>
                <a:gridCol w="79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33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86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247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C361EB3-5A0E-665A-E92B-1FA53B23A3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8089" y="1423313"/>
            <a:ext cx="5636497" cy="255698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综合题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B1D92DF-82BA-4F98-3AD1-AF51737E4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C,a</a:t>
            </a:r>
            <a:r>
              <a:rPr lang="en-US" altLang="zh-CN" sz="2400" dirty="0"/>
              <a:t>)={6}, D=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-closure({6})=</a:t>
            </a:r>
            <a:r>
              <a:rPr lang="en-US" altLang="zh-CN" sz="2400" dirty="0"/>
              <a:t>{1,2,4,6,7,8}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C,b</a:t>
            </a:r>
            <a:r>
              <a:rPr lang="en-US" altLang="zh-CN" sz="2400" dirty="0"/>
              <a:t>)=∅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D,a</a:t>
            </a:r>
            <a:r>
              <a:rPr lang="en-US" altLang="zh-CN" sz="2400" dirty="0"/>
              <a:t>)={3}</a:t>
            </a:r>
          </a:p>
          <a:p>
            <a:pPr marL="0" indent="0">
              <a:buNone/>
            </a:pPr>
            <a:r>
              <a:rPr lang="en-US" altLang="zh-CN" sz="2400" dirty="0"/>
              <a:t>move(</a:t>
            </a:r>
            <a:r>
              <a:rPr lang="en-US" altLang="zh-CN" sz="2400" dirty="0" err="1"/>
              <a:t>D,b</a:t>
            </a:r>
            <a:r>
              <a:rPr lang="en-US" altLang="zh-CN" sz="2400" dirty="0"/>
              <a:t>)={5}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DFA</a:t>
            </a:r>
            <a:r>
              <a:rPr lang="zh-CN" altLang="en-US" sz="2400" dirty="0"/>
              <a:t>转换表中：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A</a:t>
            </a:r>
            <a:r>
              <a:rPr lang="zh-CN" altLang="en-US" sz="2400" dirty="0"/>
              <a:t>是开始状态，</a:t>
            </a:r>
            <a:r>
              <a:rPr lang="en-US" altLang="zh-CN" sz="2400" dirty="0"/>
              <a:t>ABD</a:t>
            </a:r>
            <a:r>
              <a:rPr lang="zh-CN" altLang="en-US" sz="2400" dirty="0"/>
              <a:t>是接受状态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92FA9-8BE1-BFE6-1C97-9EEA3BF2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1059-779B-4B6B-8575-7FA30E8E45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4F2298-07B0-64C6-9D94-0601AEA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C65FDB2-3D24-C459-0430-FED7593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16</a:t>
            </a:fld>
            <a:endParaRPr lang="zh-CN" altLang="en-US"/>
          </a:p>
        </p:txBody>
      </p:sp>
      <p:graphicFrame>
        <p:nvGraphicFramePr>
          <p:cNvPr id="4" name="Group 29">
            <a:extLst>
              <a:ext uri="{FF2B5EF4-FFF2-40B4-BE49-F238E27FC236}">
                <a16:creationId xmlns:a16="http://schemas.microsoft.com/office/drawing/2014/main" id="{E6ECC3F1-7FFB-DE0C-F72E-FC49F3A4F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3072169"/>
              </p:ext>
            </p:extLst>
          </p:nvPr>
        </p:nvGraphicFramePr>
        <p:xfrm>
          <a:off x="6623811" y="4087966"/>
          <a:ext cx="2339909" cy="2614676"/>
        </p:xfrm>
        <a:graphic>
          <a:graphicData uri="http://schemas.openxmlformats.org/drawingml/2006/table">
            <a:tbl>
              <a:tblPr/>
              <a:tblGrid>
                <a:gridCol w="79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33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86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56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1D34-A3C6-4D62-9B25-6E983DA19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综合题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B1D92DF-82BA-4F98-3AD1-AF51737E4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7300"/>
            <a:ext cx="7886700" cy="55899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DFA</a:t>
            </a:r>
            <a:r>
              <a:rPr lang="zh-CN" altLang="en-US" dirty="0"/>
              <a:t>化简：添加死状态变为全函数：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l-GR" altLang="zh-CN" sz="2400" dirty="0"/>
              <a:t>Π</a:t>
            </a:r>
            <a:r>
              <a:rPr lang="en-US" altLang="zh-CN" sz="2400" dirty="0"/>
              <a:t>1={{A,B,D},{C,E}}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Move({A,B,D},a)={B}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Move({A,B,D},b)={C}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Move({C,E},a) = {D, E}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（</a:t>
            </a:r>
            <a:r>
              <a:rPr lang="en-US" altLang="zh-CN" sz="2400" dirty="0"/>
              <a:t>D,E</a:t>
            </a:r>
            <a:r>
              <a:rPr lang="zh-CN" altLang="en-US" sz="2400" dirty="0"/>
              <a:t>属于</a:t>
            </a:r>
            <a:r>
              <a:rPr lang="el-GR" altLang="zh-CN" sz="2400" dirty="0"/>
              <a:t>Π</a:t>
            </a:r>
            <a:r>
              <a:rPr lang="en-US" altLang="zh-CN" sz="2400" dirty="0"/>
              <a:t>1</a:t>
            </a:r>
            <a:r>
              <a:rPr lang="zh-CN" altLang="en-US" sz="2400" dirty="0"/>
              <a:t>的不同集合，</a:t>
            </a:r>
            <a:r>
              <a:rPr lang="en-US" altLang="zh-CN" sz="2400" dirty="0"/>
              <a:t>C,E</a:t>
            </a:r>
            <a:r>
              <a:rPr lang="zh-CN" altLang="en-US" sz="2400" dirty="0"/>
              <a:t>可划分开）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Move({C,E},b)={E}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endParaRPr lang="zh-CN" altLang="en-US" sz="24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192FA9-8BE1-BFE6-1C97-9EEA3BF2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51059-779B-4B6B-8575-7FA30E8E45BF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624F2298-07B0-64C6-9D94-0601AEA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C65FDB2-3D24-C459-0430-FED75938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17</a:t>
            </a:fld>
            <a:endParaRPr lang="zh-CN" altLang="en-US"/>
          </a:p>
        </p:txBody>
      </p:sp>
      <p:graphicFrame>
        <p:nvGraphicFramePr>
          <p:cNvPr id="3" name="Group 29">
            <a:extLst>
              <a:ext uri="{FF2B5EF4-FFF2-40B4-BE49-F238E27FC236}">
                <a16:creationId xmlns:a16="http://schemas.microsoft.com/office/drawing/2014/main" id="{416DFD75-6048-288E-1E3B-78785ACB26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97067"/>
              </p:ext>
            </p:extLst>
          </p:nvPr>
        </p:nvGraphicFramePr>
        <p:xfrm>
          <a:off x="6438098" y="2140407"/>
          <a:ext cx="2339909" cy="3056657"/>
        </p:xfrm>
        <a:graphic>
          <a:graphicData uri="http://schemas.openxmlformats.org/drawingml/2006/table">
            <a:tbl>
              <a:tblPr/>
              <a:tblGrid>
                <a:gridCol w="79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33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3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D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864074"/>
                  </a:ext>
                </a:extLst>
              </a:tr>
              <a:tr h="3960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E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8333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C330D43-5D01-CF03-6F3E-C46A595F5BAE}"/>
              </a:ext>
            </a:extLst>
          </p:cNvPr>
          <p:cNvSpPr txBox="1"/>
          <p:nvPr/>
        </p:nvSpPr>
        <p:spPr>
          <a:xfrm>
            <a:off x="5743899" y="5377669"/>
            <a:ext cx="3369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sz="1800" dirty="0"/>
              <a:t>A</a:t>
            </a:r>
            <a:r>
              <a:rPr lang="zh-CN" altLang="en-US" sz="1800" dirty="0"/>
              <a:t>是开始状态，</a:t>
            </a:r>
            <a:r>
              <a:rPr lang="en-US" altLang="zh-CN" sz="1800" dirty="0"/>
              <a:t>ABD</a:t>
            </a:r>
            <a:r>
              <a:rPr lang="zh-CN" altLang="en-US" sz="1800" dirty="0"/>
              <a:t>是接受状态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118310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F60573C-B548-284C-439D-68CA844BB16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11722" y="4000896"/>
            <a:ext cx="4978128" cy="246913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CD479D6-3D02-BA51-C4E6-584292640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巩固练习</a:t>
            </a:r>
            <a:r>
              <a:rPr lang="en-US" altLang="zh-CN" dirty="0"/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综合题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BFB70D-EBE6-95A6-28F4-6448A21E8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l-GR" altLang="zh-CN" sz="2400" dirty="0"/>
              <a:t>Π</a:t>
            </a:r>
            <a:r>
              <a:rPr lang="en-US" altLang="zh-CN" sz="2400" dirty="0"/>
              <a:t>2</a:t>
            </a:r>
            <a:r>
              <a:rPr lang="el-GR" altLang="zh-CN" sz="2400" dirty="0"/>
              <a:t>=</a:t>
            </a:r>
            <a:r>
              <a:rPr lang="en-US" altLang="zh-CN" sz="2400" dirty="0"/>
              <a:t>{</a:t>
            </a:r>
            <a:r>
              <a:rPr lang="el-GR" altLang="zh-CN" sz="2400" dirty="0"/>
              <a:t>{</a:t>
            </a:r>
            <a:r>
              <a:rPr lang="en-US" altLang="zh-CN" sz="2400" dirty="0"/>
              <a:t>A,B,D},{C},{E}}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Move({A,B,D},a)={B}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/>
              <a:t>Move({A,B,D},b)={C}</a:t>
            </a:r>
          </a:p>
          <a:p>
            <a:pPr marL="0" indent="0">
              <a:buNone/>
            </a:pPr>
            <a:r>
              <a:rPr lang="el-GR" altLang="zh-CN" sz="2400" dirty="0"/>
              <a:t>Π</a:t>
            </a:r>
            <a:r>
              <a:rPr lang="en-US" altLang="zh-CN" sz="2400" dirty="0"/>
              <a:t>3=</a:t>
            </a:r>
            <a:r>
              <a:rPr lang="el-GR" altLang="zh-CN" sz="2400" dirty="0"/>
              <a:t> Π</a:t>
            </a:r>
            <a:r>
              <a:rPr lang="en-US" altLang="zh-CN" sz="2400" dirty="0"/>
              <a:t>2, </a:t>
            </a:r>
            <a:r>
              <a:rPr lang="zh-CN" altLang="en-US" sz="2400" dirty="0"/>
              <a:t>化简完成，去掉死状态，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新转换表为：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406A4-0EBB-4AF4-8C9D-D4D717D3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2470-5A61-4767-A56E-0B3E28AC65A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F8454-3FA6-45AA-109B-84B8674A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E3E42-4C32-580B-4F79-1BEAA3357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18</a:t>
            </a:fld>
            <a:endParaRPr lang="zh-CN" altLang="en-US"/>
          </a:p>
        </p:txBody>
      </p:sp>
      <p:graphicFrame>
        <p:nvGraphicFramePr>
          <p:cNvPr id="7" name="Group 29">
            <a:extLst>
              <a:ext uri="{FF2B5EF4-FFF2-40B4-BE49-F238E27FC236}">
                <a16:creationId xmlns:a16="http://schemas.microsoft.com/office/drawing/2014/main" id="{737E0DA6-A7DB-1E31-59CE-4BC44081A7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251738"/>
              </p:ext>
            </p:extLst>
          </p:nvPr>
        </p:nvGraphicFramePr>
        <p:xfrm>
          <a:off x="1062000" y="4020471"/>
          <a:ext cx="3107562" cy="2231523"/>
        </p:xfrm>
        <a:graphic>
          <a:graphicData uri="http://schemas.openxmlformats.org/drawingml/2006/table">
            <a:tbl>
              <a:tblPr/>
              <a:tblGrid>
                <a:gridCol w="105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9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73807" marR="73807" marT="36904" marB="3690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73807" marR="73807" marT="36904" marB="369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5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43587" marR="43587" marT="23253" marB="232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43587" marR="43587" marT="23253" marB="2325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1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61523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61523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61523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61523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61523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</a:t>
                      </a:r>
                    </a:p>
                  </a:txBody>
                  <a:tcPr marL="0" marR="0" marT="61523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B21D753-E443-766D-DA8F-97E515BBA683}"/>
              </a:ext>
            </a:extLst>
          </p:cNvPr>
          <p:cNvSpPr txBox="1"/>
          <p:nvPr/>
        </p:nvSpPr>
        <p:spPr>
          <a:xfrm>
            <a:off x="5144171" y="3497251"/>
            <a:ext cx="3737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dirty="0"/>
              <a:t>最简</a:t>
            </a:r>
            <a:r>
              <a:rPr lang="en-US" altLang="zh-CN" sz="2400" dirty="0"/>
              <a:t>DFA</a:t>
            </a:r>
            <a:r>
              <a:rPr lang="zh-CN" altLang="zh-CN" sz="2400" dirty="0"/>
              <a:t>状态转换图：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186ECE-F4F2-F62B-38F7-E9CBB718598D}"/>
              </a:ext>
            </a:extLst>
          </p:cNvPr>
          <p:cNvSpPr txBox="1"/>
          <p:nvPr/>
        </p:nvSpPr>
        <p:spPr>
          <a:xfrm>
            <a:off x="4818558" y="1059195"/>
            <a:ext cx="416445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想一想：如何直接手工构造最简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DFA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？提示：把状态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的含义解释为“读到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zh-CN" altLang="en-US" sz="2400" dirty="0">
                <a:solidFill>
                  <a:schemeClr val="accent2">
                    <a:lumMod val="75000"/>
                  </a:schemeClr>
                </a:solidFill>
              </a:rPr>
              <a:t>或还未读任何字符”</a:t>
            </a:r>
          </a:p>
        </p:txBody>
      </p:sp>
    </p:spTree>
    <p:extLst>
      <p:ext uri="{BB962C8B-B14F-4D97-AF65-F5344CB8AC3E}">
        <p14:creationId xmlns:p14="http://schemas.microsoft.com/office/powerpoint/2010/main" val="308956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6246983-A412-8156-7FCD-5CDCE0A0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作业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224949E5-2959-3258-8FEB-E9130AF0A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E45873-EC55-044E-200C-124CD483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A2470-5A61-4767-A56E-0B3E28AC65A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A5AB4-65D8-D512-2516-A0A07A1C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320A79-AA9A-4CC9-1E1E-1B7A1176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134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55F782B-E6EB-42BD-9567-A0697E7C4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6547" name="Rectangle 3">
            <a:extLst>
              <a:ext uri="{FF2B5EF4-FFF2-40B4-BE49-F238E27FC236}">
                <a16:creationId xmlns:a16="http://schemas.microsoft.com/office/drawing/2014/main" id="{F9F251B1-C2E1-4738-8AB2-43FB11B21F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C00000"/>
                </a:solidFill>
              </a:rPr>
              <a:t>作业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P38/2.3(a)</a:t>
            </a:r>
            <a:r>
              <a:rPr lang="zh-CN" altLang="en-US" dirty="0">
                <a:solidFill>
                  <a:srgbClr val="C00000"/>
                </a:solidFill>
              </a:rPr>
              <a:t>）：叙述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0(0|1)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的描述语言</a:t>
            </a:r>
          </a:p>
          <a:p>
            <a:pPr lvl="1" eaLnBrk="1" hangingPunct="1"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答案：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开始，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结尾的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串，串长大于等于</a:t>
            </a:r>
            <a:r>
              <a:rPr lang="en-US" altLang="zh-CN" b="1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anose="02020603050405020304" pitchFamily="18" charset="0"/>
              </a:rPr>
              <a:t>（</a:t>
            </a:r>
            <a:r>
              <a:rPr lang="zh-CN" altLang="en-US" dirty="0"/>
              <a:t>别忘了串长大于等于</a:t>
            </a:r>
            <a:r>
              <a:rPr lang="en-US" altLang="zh-CN" dirty="0"/>
              <a:t>2</a:t>
            </a:r>
            <a:r>
              <a:rPr lang="zh-CN" altLang="en-US" dirty="0"/>
              <a:t>，因为只有</a:t>
            </a:r>
            <a:r>
              <a:rPr lang="en-US" altLang="zh-CN" dirty="0"/>
              <a:t>1</a:t>
            </a:r>
            <a:r>
              <a:rPr lang="zh-CN" altLang="en-US" dirty="0"/>
              <a:t>个</a:t>
            </a:r>
            <a:r>
              <a:rPr lang="en-US" altLang="zh-CN" dirty="0"/>
              <a:t>0</a:t>
            </a:r>
            <a:r>
              <a:rPr lang="zh-CN" altLang="en-US" dirty="0"/>
              <a:t>也可以说是</a:t>
            </a:r>
            <a:r>
              <a:rPr lang="en-US" altLang="zh-CN" dirty="0"/>
              <a:t>0</a:t>
            </a:r>
            <a:r>
              <a:rPr lang="zh-CN" altLang="en-US" dirty="0"/>
              <a:t>开头</a:t>
            </a:r>
            <a:r>
              <a:rPr lang="en-US" altLang="zh-CN" dirty="0"/>
              <a:t>0</a:t>
            </a:r>
            <a:r>
              <a:rPr lang="zh-CN" altLang="en-US" dirty="0"/>
              <a:t>结尾。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</a:p>
          <a:p>
            <a:pPr eaLnBrk="1" hangingPunct="1">
              <a:defRPr/>
            </a:pP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B9FF64-5AAB-64C8-67BA-085195A0D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6412E-10FD-4CD3-B412-853D93EC5638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F621E9-D9A4-2CE0-4EAF-6752B4C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4C4BE-6E81-03CD-504A-2194BFEB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47FB3DD-07D4-4C8A-829C-AF58E89064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1427" name="Rectangle 3">
            <a:extLst>
              <a:ext uri="{FF2B5EF4-FFF2-40B4-BE49-F238E27FC236}">
                <a16:creationId xmlns:a16="http://schemas.microsoft.com/office/drawing/2014/main" id="{8D114940-F39D-45A2-976B-D0B6A8DF4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作业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P38/2.3(b)</a:t>
            </a:r>
            <a:r>
              <a:rPr lang="zh-CN" altLang="en-US" dirty="0">
                <a:solidFill>
                  <a:srgbClr val="C00000"/>
                </a:solidFill>
              </a:rPr>
              <a:t>）：叙述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|0)1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的描述语言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思路：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|0)1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描述的语言为集合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            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,1,11,111,…,0,01,011,0111,…}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其中含有</a:t>
            </a:r>
            <a:r>
              <a:rPr lang="en-US" altLang="zh-CN" b="1" dirty="0">
                <a:latin typeface="Times New Roman" panose="02020603050405020304" pitchFamily="18" charset="0"/>
              </a:rPr>
              <a:t>0,1</a:t>
            </a:r>
            <a:r>
              <a:rPr lang="zh-CN" altLang="en-US" dirty="0">
                <a:latin typeface="Times New Roman" panose="02020603050405020304" pitchFamily="18" charset="0"/>
              </a:rPr>
              <a:t>两个串。因此，</a:t>
            </a:r>
            <a:r>
              <a:rPr lang="en-US" altLang="zh-CN" b="1" dirty="0">
                <a:latin typeface="Times New Roman" panose="02020603050405020304" pitchFamily="18" charset="0"/>
              </a:rPr>
              <a:t>(0|1)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描述的语言是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|0)1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描述语言的子集。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en-US" altLang="zh-CN" b="1" dirty="0">
                <a:latin typeface="Times New Roman" panose="02020603050405020304" pitchFamily="18" charset="0"/>
              </a:rPr>
              <a:t>(0|1)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描述所有的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串，因此</a:t>
            </a:r>
            <a:r>
              <a:rPr lang="en-US" altLang="zh-CN" b="1" dirty="0">
                <a:latin typeface="Times New Roman" panose="02020603050405020304" pitchFamily="18" charset="0"/>
              </a:rPr>
              <a:t>((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latin typeface="Times New Roman" panose="02020603050405020304" pitchFamily="18" charset="0"/>
              </a:rPr>
              <a:t>|0)1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latin typeface="Times New Roman" panose="02020603050405020304" pitchFamily="18" charset="0"/>
              </a:rPr>
              <a:t>描述的语言不可能更多，只能是所有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串。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结论：字母表</a:t>
            </a:r>
            <a:r>
              <a:rPr lang="en-US" altLang="zh-CN" b="1" dirty="0">
                <a:latin typeface="Times New Roman" panose="02020603050405020304" pitchFamily="18" charset="0"/>
              </a:rPr>
              <a:t>{0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1}</a:t>
            </a:r>
            <a:r>
              <a:rPr lang="zh-CN" altLang="en-US" dirty="0">
                <a:latin typeface="Times New Roman" panose="02020603050405020304" pitchFamily="18" charset="0"/>
              </a:rPr>
              <a:t>上所有串的集合（包括空串）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CA3CF5-4AC1-F688-2151-3CB53176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AC5A5-8351-4F22-8464-0406B6C457EB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46133C-F192-0831-69F7-87C8B718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5064B-B614-6E1F-4BFD-D53C79B8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75F3FEC-71B3-4803-8358-F4E47D8E8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E2770DF-DC5C-40BB-A6C0-B2FD318021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作业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P38/2.3(c)</a:t>
            </a:r>
            <a:r>
              <a:rPr lang="zh-CN" altLang="en-US" dirty="0">
                <a:solidFill>
                  <a:srgbClr val="C00000"/>
                </a:solidFill>
              </a:rPr>
              <a:t>）：叙述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(0|1)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0(0|1)(0|1)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的描述语言。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思路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(0|1)</a:t>
            </a:r>
            <a:r>
              <a:rPr lang="en-US" altLang="zh-CN" b="1" baseline="30000" dirty="0"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表示任意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串， </a:t>
            </a:r>
            <a:r>
              <a:rPr lang="en-US" altLang="zh-CN" b="1" dirty="0">
                <a:latin typeface="Times New Roman" panose="02020603050405020304" pitchFamily="18" charset="0"/>
              </a:rPr>
              <a:t>0(0|1)(0|1)</a:t>
            </a:r>
            <a:r>
              <a:rPr lang="zh-CN" altLang="en-US" dirty="0">
                <a:latin typeface="Times New Roman" panose="02020603050405020304" pitchFamily="18" charset="0"/>
              </a:rPr>
              <a:t>表示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最后三位可以是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000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001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010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011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，总之，倒数第三位一定是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结论：以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000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001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010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011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结尾的任意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串。（或倒数第三位是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的任意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  <a:sym typeface="Wingdings" panose="05000000000000000000" pitchFamily="2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串）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  <a:sym typeface="Wingdings" panose="05000000000000000000" pitchFamily="2" charset="2"/>
              </a:rPr>
              <a:t>  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注意：串的长度一定大于或等于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2F9A68-3FFE-9E4E-C287-EDCE43D9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E8015-4064-4B9E-B230-F52E875BD366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F808DB-C242-C650-2A52-32748C6EE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7E2B80-0620-84A3-961D-1E51BA72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22</a:t>
            </a:fld>
            <a:endParaRPr lang="zh-CN" altLang="en-US"/>
          </a:p>
        </p:txBody>
      </p:sp>
      <p:pic>
        <p:nvPicPr>
          <p:cNvPr id="5" name="图片 4" descr="图标&#10;&#10;描述已自动生成">
            <a:extLst>
              <a:ext uri="{FF2B5EF4-FFF2-40B4-BE49-F238E27FC236}">
                <a16:creationId xmlns:a16="http://schemas.microsoft.com/office/drawing/2014/main" id="{610490D2-11BF-281B-E6D2-5F9A6FA94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0052356-FAA8-401A-AE2D-AE7A84B8A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3475" name="Rectangle 3">
            <a:extLst>
              <a:ext uri="{FF2B5EF4-FFF2-40B4-BE49-F238E27FC236}">
                <a16:creationId xmlns:a16="http://schemas.microsoft.com/office/drawing/2014/main" id="{CC45639B-4CF3-40DE-9A53-1EBD2CD698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</a:rPr>
              <a:t>作业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P38/2.3(d)</a:t>
            </a:r>
            <a:r>
              <a:rPr lang="zh-CN" altLang="en-US" dirty="0">
                <a:solidFill>
                  <a:srgbClr val="C00000"/>
                </a:solidFill>
              </a:rPr>
              <a:t>）：叙述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10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的描述语言。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思路：该串有且只有三个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，三个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的前后或之间可以有任意多个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（包括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</a:rPr>
              <a:t>个）。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结论：含有且只含三个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串。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注意：串的长度大于或者等于</a:t>
            </a:r>
            <a:r>
              <a:rPr lang="en-US" altLang="zh-CN" dirty="0">
                <a:solidFill>
                  <a:schemeClr val="accent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BDE953-BBBA-5364-719C-D2C19CE38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B7BA7-8A12-46C6-8648-90B88B18B34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C43ABE-15D9-7EA8-2D0B-64C48341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9AFA0E-8784-C19E-BBFC-D56C130B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23</a:t>
            </a:fld>
            <a:endParaRPr lang="zh-CN" altLang="en-US"/>
          </a:p>
        </p:txBody>
      </p:sp>
      <p:pic>
        <p:nvPicPr>
          <p:cNvPr id="5" name="图片 4" descr="图标&#10;&#10;描述已自动生成">
            <a:extLst>
              <a:ext uri="{FF2B5EF4-FFF2-40B4-BE49-F238E27FC236}">
                <a16:creationId xmlns:a16="http://schemas.microsoft.com/office/drawing/2014/main" id="{2C0CC1F9-797B-A20F-25E9-01BA02C98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CF01CB6-C7BD-4C08-BCDC-73882FE0B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53D9BF5-E7DB-4D2B-9A80-9AD7103AF6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作业</a:t>
            </a:r>
            <a:r>
              <a:rPr lang="en-US" altLang="zh-CN" dirty="0">
                <a:solidFill>
                  <a:srgbClr val="C00000"/>
                </a:solidFill>
              </a:rPr>
              <a:t>5 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P38/2.3(e)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：叙述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(00|11)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((01|10)(00|11)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(01|10)(00|11)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的描述语言。</a:t>
            </a: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思路：两个一组考虑，该串中所有的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的个数都是偶数。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是否所有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r>
              <a:rPr lang="zh-CN" altLang="en-US" b="1" dirty="0"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个数为偶数的串都可用上述正规式表示？是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en-US" altLang="zh-CN" b="1" dirty="0">
                <a:latin typeface="Times New Roman" panose="02020603050405020304" pitchFamily="18" charset="0"/>
              </a:rPr>
              <a:t>0,1</a:t>
            </a:r>
            <a:r>
              <a:rPr lang="zh-CN" altLang="en-US" dirty="0">
                <a:latin typeface="Times New Roman" panose="02020603050405020304" pitchFamily="18" charset="0"/>
              </a:rPr>
              <a:t>组成且</a:t>
            </a:r>
            <a:r>
              <a:rPr lang="en-US" altLang="zh-CN" b="1" dirty="0">
                <a:latin typeface="Times New Roman" panose="02020603050405020304" pitchFamily="18" charset="0"/>
              </a:rPr>
              <a:t>0,1</a:t>
            </a:r>
            <a:r>
              <a:rPr lang="zh-CN" altLang="en-US" dirty="0">
                <a:latin typeface="Times New Roman" panose="02020603050405020304" pitchFamily="18" charset="0"/>
              </a:rPr>
              <a:t>个数都为偶数的所有串。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更简单的表示？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</a:rPr>
              <a:t>(00 | 11| ((01|10) (00|11)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  <a:r>
              <a:rPr lang="en-US" altLang="zh-CN" b="1" dirty="0">
                <a:latin typeface="Times New Roman" panose="02020603050405020304" pitchFamily="18" charset="0"/>
              </a:rPr>
              <a:t>(01 | 10)) 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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68BE4A-AFDD-6CB9-2936-7A2B6F38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C742-1A16-48AD-93F7-9C3FB178E526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C13505-2885-0304-8709-D94CD3E1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625ECD-C47D-6669-C675-35629A8D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445AFE3-4834-46FF-B91F-A397C580F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F01AEE46-2EAE-4C56-A1AE-9FC031BFFF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6 (P39/2.7(c))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： 构造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|</a:t>
            </a:r>
            <a:r>
              <a:rPr lang="en-US" altLang="zh-CN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baseline="30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，并给出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的状态转换序列。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D303CBC-5229-4C12-AD57-BAD1925E0A4C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581400"/>
            <a:ext cx="1752600" cy="838200"/>
            <a:chOff x="1536" y="2256"/>
            <a:chExt cx="1104" cy="528"/>
          </a:xfrm>
        </p:grpSpPr>
        <p:sp>
          <p:nvSpPr>
            <p:cNvPr id="29756" name="Oval 5">
              <a:extLst>
                <a:ext uri="{FF2B5EF4-FFF2-40B4-BE49-F238E27FC236}">
                  <a16:creationId xmlns:a16="http://schemas.microsoft.com/office/drawing/2014/main" id="{CDAADE85-5CED-4F15-B05F-A82CEA1BA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00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29757" name="Oval 6">
              <a:extLst>
                <a:ext uri="{FF2B5EF4-FFF2-40B4-BE49-F238E27FC236}">
                  <a16:creationId xmlns:a16="http://schemas.microsoft.com/office/drawing/2014/main" id="{51D7CA47-5C0A-4D89-AA00-00C65B717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00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29758" name="AutoShape 7">
              <a:extLst>
                <a:ext uri="{FF2B5EF4-FFF2-40B4-BE49-F238E27FC236}">
                  <a16:creationId xmlns:a16="http://schemas.microsoft.com/office/drawing/2014/main" id="{7662765C-14DF-4000-A565-F8F6A8AD8A51}"/>
                </a:ext>
              </a:extLst>
            </p:cNvPr>
            <p:cNvCxnSpPr>
              <a:cxnSpLocks noChangeShapeType="1"/>
              <a:stCxn id="29756" idx="6"/>
              <a:endCxn id="29757" idx="2"/>
            </p:cNvCxnSpPr>
            <p:nvPr/>
          </p:nvCxnSpPr>
          <p:spPr bwMode="auto">
            <a:xfrm>
              <a:off x="1928" y="2592"/>
              <a:ext cx="320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9" name="Text Box 8">
              <a:extLst>
                <a:ext uri="{FF2B5EF4-FFF2-40B4-BE49-F238E27FC236}">
                  <a16:creationId xmlns:a16="http://schemas.microsoft.com/office/drawing/2014/main" id="{DF2DE05B-5EA9-4DF7-8D29-4F89C0A39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56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61D957E5-134D-4781-8DB5-EDAC9AF3EA7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606925"/>
            <a:ext cx="1752600" cy="803275"/>
            <a:chOff x="1536" y="2902"/>
            <a:chExt cx="1104" cy="506"/>
          </a:xfrm>
        </p:grpSpPr>
        <p:sp>
          <p:nvSpPr>
            <p:cNvPr id="29752" name="Oval 10">
              <a:extLst>
                <a:ext uri="{FF2B5EF4-FFF2-40B4-BE49-F238E27FC236}">
                  <a16:creationId xmlns:a16="http://schemas.microsoft.com/office/drawing/2014/main" id="{C6377AB9-3142-49E1-B34E-BA417A685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02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9753" name="Oval 11">
              <a:extLst>
                <a:ext uri="{FF2B5EF4-FFF2-40B4-BE49-F238E27FC236}">
                  <a16:creationId xmlns:a16="http://schemas.microsoft.com/office/drawing/2014/main" id="{4A989B26-C22F-4EFE-82E8-6D468579C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02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29754" name="AutoShape 12">
              <a:extLst>
                <a:ext uri="{FF2B5EF4-FFF2-40B4-BE49-F238E27FC236}">
                  <a16:creationId xmlns:a16="http://schemas.microsoft.com/office/drawing/2014/main" id="{5DDA0BE5-EF10-467A-987E-7553B6F82A60}"/>
                </a:ext>
              </a:extLst>
            </p:cNvPr>
            <p:cNvCxnSpPr>
              <a:cxnSpLocks noChangeShapeType="1"/>
              <a:stCxn id="29752" idx="6"/>
              <a:endCxn id="29753" idx="2"/>
            </p:cNvCxnSpPr>
            <p:nvPr/>
          </p:nvCxnSpPr>
          <p:spPr bwMode="auto">
            <a:xfrm>
              <a:off x="1928" y="3216"/>
              <a:ext cx="320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5" name="Text Box 13">
              <a:extLst>
                <a:ext uri="{FF2B5EF4-FFF2-40B4-BE49-F238E27FC236}">
                  <a16:creationId xmlns:a16="http://schemas.microsoft.com/office/drawing/2014/main" id="{B07BA4CD-7F76-483F-B64C-A7140EB0D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902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C6DA1CDC-CC62-46B4-B95A-65FADECDE46C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844925"/>
            <a:ext cx="1066800" cy="1336675"/>
            <a:chOff x="960" y="2422"/>
            <a:chExt cx="672" cy="842"/>
          </a:xfrm>
        </p:grpSpPr>
        <p:sp>
          <p:nvSpPr>
            <p:cNvPr id="29747" name="Oval 15">
              <a:extLst>
                <a:ext uri="{FF2B5EF4-FFF2-40B4-BE49-F238E27FC236}">
                  <a16:creationId xmlns:a16="http://schemas.microsoft.com/office/drawing/2014/main" id="{7502395F-2769-43D9-AC2B-0A2FB7D21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9748" name="AutoShape 16">
              <a:extLst>
                <a:ext uri="{FF2B5EF4-FFF2-40B4-BE49-F238E27FC236}">
                  <a16:creationId xmlns:a16="http://schemas.microsoft.com/office/drawing/2014/main" id="{FCE382E7-FE5A-4457-A39C-EC34E1542DD4}"/>
                </a:ext>
              </a:extLst>
            </p:cNvPr>
            <p:cNvCxnSpPr>
              <a:cxnSpLocks noChangeShapeType="1"/>
              <a:stCxn id="29747" idx="7"/>
              <a:endCxn id="29756" idx="2"/>
            </p:cNvCxnSpPr>
            <p:nvPr/>
          </p:nvCxnSpPr>
          <p:spPr bwMode="auto">
            <a:xfrm flipV="1">
              <a:off x="1288" y="2592"/>
              <a:ext cx="240" cy="144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AutoShape 17">
              <a:extLst>
                <a:ext uri="{FF2B5EF4-FFF2-40B4-BE49-F238E27FC236}">
                  <a16:creationId xmlns:a16="http://schemas.microsoft.com/office/drawing/2014/main" id="{31DCAE69-0A38-44B5-9B15-8B0C783B3EF1}"/>
                </a:ext>
              </a:extLst>
            </p:cNvPr>
            <p:cNvCxnSpPr>
              <a:cxnSpLocks noChangeShapeType="1"/>
              <a:stCxn id="29747" idx="5"/>
              <a:endCxn id="29752" idx="2"/>
            </p:cNvCxnSpPr>
            <p:nvPr/>
          </p:nvCxnSpPr>
          <p:spPr bwMode="auto">
            <a:xfrm>
              <a:off x="1288" y="3024"/>
              <a:ext cx="240" cy="192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50" name="Text Box 18">
              <a:extLst>
                <a:ext uri="{FF2B5EF4-FFF2-40B4-BE49-F238E27FC236}">
                  <a16:creationId xmlns:a16="http://schemas.microsoft.com/office/drawing/2014/main" id="{448AC803-D062-4331-AAB3-3DDBB9D1A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422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9751" name="Text Box 19">
              <a:extLst>
                <a:ext uri="{FF2B5EF4-FFF2-40B4-BE49-F238E27FC236}">
                  <a16:creationId xmlns:a16="http://schemas.microsoft.com/office/drawing/2014/main" id="{71BBB863-C102-4892-B3A7-44A73F875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998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5" name="Group 20">
            <a:extLst>
              <a:ext uri="{FF2B5EF4-FFF2-40B4-BE49-F238E27FC236}">
                <a16:creationId xmlns:a16="http://schemas.microsoft.com/office/drawing/2014/main" id="{8A64A61F-3C1F-4A4D-B731-A6C2A7EC70C5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3810000"/>
            <a:ext cx="825500" cy="1447800"/>
            <a:chOff x="2648" y="2400"/>
            <a:chExt cx="520" cy="912"/>
          </a:xfrm>
        </p:grpSpPr>
        <p:sp>
          <p:nvSpPr>
            <p:cNvPr id="29742" name="Oval 21">
              <a:extLst>
                <a:ext uri="{FF2B5EF4-FFF2-40B4-BE49-F238E27FC236}">
                  <a16:creationId xmlns:a16="http://schemas.microsoft.com/office/drawing/2014/main" id="{8B1CBB1C-0012-4444-97B0-C7B8AF8CE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cxnSp>
          <p:nvCxnSpPr>
            <p:cNvPr id="29743" name="AutoShape 22">
              <a:extLst>
                <a:ext uri="{FF2B5EF4-FFF2-40B4-BE49-F238E27FC236}">
                  <a16:creationId xmlns:a16="http://schemas.microsoft.com/office/drawing/2014/main" id="{E6234565-2255-4CFB-97E8-DF28040A4657}"/>
                </a:ext>
              </a:extLst>
            </p:cNvPr>
            <p:cNvCxnSpPr>
              <a:cxnSpLocks noChangeShapeType="1"/>
              <a:stCxn id="29757" idx="6"/>
              <a:endCxn id="29742" idx="1"/>
            </p:cNvCxnSpPr>
            <p:nvPr/>
          </p:nvCxnSpPr>
          <p:spPr bwMode="auto">
            <a:xfrm>
              <a:off x="2648" y="2592"/>
              <a:ext cx="192" cy="144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4" name="AutoShape 23">
              <a:extLst>
                <a:ext uri="{FF2B5EF4-FFF2-40B4-BE49-F238E27FC236}">
                  <a16:creationId xmlns:a16="http://schemas.microsoft.com/office/drawing/2014/main" id="{56C9122A-B0CC-4E22-BB1C-CEE79698D10A}"/>
                </a:ext>
              </a:extLst>
            </p:cNvPr>
            <p:cNvCxnSpPr>
              <a:cxnSpLocks noChangeShapeType="1"/>
              <a:stCxn id="29753" idx="6"/>
              <a:endCxn id="29742" idx="3"/>
            </p:cNvCxnSpPr>
            <p:nvPr/>
          </p:nvCxnSpPr>
          <p:spPr bwMode="auto">
            <a:xfrm flipV="1">
              <a:off x="2648" y="3024"/>
              <a:ext cx="192" cy="192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45" name="Text Box 24">
              <a:extLst>
                <a:ext uri="{FF2B5EF4-FFF2-40B4-BE49-F238E27FC236}">
                  <a16:creationId xmlns:a16="http://schemas.microsoft.com/office/drawing/2014/main" id="{9437D64F-9634-4E09-888C-6236D8C8E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400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9746" name="Text Box 25">
              <a:extLst>
                <a:ext uri="{FF2B5EF4-FFF2-40B4-BE49-F238E27FC236}">
                  <a16:creationId xmlns:a16="http://schemas.microsoft.com/office/drawing/2014/main" id="{8C2CF697-B803-41BD-8DC0-D27F89DEC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046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6" name="Group 26">
            <a:extLst>
              <a:ext uri="{FF2B5EF4-FFF2-40B4-BE49-F238E27FC236}">
                <a16:creationId xmlns:a16="http://schemas.microsoft.com/office/drawing/2014/main" id="{FE9D06BB-E153-4636-96FD-F706A3BEE12C}"/>
              </a:ext>
            </a:extLst>
          </p:cNvPr>
          <p:cNvGrpSpPr>
            <a:grpSpLocks/>
          </p:cNvGrpSpPr>
          <p:nvPr/>
        </p:nvGrpSpPr>
        <p:grpSpPr bwMode="auto">
          <a:xfrm>
            <a:off x="4940300" y="3657600"/>
            <a:ext cx="3213100" cy="1828800"/>
            <a:chOff x="3112" y="2304"/>
            <a:chExt cx="2024" cy="1152"/>
          </a:xfrm>
        </p:grpSpPr>
        <p:sp>
          <p:nvSpPr>
            <p:cNvPr id="29731" name="Oval 27">
              <a:extLst>
                <a:ext uri="{FF2B5EF4-FFF2-40B4-BE49-F238E27FC236}">
                  <a16:creationId xmlns:a16="http://schemas.microsoft.com/office/drawing/2014/main" id="{78BD33CD-5B59-41B8-936A-EB6880ED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grpSp>
          <p:nvGrpSpPr>
            <p:cNvPr id="29732" name="Group 28">
              <a:extLst>
                <a:ext uri="{FF2B5EF4-FFF2-40B4-BE49-F238E27FC236}">
                  <a16:creationId xmlns:a16="http://schemas.microsoft.com/office/drawing/2014/main" id="{9C1D93C8-1AC2-48A2-997A-68BCC647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2" y="2304"/>
              <a:ext cx="1832" cy="1152"/>
              <a:chOff x="3112" y="2304"/>
              <a:chExt cx="1832" cy="1152"/>
            </a:xfrm>
          </p:grpSpPr>
          <p:cxnSp>
            <p:nvCxnSpPr>
              <p:cNvPr id="29733" name="AutoShape 29">
                <a:extLst>
                  <a:ext uri="{FF2B5EF4-FFF2-40B4-BE49-F238E27FC236}">
                    <a16:creationId xmlns:a16="http://schemas.microsoft.com/office/drawing/2014/main" id="{D1A9790F-CE5E-4505-8890-5B1E047FD659}"/>
                  </a:ext>
                </a:extLst>
              </p:cNvPr>
              <p:cNvCxnSpPr>
                <a:cxnSpLocks noChangeShapeType="1"/>
                <a:stCxn id="29742" idx="5"/>
                <a:endCxn id="29731" idx="4"/>
              </p:cNvCxnSpPr>
              <p:nvPr/>
            </p:nvCxnSpPr>
            <p:spPr bwMode="auto">
              <a:xfrm rot="16200000" flipH="1">
                <a:off x="4000" y="2136"/>
                <a:ext cx="56" cy="1832"/>
              </a:xfrm>
              <a:prstGeom prst="curvedConnector3">
                <a:avLst>
                  <a:gd name="adj1" fmla="val 342856"/>
                </a:avLst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9734" name="Group 30">
                <a:extLst>
                  <a:ext uri="{FF2B5EF4-FFF2-40B4-BE49-F238E27FC236}">
                    <a16:creationId xmlns:a16="http://schemas.microsoft.com/office/drawing/2014/main" id="{B8DE4C90-3136-4043-9279-3AE009ABF4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6" y="2304"/>
                <a:ext cx="1672" cy="1152"/>
                <a:chOff x="3176" y="2304"/>
                <a:chExt cx="1672" cy="1152"/>
              </a:xfrm>
            </p:grpSpPr>
            <p:cxnSp>
              <p:nvCxnSpPr>
                <p:cNvPr id="29735" name="AutoShape 31">
                  <a:extLst>
                    <a:ext uri="{FF2B5EF4-FFF2-40B4-BE49-F238E27FC236}">
                      <a16:creationId xmlns:a16="http://schemas.microsoft.com/office/drawing/2014/main" id="{4DE077EF-99D4-44EA-8C90-B0D40A43D11E}"/>
                    </a:ext>
                  </a:extLst>
                </p:cNvPr>
                <p:cNvCxnSpPr>
                  <a:cxnSpLocks noChangeShapeType="1"/>
                  <a:stCxn id="29718" idx="6"/>
                  <a:endCxn id="29731" idx="2"/>
                </p:cNvCxnSpPr>
                <p:nvPr/>
              </p:nvCxnSpPr>
              <p:spPr bwMode="auto">
                <a:xfrm>
                  <a:off x="4520" y="2880"/>
                  <a:ext cx="224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736" name="AutoShape 32">
                  <a:extLst>
                    <a:ext uri="{FF2B5EF4-FFF2-40B4-BE49-F238E27FC236}">
                      <a16:creationId xmlns:a16="http://schemas.microsoft.com/office/drawing/2014/main" id="{E0629C3B-3412-4F0E-A9CA-C1F6F3AE7E29}"/>
                    </a:ext>
                  </a:extLst>
                </p:cNvPr>
                <p:cNvCxnSpPr>
                  <a:cxnSpLocks noChangeShapeType="1"/>
                  <a:stCxn id="29742" idx="6"/>
                  <a:endCxn id="29717" idx="2"/>
                </p:cNvCxnSpPr>
                <p:nvPr/>
              </p:nvCxnSpPr>
              <p:spPr bwMode="auto">
                <a:xfrm>
                  <a:off x="3176" y="2880"/>
                  <a:ext cx="272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9737" name="AutoShape 33">
                  <a:extLst>
                    <a:ext uri="{FF2B5EF4-FFF2-40B4-BE49-F238E27FC236}">
                      <a16:creationId xmlns:a16="http://schemas.microsoft.com/office/drawing/2014/main" id="{F5D0832D-74B9-4386-904C-5DA0CDAF6204}"/>
                    </a:ext>
                  </a:extLst>
                </p:cNvPr>
                <p:cNvCxnSpPr>
                  <a:cxnSpLocks noChangeShapeType="1"/>
                  <a:stCxn id="29718" idx="0"/>
                  <a:endCxn id="29717" idx="0"/>
                </p:cNvCxnSpPr>
                <p:nvPr/>
              </p:nvCxnSpPr>
              <p:spPr bwMode="auto">
                <a:xfrm rot="-5400000" flipH="1" flipV="1">
                  <a:off x="3983" y="2345"/>
                  <a:ext cx="1" cy="672"/>
                </a:xfrm>
                <a:prstGeom prst="curvedConnector3">
                  <a:avLst>
                    <a:gd name="adj1" fmla="val -13600005"/>
                  </a:avLst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29738" name="Text Box 34">
                  <a:extLst>
                    <a:ext uri="{FF2B5EF4-FFF2-40B4-BE49-F238E27FC236}">
                      <a16:creationId xmlns:a16="http://schemas.microsoft.com/office/drawing/2014/main" id="{5E81443C-7C43-4C8E-BC17-349C3C8360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8" y="2304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29739" name="Text Box 35">
                  <a:extLst>
                    <a:ext uri="{FF2B5EF4-FFF2-40B4-BE49-F238E27FC236}">
                      <a16:creationId xmlns:a16="http://schemas.microsoft.com/office/drawing/2014/main" id="{67D9DE69-32A4-48EC-B3E0-E4E7CA88FC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0" y="3190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29740" name="Text Box 36">
                  <a:extLst>
                    <a:ext uri="{FF2B5EF4-FFF2-40B4-BE49-F238E27FC236}">
                      <a16:creationId xmlns:a16="http://schemas.microsoft.com/office/drawing/2014/main" id="{1818F108-B960-4CE5-B31E-0C127A20D5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2640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29741" name="Text Box 37">
                  <a:extLst>
                    <a:ext uri="{FF2B5EF4-FFF2-40B4-BE49-F238E27FC236}">
                      <a16:creationId xmlns:a16="http://schemas.microsoft.com/office/drawing/2014/main" id="{DDD6DFE3-B585-4F23-A516-FA0D4C395D2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614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</p:grpSp>
        </p:grpSp>
      </p:grpSp>
      <p:grpSp>
        <p:nvGrpSpPr>
          <p:cNvPr id="9" name="Group 38">
            <a:extLst>
              <a:ext uri="{FF2B5EF4-FFF2-40B4-BE49-F238E27FC236}">
                <a16:creationId xmlns:a16="http://schemas.microsoft.com/office/drawing/2014/main" id="{6C65E6B7-681B-460C-A805-0AC69FA210B7}"/>
              </a:ext>
            </a:extLst>
          </p:cNvPr>
          <p:cNvGrpSpPr>
            <a:grpSpLocks/>
          </p:cNvGrpSpPr>
          <p:nvPr/>
        </p:nvGrpSpPr>
        <p:grpSpPr bwMode="auto">
          <a:xfrm>
            <a:off x="8166100" y="4191000"/>
            <a:ext cx="977900" cy="685800"/>
            <a:chOff x="5144" y="2640"/>
            <a:chExt cx="616" cy="432"/>
          </a:xfrm>
        </p:grpSpPr>
        <p:grpSp>
          <p:nvGrpSpPr>
            <p:cNvPr id="29726" name="Group 39">
              <a:extLst>
                <a:ext uri="{FF2B5EF4-FFF2-40B4-BE49-F238E27FC236}">
                  <a16:creationId xmlns:a16="http://schemas.microsoft.com/office/drawing/2014/main" id="{1655A061-D7E0-4AF1-B78C-BF69774B21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2688"/>
              <a:ext cx="384" cy="384"/>
              <a:chOff x="2160" y="2640"/>
              <a:chExt cx="384" cy="384"/>
            </a:xfrm>
          </p:grpSpPr>
          <p:sp>
            <p:nvSpPr>
              <p:cNvPr id="29729" name="Oval 40">
                <a:extLst>
                  <a:ext uri="{FF2B5EF4-FFF2-40B4-BE49-F238E27FC236}">
                    <a16:creationId xmlns:a16="http://schemas.microsoft.com/office/drawing/2014/main" id="{8189AF15-E265-4A01-BC89-1402A82E7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29730" name="Oval 41">
                <a:extLst>
                  <a:ext uri="{FF2B5EF4-FFF2-40B4-BE49-F238E27FC236}">
                    <a16:creationId xmlns:a16="http://schemas.microsoft.com/office/drawing/2014/main" id="{1B121156-0EDE-46C4-ADE9-17FB85913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9727" name="AutoShape 42">
              <a:extLst>
                <a:ext uri="{FF2B5EF4-FFF2-40B4-BE49-F238E27FC236}">
                  <a16:creationId xmlns:a16="http://schemas.microsoft.com/office/drawing/2014/main" id="{CE341369-49A4-4E96-98D8-D45717B9029B}"/>
                </a:ext>
              </a:extLst>
            </p:cNvPr>
            <p:cNvCxnSpPr>
              <a:cxnSpLocks noChangeShapeType="1"/>
              <a:stCxn id="29731" idx="6"/>
              <a:endCxn id="29730" idx="2"/>
            </p:cNvCxnSpPr>
            <p:nvPr/>
          </p:nvCxnSpPr>
          <p:spPr bwMode="auto">
            <a:xfrm>
              <a:off x="5144" y="2880"/>
              <a:ext cx="22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8" name="Text Box 43">
              <a:extLst>
                <a:ext uri="{FF2B5EF4-FFF2-40B4-BE49-F238E27FC236}">
                  <a16:creationId xmlns:a16="http://schemas.microsoft.com/office/drawing/2014/main" id="{3E1714FF-3E74-4BCD-8D01-0B63FB8FD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640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11" name="Group 44">
            <a:extLst>
              <a:ext uri="{FF2B5EF4-FFF2-40B4-BE49-F238E27FC236}">
                <a16:creationId xmlns:a16="http://schemas.microsoft.com/office/drawing/2014/main" id="{79E6247F-9C22-469E-8340-B61FC49CB432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886200"/>
            <a:ext cx="1524000" cy="990600"/>
            <a:chOff x="96" y="2448"/>
            <a:chExt cx="960" cy="624"/>
          </a:xfrm>
        </p:grpSpPr>
        <p:sp>
          <p:nvSpPr>
            <p:cNvPr id="29721" name="Oval 45">
              <a:extLst>
                <a:ext uri="{FF2B5EF4-FFF2-40B4-BE49-F238E27FC236}">
                  <a16:creationId xmlns:a16="http://schemas.microsoft.com/office/drawing/2014/main" id="{07C9E170-5E83-43E0-A247-64C05BA76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29722" name="AutoShape 46">
              <a:extLst>
                <a:ext uri="{FF2B5EF4-FFF2-40B4-BE49-F238E27FC236}">
                  <a16:creationId xmlns:a16="http://schemas.microsoft.com/office/drawing/2014/main" id="{01973DC6-ABFD-418E-97E2-F00F22DCE70D}"/>
                </a:ext>
              </a:extLst>
            </p:cNvPr>
            <p:cNvCxnSpPr>
              <a:cxnSpLocks noChangeShapeType="1"/>
              <a:stCxn id="29721" idx="6"/>
              <a:endCxn id="29747" idx="2"/>
            </p:cNvCxnSpPr>
            <p:nvPr/>
          </p:nvCxnSpPr>
          <p:spPr bwMode="auto">
            <a:xfrm>
              <a:off x="728" y="2880"/>
              <a:ext cx="22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3" name="Text Box 47">
              <a:extLst>
                <a:ext uri="{FF2B5EF4-FFF2-40B4-BE49-F238E27FC236}">
                  <a16:creationId xmlns:a16="http://schemas.microsoft.com/office/drawing/2014/main" id="{4DC29310-3E33-4086-95C7-94739EDF5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61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29724" name="AutoShape 48">
              <a:extLst>
                <a:ext uri="{FF2B5EF4-FFF2-40B4-BE49-F238E27FC236}">
                  <a16:creationId xmlns:a16="http://schemas.microsoft.com/office/drawing/2014/main" id="{996A4D47-3E5F-49E8-BDE9-F2659CF56DDE}"/>
                </a:ext>
              </a:extLst>
            </p:cNvPr>
            <p:cNvCxnSpPr>
              <a:cxnSpLocks noChangeShapeType="1"/>
              <a:endCxn id="29721" idx="2"/>
            </p:cNvCxnSpPr>
            <p:nvPr/>
          </p:nvCxnSpPr>
          <p:spPr bwMode="auto">
            <a:xfrm>
              <a:off x="96" y="2880"/>
              <a:ext cx="23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5" name="Text Box 49">
              <a:extLst>
                <a:ext uri="{FF2B5EF4-FFF2-40B4-BE49-F238E27FC236}">
                  <a16:creationId xmlns:a16="http://schemas.microsoft.com/office/drawing/2014/main" id="{F0563C12-8702-4C29-B982-27BA6445ED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448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</p:grpSp>
      <p:grpSp>
        <p:nvGrpSpPr>
          <p:cNvPr id="12" name="Group 50">
            <a:extLst>
              <a:ext uri="{FF2B5EF4-FFF2-40B4-BE49-F238E27FC236}">
                <a16:creationId xmlns:a16="http://schemas.microsoft.com/office/drawing/2014/main" id="{4D867025-25F2-43B0-8FC5-43A56B0E51EB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149725"/>
            <a:ext cx="1676400" cy="727075"/>
            <a:chOff x="3456" y="2614"/>
            <a:chExt cx="1056" cy="458"/>
          </a:xfrm>
        </p:grpSpPr>
        <p:sp>
          <p:nvSpPr>
            <p:cNvPr id="29717" name="Oval 51">
              <a:extLst>
                <a:ext uri="{FF2B5EF4-FFF2-40B4-BE49-F238E27FC236}">
                  <a16:creationId xmlns:a16="http://schemas.microsoft.com/office/drawing/2014/main" id="{3A68E423-FE03-46BF-9A50-6FE60CF2E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29718" name="Oval 52">
              <a:extLst>
                <a:ext uri="{FF2B5EF4-FFF2-40B4-BE49-F238E27FC236}">
                  <a16:creationId xmlns:a16="http://schemas.microsoft.com/office/drawing/2014/main" id="{6F398A9C-E591-4F16-B7BC-22F481A18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cxnSp>
          <p:nvCxnSpPr>
            <p:cNvPr id="29719" name="AutoShape 53">
              <a:extLst>
                <a:ext uri="{FF2B5EF4-FFF2-40B4-BE49-F238E27FC236}">
                  <a16:creationId xmlns:a16="http://schemas.microsoft.com/office/drawing/2014/main" id="{577C0978-9E54-4B66-9F25-CE2EBDD60637}"/>
                </a:ext>
              </a:extLst>
            </p:cNvPr>
            <p:cNvCxnSpPr>
              <a:cxnSpLocks noChangeShapeType="1"/>
              <a:stCxn id="29717" idx="6"/>
              <a:endCxn id="29718" idx="2"/>
            </p:cNvCxnSpPr>
            <p:nvPr/>
          </p:nvCxnSpPr>
          <p:spPr bwMode="auto">
            <a:xfrm>
              <a:off x="3848" y="2880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0" name="Text Box 54">
              <a:extLst>
                <a:ext uri="{FF2B5EF4-FFF2-40B4-BE49-F238E27FC236}">
                  <a16:creationId xmlns:a16="http://schemas.microsoft.com/office/drawing/2014/main" id="{E86CF67C-9797-4857-95F9-67AEFF857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61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13" name="Group 55">
            <a:extLst>
              <a:ext uri="{FF2B5EF4-FFF2-40B4-BE49-F238E27FC236}">
                <a16:creationId xmlns:a16="http://schemas.microsoft.com/office/drawing/2014/main" id="{9AA84F28-D45F-4490-B3E5-93931841AB8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889500"/>
            <a:ext cx="8001000" cy="1400175"/>
            <a:chOff x="528" y="3080"/>
            <a:chExt cx="5040" cy="882"/>
          </a:xfrm>
        </p:grpSpPr>
        <p:cxnSp>
          <p:nvCxnSpPr>
            <p:cNvPr id="29715" name="AutoShape 56">
              <a:extLst>
                <a:ext uri="{FF2B5EF4-FFF2-40B4-BE49-F238E27FC236}">
                  <a16:creationId xmlns:a16="http://schemas.microsoft.com/office/drawing/2014/main" id="{2D1477DC-5280-49D4-B9B5-39E13BE5BEFC}"/>
                </a:ext>
              </a:extLst>
            </p:cNvPr>
            <p:cNvCxnSpPr>
              <a:cxnSpLocks noChangeShapeType="1"/>
              <a:stCxn id="29721" idx="4"/>
              <a:endCxn id="29730" idx="4"/>
            </p:cNvCxnSpPr>
            <p:nvPr/>
          </p:nvCxnSpPr>
          <p:spPr bwMode="auto">
            <a:xfrm rot="16200000" flipH="1">
              <a:off x="3047" y="561"/>
              <a:ext cx="1" cy="5040"/>
            </a:xfrm>
            <a:prstGeom prst="curvedConnector3">
              <a:avLst>
                <a:gd name="adj1" fmla="val 6370001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6" name="Text Box 57">
              <a:extLst>
                <a:ext uri="{FF2B5EF4-FFF2-40B4-BE49-F238E27FC236}">
                  <a16:creationId xmlns:a16="http://schemas.microsoft.com/office/drawing/2014/main" id="{8EAE044E-F2EC-443F-B45E-9762273942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696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14" name="Group 58">
            <a:extLst>
              <a:ext uri="{FF2B5EF4-FFF2-40B4-BE49-F238E27FC236}">
                <a16:creationId xmlns:a16="http://schemas.microsoft.com/office/drawing/2014/main" id="{07DAEBC8-7A77-4459-9BF1-4CC7A684A15E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276600"/>
            <a:ext cx="6019800" cy="979488"/>
            <a:chOff x="1152" y="2064"/>
            <a:chExt cx="3792" cy="617"/>
          </a:xfrm>
        </p:grpSpPr>
        <p:cxnSp>
          <p:nvCxnSpPr>
            <p:cNvPr id="29713" name="AutoShape 59">
              <a:extLst>
                <a:ext uri="{FF2B5EF4-FFF2-40B4-BE49-F238E27FC236}">
                  <a16:creationId xmlns:a16="http://schemas.microsoft.com/office/drawing/2014/main" id="{0CF53AB6-168F-406A-B5F5-6E3B9A86EA30}"/>
                </a:ext>
              </a:extLst>
            </p:cNvPr>
            <p:cNvCxnSpPr>
              <a:cxnSpLocks noChangeShapeType="1"/>
              <a:stCxn id="29731" idx="0"/>
              <a:endCxn id="29747" idx="0"/>
            </p:cNvCxnSpPr>
            <p:nvPr/>
          </p:nvCxnSpPr>
          <p:spPr bwMode="auto">
            <a:xfrm rot="-5400000" flipH="1" flipV="1">
              <a:off x="3047" y="785"/>
              <a:ext cx="1" cy="3792"/>
            </a:xfrm>
            <a:prstGeom prst="curvedConnector3">
              <a:avLst>
                <a:gd name="adj1" fmla="val -5610001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14" name="Text Box 60">
              <a:extLst>
                <a:ext uri="{FF2B5EF4-FFF2-40B4-BE49-F238E27FC236}">
                  <a16:creationId xmlns:a16="http://schemas.microsoft.com/office/drawing/2014/main" id="{BEC643E5-877E-4A19-B7E3-00943EC99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06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237629" name="Text Box 61">
            <a:extLst>
              <a:ext uri="{FF2B5EF4-FFF2-40B4-BE49-F238E27FC236}">
                <a16:creationId xmlns:a16="http://schemas.microsoft.com/office/drawing/2014/main" id="{8B465498-7E4B-4B26-8920-4B988F9F3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108" y="6266656"/>
            <a:ext cx="6096000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4 5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7 8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9 1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4 5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7 8 7 8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9 1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4 5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7 8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9 10</a:t>
            </a:r>
          </a:p>
        </p:txBody>
      </p:sp>
      <p:sp>
        <p:nvSpPr>
          <p:cNvPr id="237630" name="Rectangle 62">
            <a:extLst>
              <a:ext uri="{FF2B5EF4-FFF2-40B4-BE49-F238E27FC236}">
                <a16:creationId xmlns:a16="http://schemas.microsoft.com/office/drawing/2014/main" id="{3E809AFF-8FD6-4557-A0CF-8144BC83A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835860"/>
            <a:ext cx="2362200" cy="1752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注意：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箭头及符号标注，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状态名，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开始、接受状态</a:t>
            </a:r>
          </a:p>
        </p:txBody>
      </p:sp>
      <p:sp>
        <p:nvSpPr>
          <p:cNvPr id="237631" name="Oval 63">
            <a:extLst>
              <a:ext uri="{FF2B5EF4-FFF2-40B4-BE49-F238E27FC236}">
                <a16:creationId xmlns:a16="http://schemas.microsoft.com/office/drawing/2014/main" id="{F525E6A3-5732-44F3-8F9F-1871287B1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208" y="6230144"/>
            <a:ext cx="990600" cy="533400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DE32116-8166-421A-818C-B29F565CFE17}"/>
              </a:ext>
            </a:extLst>
          </p:cNvPr>
          <p:cNvSpPr txBox="1"/>
          <p:nvPr/>
        </p:nvSpPr>
        <p:spPr>
          <a:xfrm>
            <a:off x="209551" y="6295390"/>
            <a:ext cx="2782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 err="1">
                <a:latin typeface="Times New Roman" panose="02020603050405020304" pitchFamily="18" charset="0"/>
              </a:rPr>
              <a:t>ababbab</a:t>
            </a:r>
            <a:r>
              <a:rPr lang="zh-CN" altLang="en-US" dirty="0">
                <a:latin typeface="Times New Roman" panose="02020603050405020304" pitchFamily="18" charset="0"/>
              </a:rPr>
              <a:t>的状态转换序列：</a:t>
            </a:r>
            <a:endParaRPr lang="zh-CN" alt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724DBE-AA71-1B66-CEB0-955261D5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46C56-23F9-4494-9BD9-89F77C2CABA2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ED9887-C609-D417-16C4-8579313FF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10B6170B-3BD4-F292-91BE-10C5677F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25</a:t>
            </a:fld>
            <a:endParaRPr lang="zh-CN" altLang="en-US"/>
          </a:p>
        </p:txBody>
      </p:sp>
      <p:pic>
        <p:nvPicPr>
          <p:cNvPr id="15" name="图片 14" descr="图标&#10;&#10;描述已自动生成">
            <a:extLst>
              <a:ext uri="{FF2B5EF4-FFF2-40B4-BE49-F238E27FC236}">
                <a16:creationId xmlns:a16="http://schemas.microsoft.com/office/drawing/2014/main" id="{F8D269F0-D1D9-80E5-C0C8-5DBB2B4BC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29" grpId="0"/>
      <p:bldP spid="237630" grpId="0" animBg="1"/>
      <p:bldP spid="237631" grpId="0" animBg="1"/>
      <p:bldP spid="6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21D1F01D-1062-1235-59D8-F55BCAF6DF75}"/>
              </a:ext>
            </a:extLst>
          </p:cNvPr>
          <p:cNvGrpSpPr/>
          <p:nvPr/>
        </p:nvGrpSpPr>
        <p:grpSpPr>
          <a:xfrm>
            <a:off x="1143000" y="2107131"/>
            <a:ext cx="6858000" cy="4305300"/>
            <a:chOff x="1143000" y="2107131"/>
            <a:chExt cx="6858000" cy="4305300"/>
          </a:xfrm>
        </p:grpSpPr>
        <p:pic>
          <p:nvPicPr>
            <p:cNvPr id="1026" name="Picture 2" descr="3 7 3-4-nfa">
              <a:extLst>
                <a:ext uri="{FF2B5EF4-FFF2-40B4-BE49-F238E27FC236}">
                  <a16:creationId xmlns:a16="http://schemas.microsoft.com/office/drawing/2014/main" id="{A22D0C69-E6BD-4961-813D-A2B728C5E0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107131"/>
              <a:ext cx="6858000" cy="4305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CC9C313-1560-41EE-8142-781DEAE7750B}"/>
                </a:ext>
              </a:extLst>
            </p:cNvPr>
            <p:cNvSpPr txBox="1"/>
            <p:nvPr/>
          </p:nvSpPr>
          <p:spPr>
            <a:xfrm>
              <a:off x="1299411" y="2839453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start</a:t>
              </a:r>
              <a:endParaRPr lang="zh-CN" altLang="en-US" dirty="0"/>
            </a:p>
          </p:txBody>
        </p:sp>
      </p:grpSp>
      <p:sp>
        <p:nvSpPr>
          <p:cNvPr id="29698" name="Rectangle 2">
            <a:extLst>
              <a:ext uri="{FF2B5EF4-FFF2-40B4-BE49-F238E27FC236}">
                <a16:creationId xmlns:a16="http://schemas.microsoft.com/office/drawing/2014/main" id="{F445AFE3-4834-46FF-B91F-A397C580F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F01AEE46-2EAE-4C56-A1AE-9FC031BFFF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7 (P39/2.7(d))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： 构造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bb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，并给出</a:t>
            </a:r>
            <a:r>
              <a:rPr lang="en-US" altLang="zh-CN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的状态转换序列。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631" name="Oval 63">
            <a:extLst>
              <a:ext uri="{FF2B5EF4-FFF2-40B4-BE49-F238E27FC236}">
                <a16:creationId xmlns:a16="http://schemas.microsoft.com/office/drawing/2014/main" id="{F525E6A3-5732-44F3-8F9F-1871287B1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5961" y="6199043"/>
            <a:ext cx="1143000" cy="533400"/>
          </a:xfrm>
          <a:prstGeom prst="ellipse">
            <a:avLst/>
          </a:prstGeom>
          <a:noFill/>
          <a:ln w="25400" algn="ctr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54000" tIns="28800" rIns="54000" bIns="28800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Text Box 61">
            <a:extLst>
              <a:ext uri="{FF2B5EF4-FFF2-40B4-BE49-F238E27FC236}">
                <a16:creationId xmlns:a16="http://schemas.microsoft.com/office/drawing/2014/main" id="{8628611A-0ABA-4CA9-8326-77414A1A1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251996"/>
            <a:ext cx="7153977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0 1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2 3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6 1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4 5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7 8 9 10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12 13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16 11 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14 15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16 17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3434A9-141E-8892-A8A6-938B0086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E953-B922-497C-B288-D8C2EE64EF58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40B2A5-403C-BCA5-A40B-9FF6E478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CD76E1-EA18-1276-4EA3-153DE949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631" grpId="0" animBg="1"/>
      <p:bldP spid="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3B7D774-C735-43E0-BA0A-3C9133E34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27A8B9E9-678B-4E12-A9B5-41311480D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8 (P39/2.8(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对应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2.7c))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变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，并给出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的状态转换序列。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|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A811FA-08AB-6382-96D4-94B2FF04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0D11-EBB6-4E55-AF19-3322A049F9D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2B6C22-AAA7-BE8E-D65E-5592B2D8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255B6F-2C9A-4F13-DFBA-06F18D8B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27</a:t>
            </a:fld>
            <a:endParaRPr lang="zh-CN" altLang="en-US"/>
          </a:p>
        </p:txBody>
      </p:sp>
      <p:pic>
        <p:nvPicPr>
          <p:cNvPr id="6" name="图片 5" descr="图标&#10;&#10;描述已自动生成">
            <a:extLst>
              <a:ext uri="{FF2B5EF4-FFF2-40B4-BE49-F238E27FC236}">
                <a16:creationId xmlns:a16="http://schemas.microsoft.com/office/drawing/2014/main" id="{A80006E1-D87F-9926-3FC8-430750F69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id="{144959C3-6F2F-A16B-1A4A-E6425C8614A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581400"/>
            <a:ext cx="1752600" cy="838200"/>
            <a:chOff x="1536" y="2256"/>
            <a:chExt cx="1104" cy="528"/>
          </a:xfrm>
        </p:grpSpPr>
        <p:sp>
          <p:nvSpPr>
            <p:cNvPr id="10" name="Oval 5">
              <a:extLst>
                <a:ext uri="{FF2B5EF4-FFF2-40B4-BE49-F238E27FC236}">
                  <a16:creationId xmlns:a16="http://schemas.microsoft.com/office/drawing/2014/main" id="{870EE56B-B543-2920-3633-BFC6050C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00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1" name="Oval 6">
              <a:extLst>
                <a:ext uri="{FF2B5EF4-FFF2-40B4-BE49-F238E27FC236}">
                  <a16:creationId xmlns:a16="http://schemas.microsoft.com/office/drawing/2014/main" id="{83A53824-7B29-D952-DF5C-50BE2C349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400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12" name="AutoShape 7">
              <a:extLst>
                <a:ext uri="{FF2B5EF4-FFF2-40B4-BE49-F238E27FC236}">
                  <a16:creationId xmlns:a16="http://schemas.microsoft.com/office/drawing/2014/main" id="{1E47A53A-DC22-8430-E313-E6013ABD032B}"/>
                </a:ext>
              </a:extLst>
            </p:cNvPr>
            <p:cNvCxnSpPr>
              <a:cxnSpLocks noChangeShapeType="1"/>
              <a:stCxn id="10" idx="6"/>
              <a:endCxn id="11" idx="2"/>
            </p:cNvCxnSpPr>
            <p:nvPr/>
          </p:nvCxnSpPr>
          <p:spPr bwMode="auto">
            <a:xfrm>
              <a:off x="1928" y="2592"/>
              <a:ext cx="320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F899AE6F-19BF-57F2-CF01-E53091E89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256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14" name="Group 9">
            <a:extLst>
              <a:ext uri="{FF2B5EF4-FFF2-40B4-BE49-F238E27FC236}">
                <a16:creationId xmlns:a16="http://schemas.microsoft.com/office/drawing/2014/main" id="{1BEA5EBD-DC57-931F-C4F9-010BF4976C52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606925"/>
            <a:ext cx="1752600" cy="803275"/>
            <a:chOff x="1536" y="2902"/>
            <a:chExt cx="1104" cy="506"/>
          </a:xfrm>
        </p:grpSpPr>
        <p:sp>
          <p:nvSpPr>
            <p:cNvPr id="15" name="Oval 10">
              <a:extLst>
                <a:ext uri="{FF2B5EF4-FFF2-40B4-BE49-F238E27FC236}">
                  <a16:creationId xmlns:a16="http://schemas.microsoft.com/office/drawing/2014/main" id="{5AD44461-C819-EAF5-1642-2AC18E583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02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6" name="Oval 11">
              <a:extLst>
                <a:ext uri="{FF2B5EF4-FFF2-40B4-BE49-F238E27FC236}">
                  <a16:creationId xmlns:a16="http://schemas.microsoft.com/office/drawing/2014/main" id="{6234621B-409C-60BE-7DF6-EEE82C573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02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cxnSp>
          <p:nvCxnSpPr>
            <p:cNvPr id="17" name="AutoShape 12">
              <a:extLst>
                <a:ext uri="{FF2B5EF4-FFF2-40B4-BE49-F238E27FC236}">
                  <a16:creationId xmlns:a16="http://schemas.microsoft.com/office/drawing/2014/main" id="{5B5E5932-142A-973D-664A-4F48DF0372BA}"/>
                </a:ext>
              </a:extLst>
            </p:cNvPr>
            <p:cNvCxnSpPr>
              <a:cxnSpLocks noChangeShapeType="1"/>
              <a:stCxn id="15" idx="6"/>
              <a:endCxn id="16" idx="2"/>
            </p:cNvCxnSpPr>
            <p:nvPr/>
          </p:nvCxnSpPr>
          <p:spPr bwMode="auto">
            <a:xfrm>
              <a:off x="1928" y="3216"/>
              <a:ext cx="320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" name="Text Box 13">
              <a:extLst>
                <a:ext uri="{FF2B5EF4-FFF2-40B4-BE49-F238E27FC236}">
                  <a16:creationId xmlns:a16="http://schemas.microsoft.com/office/drawing/2014/main" id="{7750E048-AE9C-2D9F-3EA7-FA491F87DC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902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</p:grpSp>
      <p:grpSp>
        <p:nvGrpSpPr>
          <p:cNvPr id="19" name="Group 14">
            <a:extLst>
              <a:ext uri="{FF2B5EF4-FFF2-40B4-BE49-F238E27FC236}">
                <a16:creationId xmlns:a16="http://schemas.microsoft.com/office/drawing/2014/main" id="{9FAE53C1-7D2C-947C-0A70-A0F6848F4EEF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844925"/>
            <a:ext cx="1066800" cy="1336675"/>
            <a:chOff x="960" y="2422"/>
            <a:chExt cx="672" cy="842"/>
          </a:xfrm>
        </p:grpSpPr>
        <p:sp>
          <p:nvSpPr>
            <p:cNvPr id="20" name="Oval 15">
              <a:extLst>
                <a:ext uri="{FF2B5EF4-FFF2-40B4-BE49-F238E27FC236}">
                  <a16:creationId xmlns:a16="http://schemas.microsoft.com/office/drawing/2014/main" id="{42481E8C-8A57-91F9-BA16-42A5C12BF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21" name="AutoShape 16">
              <a:extLst>
                <a:ext uri="{FF2B5EF4-FFF2-40B4-BE49-F238E27FC236}">
                  <a16:creationId xmlns:a16="http://schemas.microsoft.com/office/drawing/2014/main" id="{7064E675-5501-5016-8B56-61AE1F6CE195}"/>
                </a:ext>
              </a:extLst>
            </p:cNvPr>
            <p:cNvCxnSpPr>
              <a:cxnSpLocks noChangeShapeType="1"/>
              <a:stCxn id="20" idx="7"/>
              <a:endCxn id="10" idx="2"/>
            </p:cNvCxnSpPr>
            <p:nvPr/>
          </p:nvCxnSpPr>
          <p:spPr bwMode="auto">
            <a:xfrm flipV="1">
              <a:off x="1288" y="2592"/>
              <a:ext cx="240" cy="144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17">
              <a:extLst>
                <a:ext uri="{FF2B5EF4-FFF2-40B4-BE49-F238E27FC236}">
                  <a16:creationId xmlns:a16="http://schemas.microsoft.com/office/drawing/2014/main" id="{9DF99DE7-8EEE-F37C-1BC4-55299A4638F1}"/>
                </a:ext>
              </a:extLst>
            </p:cNvPr>
            <p:cNvCxnSpPr>
              <a:cxnSpLocks noChangeShapeType="1"/>
              <a:stCxn id="20" idx="5"/>
              <a:endCxn id="15" idx="2"/>
            </p:cNvCxnSpPr>
            <p:nvPr/>
          </p:nvCxnSpPr>
          <p:spPr bwMode="auto">
            <a:xfrm>
              <a:off x="1288" y="3024"/>
              <a:ext cx="240" cy="192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18">
              <a:extLst>
                <a:ext uri="{FF2B5EF4-FFF2-40B4-BE49-F238E27FC236}">
                  <a16:creationId xmlns:a16="http://schemas.microsoft.com/office/drawing/2014/main" id="{47638056-966A-DFBE-95C2-146C5292A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422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4" name="Text Box 19">
              <a:extLst>
                <a:ext uri="{FF2B5EF4-FFF2-40B4-BE49-F238E27FC236}">
                  <a16:creationId xmlns:a16="http://schemas.microsoft.com/office/drawing/2014/main" id="{0825D5F0-7BF6-F17C-E81A-46D723998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998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25" name="Group 20">
            <a:extLst>
              <a:ext uri="{FF2B5EF4-FFF2-40B4-BE49-F238E27FC236}">
                <a16:creationId xmlns:a16="http://schemas.microsoft.com/office/drawing/2014/main" id="{D4E6FBF8-0A37-2AE6-6BC4-07CED6FCDEAA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3810000"/>
            <a:ext cx="825500" cy="1447800"/>
            <a:chOff x="2648" y="2400"/>
            <a:chExt cx="520" cy="912"/>
          </a:xfrm>
        </p:grpSpPr>
        <p:sp>
          <p:nvSpPr>
            <p:cNvPr id="26" name="Oval 21">
              <a:extLst>
                <a:ext uri="{FF2B5EF4-FFF2-40B4-BE49-F238E27FC236}">
                  <a16:creationId xmlns:a16="http://schemas.microsoft.com/office/drawing/2014/main" id="{C8E0E96F-D44B-3336-9C69-377F79B5E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cxnSp>
          <p:nvCxnSpPr>
            <p:cNvPr id="27" name="AutoShape 22">
              <a:extLst>
                <a:ext uri="{FF2B5EF4-FFF2-40B4-BE49-F238E27FC236}">
                  <a16:creationId xmlns:a16="http://schemas.microsoft.com/office/drawing/2014/main" id="{49FA5468-AC7D-A7EF-82BB-F327DC060F6E}"/>
                </a:ext>
              </a:extLst>
            </p:cNvPr>
            <p:cNvCxnSpPr>
              <a:cxnSpLocks noChangeShapeType="1"/>
              <a:stCxn id="11" idx="6"/>
              <a:endCxn id="26" idx="1"/>
            </p:cNvCxnSpPr>
            <p:nvPr/>
          </p:nvCxnSpPr>
          <p:spPr bwMode="auto">
            <a:xfrm>
              <a:off x="2648" y="2592"/>
              <a:ext cx="192" cy="144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3">
              <a:extLst>
                <a:ext uri="{FF2B5EF4-FFF2-40B4-BE49-F238E27FC236}">
                  <a16:creationId xmlns:a16="http://schemas.microsoft.com/office/drawing/2014/main" id="{115E54A0-EA6E-3734-5F7A-FB39C04FBD3B}"/>
                </a:ext>
              </a:extLst>
            </p:cNvPr>
            <p:cNvCxnSpPr>
              <a:cxnSpLocks noChangeShapeType="1"/>
              <a:stCxn id="16" idx="6"/>
              <a:endCxn id="26" idx="3"/>
            </p:cNvCxnSpPr>
            <p:nvPr/>
          </p:nvCxnSpPr>
          <p:spPr bwMode="auto">
            <a:xfrm flipV="1">
              <a:off x="2648" y="3024"/>
              <a:ext cx="192" cy="192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" name="Text Box 24">
              <a:extLst>
                <a:ext uri="{FF2B5EF4-FFF2-40B4-BE49-F238E27FC236}">
                  <a16:creationId xmlns:a16="http://schemas.microsoft.com/office/drawing/2014/main" id="{833033ED-7E89-4EE1-8D04-0397A9EBA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400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30" name="Text Box 25">
              <a:extLst>
                <a:ext uri="{FF2B5EF4-FFF2-40B4-BE49-F238E27FC236}">
                  <a16:creationId xmlns:a16="http://schemas.microsoft.com/office/drawing/2014/main" id="{0E9EFBDC-4F52-3CF2-4CD4-BFDB47094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046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31" name="Group 26">
            <a:extLst>
              <a:ext uri="{FF2B5EF4-FFF2-40B4-BE49-F238E27FC236}">
                <a16:creationId xmlns:a16="http://schemas.microsoft.com/office/drawing/2014/main" id="{8235C3FA-0680-3CF9-592A-CDEC61A25363}"/>
              </a:ext>
            </a:extLst>
          </p:cNvPr>
          <p:cNvGrpSpPr>
            <a:grpSpLocks/>
          </p:cNvGrpSpPr>
          <p:nvPr/>
        </p:nvGrpSpPr>
        <p:grpSpPr bwMode="auto">
          <a:xfrm>
            <a:off x="4940300" y="3657600"/>
            <a:ext cx="3213100" cy="1828800"/>
            <a:chOff x="3112" y="2304"/>
            <a:chExt cx="2024" cy="1152"/>
          </a:xfrm>
        </p:grpSpPr>
        <p:sp>
          <p:nvSpPr>
            <p:cNvPr id="32" name="Oval 27">
              <a:extLst>
                <a:ext uri="{FF2B5EF4-FFF2-40B4-BE49-F238E27FC236}">
                  <a16:creationId xmlns:a16="http://schemas.microsoft.com/office/drawing/2014/main" id="{790486B0-6D39-68B9-49B7-F2EA99274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grpSp>
          <p:nvGrpSpPr>
            <p:cNvPr id="33" name="Group 28">
              <a:extLst>
                <a:ext uri="{FF2B5EF4-FFF2-40B4-BE49-F238E27FC236}">
                  <a16:creationId xmlns:a16="http://schemas.microsoft.com/office/drawing/2014/main" id="{0B81F1F9-47A6-FD9F-9D1C-CA3A5FAE41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12" y="2304"/>
              <a:ext cx="1832" cy="1152"/>
              <a:chOff x="3112" y="2304"/>
              <a:chExt cx="1832" cy="1152"/>
            </a:xfrm>
          </p:grpSpPr>
          <p:cxnSp>
            <p:nvCxnSpPr>
              <p:cNvPr id="34" name="AutoShape 29">
                <a:extLst>
                  <a:ext uri="{FF2B5EF4-FFF2-40B4-BE49-F238E27FC236}">
                    <a16:creationId xmlns:a16="http://schemas.microsoft.com/office/drawing/2014/main" id="{220526D0-F3E8-BEE3-76CC-28E523FCD435}"/>
                  </a:ext>
                </a:extLst>
              </p:cNvPr>
              <p:cNvCxnSpPr>
                <a:cxnSpLocks noChangeShapeType="1"/>
                <a:stCxn id="26" idx="5"/>
                <a:endCxn id="32" idx="4"/>
              </p:cNvCxnSpPr>
              <p:nvPr/>
            </p:nvCxnSpPr>
            <p:spPr bwMode="auto">
              <a:xfrm rot="16200000" flipH="1">
                <a:off x="4000" y="2136"/>
                <a:ext cx="56" cy="1832"/>
              </a:xfrm>
              <a:prstGeom prst="curvedConnector3">
                <a:avLst>
                  <a:gd name="adj1" fmla="val 342856"/>
                </a:avLst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35" name="Group 30">
                <a:extLst>
                  <a:ext uri="{FF2B5EF4-FFF2-40B4-BE49-F238E27FC236}">
                    <a16:creationId xmlns:a16="http://schemas.microsoft.com/office/drawing/2014/main" id="{A93FBF07-442B-6A49-2FE3-8C175E7ECC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76" y="2304"/>
                <a:ext cx="1672" cy="1152"/>
                <a:chOff x="3176" y="2304"/>
                <a:chExt cx="1672" cy="1152"/>
              </a:xfrm>
            </p:grpSpPr>
            <p:cxnSp>
              <p:nvCxnSpPr>
                <p:cNvPr id="36" name="AutoShape 31">
                  <a:extLst>
                    <a:ext uri="{FF2B5EF4-FFF2-40B4-BE49-F238E27FC236}">
                      <a16:creationId xmlns:a16="http://schemas.microsoft.com/office/drawing/2014/main" id="{A92345E1-2F4C-883E-D255-C6FD477B91E3}"/>
                    </a:ext>
                  </a:extLst>
                </p:cNvPr>
                <p:cNvCxnSpPr>
                  <a:cxnSpLocks noChangeShapeType="1"/>
                  <a:stCxn id="57" idx="6"/>
                  <a:endCxn id="32" idx="2"/>
                </p:cNvCxnSpPr>
                <p:nvPr/>
              </p:nvCxnSpPr>
              <p:spPr bwMode="auto">
                <a:xfrm>
                  <a:off x="4520" y="2880"/>
                  <a:ext cx="224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" name="AutoShape 32">
                  <a:extLst>
                    <a:ext uri="{FF2B5EF4-FFF2-40B4-BE49-F238E27FC236}">
                      <a16:creationId xmlns:a16="http://schemas.microsoft.com/office/drawing/2014/main" id="{30A95AE6-1AD1-1D08-582A-D53EE71E8541}"/>
                    </a:ext>
                  </a:extLst>
                </p:cNvPr>
                <p:cNvCxnSpPr>
                  <a:cxnSpLocks noChangeShapeType="1"/>
                  <a:stCxn id="26" idx="6"/>
                  <a:endCxn id="56" idx="2"/>
                </p:cNvCxnSpPr>
                <p:nvPr/>
              </p:nvCxnSpPr>
              <p:spPr bwMode="auto">
                <a:xfrm>
                  <a:off x="3176" y="2880"/>
                  <a:ext cx="272" cy="0"/>
                </a:xfrm>
                <a:prstGeom prst="straightConnector1">
                  <a:avLst/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" name="AutoShape 33">
                  <a:extLst>
                    <a:ext uri="{FF2B5EF4-FFF2-40B4-BE49-F238E27FC236}">
                      <a16:creationId xmlns:a16="http://schemas.microsoft.com/office/drawing/2014/main" id="{BD0C6581-8590-4BD3-BEA4-D4D7E9128D99}"/>
                    </a:ext>
                  </a:extLst>
                </p:cNvPr>
                <p:cNvCxnSpPr>
                  <a:cxnSpLocks noChangeShapeType="1"/>
                  <a:stCxn id="57" idx="0"/>
                  <a:endCxn id="56" idx="0"/>
                </p:cNvCxnSpPr>
                <p:nvPr/>
              </p:nvCxnSpPr>
              <p:spPr bwMode="auto">
                <a:xfrm rot="-5400000" flipH="1" flipV="1">
                  <a:off x="3983" y="2345"/>
                  <a:ext cx="1" cy="672"/>
                </a:xfrm>
                <a:prstGeom prst="curvedConnector3">
                  <a:avLst>
                    <a:gd name="adj1" fmla="val -13600005"/>
                  </a:avLst>
                </a:prstGeom>
                <a:noFill/>
                <a:ln w="254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39" name="Text Box 34">
                  <a:extLst>
                    <a:ext uri="{FF2B5EF4-FFF2-40B4-BE49-F238E27FC236}">
                      <a16:creationId xmlns:a16="http://schemas.microsoft.com/office/drawing/2014/main" id="{250D0E0A-6CE8-D7B7-0A75-505D440763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88" y="2304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40" name="Text Box 35">
                  <a:extLst>
                    <a:ext uri="{FF2B5EF4-FFF2-40B4-BE49-F238E27FC236}">
                      <a16:creationId xmlns:a16="http://schemas.microsoft.com/office/drawing/2014/main" id="{9192D83C-C9AA-86CE-1388-802F69B2DD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40" y="3190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41" name="Text Box 36">
                  <a:extLst>
                    <a:ext uri="{FF2B5EF4-FFF2-40B4-BE49-F238E27FC236}">
                      <a16:creationId xmlns:a16="http://schemas.microsoft.com/office/drawing/2014/main" id="{3DC8E021-52ED-EFBC-58B7-4EB75DA88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16" y="2640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sp>
              <p:nvSpPr>
                <p:cNvPr id="42" name="Text Box 37">
                  <a:extLst>
                    <a:ext uri="{FF2B5EF4-FFF2-40B4-BE49-F238E27FC236}">
                      <a16:creationId xmlns:a16="http://schemas.microsoft.com/office/drawing/2014/main" id="{17D6256F-FE38-979B-5804-16D3D0CD67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12" y="2614"/>
                  <a:ext cx="336" cy="2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54000" tIns="28800" rIns="54000" bIns="288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黑体" panose="02010609060101010101" pitchFamily="49" charset="-122"/>
                    </a:defRPr>
                  </a:lvl9pPr>
                </a:lstStyle>
                <a:p>
                  <a:pPr algn="just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</p:grpSp>
        </p:grpSp>
      </p:grpSp>
      <p:grpSp>
        <p:nvGrpSpPr>
          <p:cNvPr id="43" name="Group 38">
            <a:extLst>
              <a:ext uri="{FF2B5EF4-FFF2-40B4-BE49-F238E27FC236}">
                <a16:creationId xmlns:a16="http://schemas.microsoft.com/office/drawing/2014/main" id="{F65C0956-73BF-A94D-5F67-7A78484DC7C6}"/>
              </a:ext>
            </a:extLst>
          </p:cNvPr>
          <p:cNvGrpSpPr>
            <a:grpSpLocks/>
          </p:cNvGrpSpPr>
          <p:nvPr/>
        </p:nvGrpSpPr>
        <p:grpSpPr bwMode="auto">
          <a:xfrm>
            <a:off x="8166100" y="4191000"/>
            <a:ext cx="977900" cy="685800"/>
            <a:chOff x="5144" y="2640"/>
            <a:chExt cx="616" cy="432"/>
          </a:xfrm>
        </p:grpSpPr>
        <p:grpSp>
          <p:nvGrpSpPr>
            <p:cNvPr id="44" name="Group 39">
              <a:extLst>
                <a:ext uri="{FF2B5EF4-FFF2-40B4-BE49-F238E27FC236}">
                  <a16:creationId xmlns:a16="http://schemas.microsoft.com/office/drawing/2014/main" id="{64C6972C-84E1-A006-A701-A9100DC5F0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2688"/>
              <a:ext cx="384" cy="384"/>
              <a:chOff x="2160" y="2640"/>
              <a:chExt cx="384" cy="384"/>
            </a:xfrm>
          </p:grpSpPr>
          <p:sp>
            <p:nvSpPr>
              <p:cNvPr id="47" name="Oval 40">
                <a:extLst>
                  <a:ext uri="{FF2B5EF4-FFF2-40B4-BE49-F238E27FC236}">
                    <a16:creationId xmlns:a16="http://schemas.microsoft.com/office/drawing/2014/main" id="{B16E4234-AD91-C83D-CB33-8E196F077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48" name="Oval 41">
                <a:extLst>
                  <a:ext uri="{FF2B5EF4-FFF2-40B4-BE49-F238E27FC236}">
                    <a16:creationId xmlns:a16="http://schemas.microsoft.com/office/drawing/2014/main" id="{65DC72CE-CA8A-3456-1408-C681FEC8A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5" name="AutoShape 42">
              <a:extLst>
                <a:ext uri="{FF2B5EF4-FFF2-40B4-BE49-F238E27FC236}">
                  <a16:creationId xmlns:a16="http://schemas.microsoft.com/office/drawing/2014/main" id="{3A6618BF-49BE-BD3C-00E0-380EDD0C958A}"/>
                </a:ext>
              </a:extLst>
            </p:cNvPr>
            <p:cNvCxnSpPr>
              <a:cxnSpLocks noChangeShapeType="1"/>
              <a:stCxn id="32" idx="6"/>
              <a:endCxn id="48" idx="2"/>
            </p:cNvCxnSpPr>
            <p:nvPr/>
          </p:nvCxnSpPr>
          <p:spPr bwMode="auto">
            <a:xfrm>
              <a:off x="5144" y="2880"/>
              <a:ext cx="22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DCF7A937-9855-2980-058E-7A5D2F6FB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640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  <p:grpSp>
        <p:nvGrpSpPr>
          <p:cNvPr id="49" name="Group 44">
            <a:extLst>
              <a:ext uri="{FF2B5EF4-FFF2-40B4-BE49-F238E27FC236}">
                <a16:creationId xmlns:a16="http://schemas.microsoft.com/office/drawing/2014/main" id="{73EA71C0-3EFA-6E27-AD77-D0BF9B978A7C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886200"/>
            <a:ext cx="1524000" cy="990600"/>
            <a:chOff x="96" y="2448"/>
            <a:chExt cx="960" cy="624"/>
          </a:xfrm>
        </p:grpSpPr>
        <p:sp>
          <p:nvSpPr>
            <p:cNvPr id="50" name="Oval 45">
              <a:extLst>
                <a:ext uri="{FF2B5EF4-FFF2-40B4-BE49-F238E27FC236}">
                  <a16:creationId xmlns:a16="http://schemas.microsoft.com/office/drawing/2014/main" id="{F08681A5-0470-54A6-85FF-207445752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51" name="AutoShape 46">
              <a:extLst>
                <a:ext uri="{FF2B5EF4-FFF2-40B4-BE49-F238E27FC236}">
                  <a16:creationId xmlns:a16="http://schemas.microsoft.com/office/drawing/2014/main" id="{12455CA5-E1A8-E7AD-A719-4AAD3D5EC240}"/>
                </a:ext>
              </a:extLst>
            </p:cNvPr>
            <p:cNvCxnSpPr>
              <a:cxnSpLocks noChangeShapeType="1"/>
              <a:stCxn id="50" idx="6"/>
              <a:endCxn id="20" idx="2"/>
            </p:cNvCxnSpPr>
            <p:nvPr/>
          </p:nvCxnSpPr>
          <p:spPr bwMode="auto">
            <a:xfrm>
              <a:off x="728" y="2880"/>
              <a:ext cx="22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" name="Text Box 47">
              <a:extLst>
                <a:ext uri="{FF2B5EF4-FFF2-40B4-BE49-F238E27FC236}">
                  <a16:creationId xmlns:a16="http://schemas.microsoft.com/office/drawing/2014/main" id="{6465ADBC-2CF9-85F8-2153-0015E451C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61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53" name="AutoShape 48">
              <a:extLst>
                <a:ext uri="{FF2B5EF4-FFF2-40B4-BE49-F238E27FC236}">
                  <a16:creationId xmlns:a16="http://schemas.microsoft.com/office/drawing/2014/main" id="{DD1D0F70-7492-BBF6-FC13-659230EDCFB1}"/>
                </a:ext>
              </a:extLst>
            </p:cNvPr>
            <p:cNvCxnSpPr>
              <a:cxnSpLocks noChangeShapeType="1"/>
              <a:endCxn id="50" idx="2"/>
            </p:cNvCxnSpPr>
            <p:nvPr/>
          </p:nvCxnSpPr>
          <p:spPr bwMode="auto">
            <a:xfrm>
              <a:off x="96" y="2880"/>
              <a:ext cx="23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4" name="Text Box 49">
              <a:extLst>
                <a:ext uri="{FF2B5EF4-FFF2-40B4-BE49-F238E27FC236}">
                  <a16:creationId xmlns:a16="http://schemas.microsoft.com/office/drawing/2014/main" id="{5D5D1335-B6B0-50F5-3175-64359462C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448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</p:grpSp>
      <p:grpSp>
        <p:nvGrpSpPr>
          <p:cNvPr id="55" name="Group 50">
            <a:extLst>
              <a:ext uri="{FF2B5EF4-FFF2-40B4-BE49-F238E27FC236}">
                <a16:creationId xmlns:a16="http://schemas.microsoft.com/office/drawing/2014/main" id="{89DE4752-0212-3633-3347-007625E0C8C2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4149725"/>
            <a:ext cx="1676400" cy="727075"/>
            <a:chOff x="3456" y="2614"/>
            <a:chExt cx="1056" cy="458"/>
          </a:xfrm>
        </p:grpSpPr>
        <p:sp>
          <p:nvSpPr>
            <p:cNvPr id="56" name="Oval 51">
              <a:extLst>
                <a:ext uri="{FF2B5EF4-FFF2-40B4-BE49-F238E27FC236}">
                  <a16:creationId xmlns:a16="http://schemas.microsoft.com/office/drawing/2014/main" id="{80C005B6-1248-F1C8-0BFA-AA57181E7F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57" name="Oval 52">
              <a:extLst>
                <a:ext uri="{FF2B5EF4-FFF2-40B4-BE49-F238E27FC236}">
                  <a16:creationId xmlns:a16="http://schemas.microsoft.com/office/drawing/2014/main" id="{280CDEB9-35DC-319A-1287-341CA51A8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8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cxnSp>
          <p:nvCxnSpPr>
            <p:cNvPr id="58" name="AutoShape 53">
              <a:extLst>
                <a:ext uri="{FF2B5EF4-FFF2-40B4-BE49-F238E27FC236}">
                  <a16:creationId xmlns:a16="http://schemas.microsoft.com/office/drawing/2014/main" id="{C5F24BF3-02C3-BEB2-A788-283A981D25D2}"/>
                </a:ext>
              </a:extLst>
            </p:cNvPr>
            <p:cNvCxnSpPr>
              <a:cxnSpLocks noChangeShapeType="1"/>
              <a:stCxn id="56" idx="6"/>
              <a:endCxn id="57" idx="2"/>
            </p:cNvCxnSpPr>
            <p:nvPr/>
          </p:nvCxnSpPr>
          <p:spPr bwMode="auto">
            <a:xfrm>
              <a:off x="3848" y="2880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9" name="Text Box 54">
              <a:extLst>
                <a:ext uri="{FF2B5EF4-FFF2-40B4-BE49-F238E27FC236}">
                  <a16:creationId xmlns:a16="http://schemas.microsoft.com/office/drawing/2014/main" id="{11AF217F-59AD-F1F5-023E-6BD95D84E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61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grpSp>
        <p:nvGrpSpPr>
          <p:cNvPr id="60" name="Group 58">
            <a:extLst>
              <a:ext uri="{FF2B5EF4-FFF2-40B4-BE49-F238E27FC236}">
                <a16:creationId xmlns:a16="http://schemas.microsoft.com/office/drawing/2014/main" id="{10FCFFF1-F3A2-821C-80BD-834CE8F80070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3276600"/>
            <a:ext cx="6019800" cy="979488"/>
            <a:chOff x="1152" y="2064"/>
            <a:chExt cx="3792" cy="617"/>
          </a:xfrm>
        </p:grpSpPr>
        <p:cxnSp>
          <p:nvCxnSpPr>
            <p:cNvPr id="61" name="AutoShape 59">
              <a:extLst>
                <a:ext uri="{FF2B5EF4-FFF2-40B4-BE49-F238E27FC236}">
                  <a16:creationId xmlns:a16="http://schemas.microsoft.com/office/drawing/2014/main" id="{1EF4F18C-C8CF-B1CA-3513-6F6061724420}"/>
                </a:ext>
              </a:extLst>
            </p:cNvPr>
            <p:cNvCxnSpPr>
              <a:cxnSpLocks noChangeShapeType="1"/>
              <a:stCxn id="32" idx="0"/>
              <a:endCxn id="20" idx="0"/>
            </p:cNvCxnSpPr>
            <p:nvPr/>
          </p:nvCxnSpPr>
          <p:spPr bwMode="auto">
            <a:xfrm rot="-5400000" flipH="1" flipV="1">
              <a:off x="3047" y="785"/>
              <a:ext cx="1" cy="3792"/>
            </a:xfrm>
            <a:prstGeom prst="curvedConnector3">
              <a:avLst>
                <a:gd name="adj1" fmla="val -56100014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" name="Text Box 60">
              <a:extLst>
                <a:ext uri="{FF2B5EF4-FFF2-40B4-BE49-F238E27FC236}">
                  <a16:creationId xmlns:a16="http://schemas.microsoft.com/office/drawing/2014/main" id="{D9FFEC50-D485-CD0A-821C-5E6DDAC05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064"/>
              <a:ext cx="336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3B7D774-C735-43E0-BA0A-3C9133E34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27A8B9E9-678B-4E12-A9B5-41311480D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8 (P39/2.8(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对应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2.7c))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：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变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，并给出</a:t>
            </a:r>
            <a:r>
              <a:rPr lang="en-US" altLang="zh-CN" sz="2800" b="1" i="1" dirty="0" err="1">
                <a:solidFill>
                  <a:srgbClr val="C00000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的状态转换序列。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((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|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8618" name="Text Box 26">
            <a:extLst>
              <a:ext uri="{FF2B5EF4-FFF2-40B4-BE49-F238E27FC236}">
                <a16:creationId xmlns:a16="http://schemas.microsoft.com/office/drawing/2014/main" id="{9D623F56-C6F8-4D09-817D-1AF35CA94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128" y="2566987"/>
            <a:ext cx="3200400" cy="208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={0,1,2,3,4,6,7,9,10}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={1,2,3,4,5,6,7,9,10}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={1,2,3,4,6,7,8,9,10}</a:t>
            </a:r>
          </a:p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是接受状态</a:t>
            </a: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03DF2094-BABE-4AB0-A03A-230C9F4AC7B3}"/>
              </a:ext>
            </a:extLst>
          </p:cNvPr>
          <p:cNvGrpSpPr>
            <a:grpSpLocks/>
          </p:cNvGrpSpPr>
          <p:nvPr/>
        </p:nvGrpSpPr>
        <p:grpSpPr bwMode="auto">
          <a:xfrm>
            <a:off x="4791777" y="4991099"/>
            <a:ext cx="3962400" cy="1828800"/>
            <a:chOff x="2976" y="3216"/>
            <a:chExt cx="2496" cy="1152"/>
          </a:xfrm>
        </p:grpSpPr>
        <p:grpSp>
          <p:nvGrpSpPr>
            <p:cNvPr id="30749" name="Group 28">
              <a:extLst>
                <a:ext uri="{FF2B5EF4-FFF2-40B4-BE49-F238E27FC236}">
                  <a16:creationId xmlns:a16="http://schemas.microsoft.com/office/drawing/2014/main" id="{A30649C7-08FF-429D-852B-BA372F0BA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648"/>
              <a:ext cx="384" cy="384"/>
              <a:chOff x="2160" y="2640"/>
              <a:chExt cx="384" cy="384"/>
            </a:xfrm>
          </p:grpSpPr>
          <p:sp>
            <p:nvSpPr>
              <p:cNvPr id="30770" name="Oval 29">
                <a:extLst>
                  <a:ext uri="{FF2B5EF4-FFF2-40B4-BE49-F238E27FC236}">
                    <a16:creationId xmlns:a16="http://schemas.microsoft.com/office/drawing/2014/main" id="{492BDB6A-EC49-4E36-8241-BAC727820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0771" name="Oval 30">
                <a:extLst>
                  <a:ext uri="{FF2B5EF4-FFF2-40B4-BE49-F238E27FC236}">
                    <a16:creationId xmlns:a16="http://schemas.microsoft.com/office/drawing/2014/main" id="{A1842782-5820-4764-AAF9-FD997BB3E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750" name="Group 31">
              <a:extLst>
                <a:ext uri="{FF2B5EF4-FFF2-40B4-BE49-F238E27FC236}">
                  <a16:creationId xmlns:a16="http://schemas.microsoft.com/office/drawing/2014/main" id="{A5AC9CA8-C03C-4C23-89CE-53B458BD6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3648"/>
              <a:ext cx="384" cy="384"/>
              <a:chOff x="2160" y="2640"/>
              <a:chExt cx="384" cy="384"/>
            </a:xfrm>
          </p:grpSpPr>
          <p:sp>
            <p:nvSpPr>
              <p:cNvPr id="30768" name="Oval 32">
                <a:extLst>
                  <a:ext uri="{FF2B5EF4-FFF2-40B4-BE49-F238E27FC236}">
                    <a16:creationId xmlns:a16="http://schemas.microsoft.com/office/drawing/2014/main" id="{F0A35273-50F8-4F48-A809-E004CAFCE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30769" name="Oval 33">
                <a:extLst>
                  <a:ext uri="{FF2B5EF4-FFF2-40B4-BE49-F238E27FC236}">
                    <a16:creationId xmlns:a16="http://schemas.microsoft.com/office/drawing/2014/main" id="{47B64462-306A-4609-85EF-3817BB5B2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0751" name="Group 34">
              <a:extLst>
                <a:ext uri="{FF2B5EF4-FFF2-40B4-BE49-F238E27FC236}">
                  <a16:creationId xmlns:a16="http://schemas.microsoft.com/office/drawing/2014/main" id="{3A95764D-C193-47FB-A382-CCEE755005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648"/>
              <a:ext cx="384" cy="384"/>
              <a:chOff x="2160" y="2640"/>
              <a:chExt cx="384" cy="384"/>
            </a:xfrm>
          </p:grpSpPr>
          <p:sp>
            <p:nvSpPr>
              <p:cNvPr id="30766" name="Oval 35">
                <a:extLst>
                  <a:ext uri="{FF2B5EF4-FFF2-40B4-BE49-F238E27FC236}">
                    <a16:creationId xmlns:a16="http://schemas.microsoft.com/office/drawing/2014/main" id="{84EFB5D1-B471-4144-B0F4-C3B712FBE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0767" name="Oval 36">
                <a:extLst>
                  <a:ext uri="{FF2B5EF4-FFF2-40B4-BE49-F238E27FC236}">
                    <a16:creationId xmlns:a16="http://schemas.microsoft.com/office/drawing/2014/main" id="{D8600F01-C0B6-422B-A614-43F13AEC8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0752" name="AutoShape 37">
              <a:extLst>
                <a:ext uri="{FF2B5EF4-FFF2-40B4-BE49-F238E27FC236}">
                  <a16:creationId xmlns:a16="http://schemas.microsoft.com/office/drawing/2014/main" id="{44C5DE36-609D-45F2-8EDB-5ABA58B07077}"/>
                </a:ext>
              </a:extLst>
            </p:cNvPr>
            <p:cNvCxnSpPr>
              <a:cxnSpLocks noChangeShapeType="1"/>
              <a:stCxn id="30771" idx="6"/>
              <a:endCxn id="30769" idx="2"/>
            </p:cNvCxnSpPr>
            <p:nvPr/>
          </p:nvCxnSpPr>
          <p:spPr bwMode="auto">
            <a:xfrm>
              <a:off x="3896" y="3840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3" name="AutoShape 38">
              <a:extLst>
                <a:ext uri="{FF2B5EF4-FFF2-40B4-BE49-F238E27FC236}">
                  <a16:creationId xmlns:a16="http://schemas.microsoft.com/office/drawing/2014/main" id="{CFCDA01B-6199-488B-9F04-9281DAE011DC}"/>
                </a:ext>
              </a:extLst>
            </p:cNvPr>
            <p:cNvCxnSpPr>
              <a:cxnSpLocks noChangeShapeType="1"/>
              <a:stCxn id="30771" idx="7"/>
              <a:endCxn id="30767" idx="0"/>
            </p:cNvCxnSpPr>
            <p:nvPr/>
          </p:nvCxnSpPr>
          <p:spPr bwMode="auto">
            <a:xfrm rot="-5400000">
              <a:off x="4408" y="3064"/>
              <a:ext cx="56" cy="1208"/>
            </a:xfrm>
            <a:prstGeom prst="curvedConnector3">
              <a:avLst>
                <a:gd name="adj1" fmla="val 716069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4" name="AutoShape 39">
              <a:extLst>
                <a:ext uri="{FF2B5EF4-FFF2-40B4-BE49-F238E27FC236}">
                  <a16:creationId xmlns:a16="http://schemas.microsoft.com/office/drawing/2014/main" id="{5A7AE919-58AF-498E-B299-C5A06765E547}"/>
                </a:ext>
              </a:extLst>
            </p:cNvPr>
            <p:cNvCxnSpPr>
              <a:cxnSpLocks noChangeShapeType="1"/>
              <a:stCxn id="30769" idx="7"/>
              <a:endCxn id="30769" idx="0"/>
            </p:cNvCxnSpPr>
            <p:nvPr/>
          </p:nvCxnSpPr>
          <p:spPr bwMode="auto">
            <a:xfrm rot="5400000" flipH="1">
              <a:off x="4408" y="3600"/>
              <a:ext cx="56" cy="136"/>
            </a:xfrm>
            <a:prstGeom prst="curvedConnector3">
              <a:avLst>
                <a:gd name="adj1" fmla="val 416069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55" name="AutoShape 40">
              <a:extLst>
                <a:ext uri="{FF2B5EF4-FFF2-40B4-BE49-F238E27FC236}">
                  <a16:creationId xmlns:a16="http://schemas.microsoft.com/office/drawing/2014/main" id="{C70BB100-3DAA-46C9-BAF7-4B53E9A4427F}"/>
                </a:ext>
              </a:extLst>
            </p:cNvPr>
            <p:cNvCxnSpPr>
              <a:cxnSpLocks noChangeShapeType="1"/>
              <a:stCxn id="30769" idx="6"/>
              <a:endCxn id="30767" idx="2"/>
            </p:cNvCxnSpPr>
            <p:nvPr/>
          </p:nvCxnSpPr>
          <p:spPr bwMode="auto">
            <a:xfrm>
              <a:off x="4568" y="3840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6" name="Freeform 41">
              <a:extLst>
                <a:ext uri="{FF2B5EF4-FFF2-40B4-BE49-F238E27FC236}">
                  <a16:creationId xmlns:a16="http://schemas.microsoft.com/office/drawing/2014/main" id="{94609893-9963-4B8E-AED8-F75FFA3FC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6" y="3488"/>
              <a:ext cx="256" cy="232"/>
            </a:xfrm>
            <a:custGeom>
              <a:avLst/>
              <a:gdLst>
                <a:gd name="T0" fmla="*/ 48 w 256"/>
                <a:gd name="T1" fmla="*/ 208 h 232"/>
                <a:gd name="T2" fmla="*/ 192 w 256"/>
                <a:gd name="T3" fmla="*/ 208 h 232"/>
                <a:gd name="T4" fmla="*/ 240 w 256"/>
                <a:gd name="T5" fmla="*/ 64 h 232"/>
                <a:gd name="T6" fmla="*/ 96 w 256"/>
                <a:gd name="T7" fmla="*/ 16 h 232"/>
                <a:gd name="T8" fmla="*/ 0 w 256"/>
                <a:gd name="T9" fmla="*/ 160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32"/>
                <a:gd name="T17" fmla="*/ 256 w 256"/>
                <a:gd name="T18" fmla="*/ 232 h 2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32">
                  <a:moveTo>
                    <a:pt x="48" y="208"/>
                  </a:moveTo>
                  <a:cubicBezTo>
                    <a:pt x="104" y="220"/>
                    <a:pt x="160" y="232"/>
                    <a:pt x="192" y="208"/>
                  </a:cubicBezTo>
                  <a:cubicBezTo>
                    <a:pt x="224" y="184"/>
                    <a:pt x="256" y="96"/>
                    <a:pt x="240" y="64"/>
                  </a:cubicBezTo>
                  <a:cubicBezTo>
                    <a:pt x="224" y="32"/>
                    <a:pt x="136" y="0"/>
                    <a:pt x="96" y="16"/>
                  </a:cubicBezTo>
                  <a:cubicBezTo>
                    <a:pt x="56" y="32"/>
                    <a:pt x="16" y="136"/>
                    <a:pt x="0" y="16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cxnSp>
          <p:nvCxnSpPr>
            <p:cNvPr id="30757" name="AutoShape 42">
              <a:extLst>
                <a:ext uri="{FF2B5EF4-FFF2-40B4-BE49-F238E27FC236}">
                  <a16:creationId xmlns:a16="http://schemas.microsoft.com/office/drawing/2014/main" id="{3253FAD3-47F9-4798-85C8-835A38333091}"/>
                </a:ext>
              </a:extLst>
            </p:cNvPr>
            <p:cNvCxnSpPr>
              <a:cxnSpLocks noChangeShapeType="1"/>
              <a:stCxn id="30767" idx="3"/>
              <a:endCxn id="30769" idx="4"/>
            </p:cNvCxnSpPr>
            <p:nvPr/>
          </p:nvCxnSpPr>
          <p:spPr bwMode="auto">
            <a:xfrm rot="5400000">
              <a:off x="4608" y="3744"/>
              <a:ext cx="56" cy="536"/>
            </a:xfrm>
            <a:prstGeom prst="curvedConnector3">
              <a:avLst>
                <a:gd name="adj1" fmla="val 342856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58" name="Text Box 43">
              <a:extLst>
                <a:ext uri="{FF2B5EF4-FFF2-40B4-BE49-F238E27FC236}">
                  <a16:creationId xmlns:a16="http://schemas.microsoft.com/office/drawing/2014/main" id="{550F9789-004D-479E-8450-84D2B4FCD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600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0759" name="Text Box 44">
              <a:extLst>
                <a:ext uri="{FF2B5EF4-FFF2-40B4-BE49-F238E27FC236}">
                  <a16:creationId xmlns:a16="http://schemas.microsoft.com/office/drawing/2014/main" id="{F679EFE9-CDDD-45DC-943D-D04C52D9A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360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0760" name="Text Box 45">
              <a:extLst>
                <a:ext uri="{FF2B5EF4-FFF2-40B4-BE49-F238E27FC236}">
                  <a16:creationId xmlns:a16="http://schemas.microsoft.com/office/drawing/2014/main" id="{AFE807E5-98C4-4746-A998-B4F594F5E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4102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0761" name="Text Box 46">
              <a:extLst>
                <a:ext uri="{FF2B5EF4-FFF2-40B4-BE49-F238E27FC236}">
                  <a16:creationId xmlns:a16="http://schemas.microsoft.com/office/drawing/2014/main" id="{9DC47463-2E85-4D29-B1E5-5BCF7A1DB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216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0762" name="Text Box 47">
              <a:extLst>
                <a:ext uri="{FF2B5EF4-FFF2-40B4-BE49-F238E27FC236}">
                  <a16:creationId xmlns:a16="http://schemas.microsoft.com/office/drawing/2014/main" id="{E5C24944-4F0D-481A-BC88-FE9EFD676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600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0763" name="Text Box 48">
              <a:extLst>
                <a:ext uri="{FF2B5EF4-FFF2-40B4-BE49-F238E27FC236}">
                  <a16:creationId xmlns:a16="http://schemas.microsoft.com/office/drawing/2014/main" id="{E02DBEF1-F7DB-43DA-9232-25972AAD7D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264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0764" name="Line 49">
              <a:extLst>
                <a:ext uri="{FF2B5EF4-FFF2-40B4-BE49-F238E27FC236}">
                  <a16:creationId xmlns:a16="http://schemas.microsoft.com/office/drawing/2014/main" id="{2E6F7D50-3D7C-4583-AC66-43F8B76AA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3840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0765" name="Text Box 50">
              <a:extLst>
                <a:ext uri="{FF2B5EF4-FFF2-40B4-BE49-F238E27FC236}">
                  <a16:creationId xmlns:a16="http://schemas.microsoft.com/office/drawing/2014/main" id="{F97DF120-FC51-4A7E-9316-B519E2D4C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552"/>
              <a:ext cx="52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</p:grpSp>
      <p:sp>
        <p:nvSpPr>
          <p:cNvPr id="238643" name="Text Box 51">
            <a:extLst>
              <a:ext uri="{FF2B5EF4-FFF2-40B4-BE49-F238E27FC236}">
                <a16:creationId xmlns:a16="http://schemas.microsoft.com/office/drawing/2014/main" id="{12C7C622-7CB5-4E7A-98F0-F7E2B1B95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5738284"/>
            <a:ext cx="4419600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状态转换序列：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ABCBCCBC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A811FA-08AB-6382-96D4-94B2FF04C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70D11-EBB6-4E55-AF19-3322A049F9D5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2B6C22-AAA7-BE8E-D65E-5592B2D8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255B6F-2C9A-4F13-DFBA-06F18D8B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28</a:t>
            </a:fld>
            <a:endParaRPr lang="zh-CN" altLang="en-US"/>
          </a:p>
        </p:txBody>
      </p:sp>
      <p:graphicFrame>
        <p:nvGraphicFramePr>
          <p:cNvPr id="7" name="Group 29">
            <a:extLst>
              <a:ext uri="{FF2B5EF4-FFF2-40B4-BE49-F238E27FC236}">
                <a16:creationId xmlns:a16="http://schemas.microsoft.com/office/drawing/2014/main" id="{B2F23547-BB54-C224-AB1E-F5A44CF133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6691316"/>
              </p:ext>
            </p:extLst>
          </p:nvPr>
        </p:nvGraphicFramePr>
        <p:xfrm>
          <a:off x="5532000" y="2355052"/>
          <a:ext cx="3048000" cy="2478090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45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972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3B7D774-C735-43E0-BA0A-3C9133E34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27A8B9E9-678B-4E12-A9B5-41311480D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作业</a:t>
            </a:r>
            <a:r>
              <a:rPr lang="en-US" altLang="zh-CN" sz="2800" dirty="0">
                <a:latin typeface="Times New Roman" panose="02020603050405020304" pitchFamily="18" charset="0"/>
              </a:rPr>
              <a:t>9 (P39/2.8(</a:t>
            </a:r>
            <a:r>
              <a:rPr lang="zh-CN" altLang="en-US" sz="2800" dirty="0">
                <a:latin typeface="Times New Roman" panose="02020603050405020304" pitchFamily="18" charset="0"/>
              </a:rPr>
              <a:t>对应</a:t>
            </a:r>
            <a:r>
              <a:rPr lang="en-US" altLang="zh-CN" sz="2800" dirty="0">
                <a:latin typeface="Times New Roman" panose="02020603050405020304" pitchFamily="18" charset="0"/>
              </a:rPr>
              <a:t>2.7d)) </a:t>
            </a:r>
            <a:r>
              <a:rPr lang="zh-CN" altLang="en-US" sz="2800" dirty="0">
                <a:latin typeface="Times New Roman" panose="02020603050405020304" pitchFamily="18" charset="0"/>
              </a:rPr>
              <a:t>： </a:t>
            </a:r>
            <a:r>
              <a:rPr lang="en-US" altLang="zh-CN" sz="2800" b="1" dirty="0"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latin typeface="Times New Roman" panose="02020603050405020304" pitchFamily="18" charset="0"/>
              </a:rPr>
              <a:t>变</a:t>
            </a:r>
            <a:r>
              <a:rPr lang="en-US" altLang="zh-CN" sz="2800" b="1" dirty="0"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并给出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的状态转换序列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答案：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38618" name="Text Box 26">
            <a:extLst>
              <a:ext uri="{FF2B5EF4-FFF2-40B4-BE49-F238E27FC236}">
                <a16:creationId xmlns:a16="http://schemas.microsoft.com/office/drawing/2014/main" id="{9D623F56-C6F8-4D09-817D-1AF35CA94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94" y="3587651"/>
            <a:ext cx="2685448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EFGHI</a:t>
            </a: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是接受状态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7D5A11B-3639-4E30-A75C-FFD9D1C80D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54671"/>
              </p:ext>
            </p:extLst>
          </p:nvPr>
        </p:nvGraphicFramePr>
        <p:xfrm>
          <a:off x="3009715" y="2255593"/>
          <a:ext cx="5603408" cy="4373273"/>
        </p:xfrm>
        <a:graphic>
          <a:graphicData uri="http://schemas.openxmlformats.org/drawingml/2006/table">
            <a:tbl>
              <a:tblPr/>
              <a:tblGrid>
                <a:gridCol w="4030522">
                  <a:extLst>
                    <a:ext uri="{9D8B030D-6E8A-4147-A177-3AD203B41FA5}">
                      <a16:colId xmlns:a16="http://schemas.microsoft.com/office/drawing/2014/main" val="580436906"/>
                    </a:ext>
                  </a:extLst>
                </a:gridCol>
                <a:gridCol w="724896">
                  <a:extLst>
                    <a:ext uri="{9D8B030D-6E8A-4147-A177-3AD203B41FA5}">
                      <a16:colId xmlns:a16="http://schemas.microsoft.com/office/drawing/2014/main" val="2199467124"/>
                    </a:ext>
                  </a:extLst>
                </a:gridCol>
                <a:gridCol w="403480">
                  <a:extLst>
                    <a:ext uri="{9D8B030D-6E8A-4147-A177-3AD203B41FA5}">
                      <a16:colId xmlns:a16="http://schemas.microsoft.com/office/drawing/2014/main" val="898902332"/>
                    </a:ext>
                  </a:extLst>
                </a:gridCol>
                <a:gridCol w="444510">
                  <a:extLst>
                    <a:ext uri="{9D8B030D-6E8A-4147-A177-3AD203B41FA5}">
                      <a16:colId xmlns:a16="http://schemas.microsoft.com/office/drawing/2014/main" val="3580766929"/>
                    </a:ext>
                  </a:extLst>
                </a:gridCol>
              </a:tblGrid>
              <a:tr h="367634"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NFA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effectLst/>
                        </a:rPr>
                        <a:t>DFA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a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597166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{0,1,2,4,7}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A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27344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{1,2,3,4,6,7,8}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D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180465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{1,2,4,5,6,7}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C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C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871424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effectLst/>
                        </a:rPr>
                        <a:t>{1,2,4,5,6,7,9}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D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E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3837"/>
                  </a:ext>
                </a:extLst>
              </a:tr>
              <a:tr h="375433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{1,2,4,5,6,7,10,11,12,14,17}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E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971155"/>
                  </a:ext>
                </a:extLst>
              </a:tr>
              <a:tr h="530785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{1,2,3,4,6,7,8,11,12,13,14,16,17}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H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66669"/>
                  </a:ext>
                </a:extLst>
              </a:tr>
              <a:tr h="375433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{1,2,4,5,6,7,11,12,13,15,16,17}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G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03572"/>
                  </a:ext>
                </a:extLst>
              </a:tr>
              <a:tr h="530785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{1,2,4,5,6,7,9,11,12,14,15,16,17}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H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41185"/>
                  </a:ext>
                </a:extLst>
              </a:tr>
              <a:tr h="530785">
                <a:tc>
                  <a:txBody>
                    <a:bodyPr/>
                    <a:lstStyle/>
                    <a:p>
                      <a:r>
                        <a:rPr lang="en-US" altLang="zh-CN" sz="2000">
                          <a:effectLst/>
                        </a:rPr>
                        <a:t>{1,2,4,5,6,7,10,11,12,14,15,16,17}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I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effectLst/>
                        </a:rPr>
                        <a:t>F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G</a:t>
                      </a:r>
                    </a:p>
                  </a:txBody>
                  <a:tcPr marL="100181" marR="100181" marT="46237" marB="462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699529"/>
                  </a:ext>
                </a:extLst>
              </a:tr>
            </a:tbl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86E12C-B913-8610-A0C1-5DE28DD4D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0056-BF7F-47DD-9CA6-955777A3E191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B1A9AB-64A3-9DA2-109D-314913160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F40EEE-BF00-2D58-9100-78EAB364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56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3B7D774-C735-43E0-BA0A-3C9133E34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27A8B9E9-678B-4E12-A9B5-41311480D1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</a:rPr>
              <a:t>作业</a:t>
            </a:r>
            <a:r>
              <a:rPr lang="en-US" altLang="zh-CN" sz="2800" dirty="0">
                <a:latin typeface="Times New Roman" panose="02020603050405020304" pitchFamily="18" charset="0"/>
              </a:rPr>
              <a:t>9 (P39/2.8(</a:t>
            </a:r>
            <a:r>
              <a:rPr lang="zh-CN" altLang="en-US" sz="2800" dirty="0">
                <a:latin typeface="Times New Roman" panose="02020603050405020304" pitchFamily="18" charset="0"/>
              </a:rPr>
              <a:t>对应</a:t>
            </a:r>
            <a:r>
              <a:rPr lang="en-US" altLang="zh-CN" sz="2800" dirty="0">
                <a:latin typeface="Times New Roman" panose="02020603050405020304" pitchFamily="18" charset="0"/>
              </a:rPr>
              <a:t>2.7d)) </a:t>
            </a:r>
            <a:r>
              <a:rPr lang="zh-CN" altLang="en-US" sz="2800" dirty="0">
                <a:latin typeface="Times New Roman" panose="02020603050405020304" pitchFamily="18" charset="0"/>
              </a:rPr>
              <a:t>： </a:t>
            </a:r>
            <a:r>
              <a:rPr lang="en-US" altLang="zh-CN" sz="2800" b="1" dirty="0">
                <a:latin typeface="Times New Roman" panose="02020603050405020304" pitchFamily="18" charset="0"/>
              </a:rPr>
              <a:t>NFA</a:t>
            </a:r>
            <a:r>
              <a:rPr lang="zh-CN" altLang="en-US" sz="2800" dirty="0">
                <a:latin typeface="Times New Roman" panose="02020603050405020304" pitchFamily="18" charset="0"/>
              </a:rPr>
              <a:t>变</a:t>
            </a:r>
            <a:r>
              <a:rPr lang="en-US" altLang="zh-CN" sz="2800" b="1" dirty="0"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latin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并给出</a:t>
            </a:r>
            <a:r>
              <a:rPr lang="en-US" altLang="zh-CN" sz="2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ababbab</a:t>
            </a: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的状态转换序列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 (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</a:rPr>
              <a:t>bb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</a:rPr>
              <a:t>*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sz="2400" dirty="0">
                <a:latin typeface="Times New Roman" panose="02020603050405020304" pitchFamily="18" charset="0"/>
              </a:rPr>
              <a:t>答案：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38643" name="Text Box 51">
            <a:extLst>
              <a:ext uri="{FF2B5EF4-FFF2-40B4-BE49-F238E27FC236}">
                <a16:creationId xmlns:a16="http://schemas.microsoft.com/office/drawing/2014/main" id="{12C7C622-7CB5-4E7A-98F0-F7E2B1B95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2281" y="2606503"/>
            <a:ext cx="4419600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状态转换序列：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ABDBDEFH</a:t>
            </a:r>
          </a:p>
        </p:txBody>
      </p:sp>
      <p:pic>
        <p:nvPicPr>
          <p:cNvPr id="2050" name="Picture 2" descr="3 7 3-4-dfa">
            <a:extLst>
              <a:ext uri="{FF2B5EF4-FFF2-40B4-BE49-F238E27FC236}">
                <a16:creationId xmlns:a16="http://schemas.microsoft.com/office/drawing/2014/main" id="{814DDEF7-6FAA-40A2-BB72-64CB20CA2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77" y="3497850"/>
            <a:ext cx="8575207" cy="28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Box 26">
            <a:extLst>
              <a:ext uri="{FF2B5EF4-FFF2-40B4-BE49-F238E27FC236}">
                <a16:creationId xmlns:a16="http://schemas.microsoft.com/office/drawing/2014/main" id="{31FB536D-7CCF-422B-A68A-0FB973B90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525" y="2609537"/>
            <a:ext cx="2685448" cy="427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i="1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EFGHI</a:t>
            </a:r>
            <a:r>
              <a:rPr lang="zh-CN" altLang="en-US" sz="2400" b="0" dirty="0">
                <a:solidFill>
                  <a:schemeClr val="accent2"/>
                </a:solidFill>
                <a:latin typeface="Times New Roman" panose="02020603050405020304" pitchFamily="18" charset="0"/>
              </a:rPr>
              <a:t>是接受状态</a:t>
            </a:r>
          </a:p>
        </p:txBody>
      </p:sp>
      <p:sp>
        <p:nvSpPr>
          <p:cNvPr id="16" name="弧形 15">
            <a:extLst>
              <a:ext uri="{FF2B5EF4-FFF2-40B4-BE49-F238E27FC236}">
                <a16:creationId xmlns:a16="http://schemas.microsoft.com/office/drawing/2014/main" id="{2135E359-2B43-4FBE-A21D-C4ECCA42933E}"/>
              </a:ext>
            </a:extLst>
          </p:cNvPr>
          <p:cNvSpPr/>
          <p:nvPr/>
        </p:nvSpPr>
        <p:spPr>
          <a:xfrm rot="7490264">
            <a:off x="5917033" y="3442507"/>
            <a:ext cx="2386310" cy="2234071"/>
          </a:xfrm>
          <a:prstGeom prst="arc">
            <a:avLst>
              <a:gd name="adj1" fmla="val 14785293"/>
              <a:gd name="adj2" fmla="val 267248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A7213B-3C54-49AD-8E8C-FA21AF6498E4}"/>
              </a:ext>
            </a:extLst>
          </p:cNvPr>
          <p:cNvSpPr txBox="1"/>
          <p:nvPr/>
        </p:nvSpPr>
        <p:spPr>
          <a:xfrm>
            <a:off x="7110188" y="53466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05C209DE-FED9-49A7-B087-71D6229AB276}"/>
              </a:ext>
            </a:extLst>
          </p:cNvPr>
          <p:cNvSpPr/>
          <p:nvPr/>
        </p:nvSpPr>
        <p:spPr>
          <a:xfrm rot="16200000">
            <a:off x="2500996" y="5545564"/>
            <a:ext cx="641211" cy="572029"/>
          </a:xfrm>
          <a:prstGeom prst="arc">
            <a:avLst>
              <a:gd name="adj1" fmla="val 3897209"/>
              <a:gd name="adj2" fmla="val 17840422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46C1B6E-46AC-4B51-8A43-5B665C90FBAE}"/>
              </a:ext>
            </a:extLst>
          </p:cNvPr>
          <p:cNvSpPr txBox="1"/>
          <p:nvPr/>
        </p:nvSpPr>
        <p:spPr>
          <a:xfrm>
            <a:off x="2696766" y="58470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F4E189-BED8-CAA7-B0AB-3CFE6CF90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FEA1-C847-4295-A227-2A5E1543F907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A9C385-D2AC-246C-9EFA-867AD722A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2263-AA3A-6DB4-677D-9003E761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11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643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78B7AB2D-E423-4EE7-9780-926DE5694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86A8551-D777-4451-BA6F-CD1E3AA1D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P39/2.10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）：画出接受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语言注释：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/*…*/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的状态转换图。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注意，题目中增加一个条件：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/*/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不算注释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)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20B884A-1E56-4B94-A1EE-A7592E5BAF73}"/>
              </a:ext>
            </a:extLst>
          </p:cNvPr>
          <p:cNvGrpSpPr>
            <a:grpSpLocks/>
          </p:cNvGrpSpPr>
          <p:nvPr/>
        </p:nvGrpSpPr>
        <p:grpSpPr bwMode="auto">
          <a:xfrm>
            <a:off x="1361975" y="2698627"/>
            <a:ext cx="6248400" cy="1774825"/>
            <a:chOff x="1488" y="2208"/>
            <a:chExt cx="3936" cy="1118"/>
          </a:xfrm>
        </p:grpSpPr>
        <p:sp>
          <p:nvSpPr>
            <p:cNvPr id="32783" name="Oval 5">
              <a:extLst>
                <a:ext uri="{FF2B5EF4-FFF2-40B4-BE49-F238E27FC236}">
                  <a16:creationId xmlns:a16="http://schemas.microsoft.com/office/drawing/2014/main" id="{929D747F-E521-46D0-847D-788CCDD3C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78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32784" name="AutoShape 6">
              <a:extLst>
                <a:ext uri="{FF2B5EF4-FFF2-40B4-BE49-F238E27FC236}">
                  <a16:creationId xmlns:a16="http://schemas.microsoft.com/office/drawing/2014/main" id="{C1CEA57C-1371-41D7-A021-8FCA6BA7CD8E}"/>
                </a:ext>
              </a:extLst>
            </p:cNvPr>
            <p:cNvCxnSpPr>
              <a:cxnSpLocks noChangeShapeType="1"/>
              <a:stCxn id="32783" idx="6"/>
              <a:endCxn id="32789" idx="2"/>
            </p:cNvCxnSpPr>
            <p:nvPr/>
          </p:nvCxnSpPr>
          <p:spPr bwMode="auto">
            <a:xfrm>
              <a:off x="2120" y="2976"/>
              <a:ext cx="320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5" name="AutoShape 7">
              <a:extLst>
                <a:ext uri="{FF2B5EF4-FFF2-40B4-BE49-F238E27FC236}">
                  <a16:creationId xmlns:a16="http://schemas.microsoft.com/office/drawing/2014/main" id="{74A7F9FF-CF74-4646-A886-BAEB956D16A3}"/>
                </a:ext>
              </a:extLst>
            </p:cNvPr>
            <p:cNvCxnSpPr>
              <a:cxnSpLocks noChangeShapeType="1"/>
              <a:endCxn id="32783" idx="2"/>
            </p:cNvCxnSpPr>
            <p:nvPr/>
          </p:nvCxnSpPr>
          <p:spPr bwMode="auto">
            <a:xfrm>
              <a:off x="1488" y="2976"/>
              <a:ext cx="23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6" name="Text Box 8">
              <a:extLst>
                <a:ext uri="{FF2B5EF4-FFF2-40B4-BE49-F238E27FC236}">
                  <a16:creationId xmlns:a16="http://schemas.microsoft.com/office/drawing/2014/main" id="{E5576592-3CF2-4C6D-928A-CCA0E5C0C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44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  <p:grpSp>
          <p:nvGrpSpPr>
            <p:cNvPr id="32787" name="Group 9">
              <a:extLst>
                <a:ext uri="{FF2B5EF4-FFF2-40B4-BE49-F238E27FC236}">
                  <a16:creationId xmlns:a16="http://schemas.microsoft.com/office/drawing/2014/main" id="{C12B8628-6EA2-4DBE-8B54-BB6CBE586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40" y="2784"/>
              <a:ext cx="384" cy="384"/>
              <a:chOff x="2160" y="2640"/>
              <a:chExt cx="384" cy="384"/>
            </a:xfrm>
          </p:grpSpPr>
          <p:sp>
            <p:nvSpPr>
              <p:cNvPr id="32804" name="Oval 10">
                <a:extLst>
                  <a:ext uri="{FF2B5EF4-FFF2-40B4-BE49-F238E27FC236}">
                    <a16:creationId xmlns:a16="http://schemas.microsoft.com/office/drawing/2014/main" id="{33B82F4C-8834-4A16-93FF-85C4865F2C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32805" name="Oval 11">
                <a:extLst>
                  <a:ext uri="{FF2B5EF4-FFF2-40B4-BE49-F238E27FC236}">
                    <a16:creationId xmlns:a16="http://schemas.microsoft.com/office/drawing/2014/main" id="{08C46EC7-1591-4129-9FB2-203587A94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2788" name="AutoShape 12">
              <a:extLst>
                <a:ext uri="{FF2B5EF4-FFF2-40B4-BE49-F238E27FC236}">
                  <a16:creationId xmlns:a16="http://schemas.microsoft.com/office/drawing/2014/main" id="{F3FC699E-41D3-4D6A-94EC-2D49C4FAB9CD}"/>
                </a:ext>
              </a:extLst>
            </p:cNvPr>
            <p:cNvCxnSpPr>
              <a:cxnSpLocks noChangeShapeType="1"/>
              <a:stCxn id="32791" idx="6"/>
              <a:endCxn id="32805" idx="2"/>
            </p:cNvCxnSpPr>
            <p:nvPr/>
          </p:nvCxnSpPr>
          <p:spPr bwMode="auto">
            <a:xfrm>
              <a:off x="4568" y="2976"/>
              <a:ext cx="46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89" name="Oval 13">
              <a:extLst>
                <a:ext uri="{FF2B5EF4-FFF2-40B4-BE49-F238E27FC236}">
                  <a16:creationId xmlns:a16="http://schemas.microsoft.com/office/drawing/2014/main" id="{45E1565C-0CB3-4D89-889C-458C1D5DC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78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2790" name="Oval 14">
              <a:extLst>
                <a:ext uri="{FF2B5EF4-FFF2-40B4-BE49-F238E27FC236}">
                  <a16:creationId xmlns:a16="http://schemas.microsoft.com/office/drawing/2014/main" id="{AD00F848-88C7-483D-8FD6-9BE7FEDF9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8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2791" name="Oval 15">
              <a:extLst>
                <a:ext uri="{FF2B5EF4-FFF2-40B4-BE49-F238E27FC236}">
                  <a16:creationId xmlns:a16="http://schemas.microsoft.com/office/drawing/2014/main" id="{395A5347-C994-4CEE-BB9E-4F106AD2A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84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cxnSp>
          <p:nvCxnSpPr>
            <p:cNvPr id="32792" name="AutoShape 16">
              <a:extLst>
                <a:ext uri="{FF2B5EF4-FFF2-40B4-BE49-F238E27FC236}">
                  <a16:creationId xmlns:a16="http://schemas.microsoft.com/office/drawing/2014/main" id="{71B63A7D-985D-4DA2-8B1F-59FAA9ADF31B}"/>
                </a:ext>
              </a:extLst>
            </p:cNvPr>
            <p:cNvCxnSpPr>
              <a:cxnSpLocks noChangeShapeType="1"/>
              <a:stCxn id="32789" idx="6"/>
              <a:endCxn id="32790" idx="2"/>
            </p:cNvCxnSpPr>
            <p:nvPr/>
          </p:nvCxnSpPr>
          <p:spPr bwMode="auto">
            <a:xfrm>
              <a:off x="2840" y="2976"/>
              <a:ext cx="46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93" name="AutoShape 17">
              <a:extLst>
                <a:ext uri="{FF2B5EF4-FFF2-40B4-BE49-F238E27FC236}">
                  <a16:creationId xmlns:a16="http://schemas.microsoft.com/office/drawing/2014/main" id="{0887ABC8-8B33-4A13-A017-3B18C86A4639}"/>
                </a:ext>
              </a:extLst>
            </p:cNvPr>
            <p:cNvCxnSpPr>
              <a:cxnSpLocks noChangeShapeType="1"/>
              <a:stCxn id="32790" idx="6"/>
              <a:endCxn id="32791" idx="2"/>
            </p:cNvCxnSpPr>
            <p:nvPr/>
          </p:nvCxnSpPr>
          <p:spPr bwMode="auto">
            <a:xfrm>
              <a:off x="3704" y="2976"/>
              <a:ext cx="464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94" name="Freeform 18">
              <a:extLst>
                <a:ext uri="{FF2B5EF4-FFF2-40B4-BE49-F238E27FC236}">
                  <a16:creationId xmlns:a16="http://schemas.microsoft.com/office/drawing/2014/main" id="{DC9D0A9C-E6A0-4A4D-9ACE-68BD765FE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440"/>
              <a:ext cx="352" cy="344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2795" name="Freeform 19">
              <a:extLst>
                <a:ext uri="{FF2B5EF4-FFF2-40B4-BE49-F238E27FC236}">
                  <a16:creationId xmlns:a16="http://schemas.microsoft.com/office/drawing/2014/main" id="{6187ADE7-3A80-403C-BD70-7911E68D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" y="2440"/>
              <a:ext cx="352" cy="344"/>
            </a:xfrm>
            <a:custGeom>
              <a:avLst/>
              <a:gdLst>
                <a:gd name="T0" fmla="*/ 144 w 352"/>
                <a:gd name="T1" fmla="*/ 344 h 344"/>
                <a:gd name="T2" fmla="*/ 0 w 352"/>
                <a:gd name="T3" fmla="*/ 200 h 344"/>
                <a:gd name="T4" fmla="*/ 144 w 352"/>
                <a:gd name="T5" fmla="*/ 8 h 344"/>
                <a:gd name="T6" fmla="*/ 336 w 352"/>
                <a:gd name="T7" fmla="*/ 152 h 344"/>
                <a:gd name="T8" fmla="*/ 240 w 352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2"/>
                <a:gd name="T16" fmla="*/ 0 h 344"/>
                <a:gd name="T17" fmla="*/ 352 w 352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2" h="344">
                  <a:moveTo>
                    <a:pt x="144" y="344"/>
                  </a:moveTo>
                  <a:cubicBezTo>
                    <a:pt x="72" y="300"/>
                    <a:pt x="0" y="256"/>
                    <a:pt x="0" y="200"/>
                  </a:cubicBezTo>
                  <a:cubicBezTo>
                    <a:pt x="0" y="144"/>
                    <a:pt x="88" y="16"/>
                    <a:pt x="144" y="8"/>
                  </a:cubicBezTo>
                  <a:cubicBezTo>
                    <a:pt x="200" y="0"/>
                    <a:pt x="320" y="96"/>
                    <a:pt x="336" y="152"/>
                  </a:cubicBezTo>
                  <a:cubicBezTo>
                    <a:pt x="352" y="208"/>
                    <a:pt x="256" y="296"/>
                    <a:pt x="240" y="344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 dirty="0"/>
            </a:p>
          </p:txBody>
        </p:sp>
        <p:cxnSp>
          <p:nvCxnSpPr>
            <p:cNvPr id="32796" name="AutoShape 20">
              <a:extLst>
                <a:ext uri="{FF2B5EF4-FFF2-40B4-BE49-F238E27FC236}">
                  <a16:creationId xmlns:a16="http://schemas.microsoft.com/office/drawing/2014/main" id="{EAF1F2CB-9130-46F5-AA91-2136C9E7D408}"/>
                </a:ext>
              </a:extLst>
            </p:cNvPr>
            <p:cNvCxnSpPr>
              <a:cxnSpLocks noChangeShapeType="1"/>
              <a:stCxn id="32791" idx="3"/>
              <a:endCxn id="32790" idx="5"/>
            </p:cNvCxnSpPr>
            <p:nvPr/>
          </p:nvCxnSpPr>
          <p:spPr bwMode="auto">
            <a:xfrm rot="5400000">
              <a:off x="3935" y="2825"/>
              <a:ext cx="1" cy="592"/>
            </a:xfrm>
            <a:prstGeom prst="curvedConnector3">
              <a:avLst>
                <a:gd name="adj1" fmla="val 19200009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797" name="Text Box 21">
              <a:extLst>
                <a:ext uri="{FF2B5EF4-FFF2-40B4-BE49-F238E27FC236}">
                  <a16:creationId xmlns:a16="http://schemas.microsoft.com/office/drawing/2014/main" id="{6767BC14-44EA-48B4-9EB1-C5DAD4D44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36"/>
              <a:ext cx="2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</p:txBody>
        </p:sp>
        <p:sp>
          <p:nvSpPr>
            <p:cNvPr id="32798" name="Text Box 22">
              <a:extLst>
                <a:ext uri="{FF2B5EF4-FFF2-40B4-BE49-F238E27FC236}">
                  <a16:creationId xmlns:a16="http://schemas.microsoft.com/office/drawing/2014/main" id="{BB833856-6953-4008-B38D-DC67BC44B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758"/>
              <a:ext cx="2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2799" name="Text Box 23">
              <a:extLst>
                <a:ext uri="{FF2B5EF4-FFF2-40B4-BE49-F238E27FC236}">
                  <a16:creationId xmlns:a16="http://schemas.microsoft.com/office/drawing/2014/main" id="{5377BC99-9730-49F1-8250-7A20DF7EA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736"/>
              <a:ext cx="2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2800" name="Text Box 24">
              <a:extLst>
                <a:ext uri="{FF2B5EF4-FFF2-40B4-BE49-F238E27FC236}">
                  <a16:creationId xmlns:a16="http://schemas.microsoft.com/office/drawing/2014/main" id="{CF1AA710-B01D-4AEF-99A4-ABD7A596E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736"/>
              <a:ext cx="2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</p:txBody>
        </p:sp>
        <p:sp>
          <p:nvSpPr>
            <p:cNvPr id="32801" name="Text Box 25">
              <a:extLst>
                <a:ext uri="{FF2B5EF4-FFF2-40B4-BE49-F238E27FC236}">
                  <a16:creationId xmlns:a16="http://schemas.microsoft.com/office/drawing/2014/main" id="{D929E9EB-3D76-48A8-9F4E-1ACA75DD4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08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other,/</a:t>
              </a:r>
            </a:p>
          </p:txBody>
        </p:sp>
        <p:sp>
          <p:nvSpPr>
            <p:cNvPr id="32802" name="Text Box 26">
              <a:extLst>
                <a:ext uri="{FF2B5EF4-FFF2-40B4-BE49-F238E27FC236}">
                  <a16:creationId xmlns:a16="http://schemas.microsoft.com/office/drawing/2014/main" id="{0187BCFF-E341-4BAA-8AB4-E7AC83B10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230"/>
              <a:ext cx="28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2803" name="Text Box 27">
              <a:extLst>
                <a:ext uri="{FF2B5EF4-FFF2-40B4-BE49-F238E27FC236}">
                  <a16:creationId xmlns:a16="http://schemas.microsoft.com/office/drawing/2014/main" id="{876A4A0E-1539-4AD7-AE2A-0A3583108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5" y="3057"/>
              <a:ext cx="8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other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5166D94-E628-7BC1-7247-F6EC798231CB}"/>
              </a:ext>
            </a:extLst>
          </p:cNvPr>
          <p:cNvGrpSpPr/>
          <p:nvPr/>
        </p:nvGrpSpPr>
        <p:grpSpPr>
          <a:xfrm>
            <a:off x="2047775" y="4221864"/>
            <a:ext cx="5257801" cy="2223841"/>
            <a:chOff x="2047775" y="4221864"/>
            <a:chExt cx="5257801" cy="2223841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6E620D5E-F5FD-4855-902D-6B1183D1E6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7775" y="4221864"/>
              <a:ext cx="5257801" cy="2116138"/>
              <a:chOff x="1211" y="2947"/>
              <a:chExt cx="3312" cy="1333"/>
            </a:xfrm>
          </p:grpSpPr>
          <p:sp>
            <p:nvSpPr>
              <p:cNvPr id="32774" name="Oval 30">
                <a:extLst>
                  <a:ext uri="{FF2B5EF4-FFF2-40B4-BE49-F238E27FC236}">
                    <a16:creationId xmlns:a16="http://schemas.microsoft.com/office/drawing/2014/main" id="{36645097-A43D-4D1E-BC4E-0BD531CEC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3792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  <a:ea typeface="宋体" panose="02010600030101010101" pitchFamily="2" charset="-122"/>
                  </a:rPr>
                  <a:t>5</a:t>
                </a:r>
              </a:p>
            </p:txBody>
          </p:sp>
          <p:cxnSp>
            <p:nvCxnSpPr>
              <p:cNvPr id="32775" name="AutoShape 31">
                <a:extLst>
                  <a:ext uri="{FF2B5EF4-FFF2-40B4-BE49-F238E27FC236}">
                    <a16:creationId xmlns:a16="http://schemas.microsoft.com/office/drawing/2014/main" id="{78BA436D-DF42-41FA-9755-888A7A996365}"/>
                  </a:ext>
                </a:extLst>
              </p:cNvPr>
              <p:cNvCxnSpPr>
                <a:cxnSpLocks noChangeShapeType="1"/>
                <a:stCxn id="32783" idx="4"/>
                <a:endCxn id="32774" idx="1"/>
              </p:cNvCxnSpPr>
              <p:nvPr/>
            </p:nvCxnSpPr>
            <p:spPr bwMode="auto">
              <a:xfrm>
                <a:off x="1211" y="2947"/>
                <a:ext cx="1581" cy="901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76" name="AutoShape 32">
                <a:extLst>
                  <a:ext uri="{FF2B5EF4-FFF2-40B4-BE49-F238E27FC236}">
                    <a16:creationId xmlns:a16="http://schemas.microsoft.com/office/drawing/2014/main" id="{F230326F-4930-4D2F-A88C-7A18CFC4540D}"/>
                  </a:ext>
                </a:extLst>
              </p:cNvPr>
              <p:cNvCxnSpPr>
                <a:cxnSpLocks noChangeShapeType="1"/>
                <a:stCxn id="32789" idx="4"/>
              </p:cNvCxnSpPr>
              <p:nvPr/>
            </p:nvCxnSpPr>
            <p:spPr bwMode="auto">
              <a:xfrm>
                <a:off x="1931" y="2947"/>
                <a:ext cx="947" cy="876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777" name="AutoShape 33">
                <a:extLst>
                  <a:ext uri="{FF2B5EF4-FFF2-40B4-BE49-F238E27FC236}">
                    <a16:creationId xmlns:a16="http://schemas.microsoft.com/office/drawing/2014/main" id="{E238FAB6-7DCB-479F-9179-9BF5589BDA45}"/>
                  </a:ext>
                </a:extLst>
              </p:cNvPr>
              <p:cNvCxnSpPr>
                <a:cxnSpLocks noChangeShapeType="1"/>
                <a:stCxn id="32805" idx="4"/>
                <a:endCxn id="32774" idx="7"/>
              </p:cNvCxnSpPr>
              <p:nvPr/>
            </p:nvCxnSpPr>
            <p:spPr bwMode="auto">
              <a:xfrm flipH="1">
                <a:off x="3064" y="2947"/>
                <a:ext cx="1459" cy="901"/>
              </a:xfrm>
              <a:prstGeom prst="straightConnector1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2778" name="Freeform 34">
                <a:extLst>
                  <a:ext uri="{FF2B5EF4-FFF2-40B4-BE49-F238E27FC236}">
                    <a16:creationId xmlns:a16="http://schemas.microsoft.com/office/drawing/2014/main" id="{53B31E9E-7B30-4DBB-BB4D-62FA66413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8" y="4024"/>
                <a:ext cx="344" cy="256"/>
              </a:xfrm>
              <a:custGeom>
                <a:avLst/>
                <a:gdLst>
                  <a:gd name="T0" fmla="*/ 344 w 344"/>
                  <a:gd name="T1" fmla="*/ 152 h 256"/>
                  <a:gd name="T2" fmla="*/ 200 w 344"/>
                  <a:gd name="T3" fmla="*/ 248 h 256"/>
                  <a:gd name="T4" fmla="*/ 8 w 344"/>
                  <a:gd name="T5" fmla="*/ 104 h 256"/>
                  <a:gd name="T6" fmla="*/ 248 w 344"/>
                  <a:gd name="T7" fmla="*/ 8 h 2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4"/>
                  <a:gd name="T13" fmla="*/ 0 h 256"/>
                  <a:gd name="T14" fmla="*/ 344 w 344"/>
                  <a:gd name="T15" fmla="*/ 256 h 2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4" h="256">
                    <a:moveTo>
                      <a:pt x="344" y="152"/>
                    </a:moveTo>
                    <a:cubicBezTo>
                      <a:pt x="300" y="204"/>
                      <a:pt x="256" y="256"/>
                      <a:pt x="200" y="248"/>
                    </a:cubicBezTo>
                    <a:cubicBezTo>
                      <a:pt x="144" y="240"/>
                      <a:pt x="0" y="144"/>
                      <a:pt x="8" y="104"/>
                    </a:cubicBezTo>
                    <a:cubicBezTo>
                      <a:pt x="16" y="64"/>
                      <a:pt x="192" y="0"/>
                      <a:pt x="248" y="8"/>
                    </a:cubicBez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28800" rIns="54000" bIns="28800"/>
              <a:lstStyle/>
              <a:p>
                <a:endParaRPr lang="zh-CN" altLang="en-US"/>
              </a:p>
            </p:txBody>
          </p:sp>
          <p:sp>
            <p:nvSpPr>
              <p:cNvPr id="32779" name="Text Box 35">
                <a:extLst>
                  <a:ext uri="{FF2B5EF4-FFF2-40B4-BE49-F238E27FC236}">
                    <a16:creationId xmlns:a16="http://schemas.microsoft.com/office/drawing/2014/main" id="{D9996965-2808-4853-A104-242CE3805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15" y="3287"/>
                <a:ext cx="60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other,*</a:t>
                </a:r>
              </a:p>
            </p:txBody>
          </p:sp>
          <p:sp>
            <p:nvSpPr>
              <p:cNvPr id="32780" name="Text Box 36">
                <a:extLst>
                  <a:ext uri="{FF2B5EF4-FFF2-40B4-BE49-F238E27FC236}">
                    <a16:creationId xmlns:a16="http://schemas.microsoft.com/office/drawing/2014/main" id="{2FCE18A5-933E-42AA-9792-4A7591298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4" y="3148"/>
                <a:ext cx="56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other,/</a:t>
                </a:r>
              </a:p>
            </p:txBody>
          </p:sp>
          <p:sp>
            <p:nvSpPr>
              <p:cNvPr id="32781" name="Text Box 37">
                <a:extLst>
                  <a:ext uri="{FF2B5EF4-FFF2-40B4-BE49-F238E27FC236}">
                    <a16:creationId xmlns:a16="http://schemas.microsoft.com/office/drawing/2014/main" id="{7DA05749-A698-4818-9CC4-C9ACD11916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6" y="3392"/>
                <a:ext cx="71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/,*,other</a:t>
                </a:r>
              </a:p>
            </p:txBody>
          </p:sp>
          <p:sp>
            <p:nvSpPr>
              <p:cNvPr id="32782" name="Text Box 38">
                <a:extLst>
                  <a:ext uri="{FF2B5EF4-FFF2-40B4-BE49-F238E27FC236}">
                    <a16:creationId xmlns:a16="http://schemas.microsoft.com/office/drawing/2014/main" id="{37AFB28E-2F5C-4BB3-ACB5-2C163FC184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1" y="3974"/>
                <a:ext cx="71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54000" tIns="28800" rIns="54000" bIns="2880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/,*,other</a:t>
                </a: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87E0181E-D53F-4B8A-B19D-8F094A20A3B2}"/>
                </a:ext>
              </a:extLst>
            </p:cNvPr>
            <p:cNvSpPr txBox="1"/>
            <p:nvPr/>
          </p:nvSpPr>
          <p:spPr>
            <a:xfrm>
              <a:off x="5128547" y="6076373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（死状态）</a:t>
              </a: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2A3F5FA5-9023-4C14-BD4D-F354E8408D64}"/>
              </a:ext>
            </a:extLst>
          </p:cNvPr>
          <p:cNvSpPr txBox="1"/>
          <p:nvPr/>
        </p:nvSpPr>
        <p:spPr>
          <a:xfrm>
            <a:off x="1000655" y="641029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other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代表除*和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之外的所有字符。</a:t>
            </a:r>
            <a:endParaRPr lang="zh-CN" altLang="en-US" sz="20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E80676-7A69-51EF-04F9-CBA5FE66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E94C0-ABC9-4B71-B0F2-60AA1DB6D63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ECD7BD-3A50-E9FC-152D-451FE30D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93EC10-6148-A9FA-3C0C-64245641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BF64E7-82CD-4E94-ADD5-ED2F564A9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28A03D06-C256-4297-929A-B624FBDB9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作业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11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P39/2.11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前两个）：用正规式的最简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DFA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同构来证明两个正规式等价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800" b="1" dirty="0" err="1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2800" b="1" i="1" dirty="0" err="1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2800" dirty="0">
                <a:latin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和 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a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|</a:t>
            </a:r>
            <a:r>
              <a:rPr lang="en-US" altLang="zh-CN" sz="2800" b="1" i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b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r>
              <a:rPr lang="en-US" altLang="zh-CN" sz="2800" b="1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)</a:t>
            </a:r>
            <a:r>
              <a:rPr lang="en-US" altLang="zh-CN" sz="2800" b="1" baseline="30000" dirty="0">
                <a:solidFill>
                  <a:srgbClr val="008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*</a:t>
            </a:r>
            <a:endParaRPr lang="en-US" altLang="zh-CN" sz="28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436B016-4B38-4DCF-8F33-99F41AE9AF0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286000"/>
            <a:ext cx="3962400" cy="1828800"/>
            <a:chOff x="576" y="2352"/>
            <a:chExt cx="2496" cy="1152"/>
          </a:xfrm>
        </p:grpSpPr>
        <p:grpSp>
          <p:nvGrpSpPr>
            <p:cNvPr id="34853" name="Group 5">
              <a:extLst>
                <a:ext uri="{FF2B5EF4-FFF2-40B4-BE49-F238E27FC236}">
                  <a16:creationId xmlns:a16="http://schemas.microsoft.com/office/drawing/2014/main" id="{88475CB3-EA75-4B21-A73A-5D0ED40211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784"/>
              <a:ext cx="384" cy="384"/>
              <a:chOff x="2160" y="2640"/>
              <a:chExt cx="384" cy="384"/>
            </a:xfrm>
          </p:grpSpPr>
          <p:sp>
            <p:nvSpPr>
              <p:cNvPr id="34874" name="Oval 6">
                <a:extLst>
                  <a:ext uri="{FF2B5EF4-FFF2-40B4-BE49-F238E27FC236}">
                    <a16:creationId xmlns:a16="http://schemas.microsoft.com/office/drawing/2014/main" id="{BDB2D939-C626-456E-B3A0-BF98F870A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4875" name="Oval 7">
                <a:extLst>
                  <a:ext uri="{FF2B5EF4-FFF2-40B4-BE49-F238E27FC236}">
                    <a16:creationId xmlns:a16="http://schemas.microsoft.com/office/drawing/2014/main" id="{851D60DC-85FF-4D37-B707-F4D19CEEE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854" name="Group 8">
              <a:extLst>
                <a:ext uri="{FF2B5EF4-FFF2-40B4-BE49-F238E27FC236}">
                  <a16:creationId xmlns:a16="http://schemas.microsoft.com/office/drawing/2014/main" id="{AD3EFB17-B906-4E0A-98AB-E26F5F2D9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784"/>
              <a:ext cx="384" cy="384"/>
              <a:chOff x="2160" y="2640"/>
              <a:chExt cx="384" cy="384"/>
            </a:xfrm>
          </p:grpSpPr>
          <p:sp>
            <p:nvSpPr>
              <p:cNvPr id="34872" name="Oval 9">
                <a:extLst>
                  <a:ext uri="{FF2B5EF4-FFF2-40B4-BE49-F238E27FC236}">
                    <a16:creationId xmlns:a16="http://schemas.microsoft.com/office/drawing/2014/main" id="{722F435B-FC95-44F5-B7AC-E31C57717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34873" name="Oval 10">
                <a:extLst>
                  <a:ext uri="{FF2B5EF4-FFF2-40B4-BE49-F238E27FC236}">
                    <a16:creationId xmlns:a16="http://schemas.microsoft.com/office/drawing/2014/main" id="{DC568896-BD6A-411A-9903-1114472D4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855" name="Group 11">
              <a:extLst>
                <a:ext uri="{FF2B5EF4-FFF2-40B4-BE49-F238E27FC236}">
                  <a16:creationId xmlns:a16="http://schemas.microsoft.com/office/drawing/2014/main" id="{5A4F336D-216F-41F9-949A-B737CB731A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2784"/>
              <a:ext cx="384" cy="384"/>
              <a:chOff x="2160" y="2640"/>
              <a:chExt cx="384" cy="384"/>
            </a:xfrm>
          </p:grpSpPr>
          <p:sp>
            <p:nvSpPr>
              <p:cNvPr id="34870" name="Oval 12">
                <a:extLst>
                  <a:ext uri="{FF2B5EF4-FFF2-40B4-BE49-F238E27FC236}">
                    <a16:creationId xmlns:a16="http://schemas.microsoft.com/office/drawing/2014/main" id="{94AC7917-3909-45C9-980F-439F90C16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4871" name="Oval 13">
                <a:extLst>
                  <a:ext uri="{FF2B5EF4-FFF2-40B4-BE49-F238E27FC236}">
                    <a16:creationId xmlns:a16="http://schemas.microsoft.com/office/drawing/2014/main" id="{C9E9A6B8-4AE0-44B3-A44E-D0F81F5C1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34856" name="AutoShape 14">
              <a:extLst>
                <a:ext uri="{FF2B5EF4-FFF2-40B4-BE49-F238E27FC236}">
                  <a16:creationId xmlns:a16="http://schemas.microsoft.com/office/drawing/2014/main" id="{9506FE89-635E-4380-A170-868775A1A16D}"/>
                </a:ext>
              </a:extLst>
            </p:cNvPr>
            <p:cNvCxnSpPr>
              <a:cxnSpLocks noChangeShapeType="1"/>
              <a:stCxn id="34875" idx="6"/>
              <a:endCxn id="34873" idx="2"/>
            </p:cNvCxnSpPr>
            <p:nvPr/>
          </p:nvCxnSpPr>
          <p:spPr bwMode="auto">
            <a:xfrm>
              <a:off x="1496" y="2976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7" name="AutoShape 15">
              <a:extLst>
                <a:ext uri="{FF2B5EF4-FFF2-40B4-BE49-F238E27FC236}">
                  <a16:creationId xmlns:a16="http://schemas.microsoft.com/office/drawing/2014/main" id="{B5F9FF79-8EF4-4810-94D5-F67C906765E3}"/>
                </a:ext>
              </a:extLst>
            </p:cNvPr>
            <p:cNvCxnSpPr>
              <a:cxnSpLocks noChangeShapeType="1"/>
              <a:stCxn id="34875" idx="7"/>
              <a:endCxn id="34871" idx="0"/>
            </p:cNvCxnSpPr>
            <p:nvPr/>
          </p:nvCxnSpPr>
          <p:spPr bwMode="auto">
            <a:xfrm rot="-5400000">
              <a:off x="2008" y="2200"/>
              <a:ext cx="56" cy="1208"/>
            </a:xfrm>
            <a:prstGeom prst="curvedConnector3">
              <a:avLst>
                <a:gd name="adj1" fmla="val 716069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8" name="AutoShape 16">
              <a:extLst>
                <a:ext uri="{FF2B5EF4-FFF2-40B4-BE49-F238E27FC236}">
                  <a16:creationId xmlns:a16="http://schemas.microsoft.com/office/drawing/2014/main" id="{77A30580-7E2F-4601-A33B-F3B329A8BD15}"/>
                </a:ext>
              </a:extLst>
            </p:cNvPr>
            <p:cNvCxnSpPr>
              <a:cxnSpLocks noChangeShapeType="1"/>
              <a:stCxn id="34873" idx="7"/>
              <a:endCxn id="34873" idx="0"/>
            </p:cNvCxnSpPr>
            <p:nvPr/>
          </p:nvCxnSpPr>
          <p:spPr bwMode="auto">
            <a:xfrm rot="5400000" flipH="1">
              <a:off x="2008" y="2736"/>
              <a:ext cx="56" cy="136"/>
            </a:xfrm>
            <a:prstGeom prst="curvedConnector3">
              <a:avLst>
                <a:gd name="adj1" fmla="val 416069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9" name="AutoShape 17">
              <a:extLst>
                <a:ext uri="{FF2B5EF4-FFF2-40B4-BE49-F238E27FC236}">
                  <a16:creationId xmlns:a16="http://schemas.microsoft.com/office/drawing/2014/main" id="{8AB58F86-FE4B-4613-BD5C-5A9FC799FD6B}"/>
                </a:ext>
              </a:extLst>
            </p:cNvPr>
            <p:cNvCxnSpPr>
              <a:cxnSpLocks noChangeShapeType="1"/>
              <a:stCxn id="34873" idx="6"/>
              <a:endCxn id="34871" idx="2"/>
            </p:cNvCxnSpPr>
            <p:nvPr/>
          </p:nvCxnSpPr>
          <p:spPr bwMode="auto">
            <a:xfrm>
              <a:off x="2168" y="2976"/>
              <a:ext cx="272" cy="0"/>
            </a:xfrm>
            <a:prstGeom prst="straightConnector1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60" name="Freeform 18">
              <a:extLst>
                <a:ext uri="{FF2B5EF4-FFF2-40B4-BE49-F238E27FC236}">
                  <a16:creationId xmlns:a16="http://schemas.microsoft.com/office/drawing/2014/main" id="{65662B08-1F4B-44E7-9399-0A43283A8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624"/>
              <a:ext cx="256" cy="232"/>
            </a:xfrm>
            <a:custGeom>
              <a:avLst/>
              <a:gdLst>
                <a:gd name="T0" fmla="*/ 48 w 256"/>
                <a:gd name="T1" fmla="*/ 208 h 232"/>
                <a:gd name="T2" fmla="*/ 192 w 256"/>
                <a:gd name="T3" fmla="*/ 208 h 232"/>
                <a:gd name="T4" fmla="*/ 240 w 256"/>
                <a:gd name="T5" fmla="*/ 64 h 232"/>
                <a:gd name="T6" fmla="*/ 96 w 256"/>
                <a:gd name="T7" fmla="*/ 16 h 232"/>
                <a:gd name="T8" fmla="*/ 0 w 256"/>
                <a:gd name="T9" fmla="*/ 160 h 2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6"/>
                <a:gd name="T16" fmla="*/ 0 h 232"/>
                <a:gd name="T17" fmla="*/ 256 w 256"/>
                <a:gd name="T18" fmla="*/ 232 h 2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6" h="232">
                  <a:moveTo>
                    <a:pt x="48" y="208"/>
                  </a:moveTo>
                  <a:cubicBezTo>
                    <a:pt x="104" y="220"/>
                    <a:pt x="160" y="232"/>
                    <a:pt x="192" y="208"/>
                  </a:cubicBezTo>
                  <a:cubicBezTo>
                    <a:pt x="224" y="184"/>
                    <a:pt x="256" y="96"/>
                    <a:pt x="240" y="64"/>
                  </a:cubicBezTo>
                  <a:cubicBezTo>
                    <a:pt x="224" y="32"/>
                    <a:pt x="136" y="0"/>
                    <a:pt x="96" y="16"/>
                  </a:cubicBezTo>
                  <a:cubicBezTo>
                    <a:pt x="56" y="32"/>
                    <a:pt x="16" y="136"/>
                    <a:pt x="0" y="16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cxnSp>
          <p:nvCxnSpPr>
            <p:cNvPr id="34861" name="AutoShape 19">
              <a:extLst>
                <a:ext uri="{FF2B5EF4-FFF2-40B4-BE49-F238E27FC236}">
                  <a16:creationId xmlns:a16="http://schemas.microsoft.com/office/drawing/2014/main" id="{BF9EDE9C-BFB3-4708-8042-9E2E61D29994}"/>
                </a:ext>
              </a:extLst>
            </p:cNvPr>
            <p:cNvCxnSpPr>
              <a:cxnSpLocks noChangeShapeType="1"/>
              <a:stCxn id="34871" idx="3"/>
              <a:endCxn id="34873" idx="4"/>
            </p:cNvCxnSpPr>
            <p:nvPr/>
          </p:nvCxnSpPr>
          <p:spPr bwMode="auto">
            <a:xfrm rot="5400000">
              <a:off x="2208" y="2880"/>
              <a:ext cx="56" cy="536"/>
            </a:xfrm>
            <a:prstGeom prst="curvedConnector3">
              <a:avLst>
                <a:gd name="adj1" fmla="val 342856"/>
              </a:avLst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62" name="Text Box 20">
              <a:extLst>
                <a:ext uri="{FF2B5EF4-FFF2-40B4-BE49-F238E27FC236}">
                  <a16:creationId xmlns:a16="http://schemas.microsoft.com/office/drawing/2014/main" id="{D37807EC-0B30-4317-8DD3-73D02723E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736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4863" name="Text Box 21">
              <a:extLst>
                <a:ext uri="{FF2B5EF4-FFF2-40B4-BE49-F238E27FC236}">
                  <a16:creationId xmlns:a16="http://schemas.microsoft.com/office/drawing/2014/main" id="{AC7AF16B-CFC4-45C5-B90A-65852553C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96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4864" name="Text Box 22">
              <a:extLst>
                <a:ext uri="{FF2B5EF4-FFF2-40B4-BE49-F238E27FC236}">
                  <a16:creationId xmlns:a16="http://schemas.microsoft.com/office/drawing/2014/main" id="{3B81FE05-9652-43B3-BF6A-B4F7AC6343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238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4865" name="Text Box 23">
              <a:extLst>
                <a:ext uri="{FF2B5EF4-FFF2-40B4-BE49-F238E27FC236}">
                  <a16:creationId xmlns:a16="http://schemas.microsoft.com/office/drawing/2014/main" id="{A696C7C3-DCFB-447A-96ED-283275D10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352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4866" name="Text Box 24">
              <a:extLst>
                <a:ext uri="{FF2B5EF4-FFF2-40B4-BE49-F238E27FC236}">
                  <a16:creationId xmlns:a16="http://schemas.microsoft.com/office/drawing/2014/main" id="{568C0802-B968-4F13-9817-4E28C6F2B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736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4867" name="Text Box 25">
              <a:extLst>
                <a:ext uri="{FF2B5EF4-FFF2-40B4-BE49-F238E27FC236}">
                  <a16:creationId xmlns:a16="http://schemas.microsoft.com/office/drawing/2014/main" id="{0F8BD63A-3A57-4718-B292-322AEC73B2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400"/>
              <a:ext cx="24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34868" name="Line 26">
              <a:extLst>
                <a:ext uri="{FF2B5EF4-FFF2-40B4-BE49-F238E27FC236}">
                  <a16:creationId xmlns:a16="http://schemas.microsoft.com/office/drawing/2014/main" id="{71B39715-5898-443D-A734-DF112ADF4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76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4869" name="Text Box 27">
              <a:extLst>
                <a:ext uri="{FF2B5EF4-FFF2-40B4-BE49-F238E27FC236}">
                  <a16:creationId xmlns:a16="http://schemas.microsoft.com/office/drawing/2014/main" id="{25EAC1D6-ECB4-4743-8794-8D9F3A92A2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88"/>
              <a:ext cx="52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</p:grpSp>
      <p:grpSp>
        <p:nvGrpSpPr>
          <p:cNvPr id="6" name="Group 50">
            <a:extLst>
              <a:ext uri="{FF2B5EF4-FFF2-40B4-BE49-F238E27FC236}">
                <a16:creationId xmlns:a16="http://schemas.microsoft.com/office/drawing/2014/main" id="{47C27942-3C05-43D9-9F4B-D0F0F9015E22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343400"/>
            <a:ext cx="2057400" cy="2286000"/>
            <a:chOff x="3744" y="2736"/>
            <a:chExt cx="1296" cy="1440"/>
          </a:xfrm>
        </p:grpSpPr>
        <p:grpSp>
          <p:nvGrpSpPr>
            <p:cNvPr id="34844" name="Group 51">
              <a:extLst>
                <a:ext uri="{FF2B5EF4-FFF2-40B4-BE49-F238E27FC236}">
                  <a16:creationId xmlns:a16="http://schemas.microsoft.com/office/drawing/2014/main" id="{1EE49C4B-5B28-48B5-B0AB-FD1CCDB298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3264"/>
              <a:ext cx="384" cy="384"/>
              <a:chOff x="2160" y="2640"/>
              <a:chExt cx="384" cy="384"/>
            </a:xfrm>
          </p:grpSpPr>
          <p:sp>
            <p:nvSpPr>
              <p:cNvPr id="34851" name="Oval 52">
                <a:extLst>
                  <a:ext uri="{FF2B5EF4-FFF2-40B4-BE49-F238E27FC236}">
                    <a16:creationId xmlns:a16="http://schemas.microsoft.com/office/drawing/2014/main" id="{BF9C2844-FA71-4DAA-B1DD-ABFB81B16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2664"/>
                <a:ext cx="336" cy="336"/>
              </a:xfrm>
              <a:prstGeom prst="ellipse">
                <a:avLst/>
              </a:prstGeom>
              <a:noFill/>
              <a:ln w="25400" algn="ctr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i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34852" name="Oval 53">
                <a:extLst>
                  <a:ext uri="{FF2B5EF4-FFF2-40B4-BE49-F238E27FC236}">
                    <a16:creationId xmlns:a16="http://schemas.microsoft.com/office/drawing/2014/main" id="{DCB8035D-C1EA-4B78-94A7-780FA2F9E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640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45" name="Freeform 54">
              <a:extLst>
                <a:ext uri="{FF2B5EF4-FFF2-40B4-BE49-F238E27FC236}">
                  <a16:creationId xmlns:a16="http://schemas.microsoft.com/office/drawing/2014/main" id="{CF8118D0-71AA-4438-AE3F-D9883ABB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8" y="2920"/>
              <a:ext cx="400" cy="344"/>
            </a:xfrm>
            <a:custGeom>
              <a:avLst/>
              <a:gdLst>
                <a:gd name="T0" fmla="*/ 248 w 400"/>
                <a:gd name="T1" fmla="*/ 344 h 344"/>
                <a:gd name="T2" fmla="*/ 392 w 400"/>
                <a:gd name="T3" fmla="*/ 152 h 344"/>
                <a:gd name="T4" fmla="*/ 200 w 400"/>
                <a:gd name="T5" fmla="*/ 8 h 344"/>
                <a:gd name="T6" fmla="*/ 8 w 400"/>
                <a:gd name="T7" fmla="*/ 104 h 344"/>
                <a:gd name="T8" fmla="*/ 152 w 400"/>
                <a:gd name="T9" fmla="*/ 344 h 3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0"/>
                <a:gd name="T16" fmla="*/ 0 h 344"/>
                <a:gd name="T17" fmla="*/ 400 w 400"/>
                <a:gd name="T18" fmla="*/ 344 h 3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0" h="344">
                  <a:moveTo>
                    <a:pt x="248" y="344"/>
                  </a:moveTo>
                  <a:cubicBezTo>
                    <a:pt x="324" y="276"/>
                    <a:pt x="400" y="208"/>
                    <a:pt x="392" y="152"/>
                  </a:cubicBezTo>
                  <a:cubicBezTo>
                    <a:pt x="384" y="96"/>
                    <a:pt x="264" y="16"/>
                    <a:pt x="200" y="8"/>
                  </a:cubicBezTo>
                  <a:cubicBezTo>
                    <a:pt x="136" y="0"/>
                    <a:pt x="16" y="48"/>
                    <a:pt x="8" y="104"/>
                  </a:cubicBezTo>
                  <a:cubicBezTo>
                    <a:pt x="0" y="160"/>
                    <a:pt x="76" y="252"/>
                    <a:pt x="152" y="344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4846" name="Freeform 55">
              <a:extLst>
                <a:ext uri="{FF2B5EF4-FFF2-40B4-BE49-F238E27FC236}">
                  <a16:creationId xmlns:a16="http://schemas.microsoft.com/office/drawing/2014/main" id="{E93B63E3-21B3-47FB-A375-8CF4E36F2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3648"/>
              <a:ext cx="360" cy="352"/>
            </a:xfrm>
            <a:custGeom>
              <a:avLst/>
              <a:gdLst>
                <a:gd name="T0" fmla="*/ 264 w 360"/>
                <a:gd name="T1" fmla="*/ 0 h 352"/>
                <a:gd name="T2" fmla="*/ 360 w 360"/>
                <a:gd name="T3" fmla="*/ 144 h 352"/>
                <a:gd name="T4" fmla="*/ 264 w 360"/>
                <a:gd name="T5" fmla="*/ 336 h 352"/>
                <a:gd name="T6" fmla="*/ 24 w 360"/>
                <a:gd name="T7" fmla="*/ 240 h 352"/>
                <a:gd name="T8" fmla="*/ 120 w 360"/>
                <a:gd name="T9" fmla="*/ 0 h 3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0"/>
                <a:gd name="T16" fmla="*/ 0 h 352"/>
                <a:gd name="T17" fmla="*/ 360 w 360"/>
                <a:gd name="T18" fmla="*/ 352 h 3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0" h="352">
                  <a:moveTo>
                    <a:pt x="264" y="0"/>
                  </a:moveTo>
                  <a:cubicBezTo>
                    <a:pt x="312" y="44"/>
                    <a:pt x="360" y="88"/>
                    <a:pt x="360" y="144"/>
                  </a:cubicBezTo>
                  <a:cubicBezTo>
                    <a:pt x="360" y="200"/>
                    <a:pt x="320" y="320"/>
                    <a:pt x="264" y="336"/>
                  </a:cubicBezTo>
                  <a:cubicBezTo>
                    <a:pt x="208" y="352"/>
                    <a:pt x="48" y="296"/>
                    <a:pt x="24" y="240"/>
                  </a:cubicBezTo>
                  <a:cubicBezTo>
                    <a:pt x="0" y="184"/>
                    <a:pt x="60" y="92"/>
                    <a:pt x="120" y="0"/>
                  </a:cubicBezTo>
                </a:path>
              </a:pathLst>
            </a:custGeom>
            <a:noFill/>
            <a:ln w="25400" cap="flat" cmpd="sng">
              <a:solidFill>
                <a:schemeClr val="tx2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4847" name="Line 56">
              <a:extLst>
                <a:ext uri="{FF2B5EF4-FFF2-40B4-BE49-F238E27FC236}">
                  <a16:creationId xmlns:a16="http://schemas.microsoft.com/office/drawing/2014/main" id="{717367CA-7C7E-43CD-8452-822BA8C1A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456"/>
              <a:ext cx="288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4848" name="Text Box 57">
              <a:extLst>
                <a:ext uri="{FF2B5EF4-FFF2-40B4-BE49-F238E27FC236}">
                  <a16:creationId xmlns:a16="http://schemas.microsoft.com/office/drawing/2014/main" id="{87697BD3-4D2E-45EB-B1F0-142696783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190"/>
              <a:ext cx="62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  <p:sp>
          <p:nvSpPr>
            <p:cNvPr id="34849" name="Text Box 58">
              <a:extLst>
                <a:ext uri="{FF2B5EF4-FFF2-40B4-BE49-F238E27FC236}">
                  <a16:creationId xmlns:a16="http://schemas.microsoft.com/office/drawing/2014/main" id="{ABC27ED7-E95F-4684-BDEC-3D3016981C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736"/>
              <a:ext cx="38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34850" name="Text Box 59">
              <a:extLst>
                <a:ext uri="{FF2B5EF4-FFF2-40B4-BE49-F238E27FC236}">
                  <a16:creationId xmlns:a16="http://schemas.microsoft.com/office/drawing/2014/main" id="{DA2298FB-405A-4B15-BCEB-67929AF98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3910"/>
              <a:ext cx="38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AABE9F-D210-6C4B-897A-5C724E70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96A8F-93D0-4B4D-8299-459457D403E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6DDEF1-1918-6A0A-B0EB-3D59B4A20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E7D3B8-4FDB-3007-884E-403EA45E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32</a:t>
            </a:fld>
            <a:endParaRPr lang="zh-CN" altLang="en-US"/>
          </a:p>
        </p:txBody>
      </p:sp>
      <p:graphicFrame>
        <p:nvGraphicFramePr>
          <p:cNvPr id="8" name="Group 29">
            <a:extLst>
              <a:ext uri="{FF2B5EF4-FFF2-40B4-BE49-F238E27FC236}">
                <a16:creationId xmlns:a16="http://schemas.microsoft.com/office/drawing/2014/main" id="{12372DAD-5D60-C1A8-5F3B-6D2FFFF811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6665903"/>
              </p:ext>
            </p:extLst>
          </p:nvPr>
        </p:nvGraphicFramePr>
        <p:xfrm>
          <a:off x="1162050" y="3009900"/>
          <a:ext cx="3048000" cy="2478090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45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状态</a:t>
                      </a:r>
                      <a:endParaRPr kumimoji="0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黑体" panose="02010609060101010101" pitchFamily="49" charset="-122"/>
                      </a:endParaRPr>
                    </a:p>
                  </a:txBody>
                  <a:tcPr marL="54000" marR="54000" marT="28808" marB="288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输入符号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4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54000" marR="54000" marT="28808" marB="2880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黑体" panose="02010609060101010101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</a:t>
                      </a:r>
                    </a:p>
                  </a:txBody>
                  <a:tcPr marL="0" marR="0" marT="76221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1E9F27E-86DD-4624-86B4-4951CAE33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AB9085E-8244-4A68-A46F-4A49395207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作业</a:t>
            </a:r>
            <a:r>
              <a:rPr lang="en-US" altLang="zh-CN" dirty="0"/>
              <a:t>12</a:t>
            </a:r>
            <a:r>
              <a:rPr lang="zh-CN" altLang="en-US" dirty="0"/>
              <a:t>：思考题：猎人过河</a:t>
            </a:r>
            <a:endParaRPr lang="en-US" altLang="zh-CN" dirty="0"/>
          </a:p>
          <a:p>
            <a:pPr lvl="1"/>
            <a:r>
              <a:rPr lang="zh-CN" altLang="en-US" dirty="0"/>
              <a:t>猎人带羊、狼、菜过河，小船仅能装载猎人和另外一样物品。狼、羊不能单独待在一起，羊、菜也不能单独待在一起。用状态转换图描述猎人的摆渡方案，并找出安全的方案来。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33580A-D069-3CF7-2CED-01E7EFA8E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C258E-0456-468B-87BD-D4A4BD9EFF8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C2C64A-2CAC-FECC-8D04-2B02545DB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FF1DAF-5B02-6A74-5A87-8783541C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33</a:t>
            </a:fld>
            <a:endParaRPr lang="zh-CN" altLang="en-US"/>
          </a:p>
        </p:txBody>
      </p:sp>
      <p:pic>
        <p:nvPicPr>
          <p:cNvPr id="5" name="图片 4" descr="图标&#10;&#10;描述已自动生成">
            <a:extLst>
              <a:ext uri="{FF2B5EF4-FFF2-40B4-BE49-F238E27FC236}">
                <a16:creationId xmlns:a16="http://schemas.microsoft.com/office/drawing/2014/main" id="{67563DB8-C369-30B9-2B5D-53CBF15AF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95" y="265831"/>
            <a:ext cx="768469" cy="108245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808BA9C-5BDE-47D1-AC3E-6882425A8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</a:t>
            </a:r>
            <a:r>
              <a:rPr lang="en-US" altLang="zh-CN" dirty="0"/>
              <a:t> </a:t>
            </a:r>
            <a:r>
              <a:rPr lang="zh-CN" altLang="en-US" dirty="0"/>
              <a:t>作业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055D18F-AA99-4924-B0FD-86B5FE5FD0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思路：</a:t>
            </a:r>
          </a:p>
          <a:p>
            <a:pPr lvl="1" eaLnBrk="1" hangingPunct="1"/>
            <a:r>
              <a:rPr lang="zh-CN" altLang="en-US" dirty="0"/>
              <a:t>考虑可能的状态：</a:t>
            </a:r>
          </a:p>
          <a:p>
            <a:pPr lvl="2" eaLnBrk="1" hangingPunct="1"/>
            <a:r>
              <a:rPr lang="zh-CN" altLang="en-US" dirty="0"/>
              <a:t>人、羊、狼、菜都在左岸</a:t>
            </a:r>
            <a:r>
              <a:rPr lang="en-US" altLang="en-US" b="1" dirty="0">
                <a:solidFill>
                  <a:schemeClr val="hlink"/>
                </a:solidFill>
              </a:rPr>
              <a:t>①</a:t>
            </a:r>
            <a:r>
              <a:rPr lang="zh-CN" altLang="en-US" dirty="0"/>
              <a:t>（右岸</a:t>
            </a:r>
            <a:r>
              <a:rPr lang="zh-CN" altLang="en-US" b="1" dirty="0">
                <a:solidFill>
                  <a:schemeClr val="hlink"/>
                </a:solidFill>
              </a:rPr>
              <a:t>⑩</a:t>
            </a:r>
            <a:r>
              <a:rPr lang="zh-CN" altLang="en-US" dirty="0"/>
              <a:t>）；</a:t>
            </a:r>
          </a:p>
          <a:p>
            <a:pPr lvl="2" eaLnBrk="1" hangingPunct="1"/>
            <a:r>
              <a:rPr lang="zh-CN" altLang="en-US" dirty="0"/>
              <a:t>人、羊、狼在左岸</a:t>
            </a:r>
            <a:r>
              <a:rPr lang="zh-CN" altLang="en-US" b="1" dirty="0">
                <a:solidFill>
                  <a:schemeClr val="hlink"/>
                </a:solidFill>
              </a:rPr>
              <a:t>②</a:t>
            </a:r>
            <a:r>
              <a:rPr lang="zh-CN" altLang="en-US" dirty="0"/>
              <a:t>（右岸</a:t>
            </a:r>
            <a:r>
              <a:rPr lang="zh-CN" altLang="en-US" b="1" dirty="0">
                <a:solidFill>
                  <a:schemeClr val="hlink"/>
                </a:solidFill>
              </a:rPr>
              <a:t>⑨</a:t>
            </a:r>
            <a:r>
              <a:rPr lang="zh-CN" altLang="en-US" dirty="0"/>
              <a:t>）</a:t>
            </a:r>
          </a:p>
          <a:p>
            <a:pPr lvl="2" eaLnBrk="1" hangingPunct="1"/>
            <a:r>
              <a:rPr lang="zh-CN" altLang="en-US" dirty="0"/>
              <a:t>人、狼、菜在左岸</a:t>
            </a:r>
            <a:r>
              <a:rPr lang="zh-CN" altLang="en-US" b="1" dirty="0">
                <a:solidFill>
                  <a:schemeClr val="hlink"/>
                </a:solidFill>
              </a:rPr>
              <a:t>③</a:t>
            </a:r>
            <a:r>
              <a:rPr lang="zh-CN" altLang="en-US" dirty="0"/>
              <a:t>（右岸</a:t>
            </a:r>
            <a:r>
              <a:rPr lang="zh-CN" altLang="en-US" b="1" dirty="0">
                <a:solidFill>
                  <a:schemeClr val="hlink"/>
                </a:solidFill>
              </a:rPr>
              <a:t>⑧</a:t>
            </a:r>
            <a:r>
              <a:rPr lang="zh-CN" altLang="en-US" dirty="0"/>
              <a:t>）</a:t>
            </a:r>
          </a:p>
          <a:p>
            <a:pPr lvl="2" eaLnBrk="1" hangingPunct="1"/>
            <a:r>
              <a:rPr lang="zh-CN" altLang="en-US" dirty="0"/>
              <a:t>人、羊、菜在左岸</a:t>
            </a:r>
            <a:r>
              <a:rPr lang="zh-CN" altLang="en-US" b="1" dirty="0">
                <a:solidFill>
                  <a:schemeClr val="hlink"/>
                </a:solidFill>
              </a:rPr>
              <a:t>④</a:t>
            </a:r>
            <a:r>
              <a:rPr lang="zh-CN" altLang="en-US" dirty="0"/>
              <a:t>（右岸</a:t>
            </a:r>
            <a:r>
              <a:rPr lang="zh-CN" altLang="en-US" b="1" dirty="0">
                <a:solidFill>
                  <a:schemeClr val="hlink"/>
                </a:solidFill>
              </a:rPr>
              <a:t>⑦</a:t>
            </a:r>
            <a:r>
              <a:rPr lang="zh-CN" altLang="en-US" dirty="0"/>
              <a:t>）</a:t>
            </a:r>
          </a:p>
          <a:p>
            <a:pPr lvl="2" eaLnBrk="1" hangingPunct="1"/>
            <a:r>
              <a:rPr lang="zh-CN" altLang="en-US" dirty="0"/>
              <a:t>狼、菜在左岸</a:t>
            </a:r>
            <a:r>
              <a:rPr lang="zh-CN" altLang="zh-CN" b="1" dirty="0">
                <a:solidFill>
                  <a:schemeClr val="hlink"/>
                </a:solidFill>
              </a:rPr>
              <a:t>⑤</a:t>
            </a:r>
            <a:r>
              <a:rPr lang="zh-CN" altLang="en-US" dirty="0"/>
              <a:t>（右岸</a:t>
            </a:r>
            <a:r>
              <a:rPr lang="zh-CN" altLang="zh-CN" b="1" dirty="0">
                <a:solidFill>
                  <a:schemeClr val="hlink"/>
                </a:solidFill>
              </a:rPr>
              <a:t>⑥</a:t>
            </a:r>
            <a:r>
              <a:rPr lang="zh-CN" altLang="en-US" dirty="0"/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共</a:t>
            </a:r>
            <a:r>
              <a:rPr lang="en-US" altLang="zh-CN" dirty="0"/>
              <a:t>10</a:t>
            </a:r>
            <a:r>
              <a:rPr lang="zh-CN" altLang="en-US" dirty="0"/>
              <a:t>个状态，其它状态非法。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5FE7815-E237-F7EC-CFED-16EBDE66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AEB6B-1381-4E76-B7C6-1C90DC14D8DD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73546E-6204-B2F0-EA53-E673550F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D4CCD-C910-C358-2740-64232C62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8D5884C-AF48-4CA1-9952-5A1B471F6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第二章习题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34BD9B38-616F-476B-A481-582F1DE08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状态转换图：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51DC59-2F7D-1E85-99D5-8A5975E0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AA2A8-ABD1-4E0D-BACE-9D08081AB93E}" type="datetime2">
              <a:rPr lang="zh-CN" altLang="en-US" smtClean="0"/>
              <a:t>2026年3月25日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5162BF-D58E-DC04-35A1-1F38376C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王欣捷</a:t>
            </a:r>
            <a:r>
              <a:rPr lang="en-US" altLang="zh-CN"/>
              <a:t>-</a:t>
            </a:r>
            <a:r>
              <a:rPr lang="zh-CN" altLang="en-US"/>
              <a:t>编译原理</a:t>
            </a:r>
            <a:r>
              <a:rPr lang="en-US" altLang="zh-CN"/>
              <a:t>-</a:t>
            </a:r>
            <a:r>
              <a:rPr lang="zh-CN" altLang="en-US"/>
              <a:t>第二章 词法分析</a:t>
            </a:r>
            <a:r>
              <a:rPr lang="en-US" altLang="zh-CN"/>
              <a:t>-</a:t>
            </a:r>
            <a:r>
              <a:rPr lang="zh-CN" altLang="en-US"/>
              <a:t>习题课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0F058-6E02-FD32-7214-B59E4438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DEB03-EFC6-4C20-8FC8-295189A5386F}" type="slidenum">
              <a:rPr lang="zh-CN" altLang="en-US" smtClean="0"/>
              <a:pPr/>
              <a:t>35</a:t>
            </a:fld>
            <a:endParaRPr lang="zh-CN" altLang="en-US"/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D0825796-AC5A-4514-9A61-52EE5866B8AE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943893"/>
            <a:ext cx="8991600" cy="3546475"/>
            <a:chOff x="0" y="1824"/>
            <a:chExt cx="5664" cy="2234"/>
          </a:xfrm>
        </p:grpSpPr>
        <p:sp>
          <p:nvSpPr>
            <p:cNvPr id="37894" name="Oval 5">
              <a:extLst>
                <a:ext uri="{FF2B5EF4-FFF2-40B4-BE49-F238E27FC236}">
                  <a16:creationId xmlns:a16="http://schemas.microsoft.com/office/drawing/2014/main" id="{DB0711E0-F658-492A-8483-3D97849E1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37895" name="Oval 6">
              <a:extLst>
                <a:ext uri="{FF2B5EF4-FFF2-40B4-BE49-F238E27FC236}">
                  <a16:creationId xmlns:a16="http://schemas.microsoft.com/office/drawing/2014/main" id="{26BBF869-8BA2-49FB-9515-10479AAC7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37896" name="Oval 7">
              <a:extLst>
                <a:ext uri="{FF2B5EF4-FFF2-40B4-BE49-F238E27FC236}">
                  <a16:creationId xmlns:a16="http://schemas.microsoft.com/office/drawing/2014/main" id="{31DF4837-84C5-431B-BD20-772969EE3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37897" name="Oval 8">
              <a:extLst>
                <a:ext uri="{FF2B5EF4-FFF2-40B4-BE49-F238E27FC236}">
                  <a16:creationId xmlns:a16="http://schemas.microsoft.com/office/drawing/2014/main" id="{0C5245D6-D067-4EBA-AAB9-8D626987B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37898" name="Oval 9">
              <a:extLst>
                <a:ext uri="{FF2B5EF4-FFF2-40B4-BE49-F238E27FC236}">
                  <a16:creationId xmlns:a16="http://schemas.microsoft.com/office/drawing/2014/main" id="{21C9D006-5CF1-4ED5-BABD-C19EF71C0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16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37899" name="Oval 10">
              <a:extLst>
                <a:ext uri="{FF2B5EF4-FFF2-40B4-BE49-F238E27FC236}">
                  <a16:creationId xmlns:a16="http://schemas.microsoft.com/office/drawing/2014/main" id="{A613A29D-618C-42F0-A55F-F0186CBFA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7900" name="Oval 11">
              <a:extLst>
                <a:ext uri="{FF2B5EF4-FFF2-40B4-BE49-F238E27FC236}">
                  <a16:creationId xmlns:a16="http://schemas.microsoft.com/office/drawing/2014/main" id="{4FD096FF-0B4E-4128-941B-6E227A161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168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37901" name="Oval 12">
              <a:extLst>
                <a:ext uri="{FF2B5EF4-FFF2-40B4-BE49-F238E27FC236}">
                  <a16:creationId xmlns:a16="http://schemas.microsoft.com/office/drawing/2014/main" id="{C970125A-0F7E-4EBD-9703-CF3EBF60E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7902" name="Oval 13">
              <a:extLst>
                <a:ext uri="{FF2B5EF4-FFF2-40B4-BE49-F238E27FC236}">
                  <a16:creationId xmlns:a16="http://schemas.microsoft.com/office/drawing/2014/main" id="{009FDD13-9EF5-4F04-A933-E5250E7D6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96"/>
              <a:ext cx="384" cy="384"/>
            </a:xfrm>
            <a:prstGeom prst="ellipse">
              <a:avLst/>
            </a:prstGeom>
            <a:noFill/>
            <a:ln w="25400" algn="ctr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54000" tIns="28800" rIns="54000" bIns="28800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grpSp>
          <p:nvGrpSpPr>
            <p:cNvPr id="37903" name="Group 14">
              <a:extLst>
                <a:ext uri="{FF2B5EF4-FFF2-40B4-BE49-F238E27FC236}">
                  <a16:creationId xmlns:a16="http://schemas.microsoft.com/office/drawing/2014/main" id="{CEDECFE8-FD23-4FAB-A557-88FE2FCB18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2496"/>
              <a:ext cx="384" cy="384"/>
              <a:chOff x="5280" y="2496"/>
              <a:chExt cx="384" cy="384"/>
            </a:xfrm>
          </p:grpSpPr>
          <p:sp>
            <p:nvSpPr>
              <p:cNvPr id="37944" name="Oval 15">
                <a:extLst>
                  <a:ext uri="{FF2B5EF4-FFF2-40B4-BE49-F238E27FC236}">
                    <a16:creationId xmlns:a16="http://schemas.microsoft.com/office/drawing/2014/main" id="{F0EBD336-D8BE-4D47-9001-B8926A511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544"/>
                <a:ext cx="288" cy="288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</a:p>
            </p:txBody>
          </p:sp>
          <p:sp>
            <p:nvSpPr>
              <p:cNvPr id="37945" name="Oval 16">
                <a:extLst>
                  <a:ext uri="{FF2B5EF4-FFF2-40B4-BE49-F238E27FC236}">
                    <a16:creationId xmlns:a16="http://schemas.microsoft.com/office/drawing/2014/main" id="{8FB9F05B-4D33-4198-AB59-8E83E3CBB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0" y="2496"/>
                <a:ext cx="384" cy="384"/>
              </a:xfrm>
              <a:prstGeom prst="ellipse">
                <a:avLst/>
              </a:prstGeom>
              <a:noFill/>
              <a:ln w="25400" algn="ctr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54000" tIns="28800" rIns="54000" bIns="28800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黑体" panose="02010609060101010101" pitchFamily="49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7904" name="Freeform 17">
              <a:extLst>
                <a:ext uri="{FF2B5EF4-FFF2-40B4-BE49-F238E27FC236}">
                  <a16:creationId xmlns:a16="http://schemas.microsoft.com/office/drawing/2014/main" id="{E454A837-0547-4C00-817C-9DF298022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2248"/>
              <a:ext cx="624" cy="248"/>
            </a:xfrm>
            <a:custGeom>
              <a:avLst/>
              <a:gdLst>
                <a:gd name="T0" fmla="*/ 0 w 624"/>
                <a:gd name="T1" fmla="*/ 248 h 248"/>
                <a:gd name="T2" fmla="*/ 336 w 624"/>
                <a:gd name="T3" fmla="*/ 8 h 248"/>
                <a:gd name="T4" fmla="*/ 624 w 624"/>
                <a:gd name="T5" fmla="*/ 200 h 248"/>
                <a:gd name="T6" fmla="*/ 0 60000 65536"/>
                <a:gd name="T7" fmla="*/ 0 60000 65536"/>
                <a:gd name="T8" fmla="*/ 0 60000 65536"/>
                <a:gd name="T9" fmla="*/ 0 w 624"/>
                <a:gd name="T10" fmla="*/ 0 h 248"/>
                <a:gd name="T11" fmla="*/ 624 w 624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248">
                  <a:moveTo>
                    <a:pt x="0" y="248"/>
                  </a:moveTo>
                  <a:cubicBezTo>
                    <a:pt x="116" y="132"/>
                    <a:pt x="232" y="16"/>
                    <a:pt x="336" y="8"/>
                  </a:cubicBezTo>
                  <a:cubicBezTo>
                    <a:pt x="440" y="0"/>
                    <a:pt x="584" y="160"/>
                    <a:pt x="624" y="20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05" name="Text Box 18">
              <a:extLst>
                <a:ext uri="{FF2B5EF4-FFF2-40B4-BE49-F238E27FC236}">
                  <a16:creationId xmlns:a16="http://schemas.microsoft.com/office/drawing/2014/main" id="{10D49CEA-7CA1-4F0E-9C1B-4123572E4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2016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sheep</a:t>
              </a:r>
            </a:p>
          </p:txBody>
        </p:sp>
        <p:sp>
          <p:nvSpPr>
            <p:cNvPr id="37906" name="Freeform 19">
              <a:extLst>
                <a:ext uri="{FF2B5EF4-FFF2-40B4-BE49-F238E27FC236}">
                  <a16:creationId xmlns:a16="http://schemas.microsoft.com/office/drawing/2014/main" id="{2A4086F0-59CE-4600-B7CB-68D32CD27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2824"/>
              <a:ext cx="528" cy="200"/>
            </a:xfrm>
            <a:custGeom>
              <a:avLst/>
              <a:gdLst>
                <a:gd name="T0" fmla="*/ 528 w 528"/>
                <a:gd name="T1" fmla="*/ 56 h 200"/>
                <a:gd name="T2" fmla="*/ 240 w 528"/>
                <a:gd name="T3" fmla="*/ 200 h 200"/>
                <a:gd name="T4" fmla="*/ 0 w 528"/>
                <a:gd name="T5" fmla="*/ 56 h 200"/>
                <a:gd name="T6" fmla="*/ 0 60000 65536"/>
                <a:gd name="T7" fmla="*/ 0 60000 65536"/>
                <a:gd name="T8" fmla="*/ 0 60000 65536"/>
                <a:gd name="T9" fmla="*/ 0 w 528"/>
                <a:gd name="T10" fmla="*/ 0 h 200"/>
                <a:gd name="T11" fmla="*/ 528 w 52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00">
                  <a:moveTo>
                    <a:pt x="528" y="56"/>
                  </a:moveTo>
                  <a:cubicBezTo>
                    <a:pt x="428" y="128"/>
                    <a:pt x="328" y="200"/>
                    <a:pt x="240" y="200"/>
                  </a:cubicBezTo>
                  <a:cubicBezTo>
                    <a:pt x="152" y="200"/>
                    <a:pt x="8" y="0"/>
                    <a:pt x="0" y="5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07" name="Text Box 20">
              <a:extLst>
                <a:ext uri="{FF2B5EF4-FFF2-40B4-BE49-F238E27FC236}">
                  <a16:creationId xmlns:a16="http://schemas.microsoft.com/office/drawing/2014/main" id="{DE878EC8-5CDE-46C7-815F-B2BD210AD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24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08" name="Freeform 21">
              <a:extLst>
                <a:ext uri="{FF2B5EF4-FFF2-40B4-BE49-F238E27FC236}">
                  <a16:creationId xmlns:a16="http://schemas.microsoft.com/office/drawing/2014/main" id="{741B25BE-E82A-4B3C-B3CC-D0B1A9190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208"/>
              <a:ext cx="624" cy="288"/>
            </a:xfrm>
            <a:custGeom>
              <a:avLst/>
              <a:gdLst>
                <a:gd name="T0" fmla="*/ 0 w 624"/>
                <a:gd name="T1" fmla="*/ 1734 h 248"/>
                <a:gd name="T2" fmla="*/ 336 w 624"/>
                <a:gd name="T3" fmla="*/ 56 h 248"/>
                <a:gd name="T4" fmla="*/ 624 w 624"/>
                <a:gd name="T5" fmla="*/ 1389 h 248"/>
                <a:gd name="T6" fmla="*/ 0 60000 65536"/>
                <a:gd name="T7" fmla="*/ 0 60000 65536"/>
                <a:gd name="T8" fmla="*/ 0 60000 65536"/>
                <a:gd name="T9" fmla="*/ 0 w 624"/>
                <a:gd name="T10" fmla="*/ 0 h 248"/>
                <a:gd name="T11" fmla="*/ 624 w 624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248">
                  <a:moveTo>
                    <a:pt x="0" y="248"/>
                  </a:moveTo>
                  <a:cubicBezTo>
                    <a:pt x="116" y="132"/>
                    <a:pt x="232" y="16"/>
                    <a:pt x="336" y="8"/>
                  </a:cubicBezTo>
                  <a:cubicBezTo>
                    <a:pt x="440" y="0"/>
                    <a:pt x="584" y="160"/>
                    <a:pt x="624" y="200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09" name="Text Box 22">
              <a:extLst>
                <a:ext uri="{FF2B5EF4-FFF2-40B4-BE49-F238E27FC236}">
                  <a16:creationId xmlns:a16="http://schemas.microsoft.com/office/drawing/2014/main" id="{C1944574-54C8-4C67-881A-9B5CEDA80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920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human</a:t>
              </a:r>
            </a:p>
          </p:txBody>
        </p:sp>
        <p:sp>
          <p:nvSpPr>
            <p:cNvPr id="37910" name="Freeform 23">
              <a:extLst>
                <a:ext uri="{FF2B5EF4-FFF2-40B4-BE49-F238E27FC236}">
                  <a16:creationId xmlns:a16="http://schemas.microsoft.com/office/drawing/2014/main" id="{AAFE045B-41FE-43F7-9C53-0AC5D8D5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832"/>
              <a:ext cx="528" cy="200"/>
            </a:xfrm>
            <a:custGeom>
              <a:avLst/>
              <a:gdLst>
                <a:gd name="T0" fmla="*/ 528 w 528"/>
                <a:gd name="T1" fmla="*/ 56 h 200"/>
                <a:gd name="T2" fmla="*/ 240 w 528"/>
                <a:gd name="T3" fmla="*/ 200 h 200"/>
                <a:gd name="T4" fmla="*/ 0 w 528"/>
                <a:gd name="T5" fmla="*/ 56 h 200"/>
                <a:gd name="T6" fmla="*/ 0 60000 65536"/>
                <a:gd name="T7" fmla="*/ 0 60000 65536"/>
                <a:gd name="T8" fmla="*/ 0 60000 65536"/>
                <a:gd name="T9" fmla="*/ 0 w 528"/>
                <a:gd name="T10" fmla="*/ 0 h 200"/>
                <a:gd name="T11" fmla="*/ 528 w 52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00">
                  <a:moveTo>
                    <a:pt x="528" y="56"/>
                  </a:moveTo>
                  <a:cubicBezTo>
                    <a:pt x="428" y="128"/>
                    <a:pt x="328" y="200"/>
                    <a:pt x="240" y="200"/>
                  </a:cubicBezTo>
                  <a:cubicBezTo>
                    <a:pt x="152" y="200"/>
                    <a:pt x="8" y="0"/>
                    <a:pt x="0" y="5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11" name="Text Box 24">
              <a:extLst>
                <a:ext uri="{FF2B5EF4-FFF2-40B4-BE49-F238E27FC236}">
                  <a16:creationId xmlns:a16="http://schemas.microsoft.com/office/drawing/2014/main" id="{764DD4AC-BD23-4A14-ACD3-8F7EBA195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07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37912" name="Line 25">
              <a:extLst>
                <a:ext uri="{FF2B5EF4-FFF2-40B4-BE49-F238E27FC236}">
                  <a16:creationId xmlns:a16="http://schemas.microsoft.com/office/drawing/2014/main" id="{15CFEF75-3A85-4192-B203-FA7351EF8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688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13" name="Text Box 26">
              <a:extLst>
                <a:ext uri="{FF2B5EF4-FFF2-40B4-BE49-F238E27FC236}">
                  <a16:creationId xmlns:a16="http://schemas.microsoft.com/office/drawing/2014/main" id="{E97AA6C5-9284-4B29-A2B7-415657532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374"/>
              <a:ext cx="52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wolf</a:t>
              </a:r>
            </a:p>
          </p:txBody>
        </p:sp>
        <p:sp>
          <p:nvSpPr>
            <p:cNvPr id="37914" name="Freeform 27">
              <a:extLst>
                <a:ext uri="{FF2B5EF4-FFF2-40B4-BE49-F238E27FC236}">
                  <a16:creationId xmlns:a16="http://schemas.microsoft.com/office/drawing/2014/main" id="{50D14F31-0044-45BA-BF79-E697D77B5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160"/>
              <a:ext cx="624" cy="336"/>
            </a:xfrm>
            <a:custGeom>
              <a:avLst/>
              <a:gdLst>
                <a:gd name="T0" fmla="*/ 624 w 624"/>
                <a:gd name="T1" fmla="*/ 336 h 336"/>
                <a:gd name="T2" fmla="*/ 336 w 624"/>
                <a:gd name="T3" fmla="*/ 0 h 336"/>
                <a:gd name="T4" fmla="*/ 0 w 624"/>
                <a:gd name="T5" fmla="*/ 336 h 336"/>
                <a:gd name="T6" fmla="*/ 0 60000 65536"/>
                <a:gd name="T7" fmla="*/ 0 60000 65536"/>
                <a:gd name="T8" fmla="*/ 0 60000 65536"/>
                <a:gd name="T9" fmla="*/ 0 w 624"/>
                <a:gd name="T10" fmla="*/ 0 h 336"/>
                <a:gd name="T11" fmla="*/ 624 w 62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336">
                  <a:moveTo>
                    <a:pt x="624" y="336"/>
                  </a:moveTo>
                  <a:cubicBezTo>
                    <a:pt x="532" y="168"/>
                    <a:pt x="440" y="0"/>
                    <a:pt x="336" y="0"/>
                  </a:cubicBezTo>
                  <a:cubicBezTo>
                    <a:pt x="232" y="0"/>
                    <a:pt x="0" y="312"/>
                    <a:pt x="0" y="33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15" name="Text Box 28">
              <a:extLst>
                <a:ext uri="{FF2B5EF4-FFF2-40B4-BE49-F238E27FC236}">
                  <a16:creationId xmlns:a16="http://schemas.microsoft.com/office/drawing/2014/main" id="{BB0C1ABF-C09D-4795-8ECE-DAC8B4A0E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7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</a:p>
          </p:txBody>
        </p:sp>
        <p:sp>
          <p:nvSpPr>
            <p:cNvPr id="37916" name="Line 29">
              <a:extLst>
                <a:ext uri="{FF2B5EF4-FFF2-40B4-BE49-F238E27FC236}">
                  <a16:creationId xmlns:a16="http://schemas.microsoft.com/office/drawing/2014/main" id="{061991AE-0850-4F61-8B04-70C7BCA170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880"/>
              <a:ext cx="432" cy="38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17" name="Text Box 30">
              <a:extLst>
                <a:ext uri="{FF2B5EF4-FFF2-40B4-BE49-F238E27FC236}">
                  <a16:creationId xmlns:a16="http://schemas.microsoft.com/office/drawing/2014/main" id="{F4AF3A14-37EA-483D-B070-1C0AA133C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880"/>
              <a:ext cx="864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cabbage</a:t>
              </a:r>
            </a:p>
          </p:txBody>
        </p:sp>
        <p:sp>
          <p:nvSpPr>
            <p:cNvPr id="37918" name="Freeform 31">
              <a:extLst>
                <a:ext uri="{FF2B5EF4-FFF2-40B4-BE49-F238E27FC236}">
                  <a16:creationId xmlns:a16="http://schemas.microsoft.com/office/drawing/2014/main" id="{E7617726-CA0D-4954-92AC-E409CF60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2856"/>
              <a:ext cx="528" cy="600"/>
            </a:xfrm>
            <a:custGeom>
              <a:avLst/>
              <a:gdLst>
                <a:gd name="T0" fmla="*/ 528 w 528"/>
                <a:gd name="T1" fmla="*/ 600 h 600"/>
                <a:gd name="T2" fmla="*/ 96 w 528"/>
                <a:gd name="T3" fmla="*/ 504 h 600"/>
                <a:gd name="T4" fmla="*/ 0 w 528"/>
                <a:gd name="T5" fmla="*/ 72 h 600"/>
                <a:gd name="T6" fmla="*/ 0 60000 65536"/>
                <a:gd name="T7" fmla="*/ 0 60000 65536"/>
                <a:gd name="T8" fmla="*/ 0 60000 65536"/>
                <a:gd name="T9" fmla="*/ 0 w 528"/>
                <a:gd name="T10" fmla="*/ 0 h 600"/>
                <a:gd name="T11" fmla="*/ 528 w 528"/>
                <a:gd name="T12" fmla="*/ 600 h 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600">
                  <a:moveTo>
                    <a:pt x="528" y="600"/>
                  </a:moveTo>
                  <a:cubicBezTo>
                    <a:pt x="356" y="596"/>
                    <a:pt x="184" y="592"/>
                    <a:pt x="96" y="504"/>
                  </a:cubicBezTo>
                  <a:cubicBezTo>
                    <a:pt x="8" y="416"/>
                    <a:pt x="40" y="0"/>
                    <a:pt x="0" y="72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19" name="Text Box 32">
              <a:extLst>
                <a:ext uri="{FF2B5EF4-FFF2-40B4-BE49-F238E27FC236}">
                  <a16:creationId xmlns:a16="http://schemas.microsoft.com/office/drawing/2014/main" id="{533F1223-A916-414B-A505-B152F2E91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456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7920" name="Line 33">
              <a:extLst>
                <a:ext uri="{FF2B5EF4-FFF2-40B4-BE49-F238E27FC236}">
                  <a16:creationId xmlns:a16="http://schemas.microsoft.com/office/drawing/2014/main" id="{3815C83F-0DF4-44EA-8530-E43D8CC14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688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21" name="Line 34">
              <a:extLst>
                <a:ext uri="{FF2B5EF4-FFF2-40B4-BE49-F238E27FC236}">
                  <a16:creationId xmlns:a16="http://schemas.microsoft.com/office/drawing/2014/main" id="{81AD5976-62F7-4CCA-B518-6775B489F9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360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22" name="Text Box 35">
              <a:extLst>
                <a:ext uri="{FF2B5EF4-FFF2-40B4-BE49-F238E27FC236}">
                  <a16:creationId xmlns:a16="http://schemas.microsoft.com/office/drawing/2014/main" id="{C5F6B03B-FDB2-409F-99D7-1BC0EFDB2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400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23" name="Freeform 36">
              <a:extLst>
                <a:ext uri="{FF2B5EF4-FFF2-40B4-BE49-F238E27FC236}">
                  <a16:creationId xmlns:a16="http://schemas.microsoft.com/office/drawing/2014/main" id="{FA0136C4-C579-4131-8E4A-9DB867080E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2112"/>
              <a:ext cx="624" cy="336"/>
            </a:xfrm>
            <a:custGeom>
              <a:avLst/>
              <a:gdLst>
                <a:gd name="T0" fmla="*/ 624 w 624"/>
                <a:gd name="T1" fmla="*/ 336 h 336"/>
                <a:gd name="T2" fmla="*/ 336 w 624"/>
                <a:gd name="T3" fmla="*/ 0 h 336"/>
                <a:gd name="T4" fmla="*/ 0 w 624"/>
                <a:gd name="T5" fmla="*/ 336 h 336"/>
                <a:gd name="T6" fmla="*/ 0 60000 65536"/>
                <a:gd name="T7" fmla="*/ 0 60000 65536"/>
                <a:gd name="T8" fmla="*/ 0 60000 65536"/>
                <a:gd name="T9" fmla="*/ 0 w 624"/>
                <a:gd name="T10" fmla="*/ 0 h 336"/>
                <a:gd name="T11" fmla="*/ 624 w 62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336">
                  <a:moveTo>
                    <a:pt x="624" y="336"/>
                  </a:moveTo>
                  <a:cubicBezTo>
                    <a:pt x="532" y="168"/>
                    <a:pt x="440" y="0"/>
                    <a:pt x="336" y="0"/>
                  </a:cubicBezTo>
                  <a:cubicBezTo>
                    <a:pt x="232" y="0"/>
                    <a:pt x="0" y="312"/>
                    <a:pt x="0" y="33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24" name="Text Box 37">
              <a:extLst>
                <a:ext uri="{FF2B5EF4-FFF2-40B4-BE49-F238E27FC236}">
                  <a16:creationId xmlns:a16="http://schemas.microsoft.com/office/drawing/2014/main" id="{CEB09F0A-1C3C-4B03-B5B3-3E54EDF13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824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25" name="Freeform 38">
              <a:extLst>
                <a:ext uri="{FF2B5EF4-FFF2-40B4-BE49-F238E27FC236}">
                  <a16:creationId xmlns:a16="http://schemas.microsoft.com/office/drawing/2014/main" id="{530A1A81-AC5E-4DFF-8698-03951E53B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552"/>
              <a:ext cx="528" cy="200"/>
            </a:xfrm>
            <a:custGeom>
              <a:avLst/>
              <a:gdLst>
                <a:gd name="T0" fmla="*/ 528 w 528"/>
                <a:gd name="T1" fmla="*/ 56 h 200"/>
                <a:gd name="T2" fmla="*/ 240 w 528"/>
                <a:gd name="T3" fmla="*/ 200 h 200"/>
                <a:gd name="T4" fmla="*/ 0 w 528"/>
                <a:gd name="T5" fmla="*/ 56 h 200"/>
                <a:gd name="T6" fmla="*/ 0 60000 65536"/>
                <a:gd name="T7" fmla="*/ 0 60000 65536"/>
                <a:gd name="T8" fmla="*/ 0 60000 65536"/>
                <a:gd name="T9" fmla="*/ 0 w 528"/>
                <a:gd name="T10" fmla="*/ 0 h 200"/>
                <a:gd name="T11" fmla="*/ 528 w 52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00">
                  <a:moveTo>
                    <a:pt x="528" y="56"/>
                  </a:moveTo>
                  <a:cubicBezTo>
                    <a:pt x="428" y="128"/>
                    <a:pt x="328" y="200"/>
                    <a:pt x="240" y="200"/>
                  </a:cubicBezTo>
                  <a:cubicBezTo>
                    <a:pt x="152" y="200"/>
                    <a:pt x="8" y="0"/>
                    <a:pt x="0" y="5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26" name="Text Box 39">
              <a:extLst>
                <a:ext uri="{FF2B5EF4-FFF2-40B4-BE49-F238E27FC236}">
                  <a16:creationId xmlns:a16="http://schemas.microsoft.com/office/drawing/2014/main" id="{70A9CBCD-9079-45DE-84C0-EDE4F3C38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24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27" name="Text Box 40">
              <a:extLst>
                <a:ext uri="{FF2B5EF4-FFF2-40B4-BE49-F238E27FC236}">
                  <a16:creationId xmlns:a16="http://schemas.microsoft.com/office/drawing/2014/main" id="{91DBD5DE-9F08-4F2A-8618-BB59B94D6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79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28" name="Line 41">
              <a:extLst>
                <a:ext uri="{FF2B5EF4-FFF2-40B4-BE49-F238E27FC236}">
                  <a16:creationId xmlns:a16="http://schemas.microsoft.com/office/drawing/2014/main" id="{0BE8C873-4AAA-4C9C-AED0-BA106C73F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40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29" name="Text Box 42">
              <a:extLst>
                <a:ext uri="{FF2B5EF4-FFF2-40B4-BE49-F238E27FC236}">
                  <a16:creationId xmlns:a16="http://schemas.microsoft.com/office/drawing/2014/main" id="{43E96A1B-5770-43FA-9520-C3D298DDB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35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7930" name="Freeform 43">
              <a:extLst>
                <a:ext uri="{FF2B5EF4-FFF2-40B4-BE49-F238E27FC236}">
                  <a16:creationId xmlns:a16="http://schemas.microsoft.com/office/drawing/2014/main" id="{51D4F3C0-BE1D-46F9-B34B-21C6F6F70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112"/>
              <a:ext cx="624" cy="336"/>
            </a:xfrm>
            <a:custGeom>
              <a:avLst/>
              <a:gdLst>
                <a:gd name="T0" fmla="*/ 624 w 624"/>
                <a:gd name="T1" fmla="*/ 336 h 336"/>
                <a:gd name="T2" fmla="*/ 336 w 624"/>
                <a:gd name="T3" fmla="*/ 0 h 336"/>
                <a:gd name="T4" fmla="*/ 0 w 624"/>
                <a:gd name="T5" fmla="*/ 336 h 336"/>
                <a:gd name="T6" fmla="*/ 0 60000 65536"/>
                <a:gd name="T7" fmla="*/ 0 60000 65536"/>
                <a:gd name="T8" fmla="*/ 0 60000 65536"/>
                <a:gd name="T9" fmla="*/ 0 w 624"/>
                <a:gd name="T10" fmla="*/ 0 h 336"/>
                <a:gd name="T11" fmla="*/ 624 w 624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336">
                  <a:moveTo>
                    <a:pt x="624" y="336"/>
                  </a:moveTo>
                  <a:cubicBezTo>
                    <a:pt x="532" y="168"/>
                    <a:pt x="440" y="0"/>
                    <a:pt x="336" y="0"/>
                  </a:cubicBezTo>
                  <a:cubicBezTo>
                    <a:pt x="232" y="0"/>
                    <a:pt x="0" y="312"/>
                    <a:pt x="0" y="33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1" name="Text Box 44">
              <a:extLst>
                <a:ext uri="{FF2B5EF4-FFF2-40B4-BE49-F238E27FC236}">
                  <a16:creationId xmlns:a16="http://schemas.microsoft.com/office/drawing/2014/main" id="{6D4F8DAC-7C03-4E66-AA7B-D5B829C70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824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37932" name="Line 45">
              <a:extLst>
                <a:ext uri="{FF2B5EF4-FFF2-40B4-BE49-F238E27FC236}">
                  <a16:creationId xmlns:a16="http://schemas.microsoft.com/office/drawing/2014/main" id="{1C0B5750-C5B4-4A61-9839-B9796E2C9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880"/>
              <a:ext cx="336" cy="38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3" name="Text Box 46">
              <a:extLst>
                <a:ext uri="{FF2B5EF4-FFF2-40B4-BE49-F238E27FC236}">
                  <a16:creationId xmlns:a16="http://schemas.microsoft.com/office/drawing/2014/main" id="{B36A75AC-58AE-4191-BEE7-F1C16C0C0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83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</a:p>
          </p:txBody>
        </p:sp>
        <p:sp>
          <p:nvSpPr>
            <p:cNvPr id="37934" name="Freeform 47">
              <a:extLst>
                <a:ext uri="{FF2B5EF4-FFF2-40B4-BE49-F238E27FC236}">
                  <a16:creationId xmlns:a16="http://schemas.microsoft.com/office/drawing/2014/main" id="{DCB90043-8A76-426B-9DF2-F73A3E3F0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880"/>
              <a:ext cx="456" cy="576"/>
            </a:xfrm>
            <a:custGeom>
              <a:avLst/>
              <a:gdLst>
                <a:gd name="T0" fmla="*/ 432 w 456"/>
                <a:gd name="T1" fmla="*/ 0 h 576"/>
                <a:gd name="T2" fmla="*/ 384 w 456"/>
                <a:gd name="T3" fmla="*/ 480 h 576"/>
                <a:gd name="T4" fmla="*/ 0 w 456"/>
                <a:gd name="T5" fmla="*/ 576 h 576"/>
                <a:gd name="T6" fmla="*/ 0 60000 65536"/>
                <a:gd name="T7" fmla="*/ 0 60000 65536"/>
                <a:gd name="T8" fmla="*/ 0 60000 65536"/>
                <a:gd name="T9" fmla="*/ 0 w 456"/>
                <a:gd name="T10" fmla="*/ 0 h 576"/>
                <a:gd name="T11" fmla="*/ 456 w 45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6" h="576">
                  <a:moveTo>
                    <a:pt x="432" y="0"/>
                  </a:moveTo>
                  <a:cubicBezTo>
                    <a:pt x="444" y="192"/>
                    <a:pt x="456" y="384"/>
                    <a:pt x="384" y="480"/>
                  </a:cubicBezTo>
                  <a:cubicBezTo>
                    <a:pt x="312" y="576"/>
                    <a:pt x="72" y="560"/>
                    <a:pt x="0" y="57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5" name="Text Box 48">
              <a:extLst>
                <a:ext uri="{FF2B5EF4-FFF2-40B4-BE49-F238E27FC236}">
                  <a16:creationId xmlns:a16="http://schemas.microsoft.com/office/drawing/2014/main" id="{241DCDB3-C278-42AA-ADF0-FFAEB404B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408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</a:p>
          </p:txBody>
        </p:sp>
        <p:sp>
          <p:nvSpPr>
            <p:cNvPr id="37936" name="Line 49">
              <a:extLst>
                <a:ext uri="{FF2B5EF4-FFF2-40B4-BE49-F238E27FC236}">
                  <a16:creationId xmlns:a16="http://schemas.microsoft.com/office/drawing/2014/main" id="{FB1A1BFD-D4D6-4FE6-AE4A-D3CAB2BAE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688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7" name="Freeform 50">
              <a:extLst>
                <a:ext uri="{FF2B5EF4-FFF2-40B4-BE49-F238E27FC236}">
                  <a16:creationId xmlns:a16="http://schemas.microsoft.com/office/drawing/2014/main" id="{44D47F18-DDA6-4BD0-A3A0-2469B604C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832"/>
              <a:ext cx="528" cy="200"/>
            </a:xfrm>
            <a:custGeom>
              <a:avLst/>
              <a:gdLst>
                <a:gd name="T0" fmla="*/ 528 w 528"/>
                <a:gd name="T1" fmla="*/ 56 h 200"/>
                <a:gd name="T2" fmla="*/ 240 w 528"/>
                <a:gd name="T3" fmla="*/ 200 h 200"/>
                <a:gd name="T4" fmla="*/ 0 w 528"/>
                <a:gd name="T5" fmla="*/ 56 h 200"/>
                <a:gd name="T6" fmla="*/ 0 60000 65536"/>
                <a:gd name="T7" fmla="*/ 0 60000 65536"/>
                <a:gd name="T8" fmla="*/ 0 60000 65536"/>
                <a:gd name="T9" fmla="*/ 0 w 528"/>
                <a:gd name="T10" fmla="*/ 0 h 200"/>
                <a:gd name="T11" fmla="*/ 528 w 528"/>
                <a:gd name="T12" fmla="*/ 200 h 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8" h="200">
                  <a:moveTo>
                    <a:pt x="528" y="56"/>
                  </a:moveTo>
                  <a:cubicBezTo>
                    <a:pt x="428" y="128"/>
                    <a:pt x="328" y="200"/>
                    <a:pt x="240" y="200"/>
                  </a:cubicBezTo>
                  <a:cubicBezTo>
                    <a:pt x="152" y="200"/>
                    <a:pt x="8" y="0"/>
                    <a:pt x="0" y="56"/>
                  </a:cubicBezTo>
                </a:path>
              </a:pathLst>
            </a:custGeom>
            <a:noFill/>
            <a:ln w="25400" cap="flat" cmpd="sng">
              <a:solidFill>
                <a:srgbClr val="008000"/>
              </a:solidFill>
              <a:prstDash val="solid"/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8" name="Line 51">
              <a:extLst>
                <a:ext uri="{FF2B5EF4-FFF2-40B4-BE49-F238E27FC236}">
                  <a16:creationId xmlns:a16="http://schemas.microsoft.com/office/drawing/2014/main" id="{30F1F07D-9A8E-4EC3-818E-BE08480D2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688"/>
              <a:ext cx="336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39" name="Text Box 52">
              <a:extLst>
                <a:ext uri="{FF2B5EF4-FFF2-40B4-BE49-F238E27FC236}">
                  <a16:creationId xmlns:a16="http://schemas.microsoft.com/office/drawing/2014/main" id="{64AF89AA-6F44-4027-9C6D-2A1796D94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35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37940" name="Text Box 53">
              <a:extLst>
                <a:ext uri="{FF2B5EF4-FFF2-40B4-BE49-F238E27FC236}">
                  <a16:creationId xmlns:a16="http://schemas.microsoft.com/office/drawing/2014/main" id="{D92735A5-5CC1-46A2-BB7B-D66E36E2D8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07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37941" name="Text Box 54">
              <a:extLst>
                <a:ext uri="{FF2B5EF4-FFF2-40B4-BE49-F238E27FC236}">
                  <a16:creationId xmlns:a16="http://schemas.microsoft.com/office/drawing/2014/main" id="{164C6C2A-F8DD-49E0-BDBF-5AEF1FF18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352"/>
              <a:ext cx="19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</a:p>
          </p:txBody>
        </p:sp>
        <p:sp>
          <p:nvSpPr>
            <p:cNvPr id="37942" name="Line 55">
              <a:extLst>
                <a:ext uri="{FF2B5EF4-FFF2-40B4-BE49-F238E27FC236}">
                  <a16:creationId xmlns:a16="http://schemas.microsoft.com/office/drawing/2014/main" id="{78C8D25A-AD35-4FD0-AE78-0E311FB45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688"/>
              <a:ext cx="288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54000" tIns="28800" rIns="54000" bIns="28800"/>
            <a:lstStyle/>
            <a:p>
              <a:endParaRPr lang="zh-CN" altLang="en-US"/>
            </a:p>
          </p:txBody>
        </p:sp>
        <p:sp>
          <p:nvSpPr>
            <p:cNvPr id="37943" name="Text Box 56">
              <a:extLst>
                <a:ext uri="{FF2B5EF4-FFF2-40B4-BE49-F238E27FC236}">
                  <a16:creationId xmlns:a16="http://schemas.microsoft.com/office/drawing/2014/main" id="{B7A5414F-33DE-4EF5-A842-38CB0BC35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304"/>
              <a:ext cx="720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4000" tIns="28800" rIns="54000" bIns="288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黑体" panose="02010609060101010101" pitchFamily="49" charset="-122"/>
                </a:defRPr>
              </a:lvl9pPr>
            </a:lstStyle>
            <a:p>
              <a:pPr algn="just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start</a:t>
              </a:r>
            </a:p>
          </p:txBody>
        </p:sp>
      </p:grpSp>
      <p:sp>
        <p:nvSpPr>
          <p:cNvPr id="37893" name="Text Box 57">
            <a:extLst>
              <a:ext uri="{FF2B5EF4-FFF2-40B4-BE49-F238E27FC236}">
                <a16:creationId xmlns:a16="http://schemas.microsoft.com/office/drawing/2014/main" id="{9ADD83FC-3C3E-45D7-B3E7-F73A1779E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5543015"/>
            <a:ext cx="70866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人、羊过河；人回；人狼过河；</a:t>
            </a:r>
          </a:p>
          <a:p>
            <a:pPr algn="just"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000000"/>
                </a:solidFill>
                <a:latin typeface="Times New Roman" panose="02020603050405020304" pitchFamily="18" charset="0"/>
              </a:rPr>
              <a:t>人、羊回；人、菜过河；人回；人羊过河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over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58" name="Freeform 50">
            <a:extLst>
              <a:ext uri="{FF2B5EF4-FFF2-40B4-BE49-F238E27FC236}">
                <a16:creationId xmlns:a16="http://schemas.microsoft.com/office/drawing/2014/main" id="{BE2C255F-AAAF-4BFB-94F3-F1A450692686}"/>
              </a:ext>
            </a:extLst>
          </p:cNvPr>
          <p:cNvSpPr>
            <a:spLocks/>
          </p:cNvSpPr>
          <p:nvPr/>
        </p:nvSpPr>
        <p:spPr bwMode="auto">
          <a:xfrm>
            <a:off x="7734300" y="3557586"/>
            <a:ext cx="838200" cy="317500"/>
          </a:xfrm>
          <a:custGeom>
            <a:avLst/>
            <a:gdLst>
              <a:gd name="T0" fmla="*/ 528 w 528"/>
              <a:gd name="T1" fmla="*/ 56 h 200"/>
              <a:gd name="T2" fmla="*/ 240 w 528"/>
              <a:gd name="T3" fmla="*/ 200 h 200"/>
              <a:gd name="T4" fmla="*/ 0 w 528"/>
              <a:gd name="T5" fmla="*/ 56 h 200"/>
              <a:gd name="T6" fmla="*/ 0 60000 65536"/>
              <a:gd name="T7" fmla="*/ 0 60000 65536"/>
              <a:gd name="T8" fmla="*/ 0 60000 65536"/>
              <a:gd name="T9" fmla="*/ 0 w 528"/>
              <a:gd name="T10" fmla="*/ 0 h 200"/>
              <a:gd name="T11" fmla="*/ 528 w 528"/>
              <a:gd name="T12" fmla="*/ 200 h 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200">
                <a:moveTo>
                  <a:pt x="528" y="56"/>
                </a:moveTo>
                <a:cubicBezTo>
                  <a:pt x="428" y="128"/>
                  <a:pt x="328" y="200"/>
                  <a:pt x="240" y="200"/>
                </a:cubicBezTo>
                <a:cubicBezTo>
                  <a:pt x="152" y="200"/>
                  <a:pt x="8" y="0"/>
                  <a:pt x="0" y="56"/>
                </a:cubicBezTo>
              </a:path>
            </a:pathLst>
          </a:custGeom>
          <a:noFill/>
          <a:ln w="25400" cap="flat" cmpd="sng">
            <a:solidFill>
              <a:srgbClr val="008000"/>
            </a:solidFill>
            <a:prstDash val="solid"/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54000" tIns="28800" rIns="54000" bIns="28800"/>
          <a:lstStyle/>
          <a:p>
            <a:endParaRPr lang="zh-CN" altLang="en-US"/>
          </a:p>
        </p:txBody>
      </p:sp>
      <p:sp>
        <p:nvSpPr>
          <p:cNvPr id="59" name="Text Box 54">
            <a:extLst>
              <a:ext uri="{FF2B5EF4-FFF2-40B4-BE49-F238E27FC236}">
                <a16:creationId xmlns:a16="http://schemas.microsoft.com/office/drawing/2014/main" id="{6026BBA0-6807-461A-BC9F-ECA637100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100" y="3816348"/>
            <a:ext cx="3048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28800" rIns="54000" bIns="28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编译原理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E1A4A9B1-7E4E-47AA-AA07-2768A6A8C14F}" vid="{86F4E090-C3C9-4325-B7F9-CF07F329FE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1053</TotalTime>
  <Words>4627</Words>
  <Application>Microsoft Office PowerPoint</Application>
  <PresentationFormat>全屏显示(4:3)</PresentationFormat>
  <Paragraphs>697</Paragraphs>
  <Slides>35</Slides>
  <Notes>18</Notes>
  <HiddenSlides>5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6" baseType="lpstr">
      <vt:lpstr>Arial Unicode MS</vt:lpstr>
      <vt:lpstr>等线</vt:lpstr>
      <vt:lpstr>黑体</vt:lpstr>
      <vt:lpstr>宋体</vt:lpstr>
      <vt:lpstr>Arial</vt:lpstr>
      <vt:lpstr>Courier New</vt:lpstr>
      <vt:lpstr>Symbol</vt:lpstr>
      <vt:lpstr>Tahoma</vt:lpstr>
      <vt:lpstr>Times New Roman</vt:lpstr>
      <vt:lpstr>Wingdings</vt:lpstr>
      <vt:lpstr>主题1</vt:lpstr>
      <vt:lpstr>第二章 词法分析-习题课</vt:lpstr>
      <vt:lpstr>本章要点</vt:lpstr>
      <vt:lpstr>巩固练习</vt:lpstr>
      <vt:lpstr>巩固练习 非形式描述语言正规式</vt:lpstr>
      <vt:lpstr>巩固练习 非形式描述语言正规式</vt:lpstr>
      <vt:lpstr>巩固练习 非形式描述语言正规式</vt:lpstr>
      <vt:lpstr>巩固练习 非形式描述语言正规式</vt:lpstr>
      <vt:lpstr>巩固练习 非形式描述语言正规式</vt:lpstr>
      <vt:lpstr>巩固练习 非形式描述的语言  DFA</vt:lpstr>
      <vt:lpstr>巩固练习 非形式描述的语言  DFA</vt:lpstr>
      <vt:lpstr>巩固练习 非形式描述的语言  DFA</vt:lpstr>
      <vt:lpstr>巩固练习 非形式描述的语言  DFA</vt:lpstr>
      <vt:lpstr>巩固练习 正规式  NFA/DFA</vt:lpstr>
      <vt:lpstr>巩固练习 综合题</vt:lpstr>
      <vt:lpstr>巩固练习 综合题</vt:lpstr>
      <vt:lpstr>巩固练习 综合题</vt:lpstr>
      <vt:lpstr>巩固练习 综合题</vt:lpstr>
      <vt:lpstr>巩固练习 综合题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 作业</vt:lpstr>
      <vt:lpstr>第二章习题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欣捷</dc:creator>
  <cp:lastModifiedBy>欣捷 王</cp:lastModifiedBy>
  <cp:revision>30</cp:revision>
  <dcterms:created xsi:type="dcterms:W3CDTF">2021-02-17T04:10:24Z</dcterms:created>
  <dcterms:modified xsi:type="dcterms:W3CDTF">2026-03-25T08:21:03Z</dcterms:modified>
</cp:coreProperties>
</file>