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</p:sldMasterIdLst>
  <p:notesMasterIdLst>
    <p:notesMasterId r:id="rId55"/>
  </p:notesMasterIdLst>
  <p:sldIdLst>
    <p:sldId id="256" r:id="rId2"/>
    <p:sldId id="580" r:id="rId3"/>
    <p:sldId id="586" r:id="rId4"/>
    <p:sldId id="587" r:id="rId5"/>
    <p:sldId id="589" r:id="rId6"/>
    <p:sldId id="581" r:id="rId7"/>
    <p:sldId id="582" r:id="rId8"/>
    <p:sldId id="583" r:id="rId9"/>
    <p:sldId id="627" r:id="rId10"/>
    <p:sldId id="585" r:id="rId11"/>
    <p:sldId id="628" r:id="rId12"/>
    <p:sldId id="629" r:id="rId13"/>
    <p:sldId id="630" r:id="rId14"/>
    <p:sldId id="588" r:id="rId15"/>
    <p:sldId id="590" r:id="rId16"/>
    <p:sldId id="631" r:id="rId17"/>
    <p:sldId id="632" r:id="rId18"/>
    <p:sldId id="637" r:id="rId19"/>
    <p:sldId id="591" r:id="rId20"/>
    <p:sldId id="612" r:id="rId21"/>
    <p:sldId id="616" r:id="rId22"/>
    <p:sldId id="615" r:id="rId23"/>
    <p:sldId id="617" r:id="rId24"/>
    <p:sldId id="592" r:id="rId25"/>
    <p:sldId id="593" r:id="rId26"/>
    <p:sldId id="614" r:id="rId27"/>
    <p:sldId id="613" r:id="rId28"/>
    <p:sldId id="594" r:id="rId29"/>
    <p:sldId id="595" r:id="rId30"/>
    <p:sldId id="619" r:id="rId31"/>
    <p:sldId id="596" r:id="rId32"/>
    <p:sldId id="620" r:id="rId33"/>
    <p:sldId id="621" r:id="rId34"/>
    <p:sldId id="622" r:id="rId35"/>
    <p:sldId id="623" r:id="rId36"/>
    <p:sldId id="598" r:id="rId37"/>
    <p:sldId id="599" r:id="rId38"/>
    <p:sldId id="600" r:id="rId39"/>
    <p:sldId id="601" r:id="rId40"/>
    <p:sldId id="624" r:id="rId41"/>
    <p:sldId id="602" r:id="rId42"/>
    <p:sldId id="606" r:id="rId43"/>
    <p:sldId id="607" r:id="rId44"/>
    <p:sldId id="608" r:id="rId45"/>
    <p:sldId id="609" r:id="rId46"/>
    <p:sldId id="610" r:id="rId47"/>
    <p:sldId id="611" r:id="rId48"/>
    <p:sldId id="625" r:id="rId49"/>
    <p:sldId id="626" r:id="rId50"/>
    <p:sldId id="634" r:id="rId51"/>
    <p:sldId id="635" r:id="rId52"/>
    <p:sldId id="603" r:id="rId53"/>
    <p:sldId id="636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617D"/>
    <a:srgbClr val="316886"/>
    <a:srgbClr val="3A7B9F"/>
    <a:srgbClr val="20455A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6478F7-FD46-446A-A8AC-6A70601464D4}" v="5" dt="2026-04-08T03:29:11.064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27" autoAdjust="0"/>
    <p:restoredTop sz="74680" autoAdjust="0"/>
  </p:normalViewPr>
  <p:slideViewPr>
    <p:cSldViewPr snapToGrid="0">
      <p:cViewPr varScale="1">
        <p:scale>
          <a:sx n="114" d="100"/>
          <a:sy n="114" d="100"/>
        </p:scale>
        <p:origin x="7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欣捷 王" userId="b965477fa0aef5e6" providerId="LiveId" clId="{97C6B45D-85CF-4E4B-9C99-FFEAE701DD4A}"/>
    <pc:docChg chg="custSel modSld">
      <pc:chgData name="欣捷 王" userId="b965477fa0aef5e6" providerId="LiveId" clId="{97C6B45D-85CF-4E4B-9C99-FFEAE701DD4A}" dt="2026-03-26T01:36:28.648" v="23"/>
      <pc:docMkLst>
        <pc:docMk/>
      </pc:docMkLst>
      <pc:sldChg chg="modSp mod">
        <pc:chgData name="欣捷 王" userId="b965477fa0aef5e6" providerId="LiveId" clId="{97C6B45D-85CF-4E4B-9C99-FFEAE701DD4A}" dt="2026-03-26T01:36:28.648" v="23"/>
        <pc:sldMkLst>
          <pc:docMk/>
          <pc:sldMk cId="3939126897" sldId="637"/>
        </pc:sldMkLst>
        <pc:spChg chg="mod">
          <ac:chgData name="欣捷 王" userId="b965477fa0aef5e6" providerId="LiveId" clId="{97C6B45D-85CF-4E4B-9C99-FFEAE701DD4A}" dt="2026-03-26T01:36:28.648" v="20"/>
          <ac:spMkLst>
            <pc:docMk/>
            <pc:sldMk cId="3939126897" sldId="637"/>
            <ac:spMk id="19" creationId="{CD150324-59EF-096C-51D4-30AF5AE18EDE}"/>
          </ac:spMkLst>
        </pc:spChg>
        <pc:spChg chg="mod">
          <ac:chgData name="欣捷 王" userId="b965477fa0aef5e6" providerId="LiveId" clId="{97C6B45D-85CF-4E4B-9C99-FFEAE701DD4A}" dt="2026-03-26T01:36:28.647" v="19"/>
          <ac:spMkLst>
            <pc:docMk/>
            <pc:sldMk cId="3939126897" sldId="637"/>
            <ac:spMk id="20" creationId="{B58EA7FF-E73F-4DF5-3A66-5DCB700B5FDA}"/>
          </ac:spMkLst>
        </pc:spChg>
        <pc:spChg chg="mod">
          <ac:chgData name="欣捷 王" userId="b965477fa0aef5e6" providerId="LiveId" clId="{97C6B45D-85CF-4E4B-9C99-FFEAE701DD4A}" dt="2026-03-26T01:36:28.647" v="19"/>
          <ac:spMkLst>
            <pc:docMk/>
            <pc:sldMk cId="3939126897" sldId="637"/>
            <ac:spMk id="21" creationId="{57D0231A-7C35-156E-716E-563526304D9C}"/>
          </ac:spMkLst>
        </pc:spChg>
        <pc:spChg chg="mod">
          <ac:chgData name="欣捷 王" userId="b965477fa0aef5e6" providerId="LiveId" clId="{97C6B45D-85CF-4E4B-9C99-FFEAE701DD4A}" dt="2026-03-26T01:36:28.647" v="19"/>
          <ac:spMkLst>
            <pc:docMk/>
            <pc:sldMk cId="3939126897" sldId="637"/>
            <ac:spMk id="22" creationId="{82D4393B-4214-E049-45C8-C91735C3376F}"/>
          </ac:spMkLst>
        </pc:spChg>
        <pc:grpChg chg="mod">
          <ac:chgData name="欣捷 王" userId="b965477fa0aef5e6" providerId="LiveId" clId="{97C6B45D-85CF-4E4B-9C99-FFEAE701DD4A}" dt="2026-03-26T01:36:28.648" v="21"/>
          <ac:grpSpMkLst>
            <pc:docMk/>
            <pc:sldMk cId="3939126897" sldId="637"/>
            <ac:grpSpMk id="23" creationId="{49FEBCF4-85F3-20C6-DFDF-A074248706B7}"/>
          </ac:grpSpMkLst>
        </pc:grpChg>
        <pc:picChg chg="mod ord">
          <ac:chgData name="欣捷 王" userId="b965477fa0aef5e6" providerId="LiveId" clId="{97C6B45D-85CF-4E4B-9C99-FFEAE701DD4A}" dt="2026-03-26T01:36:28.648" v="23"/>
          <ac:picMkLst>
            <pc:docMk/>
            <pc:sldMk cId="3939126897" sldId="637"/>
            <ac:picMk id="8" creationId="{EAAB5412-931F-1AC1-5C06-F395CA7FBC07}"/>
          </ac:picMkLst>
        </pc:picChg>
      </pc:sldChg>
    </pc:docChg>
  </pc:docChgLst>
  <pc:docChgLst>
    <pc:chgData name="欣捷 王" userId="b965477fa0aef5e6" providerId="LiveId" clId="{2F857495-2BB0-4053-B57D-AD2A648DCC80}"/>
    <pc:docChg chg="modSld">
      <pc:chgData name="欣捷 王" userId="b965477fa0aef5e6" providerId="LiveId" clId="{2F857495-2BB0-4053-B57D-AD2A648DCC80}" dt="2026-04-08T03:29:11.064" v="4" actId="20577"/>
      <pc:docMkLst>
        <pc:docMk/>
      </pc:docMkLst>
      <pc:sldChg chg="modSp modAnim">
        <pc:chgData name="欣捷 王" userId="b965477fa0aef5e6" providerId="LiveId" clId="{2F857495-2BB0-4053-B57D-AD2A648DCC80}" dt="2026-04-08T03:29:11.064" v="4" actId="20577"/>
        <pc:sldMkLst>
          <pc:docMk/>
          <pc:sldMk cId="1018950190" sldId="635"/>
        </pc:sldMkLst>
        <pc:spChg chg="mod">
          <ac:chgData name="欣捷 王" userId="b965477fa0aef5e6" providerId="LiveId" clId="{2F857495-2BB0-4053-B57D-AD2A648DCC80}" dt="2026-04-08T03:28:56.209" v="3" actId="20577"/>
          <ac:spMkLst>
            <pc:docMk/>
            <pc:sldMk cId="1018950190" sldId="635"/>
            <ac:spMk id="3" creationId="{2F73734F-0095-3F80-B7D1-9FDBC7FABD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9D049-5B44-483E-9C3C-697C85C65D4A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C3482-A6A0-4CF0-A287-4BD4EF082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94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18842A18-B17C-4DD9-8E02-70543860EA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C44F0925-673A-48A7-8578-86EFE90276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8DF531D2-D367-4A2F-BC27-6340E1E94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4AE5BEF-A927-4FB0-8ABF-587835847E46}" type="slidenum">
              <a:rPr lang="zh-CN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0A96D6BD-533B-4350-BDC2-EDCC1058EB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备注占位符 2">
            <a:extLst>
              <a:ext uri="{FF2B5EF4-FFF2-40B4-BE49-F238E27FC236}">
                <a16:creationId xmlns:a16="http://schemas.microsoft.com/office/drawing/2014/main" id="{6A7D7F83-E98C-4133-BB1D-DDB1306BA8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zh-CN" sz="1800" dirty="0"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语言学家乔姆斯基</a:t>
            </a:r>
            <a:r>
              <a:rPr lang="en-US" altLang="zh-CN" sz="1800" dirty="0"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(Avram Noam Chomsky</a:t>
            </a:r>
            <a:r>
              <a:rPr lang="zh-CN" altLang="zh-CN" sz="1800" dirty="0"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1928</a:t>
            </a:r>
            <a:r>
              <a:rPr lang="zh-CN" altLang="zh-CN" sz="1800" dirty="0"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1800" dirty="0"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-)</a:t>
            </a:r>
            <a:r>
              <a:rPr lang="zh-CN" altLang="zh-CN" sz="1800" dirty="0"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于</a:t>
            </a:r>
            <a:r>
              <a:rPr lang="en-US" altLang="zh-CN" sz="1800" dirty="0"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1956</a:t>
            </a:r>
            <a:r>
              <a:rPr lang="zh-CN" altLang="zh-CN" sz="1800" dirty="0"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年提出的关于形式语言及其文法的</a:t>
            </a:r>
            <a:r>
              <a:rPr lang="zh-CN" altLang="en-US" sz="1800" dirty="0"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分类</a:t>
            </a:r>
            <a:r>
              <a:rPr lang="zh-CN" altLang="zh-CN" sz="1800" dirty="0">
                <a:effectLst/>
                <a:ea typeface="仿宋" panose="02010609060101010101" pitchFamily="49" charset="-122"/>
                <a:cs typeface="Times New Roman" panose="02020603050405020304" pitchFamily="18" charset="0"/>
              </a:rPr>
              <a:t>方法。</a:t>
            </a:r>
            <a:endParaRPr lang="zh-CN" altLang="en-US" dirty="0"/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91D4F19A-1C8E-4EF7-80B6-3CA66AE13133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C302F160-86E8-43CF-845D-0AEE7E5C4823}" type="slidenum"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10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0A96D6BD-533B-4350-BDC2-EDCC1058EB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备注占位符 2">
            <a:extLst>
              <a:ext uri="{FF2B5EF4-FFF2-40B4-BE49-F238E27FC236}">
                <a16:creationId xmlns:a16="http://schemas.microsoft.com/office/drawing/2014/main" id="{6A7D7F83-E98C-4133-BB1D-DDB1306BA8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91D4F19A-1C8E-4EF7-80B6-3CA66AE13133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C302F160-86E8-43CF-845D-0AEE7E5C4823}" type="slidenum"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11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336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94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1E59175-2876-4D77-8AFC-288729337F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4D6FAED-AFAC-4D04-A5D9-82FFC42EF7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开始符号集合和后继符号集合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0F3DB173-F8D8-4AA3-858B-33248A2A7F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91BE9E9E-27FC-4EAC-B8D2-C8E509D176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例题 </a:t>
            </a:r>
            <a:r>
              <a:rPr lang="en-US" altLang="zh-CN"/>
              <a:t>P102/3.8(b)</a:t>
            </a:r>
            <a:endParaRPr lang="zh-CN" altLang="en-US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04313F59-263D-4B98-AFC2-826BEB317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1B14C46-1E6B-4870-A94A-1CB73BB4E7DE}" type="slidenum"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46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FB839965-6B58-4A8D-94A2-B0E3B1F0DC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56D7D94F-67DB-4520-BB3E-F876815F4A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（</a:t>
            </a:r>
            <a:r>
              <a:rPr lang="en-US" altLang="zh-CN" dirty="0" err="1"/>
              <a:t>a,a</a:t>
            </a:r>
            <a:r>
              <a:rPr lang="zh-CN" altLang="en-US" dirty="0"/>
              <a:t>）分析树建立过程</a:t>
            </a:r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45D53CFA-2321-4FC6-8D5F-298E9AE90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E674198-E3FC-4324-885E-28E5DC165CCD}" type="slidenum">
              <a:rPr lang="zh-CN" altLang="en-US" sz="1200"/>
              <a:pPr/>
              <a:t>47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注意标红的位置，是对第三行产生式里出现的</a:t>
            </a:r>
            <a:r>
              <a:rPr lang="en-US" altLang="zh-CN" dirty="0"/>
              <a:t>A</a:t>
            </a:r>
            <a:r>
              <a:rPr lang="zh-CN" altLang="en-US" dirty="0"/>
              <a:t>求</a:t>
            </a:r>
            <a:r>
              <a:rPr lang="en-US" altLang="zh-CN" dirty="0"/>
              <a:t>FOLLOW</a:t>
            </a:r>
            <a:r>
              <a:rPr lang="zh-CN" altLang="en-US" dirty="0"/>
              <a:t>集合后新加入的非终结符，即把</a:t>
            </a:r>
            <a:r>
              <a:rPr lang="en-US" altLang="zh-CN" sz="1200" b="0" dirty="0"/>
              <a:t>FOLLOW(B)</a:t>
            </a:r>
            <a:r>
              <a:rPr lang="zh-CN" altLang="en-US" sz="1200" b="0" dirty="0"/>
              <a:t>包含入</a:t>
            </a:r>
            <a:r>
              <a:rPr lang="en-US" altLang="zh-CN" sz="1200" b="0" dirty="0"/>
              <a:t>FOLLOW(</a:t>
            </a:r>
            <a:r>
              <a:rPr lang="en-US" altLang="zh-CN" sz="1200" b="0" i="1" dirty="0"/>
              <a:t>A</a:t>
            </a:r>
            <a:r>
              <a:rPr lang="en-US" altLang="zh-CN" sz="1200" b="0" dirty="0"/>
              <a:t>)</a:t>
            </a:r>
            <a:r>
              <a:rPr lang="zh-CN" altLang="en-US" sz="1200" b="0" dirty="0"/>
              <a:t>中。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916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431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204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B629830-5336-4949-A8B2-948D6B2F12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41494"/>
            <a:ext cx="7772400" cy="219215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966310"/>
            <a:ext cx="6858000" cy="93695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E01A93-E996-4DF8-B9CC-4F6E64C77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AB18CEC-4B31-7E6F-C64F-1EB3825707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482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20E6C-FB89-68E9-164A-0E504C4D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77937-55A7-40E3-8D3B-E2B7E4AAC461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A6C13-CFA3-3AF6-23F4-C8246972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45253-17F5-89F1-7504-AB07B9F2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008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B14192-683D-1581-6D26-BAED78CA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F761-7DCF-4721-B9CA-C52591FEF623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07685F-6B1C-E4EB-B539-2D58EFF0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AF35F3-E92D-A082-789F-7BFB914A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05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71F871-1662-A440-1289-66A083C51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B342A-FCFE-4258-95F2-0EE840890E86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0DA3E0-CF01-EF96-C886-24123335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8AC076-E8F6-3026-FC96-48094C2BF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5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924287"/>
            <a:ext cx="3887391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89DA9E-6D2C-ECFE-516A-4D7CBF5D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640B-962B-4DA7-884C-309AD5892907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4D214C7-BE70-775E-3184-699E828C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E63B42C-0A8D-3187-C6A2-EC53CC68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66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910E3A-F2ED-EEF4-F254-EC2E31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6ABF-79D4-49C5-AD99-ACE4B74C3D3B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EB21E9-A4F5-FC64-1354-7982178B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89F21-B949-2FD1-743C-8877F798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82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0BF46A-E386-812F-0D08-5F82291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A5B88-40D4-40C4-9275-A5CEF8C24674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34F61A-207B-527E-FBEF-08F5D67B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0BB434-81FB-B74A-0CBE-68F34BF4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2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04851"/>
            <a:ext cx="4629150" cy="515620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71602"/>
            <a:ext cx="2949178" cy="44973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D298AE-E700-D985-6042-9D007D8F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E4217-228B-4C44-99B6-BF1331E5DFDF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58D42-CF72-34ED-F56F-AE9B813E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DFD631-A3E9-165A-35DB-0DEA1F6E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512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7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81ADDD-B50D-2265-4F73-7D94A8CA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FE6DD-AEB9-4598-A679-D8574D6C61D2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7C0C95-F80D-C1E1-CCD9-FED7EC49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1A04C7-B65F-289E-E03D-12535DA8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010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8B23B-E63C-7924-6739-DE03BC37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274F-091D-4CB5-A12A-3D4123E5F75A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DC46F-A2C9-DCCE-53CA-FD68C17A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5539E-CDF7-804D-9506-F8F80876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31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B09B39-3007-BEB7-B5AD-FF5977A9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F739-DCF1-4C23-8BD2-8CB4A786FA87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C64B84-DDCA-A2A7-6AF5-422C28B8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39592-4F64-1117-E412-90F33146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183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DFF38CD5-A72C-F759-0789-EEDBD4DE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1CB9A-B7A2-4A13-9BCB-90F7C5B48604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38FBA95-D414-F06C-DB52-00D94A9C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FA977F0-2D4E-D075-7789-0395E8EE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883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A8814B-8A88-C255-1CC9-3C519F1E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4AAF-D534-4616-87C3-5488B846D96E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9516C1-45F7-9ADE-2F07-8A46D245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007FEB-0C75-86B7-2DB2-264DC6B1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773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24287"/>
            <a:ext cx="3887391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4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42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262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5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94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2BE00A18-3E4B-9B83-B39E-3802B78050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DB094C2-4113-C7FB-4CA4-7288E397F2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7A168E-A69C-E6A6-42E6-D63C6783ACE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6BB342A-FCFE-4258-95F2-0EE840890E86}" type="datetime2">
              <a:rPr lang="zh-CN" altLang="en-US" smtClean="0"/>
              <a:t>2026年4月8日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5759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F3958B-01C0-0A96-68C9-F7752383FD9A}"/>
              </a:ext>
            </a:extLst>
          </p:cNvPr>
          <p:cNvSpPr/>
          <p:nvPr/>
        </p:nvSpPr>
        <p:spPr>
          <a:xfrm>
            <a:off x="0" y="0"/>
            <a:ext cx="9144000" cy="229128"/>
          </a:xfrm>
          <a:prstGeom prst="rect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D5E4ABF-DD54-6BBA-BAC2-E1D45644836D}"/>
              </a:ext>
            </a:extLst>
          </p:cNvPr>
          <p:cNvCxnSpPr/>
          <p:nvPr/>
        </p:nvCxnSpPr>
        <p:spPr>
          <a:xfrm>
            <a:off x="0" y="229136"/>
            <a:ext cx="914400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57300"/>
            <a:ext cx="7886700" cy="4919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6CBCA317-D25B-4606-AB40-B04900150411}"/>
              </a:ext>
            </a:extLst>
          </p:cNvPr>
          <p:cNvSpPr/>
          <p:nvPr/>
        </p:nvSpPr>
        <p:spPr>
          <a:xfrm>
            <a:off x="0" y="365136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7360822-865F-4201-A117-CC1E539ED999}"/>
              </a:ext>
            </a:extLst>
          </p:cNvPr>
          <p:cNvSpPr/>
          <p:nvPr/>
        </p:nvSpPr>
        <p:spPr>
          <a:xfrm>
            <a:off x="0" y="365128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45553-EF4A-DBDE-C790-A708CC05C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10800"/>
            <a:ext cx="30861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023F4F9-B6BF-0026-295C-0157F77F3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56000" y="10800"/>
            <a:ext cx="20574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0115C-8837-19E6-64B4-FBB7C7E3D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400" y="10800"/>
            <a:ext cx="20592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66BB342A-FCFE-4258-95F2-0EE840890E86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89165654-6210-203E-0022-FF25E28D268D}"/>
              </a:ext>
            </a:extLst>
          </p:cNvPr>
          <p:cNvSpPr/>
          <p:nvPr userDrawn="1"/>
        </p:nvSpPr>
        <p:spPr>
          <a:xfrm>
            <a:off x="0" y="365134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3936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67" r:id="rId14"/>
    <p:sldLayoutId id="2147483669" r:id="rId15"/>
    <p:sldLayoutId id="2147483671" r:id="rId16"/>
    <p:sldLayoutId id="2147483688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C3515-54D4-4A44-A409-1AD3C10C6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第三章 语法分析</a:t>
            </a:r>
            <a:r>
              <a:rPr lang="en-US" altLang="zh-CN" dirty="0"/>
              <a:t>(3)</a:t>
            </a:r>
            <a:endParaRPr lang="zh-CN" altLang="en-US" sz="36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F7C19A-4716-4FDA-9AAE-2A3CD35E5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sz="1800" dirty="0"/>
          </a:p>
          <a:p>
            <a:r>
              <a:rPr lang="zh-CN" altLang="en-US" sz="1800" dirty="0"/>
              <a:t>中国海洋大学 计算机系 王欣捷</a:t>
            </a:r>
            <a:endParaRPr lang="en-US" altLang="zh-CN" sz="1800" dirty="0"/>
          </a:p>
          <a:p>
            <a:r>
              <a:rPr lang="en-US" altLang="zh-CN" sz="1800" dirty="0"/>
              <a:t>wangxinjie@ouc.edu.cn</a:t>
            </a:r>
            <a:endParaRPr lang="zh-CN" altLang="en-US" sz="1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9EEABF-8F2E-4A8A-9369-F41B0C31DBC7}"/>
              </a:ext>
            </a:extLst>
          </p:cNvPr>
          <p:cNvSpPr txBox="1"/>
          <p:nvPr/>
        </p:nvSpPr>
        <p:spPr>
          <a:xfrm>
            <a:off x="3363977" y="3105834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编 译 原 理</a:t>
            </a:r>
          </a:p>
        </p:txBody>
      </p:sp>
    </p:spTree>
    <p:extLst>
      <p:ext uri="{BB962C8B-B14F-4D97-AF65-F5344CB8AC3E}">
        <p14:creationId xmlns:p14="http://schemas.microsoft.com/office/powerpoint/2010/main" val="2470898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F0DE04D-C995-4C85-969C-21A2CF4FF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上次课回顾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01F629B-64AE-4EFA-82CB-9B0DFFA8D4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4000" dirty="0"/>
              <a:t>3.2 </a:t>
            </a:r>
            <a:r>
              <a:rPr lang="zh-CN" altLang="en-US" sz="4000" dirty="0"/>
              <a:t>语言和文法</a:t>
            </a:r>
          </a:p>
          <a:p>
            <a:pPr lvl="1" eaLnBrk="1" hangingPunct="1"/>
            <a:r>
              <a:rPr lang="en-US" altLang="zh-CN" sz="3600" dirty="0"/>
              <a:t>3.2.4/5 </a:t>
            </a:r>
            <a:r>
              <a:rPr lang="zh-CN" altLang="en-US" sz="3600" dirty="0"/>
              <a:t>消除二义性</a:t>
            </a:r>
            <a:endParaRPr lang="en-US" altLang="zh-CN" sz="3600" dirty="0"/>
          </a:p>
          <a:p>
            <a:pPr lvl="1" eaLnBrk="1" hangingPunct="1"/>
            <a:r>
              <a:rPr lang="en-US" altLang="zh-CN" sz="3600" dirty="0"/>
              <a:t>3.2.6 </a:t>
            </a:r>
            <a:r>
              <a:rPr lang="zh-CN" altLang="en-US" sz="3600" dirty="0"/>
              <a:t>消除左递归</a:t>
            </a:r>
            <a:endParaRPr lang="en-US" altLang="zh-CN" sz="3600" dirty="0"/>
          </a:p>
          <a:p>
            <a:pPr lvl="1" eaLnBrk="1" hangingPunct="1"/>
            <a:r>
              <a:rPr lang="en-US" altLang="zh-CN" sz="3600" dirty="0"/>
              <a:t>3.2.7 </a:t>
            </a:r>
            <a:r>
              <a:rPr lang="zh-CN" altLang="en-US" sz="3600" dirty="0"/>
              <a:t>提左因子</a:t>
            </a:r>
            <a:endParaRPr lang="en-US" altLang="zh-CN" sz="3600" dirty="0"/>
          </a:p>
        </p:txBody>
      </p:sp>
      <p:sp>
        <p:nvSpPr>
          <p:cNvPr id="2" name="右大括号 1">
            <a:extLst>
              <a:ext uri="{FF2B5EF4-FFF2-40B4-BE49-F238E27FC236}">
                <a16:creationId xmlns:a16="http://schemas.microsoft.com/office/drawing/2014/main" id="{EAB5F3A6-0EBA-4A82-886A-604F27743E01}"/>
              </a:ext>
            </a:extLst>
          </p:cNvPr>
          <p:cNvSpPr/>
          <p:nvPr/>
        </p:nvSpPr>
        <p:spPr>
          <a:xfrm>
            <a:off x="5520056" y="2228669"/>
            <a:ext cx="393699" cy="1378129"/>
          </a:xfrm>
          <a:prstGeom prst="rightBrace">
            <a:avLst>
              <a:gd name="adj1" fmla="val 64175"/>
              <a:gd name="adj2" fmla="val 50000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108401-96B1-4BD4-9620-4996393CAE0C}"/>
              </a:ext>
            </a:extLst>
          </p:cNvPr>
          <p:cNvSpPr txBox="1"/>
          <p:nvPr/>
        </p:nvSpPr>
        <p:spPr>
          <a:xfrm>
            <a:off x="5716905" y="2317568"/>
            <a:ext cx="2453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/>
              <a:t>文法的</a:t>
            </a:r>
            <a:endParaRPr lang="en-US" altLang="zh-CN" sz="3600" dirty="0"/>
          </a:p>
          <a:p>
            <a:pPr algn="ctr"/>
            <a:r>
              <a:rPr lang="zh-CN" altLang="en-US" sz="3600" dirty="0"/>
              <a:t>变换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33825E-7605-5258-D94A-699E41517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AF257-3B9C-4057-9C7C-6841AB1109BC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FF3BB6-602E-092F-F293-C478AD409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FA518E-B947-0845-8832-347E9D4E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557E6C8-BE52-414C-8989-7ED691C304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上次课回顾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43A8BB8-1F7F-49D3-AFE6-11732119F3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/>
              <a:t>文法的变换：</a:t>
            </a:r>
          </a:p>
          <a:p>
            <a:pPr lvl="1" eaLnBrk="1" hangingPunct="1"/>
            <a:r>
              <a:rPr lang="zh-CN" altLang="en-US" sz="3200" dirty="0"/>
              <a:t>非二义表达式文法的构造：优先级、结合性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expr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expr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+ 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term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| 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term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term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term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factor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| 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factor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factor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-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factor  |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id | (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expr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/>
            <a:endParaRPr lang="en-US" altLang="zh-CN" sz="3200" dirty="0"/>
          </a:p>
          <a:p>
            <a:pPr lvl="1" eaLnBrk="1" hangingPunct="1"/>
            <a:endParaRPr lang="en-US" altLang="zh-CN" sz="3200" dirty="0"/>
          </a:p>
        </p:txBody>
      </p:sp>
      <p:sp>
        <p:nvSpPr>
          <p:cNvPr id="4" name="Rectangle 84">
            <a:extLst>
              <a:ext uri="{FF2B5EF4-FFF2-40B4-BE49-F238E27FC236}">
                <a16:creationId xmlns:a16="http://schemas.microsoft.com/office/drawing/2014/main" id="{2F1BA84C-CE5B-4A2C-8244-0A4856F0B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7442" y="2764559"/>
            <a:ext cx="2593976" cy="23669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优先级：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[</a:t>
            </a:r>
            <a:r>
              <a:rPr lang="en-US" altLang="zh-CN" sz="2800" b="1" dirty="0">
                <a:latin typeface="Times New Roman" panose="02020603050405020304" pitchFamily="18" charset="0"/>
              </a:rPr>
              <a:t>+] &lt; [*] &lt; [-]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结合性：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[+]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</a:rPr>
              <a:t>[*]</a:t>
            </a:r>
            <a:r>
              <a:rPr lang="zh-CN" altLang="en-US" sz="2800" dirty="0">
                <a:latin typeface="Times New Roman" panose="02020603050405020304" pitchFamily="18" charset="0"/>
              </a:rPr>
              <a:t>左结合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[-]</a:t>
            </a:r>
            <a:r>
              <a:rPr lang="zh-CN" altLang="en-US" sz="2800" dirty="0">
                <a:latin typeface="Times New Roman" panose="02020603050405020304" pitchFamily="18" charset="0"/>
              </a:rPr>
              <a:t>右结合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8C573E-EDF3-545C-D462-62B69BC5B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05B8C-761A-4CCA-82E7-EC27FA107B2F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3AF490-69BF-CEC9-6E06-F66815047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4CE22F-8476-46D1-6FC2-089EF600E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6D4A53D-4A48-476D-94D5-C9A9B9F955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上次课回顾</a:t>
            </a:r>
            <a:endParaRPr lang="en-US" altLang="zh-CN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36DB87-B5E6-4325-A51B-5A8EED7E86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dirty="0"/>
              <a:t>文法的化简和改造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消除文法二义性：重写文法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dirty="0"/>
              <a:t>if-then-else </a:t>
            </a:r>
            <a:r>
              <a:rPr lang="zh-CN" altLang="en-US" dirty="0"/>
              <a:t>例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消除</a:t>
            </a:r>
            <a:r>
              <a:rPr lang="zh-CN" altLang="en-US" dirty="0">
                <a:solidFill>
                  <a:schemeClr val="accent2"/>
                </a:solidFill>
              </a:rPr>
              <a:t>左递归</a:t>
            </a:r>
            <a:r>
              <a:rPr lang="zh-CN" altLang="en-US" dirty="0"/>
              <a:t>（</a:t>
            </a:r>
            <a:r>
              <a:rPr lang="en-US" altLang="zh-CN" dirty="0"/>
              <a:t>left recursion</a:t>
            </a:r>
            <a:r>
              <a:rPr lang="zh-CN" altLang="en-US" dirty="0"/>
              <a:t>）：包括消除间接和</a:t>
            </a:r>
            <a:r>
              <a:rPr lang="zh-CN" altLang="en-US" dirty="0">
                <a:solidFill>
                  <a:schemeClr val="accent2"/>
                </a:solidFill>
              </a:rPr>
              <a:t>直接左递归</a:t>
            </a:r>
            <a:r>
              <a:rPr lang="zh-CN" altLang="en-US" dirty="0"/>
              <a:t>（</a:t>
            </a:r>
            <a:r>
              <a:rPr lang="en-US" altLang="zh-CN" dirty="0"/>
              <a:t>immediate left recursion</a:t>
            </a:r>
            <a:r>
              <a:rPr lang="zh-CN" altLang="en-US" dirty="0"/>
              <a:t>）的方法。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dirty="0">
                <a:latin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dirty="0">
                <a:latin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|…|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dirty="0" err="1">
                <a:latin typeface="Symbol" panose="05050102010706020507" pitchFamily="18" charset="2"/>
              </a:rPr>
              <a:t>a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i="1" dirty="0">
                <a:latin typeface="Symbol" panose="05050102010706020507" pitchFamily="18" charset="2"/>
              </a:rPr>
              <a:t>b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i="1" dirty="0">
                <a:latin typeface="Symbol" panose="05050102010706020507" pitchFamily="18" charset="2"/>
              </a:rPr>
              <a:t>b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|...|</a:t>
            </a:r>
            <a:r>
              <a:rPr lang="en-US" altLang="zh-CN" sz="2400" b="1" dirty="0">
                <a:latin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Symbol" panose="05050102010706020507" pitchFamily="18" charset="2"/>
              </a:rPr>
              <a:t>b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sz="26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600" b="1" i="1" dirty="0">
                <a:solidFill>
                  <a:schemeClr val="accent2"/>
                </a:solidFill>
              </a:rPr>
              <a:t> </a:t>
            </a:r>
            <a:r>
              <a:rPr lang="en-US" altLang="zh-CN" sz="2600" b="1" dirty="0">
                <a:solidFill>
                  <a:schemeClr val="accent2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600" b="1" dirty="0">
                <a:solidFill>
                  <a:schemeClr val="accent2"/>
                </a:solidFill>
              </a:rPr>
              <a:t> </a:t>
            </a:r>
            <a:r>
              <a:rPr lang="en-US" altLang="zh-CN" sz="2600" b="1" i="1" dirty="0">
                <a:solidFill>
                  <a:schemeClr val="accent2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600" b="1" baseline="-25000" dirty="0">
                <a:solidFill>
                  <a:schemeClr val="accent2"/>
                </a:solidFill>
                <a:latin typeface="Symbol" panose="05050102010706020507" pitchFamily="18" charset="2"/>
              </a:rPr>
              <a:t>1</a:t>
            </a:r>
            <a:r>
              <a:rPr lang="en-US" altLang="zh-CN" sz="2600" b="1" i="1" dirty="0">
                <a:solidFill>
                  <a:schemeClr val="accent2"/>
                </a:solidFill>
              </a:rPr>
              <a:t> </a:t>
            </a:r>
            <a:r>
              <a:rPr lang="en-US" altLang="zh-CN" sz="26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6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6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600" b="1" i="1" dirty="0">
                <a:solidFill>
                  <a:schemeClr val="accent2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600" b="1" baseline="-25000" dirty="0">
                <a:solidFill>
                  <a:schemeClr val="accent2"/>
                </a:solidFill>
                <a:latin typeface="Symbol" panose="05050102010706020507" pitchFamily="18" charset="2"/>
              </a:rPr>
              <a:t>2</a:t>
            </a:r>
            <a:r>
              <a:rPr lang="en-US" altLang="zh-CN" sz="2600" b="1" i="1" dirty="0">
                <a:solidFill>
                  <a:schemeClr val="accent2"/>
                </a:solidFill>
              </a:rPr>
              <a:t> </a:t>
            </a:r>
            <a:r>
              <a:rPr lang="en-US" altLang="zh-CN" sz="26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6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 …|</a:t>
            </a:r>
            <a:r>
              <a:rPr lang="en-US" altLang="zh-CN" sz="26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600" b="1" i="1" dirty="0">
                <a:solidFill>
                  <a:schemeClr val="accent2"/>
                </a:solidFill>
                <a:latin typeface="Symbol" panose="05050102010706020507" pitchFamily="18" charset="2"/>
              </a:rPr>
              <a:t>b</a:t>
            </a:r>
            <a:r>
              <a:rPr lang="en-US" altLang="zh-CN" sz="2600" b="1" i="1" baseline="-25000" dirty="0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600" b="1" i="1" dirty="0">
                <a:solidFill>
                  <a:schemeClr val="accent2"/>
                </a:solidFill>
              </a:rPr>
              <a:t> </a:t>
            </a:r>
            <a:r>
              <a:rPr lang="en-US" altLang="zh-CN" sz="26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6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sz="26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</a:t>
            </a:r>
            <a:r>
              <a:rPr lang="en-US" altLang="zh-CN" sz="2600" b="1" dirty="0">
                <a:solidFill>
                  <a:schemeClr val="accent2"/>
                </a:solidFill>
              </a:rPr>
              <a:t> </a:t>
            </a:r>
            <a:r>
              <a:rPr lang="en-US" altLang="zh-CN" sz="2600" b="1" i="1" dirty="0">
                <a:solidFill>
                  <a:schemeClr val="accent2"/>
                </a:solidFill>
                <a:latin typeface="Symbol" panose="05050102010706020507" pitchFamily="18" charset="2"/>
              </a:rPr>
              <a:t>a</a:t>
            </a:r>
            <a:r>
              <a:rPr lang="en-US" altLang="zh-CN" sz="2600" b="1" baseline="-25000" dirty="0">
                <a:solidFill>
                  <a:schemeClr val="accent2"/>
                </a:solidFill>
                <a:latin typeface="Symbol" panose="05050102010706020507" pitchFamily="18" charset="2"/>
              </a:rPr>
              <a:t>1</a:t>
            </a:r>
            <a:r>
              <a:rPr lang="en-US" altLang="zh-CN" sz="26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600" b="1" dirty="0">
                <a:solidFill>
                  <a:schemeClr val="accent2"/>
                </a:solidFill>
              </a:rPr>
              <a:t> </a:t>
            </a:r>
            <a:r>
              <a:rPr lang="en-US" altLang="zh-CN" sz="2600" b="1" i="1" dirty="0">
                <a:solidFill>
                  <a:schemeClr val="accent2"/>
                </a:solidFill>
                <a:latin typeface="Symbol" panose="05050102010706020507" pitchFamily="18" charset="2"/>
              </a:rPr>
              <a:t>a</a:t>
            </a:r>
            <a:r>
              <a:rPr lang="en-US" altLang="zh-CN" sz="2600" b="1" baseline="-25000" dirty="0">
                <a:solidFill>
                  <a:schemeClr val="accent2"/>
                </a:solidFill>
                <a:latin typeface="Symbol" panose="05050102010706020507" pitchFamily="18" charset="2"/>
              </a:rPr>
              <a:t>2</a:t>
            </a:r>
            <a:r>
              <a:rPr lang="en-US" altLang="zh-CN" sz="26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sz="2600" b="1" dirty="0">
                <a:solidFill>
                  <a:schemeClr val="accent2"/>
                </a:solidFill>
              </a:rPr>
              <a:t> </a:t>
            </a:r>
            <a:r>
              <a:rPr lang="en-US" altLang="zh-CN" sz="2600" b="1" i="1" dirty="0" err="1">
                <a:solidFill>
                  <a:schemeClr val="accent2"/>
                </a:solidFill>
                <a:latin typeface="Symbol" panose="05050102010706020507" pitchFamily="18" charset="2"/>
              </a:rPr>
              <a:t>a</a:t>
            </a:r>
            <a:r>
              <a:rPr lang="en-US" altLang="zh-CN" sz="2600" b="1" i="1" baseline="-250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6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en-US" altLang="zh-CN" sz="2600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提左因子</a:t>
            </a:r>
            <a:r>
              <a:rPr lang="zh-CN" altLang="en-US" dirty="0"/>
              <a:t>（</a:t>
            </a:r>
            <a:r>
              <a:rPr lang="en-US" altLang="zh-CN" dirty="0"/>
              <a:t>left factoring</a:t>
            </a:r>
            <a:r>
              <a:rPr lang="zh-CN" altLang="en-US" dirty="0"/>
              <a:t>）：左因子的概念，如何提左因子。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/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ym typeface="Symbol" panose="05050102010706020507" pitchFamily="18" charset="2"/>
              </a:rPr>
              <a:t>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b="1" i="1" dirty="0"/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|</a:t>
            </a:r>
            <a:r>
              <a:rPr lang="en-US" altLang="zh-CN" b="1" i="1" dirty="0"/>
              <a:t> </a:t>
            </a:r>
            <a:r>
              <a:rPr lang="en-US" altLang="zh-CN" b="1" i="1" dirty="0">
                <a:sym typeface="Symbol" panose="05050102010706020507" pitchFamily="18" charset="2"/>
              </a:rPr>
              <a:t>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2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olidFill>
                  <a:schemeClr val="accent2"/>
                </a:solidFill>
              </a:rPr>
              <a:t> 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dirty="0">
                <a:solidFill>
                  <a:schemeClr val="accent2"/>
                </a:solidFill>
              </a:rPr>
              <a:t> 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	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olidFill>
                  <a:schemeClr val="accent2"/>
                </a:solidFill>
              </a:rPr>
              <a:t> 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chemeClr val="accent2"/>
                </a:solidFill>
              </a:rPr>
              <a:t> 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b="1" i="1" dirty="0">
                <a:solidFill>
                  <a:schemeClr val="accent2"/>
                </a:solidFill>
              </a:rPr>
              <a:t> 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08ECCF-8305-4297-3AFD-81F45BE7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3CB1F-2B43-4C71-B4EF-57C63ADFF1D7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8F3C17-6FB2-5B6E-C5E3-5987352F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5701FC-FDD9-27E1-7B8F-83031071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765C6FC-37EF-4FB9-994C-1DBA56368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本次课内容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6E44FF7-EF1B-413E-8955-F3BB80E5D4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3600" dirty="0"/>
              <a:t>3.2 </a:t>
            </a:r>
            <a:r>
              <a:rPr lang="zh-CN" altLang="en-US" sz="3600" dirty="0"/>
              <a:t>语言和文法</a:t>
            </a:r>
            <a:endParaRPr lang="en-US" altLang="zh-CN" sz="3600" dirty="0"/>
          </a:p>
          <a:p>
            <a:pPr lvl="1" eaLnBrk="1" hangingPunct="1"/>
            <a:r>
              <a:rPr lang="en-US" altLang="zh-CN" sz="3200" dirty="0"/>
              <a:t>3.2.8 </a:t>
            </a:r>
            <a:r>
              <a:rPr lang="zh-CN" altLang="en-US" sz="3200" dirty="0"/>
              <a:t>非上下文无关的语言构造*</a:t>
            </a:r>
            <a:endParaRPr lang="en-US" altLang="zh-CN" sz="3200" dirty="0"/>
          </a:p>
          <a:p>
            <a:pPr lvl="1" eaLnBrk="1" hangingPunct="1"/>
            <a:r>
              <a:rPr lang="en-US" altLang="zh-CN" sz="3200" dirty="0"/>
              <a:t>3.2.9 </a:t>
            </a:r>
            <a:r>
              <a:rPr lang="zh-CN" altLang="en-US" sz="3200" dirty="0"/>
              <a:t>形式语言的</a:t>
            </a:r>
            <a:r>
              <a:rPr lang="en-US" altLang="zh-CN" sz="3200" dirty="0"/>
              <a:t>Chomsky</a:t>
            </a:r>
            <a:r>
              <a:rPr lang="zh-CN" altLang="en-US" sz="3200" dirty="0"/>
              <a:t>分类</a:t>
            </a:r>
            <a:endParaRPr lang="en-US" altLang="zh-CN" sz="3200" dirty="0"/>
          </a:p>
          <a:p>
            <a:pPr eaLnBrk="1" hangingPunct="1"/>
            <a:r>
              <a:rPr lang="en-US" altLang="zh-CN" sz="3600" dirty="0"/>
              <a:t>3.3 </a:t>
            </a:r>
            <a:r>
              <a:rPr lang="zh-CN" altLang="en-US" sz="3600" dirty="0"/>
              <a:t>自上而下分析</a:t>
            </a:r>
          </a:p>
          <a:p>
            <a:pPr lvl="1" eaLnBrk="1" hangingPunct="1"/>
            <a:r>
              <a:rPr lang="en-US" altLang="zh-CN" sz="3200" dirty="0"/>
              <a:t>3.3.1 </a:t>
            </a:r>
            <a:r>
              <a:rPr lang="zh-CN" altLang="en-US" sz="3200" dirty="0"/>
              <a:t>一般分析方法</a:t>
            </a:r>
          </a:p>
          <a:p>
            <a:pPr lvl="1" eaLnBrk="1" hangingPunct="1"/>
            <a:r>
              <a:rPr lang="en-US" altLang="zh-CN" sz="3200" dirty="0"/>
              <a:t>3.3.2 </a:t>
            </a:r>
            <a:r>
              <a:rPr lang="zh-CN" altLang="en-US" sz="3200" dirty="0"/>
              <a:t>预测分析方法的一种形式：</a:t>
            </a:r>
            <a:r>
              <a:rPr lang="en-US" altLang="zh-CN" sz="3200" dirty="0"/>
              <a:t>LL(1)</a:t>
            </a:r>
            <a:r>
              <a:rPr lang="zh-CN" altLang="en-US" sz="3200" dirty="0"/>
              <a:t>文法</a:t>
            </a:r>
            <a:endParaRPr lang="en-US" altLang="zh-CN" sz="2400" dirty="0"/>
          </a:p>
          <a:p>
            <a:pPr lvl="1" eaLnBrk="1" hangingPunct="1"/>
            <a:r>
              <a:rPr lang="en-US" altLang="zh-CN" sz="3200" dirty="0"/>
              <a:t>3.3.3 </a:t>
            </a:r>
            <a:r>
              <a:rPr lang="zh-CN" altLang="en-US" sz="3200" dirty="0"/>
              <a:t>预测分析实现：递归</a:t>
            </a:r>
            <a:endParaRPr lang="en-US" altLang="zh-CN" sz="3200" dirty="0"/>
          </a:p>
          <a:p>
            <a:pPr lvl="1" eaLnBrk="1" hangingPunct="1"/>
            <a:r>
              <a:rPr lang="en-US" altLang="zh-CN" sz="3200" dirty="0"/>
              <a:t>3.3.4 </a:t>
            </a:r>
            <a:r>
              <a:rPr lang="zh-CN" altLang="en-US" sz="3200" dirty="0"/>
              <a:t>预测分析实现：非递归（下次课讲）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F7751F-EECA-2144-BE15-41C509AE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D0156-E28A-415E-B87D-6CD474B04A5D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FAC976-E79A-292B-CEBD-9F0ED0812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83BF14-55BB-9C6D-3A16-EC405D04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B33D24E-6722-4786-A553-9A48FD56A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3.2.8 </a:t>
            </a:r>
            <a:r>
              <a:rPr lang="zh-CN" altLang="en-US" dirty="0">
                <a:latin typeface="黑体" panose="02010609060101010101" pitchFamily="49" charset="-122"/>
              </a:rPr>
              <a:t>非上下文无关的语言结构*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9846D3D1-3A18-4A43-8770-CEB6F96BBE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50474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L</a:t>
            </a:r>
            <a:r>
              <a:rPr lang="en-US" altLang="zh-CN" b="1" baseline="-30000" dirty="0">
                <a:solidFill>
                  <a:schemeClr val="accent2"/>
                </a:solidFill>
                <a:sym typeface="Symbol" panose="05050102010706020507" pitchFamily="18" charset="2"/>
              </a:rPr>
              <a:t>1 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= {</a:t>
            </a:r>
            <a:r>
              <a:rPr lang="en-US" altLang="zh-CN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wcw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 | w</a:t>
            </a: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属于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a | b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用来抽象：标识符的声明应先于其引用</a:t>
            </a:r>
            <a:endParaRPr lang="en-US" altLang="zh-CN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、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Java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都不是上下文无关语言</a:t>
            </a:r>
            <a:endParaRPr lang="en-US" altLang="zh-CN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endParaRPr lang="zh-CN" altLang="en-US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L</a:t>
            </a:r>
            <a:r>
              <a:rPr lang="en-US" altLang="zh-CN" b="1" baseline="-30000" dirty="0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= {</a:t>
            </a:r>
            <a:r>
              <a:rPr lang="en-US" altLang="zh-CN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m</a:t>
            </a:r>
            <a:r>
              <a:rPr lang="en-US" altLang="zh-CN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d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m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 | 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n  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0, 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m  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0} 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用来抽象：</a:t>
            </a:r>
            <a:r>
              <a:rPr lang="zh-CN" altLang="en-US" dirty="0">
                <a:latin typeface="黑体" panose="02010609060101010101" pitchFamily="49" charset="-122"/>
                <a:sym typeface="Symbol" panose="05050102010706020507" pitchFamily="18" charset="2"/>
              </a:rPr>
              <a:t>形参个数和实参个数应该相同</a:t>
            </a:r>
            <a:endParaRPr lang="en-US" altLang="zh-CN" dirty="0">
              <a:latin typeface="黑体" panose="02010609060101010101" pitchFamily="49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endParaRPr lang="zh-CN" altLang="en-US" dirty="0">
              <a:latin typeface="黑体" panose="020106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L</a:t>
            </a:r>
            <a:r>
              <a:rPr lang="en-US" altLang="zh-CN" b="1" baseline="-30000" dirty="0">
                <a:solidFill>
                  <a:schemeClr val="accent2"/>
                </a:solidFill>
                <a:sym typeface="Symbol" panose="05050102010706020507" pitchFamily="18" charset="2"/>
              </a:rPr>
              <a:t>3 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= {</a:t>
            </a:r>
            <a:r>
              <a:rPr lang="en-US" altLang="zh-CN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 | 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n  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0} 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黑体" panose="02010609060101010101" pitchFamily="49" charset="-122"/>
                <a:sym typeface="Symbol" panose="05050102010706020507" pitchFamily="18" charset="2"/>
              </a:rPr>
              <a:t>用来抽象：早先排版描述的一个现象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en-US" altLang="zh-CN" u="sng" dirty="0"/>
              <a:t>b</a:t>
            </a:r>
            <a:r>
              <a:rPr lang="en-US" altLang="zh-CN" dirty="0"/>
              <a:t> </a:t>
            </a:r>
            <a:r>
              <a:rPr lang="en-US" altLang="zh-CN" u="sng" dirty="0"/>
              <a:t>e</a:t>
            </a:r>
            <a:r>
              <a:rPr lang="en-US" altLang="zh-CN" dirty="0"/>
              <a:t> </a:t>
            </a:r>
            <a:r>
              <a:rPr lang="en-US" altLang="zh-CN" u="sng" dirty="0"/>
              <a:t>g</a:t>
            </a:r>
            <a:r>
              <a:rPr lang="en-US" altLang="zh-CN" dirty="0"/>
              <a:t> </a:t>
            </a:r>
            <a:r>
              <a:rPr lang="en-US" altLang="zh-CN" u="sng" dirty="0" err="1"/>
              <a:t>i</a:t>
            </a:r>
            <a:r>
              <a:rPr lang="en-US" altLang="zh-CN" dirty="0"/>
              <a:t> </a:t>
            </a:r>
            <a:r>
              <a:rPr lang="en-US" altLang="zh-CN" u="sng" dirty="0"/>
              <a:t>n</a:t>
            </a:r>
            <a:r>
              <a:rPr lang="zh-CN" altLang="en-US" dirty="0"/>
              <a:t>：</a:t>
            </a:r>
            <a:r>
              <a:rPr lang="en-US" altLang="zh-CN" dirty="0"/>
              <a:t>5</a:t>
            </a:r>
            <a:r>
              <a:rPr lang="zh-CN" altLang="en-US" dirty="0"/>
              <a:t>个字母键，</a:t>
            </a:r>
            <a:r>
              <a:rPr lang="en-US" altLang="zh-CN" dirty="0"/>
              <a:t>5</a:t>
            </a:r>
            <a:r>
              <a:rPr lang="zh-CN" altLang="en-US" dirty="0"/>
              <a:t>个回退键，</a:t>
            </a:r>
            <a:r>
              <a:rPr lang="en-US" altLang="zh-CN" dirty="0"/>
              <a:t>5</a:t>
            </a:r>
            <a:r>
              <a:rPr lang="zh-CN" altLang="en-US" dirty="0"/>
              <a:t>个下划线键</a:t>
            </a:r>
            <a:endParaRPr lang="en-US" altLang="zh-CN" dirty="0"/>
          </a:p>
          <a:p>
            <a:pPr lvl="1">
              <a:lnSpc>
                <a:spcPct val="110000"/>
              </a:lnSpc>
              <a:spcBef>
                <a:spcPct val="0"/>
              </a:spcBef>
            </a:pPr>
            <a:endParaRPr lang="zh-CN" altLang="en-US" dirty="0">
              <a:latin typeface="黑体" panose="020106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L</a:t>
            </a:r>
            <a:r>
              <a:rPr lang="en-US" altLang="zh-CN" b="1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3</a:t>
            </a: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都不是上下文无关的！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FB9F98-4840-4809-8CE2-12760FAC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0244-A395-4AB2-8AF5-7C72774DB171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F68A9F-B853-B737-567B-497060085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0C235E-D74E-985B-F610-9CACB67B8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7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7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7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6AAA9B8-3EF2-4440-9583-4A76D7AAA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3.2.8 </a:t>
            </a:r>
            <a:r>
              <a:rPr lang="zh-CN" altLang="en-US" dirty="0">
                <a:latin typeface="黑体" panose="02010609060101010101" pitchFamily="49" charset="-122"/>
              </a:rPr>
              <a:t>非上下文无关的语言结构*</a:t>
            </a:r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F028ACE4-E868-457E-9EB0-25AB298501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CN" b="1" i="1" dirty="0">
                <a:solidFill>
                  <a:schemeClr val="accent2"/>
                </a:solidFill>
              </a:rPr>
              <a:t>L</a:t>
            </a:r>
            <a:r>
              <a:rPr lang="en-US" altLang="zh-CN" b="1" baseline="-30000" dirty="0">
                <a:solidFill>
                  <a:schemeClr val="accent2"/>
                </a:solidFill>
              </a:rPr>
              <a:t>1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</a:t>
            </a:r>
            <a:r>
              <a:rPr lang="en-US" altLang="zh-CN" b="1" dirty="0">
                <a:solidFill>
                  <a:schemeClr val="accent2"/>
                </a:solidFill>
              </a:rPr>
              <a:t>= {</a:t>
            </a:r>
            <a:r>
              <a:rPr lang="en-US" altLang="zh-CN" b="1" i="1" dirty="0" err="1">
                <a:solidFill>
                  <a:schemeClr val="accent2"/>
                </a:solidFill>
              </a:rPr>
              <a:t>wcw</a:t>
            </a:r>
            <a:r>
              <a:rPr lang="en-US" altLang="zh-CN" b="1" i="1" baseline="30000" dirty="0" err="1">
                <a:solidFill>
                  <a:schemeClr val="accent2"/>
                </a:solidFill>
              </a:rPr>
              <a:t>R</a:t>
            </a:r>
            <a:r>
              <a:rPr lang="en-US" altLang="zh-CN" b="1" i="1" dirty="0">
                <a:solidFill>
                  <a:schemeClr val="accent2"/>
                </a:solidFill>
              </a:rPr>
              <a:t> | w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</a:t>
            </a:r>
            <a:r>
              <a:rPr lang="en-US" altLang="zh-CN" b="1" dirty="0">
                <a:solidFill>
                  <a:schemeClr val="accent2"/>
                </a:solidFill>
              </a:rPr>
              <a:t>(</a:t>
            </a:r>
            <a:r>
              <a:rPr lang="en-US" altLang="zh-CN" b="1" i="1" dirty="0" err="1">
                <a:solidFill>
                  <a:schemeClr val="accent2"/>
                </a:solidFill>
              </a:rPr>
              <a:t>a|b</a:t>
            </a:r>
            <a:r>
              <a:rPr lang="en-US" altLang="zh-CN" b="1" dirty="0">
                <a:solidFill>
                  <a:schemeClr val="accent2"/>
                </a:solidFill>
              </a:rPr>
              <a:t>)</a:t>
            </a:r>
            <a:r>
              <a:rPr lang="en-US" altLang="zh-CN" b="1" baseline="30000" dirty="0">
                <a:solidFill>
                  <a:schemeClr val="accent2"/>
                </a:solidFill>
              </a:rPr>
              <a:t>*</a:t>
            </a:r>
            <a:r>
              <a:rPr lang="en-US" altLang="zh-CN" b="1" dirty="0">
                <a:solidFill>
                  <a:schemeClr val="accent2"/>
                </a:solidFill>
              </a:rPr>
              <a:t>}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/>
              <a:t>		</a:t>
            </a:r>
            <a:r>
              <a:rPr lang="en-US" altLang="zh-CN" sz="2800" b="1" i="1" dirty="0">
                <a:sym typeface="Symbol" panose="05050102010706020507" pitchFamily="18" charset="2"/>
              </a:rPr>
              <a:t>S 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 err="1">
                <a:sym typeface="Symbol" panose="05050102010706020507" pitchFamily="18" charset="2"/>
              </a:rPr>
              <a:t>aSa</a:t>
            </a:r>
            <a:r>
              <a:rPr lang="en-US" altLang="zh-CN" sz="2800" b="1" i="1" dirty="0">
                <a:sym typeface="Symbol" panose="05050102010706020507" pitchFamily="18" charset="2"/>
              </a:rPr>
              <a:t> | </a:t>
            </a:r>
            <a:r>
              <a:rPr lang="en-US" altLang="zh-CN" sz="2800" b="1" i="1" dirty="0" err="1">
                <a:sym typeface="Symbol" panose="05050102010706020507" pitchFamily="18" charset="2"/>
              </a:rPr>
              <a:t>bSb</a:t>
            </a:r>
            <a:r>
              <a:rPr lang="en-US" altLang="zh-CN" sz="2800" b="1" i="1" dirty="0">
                <a:sym typeface="Symbol" panose="05050102010706020507" pitchFamily="18" charset="2"/>
              </a:rPr>
              <a:t> | c</a:t>
            </a:r>
            <a:r>
              <a:rPr lang="en-US" altLang="zh-CN" b="1" i="1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，例：</a:t>
            </a:r>
            <a:r>
              <a:rPr lang="en-US" altLang="zh-CN" b="1" i="1" dirty="0" err="1">
                <a:sym typeface="Symbol" panose="05050102010706020507" pitchFamily="18" charset="2"/>
              </a:rPr>
              <a:t>abcba</a:t>
            </a:r>
            <a:endParaRPr lang="en-US" altLang="zh-CN" b="1" i="1" dirty="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L</a:t>
            </a:r>
            <a:r>
              <a:rPr lang="en-US" altLang="zh-CN" b="1" baseline="-30000" dirty="0">
                <a:solidFill>
                  <a:schemeClr val="accent2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 = {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i="1" baseline="30000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m</a:t>
            </a:r>
            <a:r>
              <a:rPr lang="en-US" altLang="zh-CN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m</a:t>
            </a:r>
            <a:r>
              <a:rPr lang="en-US" altLang="zh-CN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d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 | 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n  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1, 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m  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1 }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ym typeface="Symbol" panose="05050102010706020507" pitchFamily="18" charset="2"/>
              </a:rPr>
              <a:t>		</a:t>
            </a:r>
            <a:r>
              <a:rPr lang="en-US" altLang="zh-CN" b="1" i="1" dirty="0">
                <a:sym typeface="Symbol" panose="05050102010706020507" pitchFamily="18" charset="2"/>
              </a:rPr>
              <a:t>S</a:t>
            </a:r>
            <a:r>
              <a:rPr lang="en-US" altLang="zh-CN" b="1" dirty="0">
                <a:sym typeface="Symbol" panose="05050102010706020507" pitchFamily="18" charset="2"/>
              </a:rPr>
              <a:t>  </a:t>
            </a:r>
            <a:r>
              <a:rPr lang="en-US" altLang="zh-CN" b="1" i="1" dirty="0" err="1">
                <a:sym typeface="Symbol" panose="05050102010706020507" pitchFamily="18" charset="2"/>
              </a:rPr>
              <a:t>aSd</a:t>
            </a:r>
            <a:r>
              <a:rPr lang="en-US" altLang="zh-CN" b="1" i="1" dirty="0">
                <a:sym typeface="Symbol" panose="05050102010706020507" pitchFamily="18" charset="2"/>
              </a:rPr>
              <a:t> | </a:t>
            </a:r>
            <a:r>
              <a:rPr lang="en-US" altLang="zh-CN" b="1" i="1" dirty="0" err="1">
                <a:sym typeface="Symbol" panose="05050102010706020507" pitchFamily="18" charset="2"/>
              </a:rPr>
              <a:t>aAd</a:t>
            </a:r>
            <a:endParaRPr lang="en-US" altLang="zh-CN" b="1" dirty="0"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i="1" dirty="0">
                <a:sym typeface="Symbol" panose="05050102010706020507" pitchFamily="18" charset="2"/>
              </a:rPr>
              <a:t>		A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i="1" dirty="0" err="1">
                <a:sym typeface="Symbol" panose="05050102010706020507" pitchFamily="18" charset="2"/>
              </a:rPr>
              <a:t>bAc</a:t>
            </a:r>
            <a:r>
              <a:rPr lang="en-US" altLang="zh-CN" b="1" i="1" dirty="0">
                <a:sym typeface="Symbol" panose="05050102010706020507" pitchFamily="18" charset="2"/>
              </a:rPr>
              <a:t> | </a:t>
            </a:r>
            <a:r>
              <a:rPr lang="en-US" altLang="zh-CN" b="1" i="1" dirty="0" err="1">
                <a:sym typeface="Symbol" panose="05050102010706020507" pitchFamily="18" charset="2"/>
              </a:rPr>
              <a:t>bc</a:t>
            </a:r>
            <a:r>
              <a:rPr lang="zh-CN" altLang="en-US" dirty="0">
                <a:sym typeface="Symbol" panose="05050102010706020507" pitchFamily="18" charset="2"/>
              </a:rPr>
              <a:t>，例：</a:t>
            </a:r>
            <a:r>
              <a:rPr lang="en-US" altLang="zh-CN" b="1" i="1" dirty="0" err="1">
                <a:sym typeface="Symbol" panose="05050102010706020507" pitchFamily="18" charset="2"/>
              </a:rPr>
              <a:t>abbccd</a:t>
            </a:r>
            <a:endParaRPr lang="en-US" altLang="zh-CN" b="1" dirty="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L</a:t>
            </a:r>
            <a:r>
              <a:rPr lang="en-US" altLang="zh-CN" b="1" baseline="30000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baseline="-30000" dirty="0">
                <a:solidFill>
                  <a:schemeClr val="accent2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 = {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i="1" baseline="30000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m</a:t>
            </a:r>
            <a:r>
              <a:rPr lang="en-US" altLang="zh-CN" b="1" i="1" dirty="0" err="1">
                <a:solidFill>
                  <a:schemeClr val="accent2"/>
                </a:solidFill>
                <a:sym typeface="Symbol" panose="05050102010706020507" pitchFamily="18" charset="2"/>
              </a:rPr>
              <a:t>d</a:t>
            </a:r>
            <a:r>
              <a:rPr lang="en-US" altLang="zh-CN" b="1" i="1" baseline="30000" dirty="0" err="1">
                <a:solidFill>
                  <a:schemeClr val="accent2"/>
                </a:solidFill>
                <a:sym typeface="Symbol" panose="05050102010706020507" pitchFamily="18" charset="2"/>
              </a:rPr>
              <a:t>m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 | 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n  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sym typeface="Symbol" panose="05050102010706020507" pitchFamily="18" charset="2"/>
              </a:rPr>
              <a:t>，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m  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1 }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i="1" dirty="0">
                <a:sym typeface="Symbol" panose="05050102010706020507" pitchFamily="18" charset="2"/>
              </a:rPr>
              <a:t>		S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ym typeface="Symbol" panose="05050102010706020507" pitchFamily="18" charset="2"/>
              </a:rPr>
              <a:t>AB</a:t>
            </a:r>
            <a:endParaRPr lang="en-US" altLang="zh-CN" b="1" dirty="0"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i="1" dirty="0">
                <a:sym typeface="Symbol" panose="05050102010706020507" pitchFamily="18" charset="2"/>
              </a:rPr>
              <a:t>		A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i="1" dirty="0" err="1">
                <a:sym typeface="Symbol" panose="05050102010706020507" pitchFamily="18" charset="2"/>
              </a:rPr>
              <a:t>aAb</a:t>
            </a:r>
            <a:r>
              <a:rPr lang="en-US" altLang="zh-CN" b="1" i="1" dirty="0">
                <a:sym typeface="Symbol" panose="05050102010706020507" pitchFamily="18" charset="2"/>
              </a:rPr>
              <a:t> | ab</a:t>
            </a:r>
            <a:endParaRPr lang="en-US" altLang="zh-CN" b="1" dirty="0"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ym typeface="Symbol" panose="05050102010706020507" pitchFamily="18" charset="2"/>
              </a:rPr>
              <a:t>		</a:t>
            </a:r>
            <a:r>
              <a:rPr lang="en-US" altLang="zh-CN" b="1" i="1" dirty="0">
                <a:sym typeface="Symbol" panose="05050102010706020507" pitchFamily="18" charset="2"/>
              </a:rPr>
              <a:t>B 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i="1" dirty="0" err="1">
                <a:sym typeface="Symbol" panose="05050102010706020507" pitchFamily="18" charset="2"/>
              </a:rPr>
              <a:t>cBd</a:t>
            </a:r>
            <a:r>
              <a:rPr lang="en-US" altLang="zh-CN" b="1" i="1" dirty="0">
                <a:sym typeface="Symbol" panose="05050102010706020507" pitchFamily="18" charset="2"/>
              </a:rPr>
              <a:t> | cd</a:t>
            </a:r>
            <a:r>
              <a:rPr lang="zh-CN" altLang="en-US" dirty="0">
                <a:sym typeface="Symbol" panose="05050102010706020507" pitchFamily="18" charset="2"/>
              </a:rPr>
              <a:t>， 例：</a:t>
            </a:r>
            <a:r>
              <a:rPr lang="en-US" altLang="zh-CN" b="1" i="1" dirty="0" err="1">
                <a:sym typeface="Symbol" panose="05050102010706020507" pitchFamily="18" charset="2"/>
              </a:rPr>
              <a:t>abccdd</a:t>
            </a:r>
            <a:endParaRPr lang="en-US" altLang="zh-CN" b="1" dirty="0">
              <a:sym typeface="Symbol" panose="05050102010706020507" pitchFamily="18" charset="2"/>
            </a:endParaRPr>
          </a:p>
          <a:p>
            <a:pPr eaLnBrk="1" hangingPunct="1"/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DCF4EA-E4A9-D6CD-B4F0-00B8649A4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E2E87-B568-40E2-9F66-59ADD6BB4924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BA5837D-28FE-3436-233D-43307EAA4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9FD019-52B1-2977-9BFE-E5C696A3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8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1B87B0E-DC73-4B6B-85A6-78A2C4FEA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3.2.8 </a:t>
            </a:r>
            <a:r>
              <a:rPr lang="zh-CN" altLang="en-US" dirty="0">
                <a:latin typeface="黑体" panose="02010609060101010101" pitchFamily="49" charset="-122"/>
              </a:rPr>
              <a:t>非上下文无关的语言结构*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9A62539-1E63-459B-84A3-EDB550E083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CN" b="1" i="1" dirty="0">
                <a:solidFill>
                  <a:schemeClr val="accent2"/>
                </a:solidFill>
              </a:rPr>
              <a:t>L</a:t>
            </a:r>
            <a:r>
              <a:rPr lang="en-US" altLang="zh-CN" b="1" baseline="-30000" dirty="0">
                <a:solidFill>
                  <a:schemeClr val="accent2"/>
                </a:solidFill>
              </a:rPr>
              <a:t>3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</a:t>
            </a:r>
            <a:r>
              <a:rPr lang="en-US" altLang="zh-CN" b="1" baseline="-30000" dirty="0">
                <a:solidFill>
                  <a:schemeClr val="accent2"/>
                </a:solidFill>
              </a:rPr>
              <a:t> </a:t>
            </a:r>
            <a:r>
              <a:rPr lang="en-US" altLang="zh-CN" b="1" dirty="0">
                <a:solidFill>
                  <a:schemeClr val="accent2"/>
                </a:solidFill>
              </a:rPr>
              <a:t>={</a:t>
            </a:r>
            <a:r>
              <a:rPr lang="en-US" altLang="zh-CN" b="1" i="1" dirty="0">
                <a:solidFill>
                  <a:schemeClr val="accent2"/>
                </a:solidFill>
              </a:rPr>
              <a:t>a</a:t>
            </a:r>
            <a:r>
              <a:rPr lang="en-US" altLang="zh-CN" b="1" i="1" baseline="30000" dirty="0">
                <a:solidFill>
                  <a:schemeClr val="accent2"/>
                </a:solidFill>
              </a:rPr>
              <a:t> </a:t>
            </a:r>
            <a:r>
              <a:rPr lang="en-US" altLang="zh-CN" b="1" i="1" baseline="30000" dirty="0" err="1">
                <a:solidFill>
                  <a:schemeClr val="accent2"/>
                </a:solidFill>
              </a:rPr>
              <a:t>n</a:t>
            </a:r>
            <a:r>
              <a:rPr lang="en-US" altLang="zh-CN" b="1" i="1" dirty="0" err="1">
                <a:solidFill>
                  <a:schemeClr val="accent2"/>
                </a:solidFill>
              </a:rPr>
              <a:t>b</a:t>
            </a:r>
            <a:r>
              <a:rPr lang="en-US" altLang="zh-CN" b="1" i="1" baseline="30000" dirty="0">
                <a:solidFill>
                  <a:schemeClr val="accent2"/>
                </a:solidFill>
              </a:rPr>
              <a:t> n</a:t>
            </a:r>
            <a:r>
              <a:rPr lang="en-US" altLang="zh-CN" b="1" dirty="0">
                <a:solidFill>
                  <a:schemeClr val="accent2"/>
                </a:solidFill>
              </a:rPr>
              <a:t> | </a:t>
            </a:r>
            <a:r>
              <a:rPr lang="en-US" altLang="zh-CN" b="1" i="1" dirty="0">
                <a:solidFill>
                  <a:schemeClr val="accent2"/>
                </a:solidFill>
              </a:rPr>
              <a:t>n 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</a:t>
            </a:r>
            <a:r>
              <a:rPr lang="en-US" altLang="zh-CN" b="1" i="1" dirty="0">
                <a:solidFill>
                  <a:schemeClr val="accent2"/>
                </a:solidFill>
              </a:rPr>
              <a:t> </a:t>
            </a:r>
            <a:r>
              <a:rPr lang="en-US" altLang="zh-CN" b="1" dirty="0">
                <a:solidFill>
                  <a:schemeClr val="accent2"/>
                </a:solidFill>
              </a:rPr>
              <a:t>1 }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		</a:t>
            </a:r>
            <a:r>
              <a:rPr lang="en-US" altLang="zh-CN" b="1" i="1" dirty="0">
                <a:sym typeface="Symbol" panose="05050102010706020507" pitchFamily="18" charset="2"/>
              </a:rPr>
              <a:t>S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ym typeface="Symbol" panose="05050102010706020507" pitchFamily="18" charset="2"/>
              </a:rPr>
              <a:t> </a:t>
            </a:r>
            <a:r>
              <a:rPr lang="en-US" altLang="zh-CN" b="1" i="1" dirty="0" err="1">
                <a:sym typeface="Symbol" panose="05050102010706020507" pitchFamily="18" charset="2"/>
              </a:rPr>
              <a:t>aSb</a:t>
            </a:r>
            <a:r>
              <a:rPr lang="en-US" altLang="zh-CN" b="1" i="1" dirty="0">
                <a:sym typeface="Symbol" panose="05050102010706020507" pitchFamily="18" charset="2"/>
              </a:rPr>
              <a:t> | ab</a:t>
            </a:r>
            <a:r>
              <a:rPr lang="zh-CN" altLang="en-US" dirty="0">
                <a:sym typeface="Symbol" panose="05050102010706020507" pitchFamily="18" charset="2"/>
              </a:rPr>
              <a:t>，例：</a:t>
            </a:r>
            <a:r>
              <a:rPr lang="en-US" altLang="zh-CN" b="1" i="1" dirty="0" err="1">
                <a:sym typeface="Symbol" panose="05050102010706020507" pitchFamily="18" charset="2"/>
              </a:rPr>
              <a:t>aabb</a:t>
            </a:r>
            <a:endParaRPr lang="en-US" altLang="zh-CN" b="1" i="1" dirty="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b="1" i="1" dirty="0">
                <a:sym typeface="Symbol" panose="05050102010706020507" pitchFamily="18" charset="2"/>
              </a:rPr>
              <a:t>L</a:t>
            </a:r>
            <a:r>
              <a:rPr lang="en-US" altLang="zh-CN" b="1" baseline="-30000" dirty="0">
                <a:sym typeface="Symbol" panose="05050102010706020507" pitchFamily="18" charset="2"/>
              </a:rPr>
              <a:t>3</a:t>
            </a:r>
            <a:r>
              <a:rPr lang="en-US" altLang="zh-CN" b="1" dirty="0"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黑体" panose="02010609060101010101" pitchFamily="49" charset="-122"/>
                <a:sym typeface="Symbol" panose="05050102010706020507" pitchFamily="18" charset="2"/>
              </a:rPr>
              <a:t>是不能用正规式描述的语言的一个范例</a:t>
            </a:r>
            <a:r>
              <a:rPr lang="zh-CN" altLang="en-US" i="1" dirty="0">
                <a:latin typeface="黑体" panose="02010609060101010101" pitchFamily="49" charset="-122"/>
                <a:sym typeface="Symbol" panose="05050102010706020507" pitchFamily="18" charset="2"/>
              </a:rPr>
              <a:t> </a:t>
            </a:r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若存在接受</a:t>
            </a:r>
            <a:r>
              <a:rPr lang="en-US" altLang="zh-CN" b="1" i="1" dirty="0">
                <a:sym typeface="Symbol" panose="05050102010706020507" pitchFamily="18" charset="2"/>
              </a:rPr>
              <a:t>L</a:t>
            </a:r>
            <a:r>
              <a:rPr lang="en-US" altLang="zh-CN" b="1" baseline="-30000" dirty="0">
                <a:sym typeface="Symbol" panose="05050102010706020507" pitchFamily="18" charset="2"/>
              </a:rPr>
              <a:t>3</a:t>
            </a:r>
            <a:r>
              <a:rPr lang="en-US" altLang="zh-CN" b="1" dirty="0">
                <a:sym typeface="Symbol" panose="05050102010706020507" pitchFamily="18" charset="2"/>
              </a:rPr>
              <a:t> </a:t>
            </a:r>
            <a:r>
              <a:rPr lang="zh-CN" altLang="en-US" dirty="0">
                <a:sym typeface="Symbol" panose="05050102010706020507" pitchFamily="18" charset="2"/>
              </a:rPr>
              <a:t>的</a:t>
            </a:r>
            <a:r>
              <a:rPr lang="en-US" altLang="zh-CN" b="1" dirty="0">
                <a:sym typeface="Symbol" panose="05050102010706020507" pitchFamily="18" charset="2"/>
              </a:rPr>
              <a:t>DFA </a:t>
            </a:r>
            <a:r>
              <a:rPr lang="en-US" altLang="zh-CN" b="1" i="1" dirty="0">
                <a:sym typeface="Symbol" panose="05050102010706020507" pitchFamily="18" charset="2"/>
              </a:rPr>
              <a:t>D</a:t>
            </a:r>
            <a:r>
              <a:rPr lang="zh-CN" altLang="en-US" b="1" dirty="0">
                <a:sym typeface="Symbol" panose="05050102010706020507" pitchFamily="18" charset="2"/>
              </a:rPr>
              <a:t>，</a:t>
            </a:r>
            <a:r>
              <a:rPr lang="zh-CN" altLang="en-US" dirty="0">
                <a:sym typeface="Symbol" panose="05050102010706020507" pitchFamily="18" charset="2"/>
              </a:rPr>
              <a:t>状态数为</a:t>
            </a:r>
            <a:r>
              <a:rPr lang="en-US" altLang="zh-CN" b="1" i="1" dirty="0">
                <a:sym typeface="Symbol" panose="05050102010706020507" pitchFamily="18" charset="2"/>
              </a:rPr>
              <a:t>k</a:t>
            </a:r>
            <a:r>
              <a:rPr lang="zh-CN" altLang="en-US" dirty="0">
                <a:latin typeface="黑体" panose="02010609060101010101" pitchFamily="49" charset="-122"/>
                <a:sym typeface="Symbol" panose="05050102010706020507" pitchFamily="18" charset="2"/>
              </a:rPr>
              <a:t>个</a:t>
            </a:r>
          </a:p>
          <a:p>
            <a:pPr lvl="1" eaLnBrk="1" hangingPunct="1"/>
            <a:r>
              <a:rPr lang="zh-CN" altLang="en-US" sz="2400" b="1" dirty="0">
                <a:latin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黑体" panose="02010609060101010101" pitchFamily="49" charset="-122"/>
                <a:sym typeface="Symbol" panose="05050102010706020507" pitchFamily="18" charset="2"/>
              </a:rPr>
              <a:t>设</a:t>
            </a:r>
            <a:r>
              <a:rPr lang="en-US" altLang="zh-CN" b="1" i="1" dirty="0">
                <a:sym typeface="Symbol" panose="05050102010706020507" pitchFamily="18" charset="2"/>
              </a:rPr>
              <a:t>D</a:t>
            </a:r>
            <a:r>
              <a:rPr lang="zh-CN" altLang="en-US" dirty="0">
                <a:latin typeface="黑体" panose="02010609060101010101" pitchFamily="49" charset="-122"/>
                <a:sym typeface="Symbol" panose="05050102010706020507" pitchFamily="18" charset="2"/>
              </a:rPr>
              <a:t>读完</a:t>
            </a:r>
            <a:r>
              <a:rPr lang="zh-CN" altLang="en-US" b="1" dirty="0">
                <a:sym typeface="Symbol" panose="05050102010706020507" pitchFamily="18" charset="2"/>
              </a:rPr>
              <a:t></a:t>
            </a:r>
            <a:r>
              <a:rPr lang="en-US" altLang="zh-CN" b="1" dirty="0"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ym typeface="Symbol" panose="05050102010706020507" pitchFamily="18" charset="2"/>
              </a:rPr>
              <a:t> a</a:t>
            </a:r>
            <a:r>
              <a:rPr lang="en-US" altLang="zh-CN" b="1" dirty="0"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ym typeface="Symbol" panose="05050102010706020507" pitchFamily="18" charset="2"/>
              </a:rPr>
              <a:t> aa</a:t>
            </a:r>
            <a:r>
              <a:rPr lang="en-US" altLang="zh-CN" b="1" dirty="0"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sym typeface="Symbol" panose="05050102010706020507" pitchFamily="18" charset="2"/>
              </a:rPr>
              <a:t>…</a:t>
            </a:r>
            <a:r>
              <a:rPr lang="en-US" altLang="zh-CN" b="1" dirty="0">
                <a:sym typeface="Symbol" panose="05050102010706020507" pitchFamily="18" charset="2"/>
              </a:rPr>
              <a:t>, </a:t>
            </a:r>
            <a:r>
              <a:rPr lang="en-US" altLang="zh-CN" b="1" i="1" dirty="0" err="1">
                <a:sym typeface="Symbol" panose="05050102010706020507" pitchFamily="18" charset="2"/>
              </a:rPr>
              <a:t>a</a:t>
            </a:r>
            <a:r>
              <a:rPr lang="en-US" altLang="zh-CN" b="1" i="1" baseline="30000" dirty="0" err="1">
                <a:sym typeface="Symbol" panose="05050102010706020507" pitchFamily="18" charset="2"/>
              </a:rPr>
              <a:t>k</a:t>
            </a:r>
            <a:r>
              <a:rPr lang="en-US" altLang="zh-CN" b="1" i="1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黑体" panose="02010609060101010101" pitchFamily="49" charset="-122"/>
                <a:sym typeface="Symbol" panose="05050102010706020507" pitchFamily="18" charset="2"/>
              </a:rPr>
              <a:t>分别到达状态</a:t>
            </a:r>
            <a:r>
              <a:rPr lang="en-US" altLang="zh-CN" b="1" i="1" dirty="0">
                <a:sym typeface="Symbol" panose="05050102010706020507" pitchFamily="18" charset="2"/>
              </a:rPr>
              <a:t>s</a:t>
            </a:r>
            <a:r>
              <a:rPr lang="en-US" altLang="zh-CN" b="1" baseline="-30000" dirty="0">
                <a:sym typeface="Symbol" panose="05050102010706020507" pitchFamily="18" charset="2"/>
              </a:rPr>
              <a:t>0</a:t>
            </a:r>
            <a:r>
              <a:rPr lang="en-US" altLang="zh-CN" b="1" dirty="0"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ym typeface="Symbol" panose="05050102010706020507" pitchFamily="18" charset="2"/>
              </a:rPr>
              <a:t>s</a:t>
            </a:r>
            <a:r>
              <a:rPr lang="en-US" altLang="zh-CN" b="1" baseline="-30000" dirty="0">
                <a:sym typeface="Symbol" panose="05050102010706020507" pitchFamily="18" charset="2"/>
              </a:rPr>
              <a:t>1</a:t>
            </a:r>
            <a:r>
              <a:rPr lang="en-US" altLang="zh-CN" b="1" dirty="0"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sym typeface="Symbol" panose="05050102010706020507" pitchFamily="18" charset="2"/>
              </a:rPr>
              <a:t>…</a:t>
            </a:r>
            <a:r>
              <a:rPr lang="en-US" altLang="zh-CN" b="1" dirty="0">
                <a:sym typeface="Symbol" panose="05050102010706020507" pitchFamily="18" charset="2"/>
              </a:rPr>
              <a:t>, </a:t>
            </a:r>
            <a:r>
              <a:rPr lang="en-US" altLang="zh-CN" b="1" i="1" dirty="0" err="1">
                <a:sym typeface="Symbol" panose="05050102010706020507" pitchFamily="18" charset="2"/>
              </a:rPr>
              <a:t>s</a:t>
            </a:r>
            <a:r>
              <a:rPr lang="en-US" altLang="zh-CN" b="1" i="1" baseline="-30000" dirty="0" err="1">
                <a:sym typeface="Symbol" panose="05050102010706020507" pitchFamily="18" charset="2"/>
              </a:rPr>
              <a:t>k</a:t>
            </a:r>
            <a:endParaRPr lang="en-US" altLang="zh-CN" b="1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dirty="0">
                <a:latin typeface="黑体" panose="02010609060101010101" pitchFamily="49" charset="-122"/>
                <a:sym typeface="Symbol" panose="05050102010706020507" pitchFamily="18" charset="2"/>
              </a:rPr>
              <a:t>至少有两个状态相同，例如是</a:t>
            </a:r>
            <a:r>
              <a:rPr lang="en-US" altLang="zh-CN" b="1" i="1" dirty="0" err="1">
                <a:sym typeface="Symbol" panose="05050102010706020507" pitchFamily="18" charset="2"/>
              </a:rPr>
              <a:t>s</a:t>
            </a:r>
            <a:r>
              <a:rPr lang="en-US" altLang="zh-CN" b="1" i="1" baseline="-30000" dirty="0" err="1">
                <a:sym typeface="Symbol" panose="05050102010706020507" pitchFamily="18" charset="2"/>
              </a:rPr>
              <a:t>i</a:t>
            </a:r>
            <a:r>
              <a:rPr lang="zh-CN" altLang="en-US" dirty="0">
                <a:latin typeface="黑体" panose="02010609060101010101" pitchFamily="49" charset="-122"/>
                <a:sym typeface="Symbol" panose="05050102010706020507" pitchFamily="18" charset="2"/>
              </a:rPr>
              <a:t>和</a:t>
            </a:r>
            <a:r>
              <a:rPr lang="en-US" altLang="zh-CN" b="1" i="1" dirty="0" err="1">
                <a:sym typeface="Symbol" panose="05050102010706020507" pitchFamily="18" charset="2"/>
              </a:rPr>
              <a:t>s</a:t>
            </a:r>
            <a:r>
              <a:rPr lang="en-US" altLang="zh-CN" b="1" i="1" baseline="-30000" dirty="0" err="1">
                <a:sym typeface="Symbol" panose="05050102010706020507" pitchFamily="18" charset="2"/>
              </a:rPr>
              <a:t>j</a:t>
            </a:r>
            <a:r>
              <a:rPr lang="zh-CN" altLang="en-US" dirty="0">
                <a:sym typeface="Symbol" panose="05050102010706020507" pitchFamily="18" charset="2"/>
              </a:rPr>
              <a:t>，则</a:t>
            </a:r>
            <a:r>
              <a:rPr lang="en-US" altLang="zh-CN" b="1" i="1" dirty="0">
                <a:sym typeface="Symbol" panose="05050102010706020507" pitchFamily="18" charset="2"/>
              </a:rPr>
              <a:t>D</a:t>
            </a:r>
            <a:r>
              <a:rPr lang="zh-CN" altLang="en-US" dirty="0">
                <a:sym typeface="Symbol" panose="05050102010706020507" pitchFamily="18" charset="2"/>
              </a:rPr>
              <a:t>也接受</a:t>
            </a:r>
            <a:r>
              <a:rPr lang="en-US" altLang="zh-CN" b="1" i="1" dirty="0" err="1">
                <a:sym typeface="Symbol" panose="05050102010706020507" pitchFamily="18" charset="2"/>
              </a:rPr>
              <a:t>a</a:t>
            </a:r>
            <a:r>
              <a:rPr lang="en-US" altLang="zh-CN" b="1" i="1" baseline="30000" dirty="0" err="1">
                <a:sym typeface="Symbol" panose="05050102010706020507" pitchFamily="18" charset="2"/>
              </a:rPr>
              <a:t>j</a:t>
            </a:r>
            <a:r>
              <a:rPr lang="en-US" altLang="zh-CN" b="1" i="1" dirty="0" err="1">
                <a:sym typeface="Symbol" panose="05050102010706020507" pitchFamily="18" charset="2"/>
              </a:rPr>
              <a:t>b</a:t>
            </a:r>
            <a:r>
              <a:rPr lang="en-US" altLang="zh-CN" b="1" i="1" baseline="30000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，推出</a:t>
            </a:r>
            <a:r>
              <a:rPr lang="en-US" altLang="zh-CN" b="1" i="1" dirty="0" err="1">
                <a:sym typeface="Symbol" panose="05050102010706020507" pitchFamily="18" charset="2"/>
              </a:rPr>
              <a:t>a</a:t>
            </a:r>
            <a:r>
              <a:rPr lang="en-US" altLang="zh-CN" b="1" i="1" baseline="30000" dirty="0" err="1">
                <a:sym typeface="Symbol" panose="05050102010706020507" pitchFamily="18" charset="2"/>
              </a:rPr>
              <a:t>j</a:t>
            </a:r>
            <a:r>
              <a:rPr lang="en-US" altLang="zh-CN" b="1" i="1" dirty="0" err="1">
                <a:sym typeface="Symbol" panose="05050102010706020507" pitchFamily="18" charset="2"/>
              </a:rPr>
              <a:t>b</a:t>
            </a:r>
            <a:r>
              <a:rPr lang="en-US" altLang="zh-CN" b="1" i="1" baseline="30000" dirty="0" err="1">
                <a:sym typeface="Symbol" panose="05050102010706020507" pitchFamily="18" charset="2"/>
              </a:rPr>
              <a:t>i</a:t>
            </a:r>
            <a:r>
              <a:rPr lang="zh-CN" altLang="en-US" dirty="0">
                <a:latin typeface="黑体" panose="02010609060101010101" pitchFamily="49" charset="-122"/>
                <a:sym typeface="Symbol" panose="05050102010706020507" pitchFamily="18" charset="2"/>
              </a:rPr>
              <a:t>属于</a:t>
            </a:r>
            <a:r>
              <a:rPr lang="en-US" altLang="zh-CN" b="1" i="1" dirty="0">
                <a:sym typeface="Symbol" panose="05050102010706020507" pitchFamily="18" charset="2"/>
              </a:rPr>
              <a:t>L</a:t>
            </a:r>
            <a:r>
              <a:rPr lang="en-US" altLang="zh-CN" b="1" baseline="-30000" dirty="0">
                <a:sym typeface="Symbol" panose="05050102010706020507" pitchFamily="18" charset="2"/>
              </a:rPr>
              <a:t>3</a:t>
            </a:r>
            <a:r>
              <a:rPr lang="en-US" altLang="zh-CN" b="1" dirty="0">
                <a:sym typeface="Symbol" panose="05050102010706020507" pitchFamily="18" charset="2"/>
              </a:rPr>
              <a:t></a:t>
            </a:r>
            <a:r>
              <a:rPr lang="zh-CN" altLang="en-US" dirty="0">
                <a:sym typeface="Symbol" panose="05050102010706020507" pitchFamily="18" charset="2"/>
              </a:rPr>
              <a:t>。矛盾。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B0FC1C5-0DBB-4D28-A967-855B1361C046}"/>
              </a:ext>
            </a:extLst>
          </p:cNvPr>
          <p:cNvGrpSpPr>
            <a:grpSpLocks/>
          </p:cNvGrpSpPr>
          <p:nvPr/>
        </p:nvGrpSpPr>
        <p:grpSpPr bwMode="auto">
          <a:xfrm>
            <a:off x="819150" y="5181600"/>
            <a:ext cx="7696200" cy="1676400"/>
            <a:chOff x="384" y="3024"/>
            <a:chExt cx="4848" cy="1056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EAB33811-17F2-46C9-A74B-FD9109C64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9" y="3704"/>
              <a:ext cx="329" cy="33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7200" rIns="216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endParaRPr lang="en-US" altLang="zh-CN" sz="2800" i="1" baseline="-25000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9843D04A-FEBF-4662-AB89-A50DA6F8C6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3858"/>
              <a:ext cx="6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B7A5BBDF-28E7-48C6-AF8C-FB3C3498F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792"/>
              <a:ext cx="42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  <a:r>
                <a:rPr lang="zh-CN" altLang="en-US" sz="1000">
                  <a:solidFill>
                    <a:srgbClr val="000000"/>
                  </a:solidFill>
                  <a:ea typeface="宋体" panose="02010600030101010101" pitchFamily="2" charset="-122"/>
                </a:rPr>
                <a:t>。。。</a:t>
              </a:r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E0EBDE37-CFB0-4E2E-94C2-B0F8002BAC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3" y="3868"/>
              <a:ext cx="6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92BE49E-AE4B-4255-8A54-9CD6E7C973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4" y="3669"/>
              <a:ext cx="408" cy="411"/>
              <a:chOff x="8590" y="7640"/>
              <a:chExt cx="527" cy="527"/>
            </a:xfrm>
          </p:grpSpPr>
          <p:sp>
            <p:nvSpPr>
              <p:cNvPr id="20" name="Oval 10">
                <a:extLst>
                  <a:ext uri="{FF2B5EF4-FFF2-40B4-BE49-F238E27FC236}">
                    <a16:creationId xmlns:a16="http://schemas.microsoft.com/office/drawing/2014/main" id="{B769AEC2-B53D-4A92-BC9A-F96D7F1C9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90" y="7640"/>
                <a:ext cx="527" cy="527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72000" tIns="28800" rIns="21600" bIns="468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000" i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" name="Oval 11">
                <a:extLst>
                  <a:ext uri="{FF2B5EF4-FFF2-40B4-BE49-F238E27FC236}">
                    <a16:creationId xmlns:a16="http://schemas.microsoft.com/office/drawing/2014/main" id="{FC51E69D-F872-4AB7-9587-E06FABCFD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50" y="7686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72000" tIns="28800" rIns="21600" bIns="180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f</a:t>
                </a:r>
              </a:p>
            </p:txBody>
          </p:sp>
        </p:grp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940D1D76-CEB9-45E0-BC75-02DDA63520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3840"/>
              <a:ext cx="6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11" name="Oval 13">
              <a:extLst>
                <a:ext uri="{FF2B5EF4-FFF2-40B4-BE49-F238E27FC236}">
                  <a16:creationId xmlns:a16="http://schemas.microsoft.com/office/drawing/2014/main" id="{79178F44-D470-4EC0-A0F7-96A2CB668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3648"/>
              <a:ext cx="328" cy="33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7200" rIns="21600" bIns="46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solidFill>
                    <a:srgbClr val="000000"/>
                  </a:solidFill>
                  <a:ea typeface="宋体" panose="02010600030101010101" pitchFamily="2" charset="-122"/>
                </a:rPr>
                <a:t>s</a:t>
              </a:r>
              <a:r>
                <a:rPr lang="en-US" altLang="zh-CN" sz="28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CAB4F673-733B-4F8F-A287-538FDF2B1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504"/>
              <a:ext cx="1453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0">
                  <a:solidFill>
                    <a:srgbClr val="000000"/>
                  </a:solidFill>
                </a:rPr>
                <a:t>标记为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400" i="1" baseline="3000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zh-CN" altLang="en-US" sz="2400" b="0">
                  <a:solidFill>
                    <a:srgbClr val="000000"/>
                  </a:solidFill>
                </a:rPr>
                <a:t>的路径</a:t>
              </a:r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B91C6D6D-BD4E-46C1-87BA-F505DBABCB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6" y="3868"/>
              <a:ext cx="6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/>
            <a:lstStyle/>
            <a:p>
              <a:endParaRPr lang="zh-CN" altLang="en-US"/>
            </a:p>
          </p:txBody>
        </p:sp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id="{16C35E1E-0140-44BF-9496-2A4BD6918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504"/>
              <a:ext cx="1473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0">
                  <a:solidFill>
                    <a:srgbClr val="000000"/>
                  </a:solidFill>
                </a:rPr>
                <a:t>标记为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en-US" altLang="zh-CN" sz="2400" i="1" baseline="3000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zh-CN" altLang="en-US" sz="2400" b="0">
                  <a:solidFill>
                    <a:srgbClr val="000000"/>
                  </a:solidFill>
                </a:rPr>
                <a:t>的路径</a:t>
              </a:r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2274903C-4625-420F-B53E-DE0B8FE8F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3406"/>
              <a:ext cx="93" cy="364"/>
            </a:xfrm>
            <a:custGeom>
              <a:avLst/>
              <a:gdLst>
                <a:gd name="T0" fmla="*/ 16 w 120"/>
                <a:gd name="T1" fmla="*/ 0 h 466"/>
                <a:gd name="T2" fmla="*/ 0 w 120"/>
                <a:gd name="T3" fmla="*/ 25 h 466"/>
                <a:gd name="T4" fmla="*/ 16 w 120"/>
                <a:gd name="T5" fmla="*/ 64 h 466"/>
                <a:gd name="T6" fmla="*/ 0 60000 65536"/>
                <a:gd name="T7" fmla="*/ 0 60000 65536"/>
                <a:gd name="T8" fmla="*/ 0 60000 65536"/>
                <a:gd name="T9" fmla="*/ 0 w 120"/>
                <a:gd name="T10" fmla="*/ 0 h 466"/>
                <a:gd name="T11" fmla="*/ 120 w 120"/>
                <a:gd name="T12" fmla="*/ 466 h 4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" h="466">
                  <a:moveTo>
                    <a:pt x="120" y="0"/>
                  </a:moveTo>
                  <a:cubicBezTo>
                    <a:pt x="60" y="51"/>
                    <a:pt x="0" y="102"/>
                    <a:pt x="0" y="180"/>
                  </a:cubicBezTo>
                  <a:cubicBezTo>
                    <a:pt x="0" y="258"/>
                    <a:pt x="100" y="418"/>
                    <a:pt x="120" y="46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0A1B43D7-B306-45D5-AF68-73F8F5F7D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3416"/>
              <a:ext cx="162" cy="350"/>
            </a:xfrm>
            <a:custGeom>
              <a:avLst/>
              <a:gdLst>
                <a:gd name="T0" fmla="*/ 0 w 209"/>
                <a:gd name="T1" fmla="*/ 61 h 450"/>
                <a:gd name="T2" fmla="*/ 26 w 209"/>
                <a:gd name="T3" fmla="*/ 29 h 450"/>
                <a:gd name="T4" fmla="*/ 10 w 209"/>
                <a:gd name="T5" fmla="*/ 0 h 450"/>
                <a:gd name="T6" fmla="*/ 0 60000 65536"/>
                <a:gd name="T7" fmla="*/ 0 60000 65536"/>
                <a:gd name="T8" fmla="*/ 0 60000 65536"/>
                <a:gd name="T9" fmla="*/ 0 w 209"/>
                <a:gd name="T10" fmla="*/ 0 h 450"/>
                <a:gd name="T11" fmla="*/ 209 w 209"/>
                <a:gd name="T12" fmla="*/ 450 h 4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" h="450">
                  <a:moveTo>
                    <a:pt x="0" y="450"/>
                  </a:moveTo>
                  <a:cubicBezTo>
                    <a:pt x="90" y="366"/>
                    <a:pt x="183" y="285"/>
                    <a:pt x="196" y="210"/>
                  </a:cubicBezTo>
                  <a:cubicBezTo>
                    <a:pt x="209" y="135"/>
                    <a:pt x="101" y="44"/>
                    <a:pt x="76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9">
              <a:extLst>
                <a:ext uri="{FF2B5EF4-FFF2-40B4-BE49-F238E27FC236}">
                  <a16:creationId xmlns:a16="http://schemas.microsoft.com/office/drawing/2014/main" id="{38A71048-0F6B-4132-8C00-25734C07A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024"/>
              <a:ext cx="1612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0">
                  <a:solidFill>
                    <a:srgbClr val="000000"/>
                  </a:solidFill>
                </a:rPr>
                <a:t>标记为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400" i="1" baseline="30000">
                  <a:solidFill>
                    <a:srgbClr val="000000"/>
                  </a:solidFill>
                  <a:ea typeface="宋体" panose="02010600030101010101" pitchFamily="2" charset="-122"/>
                </a:rPr>
                <a:t>j </a:t>
              </a:r>
              <a:r>
                <a:rPr lang="en-US" altLang="zh-CN" sz="2400" baseline="30000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r>
                <a:rPr lang="en-US" altLang="zh-CN" sz="2400" baseline="30000">
                  <a:solidFill>
                    <a:srgbClr val="000000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400" i="1" baseline="3000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zh-CN" altLang="en-US" sz="2400" b="0">
                  <a:solidFill>
                    <a:srgbClr val="000000"/>
                  </a:solidFill>
                </a:rPr>
                <a:t>的路径</a:t>
              </a:r>
            </a:p>
          </p:txBody>
        </p:sp>
        <p:sp>
          <p:nvSpPr>
            <p:cNvPr id="18" name="Rectangle 20">
              <a:extLst>
                <a:ext uri="{FF2B5EF4-FFF2-40B4-BE49-F238E27FC236}">
                  <a16:creationId xmlns:a16="http://schemas.microsoft.com/office/drawing/2014/main" id="{B2266DE3-8621-4314-9A34-66C19230D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264"/>
              <a:ext cx="42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  <a:r>
                <a:rPr lang="zh-CN" altLang="en-US" sz="1000">
                  <a:solidFill>
                    <a:srgbClr val="000000"/>
                  </a:solidFill>
                  <a:ea typeface="宋体" panose="02010600030101010101" pitchFamily="2" charset="-122"/>
                </a:rPr>
                <a:t>。。。</a:t>
              </a:r>
            </a:p>
          </p:txBody>
        </p:sp>
        <p:sp>
          <p:nvSpPr>
            <p:cNvPr id="19" name="Rectangle 21">
              <a:extLst>
                <a:ext uri="{FF2B5EF4-FFF2-40B4-BE49-F238E27FC236}">
                  <a16:creationId xmlns:a16="http://schemas.microsoft.com/office/drawing/2014/main" id="{D19E6F5B-89E9-4B18-949A-956022B8A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792"/>
              <a:ext cx="42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  <a:r>
                <a:rPr lang="zh-CN" altLang="en-US" sz="1000">
                  <a:solidFill>
                    <a:srgbClr val="000000"/>
                  </a:solidFill>
                  <a:ea typeface="宋体" panose="02010600030101010101" pitchFamily="2" charset="-122"/>
                </a:rPr>
                <a:t>。。。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F0B156-D6BC-71A1-8E21-A0AD8E5C0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42987-6A72-4510-A7A4-17A04F29028B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68B114-3CF3-FF1D-9A01-F0459CB8D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72AEB0DB-4117-EDB5-E03E-394F08A97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1B87B0E-DC73-4B6B-85A6-78A2C4FEA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3.2.8 </a:t>
            </a:r>
            <a:r>
              <a:rPr lang="zh-CN" altLang="en-US" dirty="0">
                <a:latin typeface="黑体" panose="02010609060101010101" pitchFamily="49" charset="-122"/>
              </a:rPr>
              <a:t>非上下文无关的语言结构*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9A62539-1E63-459B-84A3-EDB550E083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ym typeface="Symbol" panose="05050102010706020507" pitchFamily="18" charset="2"/>
              </a:rPr>
              <a:t>语法分析</a:t>
            </a:r>
            <a:r>
              <a:rPr lang="en-US" altLang="zh-CN" dirty="0">
                <a:sym typeface="Symbol" panose="05050102010706020507" pitchFamily="18" charset="2"/>
              </a:rPr>
              <a:t>(1)</a:t>
            </a:r>
            <a:r>
              <a:rPr lang="zh-CN" altLang="en-US" dirty="0">
                <a:sym typeface="Symbol" panose="05050102010706020507" pitchFamily="18" charset="2"/>
              </a:rPr>
              <a:t>学过，有限自动机不能计数：</a:t>
            </a:r>
            <a:r>
              <a:rPr lang="en-US" altLang="zh-CN" b="1" i="1" dirty="0">
                <a:solidFill>
                  <a:schemeClr val="accent2"/>
                </a:solidFill>
              </a:rPr>
              <a:t>L</a:t>
            </a:r>
            <a:r>
              <a:rPr lang="en-US" altLang="zh-CN" b="1" baseline="-30000" dirty="0">
                <a:solidFill>
                  <a:schemeClr val="accent2"/>
                </a:solidFill>
              </a:rPr>
              <a:t>3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</a:t>
            </a:r>
            <a:r>
              <a:rPr lang="en-US" altLang="zh-CN" b="1" baseline="-30000" dirty="0">
                <a:solidFill>
                  <a:schemeClr val="accent2"/>
                </a:solidFill>
              </a:rPr>
              <a:t> </a:t>
            </a:r>
            <a:r>
              <a:rPr lang="en-US" altLang="zh-CN" b="1" dirty="0">
                <a:solidFill>
                  <a:schemeClr val="accent2"/>
                </a:solidFill>
              </a:rPr>
              <a:t>={</a:t>
            </a:r>
            <a:r>
              <a:rPr lang="en-US" altLang="zh-CN" b="1" i="1" dirty="0" err="1">
                <a:solidFill>
                  <a:schemeClr val="accent2"/>
                </a:solidFill>
              </a:rPr>
              <a:t>a</a:t>
            </a:r>
            <a:r>
              <a:rPr lang="en-US" altLang="zh-CN" b="1" i="1" baseline="30000" dirty="0" err="1">
                <a:solidFill>
                  <a:schemeClr val="accent2"/>
                </a:solidFill>
              </a:rPr>
              <a:t>n</a:t>
            </a:r>
            <a:r>
              <a:rPr lang="en-US" altLang="zh-CN" b="1" i="1" dirty="0" err="1">
                <a:solidFill>
                  <a:schemeClr val="accent2"/>
                </a:solidFill>
              </a:rPr>
              <a:t>b</a:t>
            </a:r>
            <a:r>
              <a:rPr lang="en-US" altLang="zh-CN" b="1" i="1" baseline="30000" dirty="0" err="1">
                <a:solidFill>
                  <a:schemeClr val="accent2"/>
                </a:solidFill>
              </a:rPr>
              <a:t>n</a:t>
            </a:r>
            <a:r>
              <a:rPr lang="en-US" altLang="zh-CN" b="1" dirty="0">
                <a:solidFill>
                  <a:schemeClr val="accent2"/>
                </a:solidFill>
              </a:rPr>
              <a:t> | </a:t>
            </a:r>
            <a:r>
              <a:rPr lang="en-US" altLang="zh-CN" b="1" i="1" dirty="0">
                <a:solidFill>
                  <a:schemeClr val="accent2"/>
                </a:solidFill>
              </a:rPr>
              <a:t>n 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</a:t>
            </a:r>
            <a:r>
              <a:rPr lang="en-US" altLang="zh-CN" b="1" i="1" dirty="0">
                <a:solidFill>
                  <a:schemeClr val="accent2"/>
                </a:solidFill>
              </a:rPr>
              <a:t> </a:t>
            </a:r>
            <a:r>
              <a:rPr lang="en-US" altLang="zh-CN" b="1" dirty="0">
                <a:solidFill>
                  <a:schemeClr val="accent2"/>
                </a:solidFill>
              </a:rPr>
              <a:t>1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altLang="zh-CN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dirty="0">
                <a:sym typeface="Symbol" panose="05050102010706020507" pitchFamily="18" charset="2"/>
              </a:rPr>
              <a:t>上下文无关文法可以计两项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accent2"/>
                </a:solidFill>
              </a:rPr>
              <a:t>L</a:t>
            </a:r>
            <a:r>
              <a:rPr lang="en-US" altLang="zh-CN" b="1" baseline="-30000" dirty="0">
                <a:solidFill>
                  <a:schemeClr val="accent2"/>
                </a:solidFill>
              </a:rPr>
              <a:t>3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</a:t>
            </a:r>
            <a:r>
              <a:rPr lang="en-US" altLang="zh-CN" b="1" baseline="-30000" dirty="0">
                <a:solidFill>
                  <a:schemeClr val="accent2"/>
                </a:solidFill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，但不能计三项及以上的数量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L</a:t>
            </a:r>
            <a:r>
              <a:rPr lang="en-US" altLang="zh-CN" b="1" baseline="-30000" dirty="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 L</a:t>
            </a:r>
            <a:r>
              <a:rPr lang="en-US" altLang="zh-CN" b="1" baseline="-30000" dirty="0">
                <a:solidFill>
                  <a:schemeClr val="accent2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olidFill>
                  <a:schemeClr val="accent2"/>
                </a:solidFill>
                <a:sym typeface="Symbol" panose="05050102010706020507" pitchFamily="18" charset="2"/>
              </a:rPr>
              <a:t> L</a:t>
            </a:r>
            <a:r>
              <a:rPr lang="en-US" altLang="zh-CN" b="1" baseline="-30000" dirty="0">
                <a:solidFill>
                  <a:schemeClr val="accent2"/>
                </a:solidFill>
                <a:sym typeface="Symbol" panose="05050102010706020507" pitchFamily="18" charset="2"/>
              </a:rPr>
              <a:t>3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n-US" altLang="zh-CN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altLang="zh-CN" dirty="0">
              <a:sym typeface="Symbol" panose="05050102010706020507" pitchFamily="18" charset="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BCE7EE-DA82-42E1-909E-042BB9A5A8A2}"/>
              </a:ext>
            </a:extLst>
          </p:cNvPr>
          <p:cNvSpPr txBox="1"/>
          <p:nvPr/>
        </p:nvSpPr>
        <p:spPr>
          <a:xfrm>
            <a:off x="886177" y="4072863"/>
            <a:ext cx="7038623" cy="9787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ym typeface="Symbol" panose="05050102010706020507" pitchFamily="18" charset="2"/>
              </a:rPr>
              <a:t>是否有功能更强的文法来描述上述</a:t>
            </a:r>
            <a:r>
              <a:rPr lang="en-US" altLang="zh-CN" sz="3200" b="1" i="1" dirty="0">
                <a:solidFill>
                  <a:schemeClr val="accent2"/>
                </a:solidFill>
                <a:sym typeface="Symbol" panose="05050102010706020507" pitchFamily="18" charset="2"/>
              </a:rPr>
              <a:t>L</a:t>
            </a:r>
            <a:r>
              <a:rPr lang="en-US" altLang="zh-CN" sz="3200" b="1" baseline="-30000" dirty="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lang="en-US" altLang="zh-CN" sz="3200" b="1" dirty="0">
                <a:solidFill>
                  <a:schemeClr val="accent2"/>
                </a:solidFill>
                <a:sym typeface="Symbol" panose="05050102010706020507" pitchFamily="18" charset="2"/>
              </a:rPr>
              <a:t>,</a:t>
            </a:r>
            <a:r>
              <a:rPr lang="en-US" altLang="zh-CN" sz="3200" b="1" i="1" dirty="0">
                <a:solidFill>
                  <a:schemeClr val="accent2"/>
                </a:solidFill>
                <a:sym typeface="Symbol" panose="05050102010706020507" pitchFamily="18" charset="2"/>
              </a:rPr>
              <a:t> L</a:t>
            </a:r>
            <a:r>
              <a:rPr lang="en-US" altLang="zh-CN" sz="3200" b="1" baseline="-30000" dirty="0">
                <a:solidFill>
                  <a:schemeClr val="accent2"/>
                </a:solidFill>
                <a:sym typeface="Symbol" panose="05050102010706020507" pitchFamily="18" charset="2"/>
              </a:rPr>
              <a:t>2</a:t>
            </a:r>
            <a:r>
              <a:rPr lang="en-US" altLang="zh-CN" sz="3200" b="1" dirty="0">
                <a:solidFill>
                  <a:schemeClr val="accent2"/>
                </a:solidFill>
                <a:sym typeface="Symbol" panose="05050102010706020507" pitchFamily="18" charset="2"/>
              </a:rPr>
              <a:t>,</a:t>
            </a:r>
            <a:r>
              <a:rPr lang="en-US" altLang="zh-CN" sz="3200" b="1" i="1" dirty="0">
                <a:solidFill>
                  <a:schemeClr val="accent2"/>
                </a:solidFill>
                <a:sym typeface="Symbol" panose="05050102010706020507" pitchFamily="18" charset="2"/>
              </a:rPr>
              <a:t> L</a:t>
            </a:r>
            <a:r>
              <a:rPr lang="en-US" altLang="zh-CN" sz="3200" b="1" baseline="-30000" dirty="0">
                <a:solidFill>
                  <a:schemeClr val="accent2"/>
                </a:solidFill>
                <a:sym typeface="Symbol" panose="05050102010706020507" pitchFamily="18" charset="2"/>
              </a:rPr>
              <a:t>3</a:t>
            </a:r>
            <a:r>
              <a:rPr lang="zh-CN" altLang="en-US" sz="3200" dirty="0">
                <a:sym typeface="Symbol" panose="05050102010706020507" pitchFamily="18" charset="2"/>
              </a:rPr>
              <a:t>语言呢？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89FCA8-FEEF-8008-F025-623CBDC16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01DA0-C92E-4B90-B620-617464F2AB43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8525F5-B422-88AD-DB20-F09BF2192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7FE37A-BE2D-9341-67F2-77479520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94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71607A6-A208-4CB8-9F5B-779825F538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3.2.9 </a:t>
            </a:r>
            <a:r>
              <a:rPr lang="zh-CN" altLang="en-US" dirty="0"/>
              <a:t>形式语言的</a:t>
            </a:r>
            <a:r>
              <a:rPr lang="en-US" altLang="zh-CN" dirty="0"/>
              <a:t>Chomsky</a:t>
            </a:r>
            <a:r>
              <a:rPr lang="zh-CN" altLang="en-US" dirty="0"/>
              <a:t>分类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1B8500A6-733A-458D-ADF7-1A4E25359C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ym typeface="Symbol" panose="05050102010706020507" pitchFamily="18" charset="2"/>
              </a:rPr>
              <a:t>0 </a:t>
            </a:r>
            <a:r>
              <a:rPr lang="zh-CN" altLang="en-US" dirty="0">
                <a:sym typeface="Symbol" panose="05050102010706020507" pitchFamily="18" charset="2"/>
              </a:rPr>
              <a:t>型文法 （</a:t>
            </a:r>
            <a:r>
              <a:rPr lang="en-US" altLang="zh-CN" dirty="0">
                <a:sym typeface="Symbol" panose="05050102010706020507" pitchFamily="18" charset="2"/>
              </a:rPr>
              <a:t> Type-0 Grammar </a:t>
            </a:r>
            <a:r>
              <a:rPr lang="zh-CN" altLang="en-US" dirty="0">
                <a:sym typeface="Symbol" panose="05050102010706020507" pitchFamily="18" charset="2"/>
              </a:rPr>
              <a:t>）</a:t>
            </a:r>
            <a:endParaRPr lang="en-US" altLang="zh-CN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sym typeface="Symbol" panose="05050102010706020507" pitchFamily="18" charset="2"/>
              </a:rPr>
              <a:t>1 </a:t>
            </a:r>
            <a:r>
              <a:rPr lang="zh-CN" altLang="en-US" dirty="0">
                <a:sym typeface="Symbol" panose="05050102010706020507" pitchFamily="18" charset="2"/>
              </a:rPr>
              <a:t>型文法 （</a:t>
            </a:r>
            <a:r>
              <a:rPr lang="en-US" altLang="zh-CN" dirty="0">
                <a:sym typeface="Symbol" panose="05050102010706020507" pitchFamily="18" charset="2"/>
              </a:rPr>
              <a:t> Type-1 Grammar </a:t>
            </a:r>
            <a:r>
              <a:rPr lang="zh-CN" altLang="en-US" dirty="0">
                <a:sym typeface="Symbol" panose="05050102010706020507" pitchFamily="18" charset="2"/>
              </a:rPr>
              <a:t>）</a:t>
            </a:r>
            <a:endParaRPr lang="en-US" altLang="zh-CN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sym typeface="Symbol" panose="05050102010706020507" pitchFamily="18" charset="2"/>
              </a:rPr>
              <a:t>2 </a:t>
            </a:r>
            <a:r>
              <a:rPr lang="zh-CN" altLang="en-US" dirty="0">
                <a:sym typeface="Symbol" panose="05050102010706020507" pitchFamily="18" charset="2"/>
              </a:rPr>
              <a:t>型文法 （</a:t>
            </a:r>
            <a:r>
              <a:rPr lang="en-US" altLang="zh-CN" dirty="0">
                <a:sym typeface="Symbol" panose="05050102010706020507" pitchFamily="18" charset="2"/>
              </a:rPr>
              <a:t> Type-2 Grammar </a:t>
            </a:r>
            <a:r>
              <a:rPr lang="zh-CN" altLang="en-US" dirty="0">
                <a:sym typeface="Symbol" panose="05050102010706020507" pitchFamily="18" charset="2"/>
              </a:rPr>
              <a:t>）</a:t>
            </a:r>
            <a:endParaRPr lang="en-US" altLang="zh-CN" dirty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sym typeface="Symbol" panose="05050102010706020507" pitchFamily="18" charset="2"/>
              </a:rPr>
              <a:t>3 </a:t>
            </a:r>
            <a:r>
              <a:rPr lang="zh-CN" altLang="en-US" dirty="0">
                <a:sym typeface="Symbol" panose="05050102010706020507" pitchFamily="18" charset="2"/>
              </a:rPr>
              <a:t>型文法 （</a:t>
            </a:r>
            <a:r>
              <a:rPr lang="en-US" altLang="zh-CN" dirty="0">
                <a:sym typeface="Symbol" panose="05050102010706020507" pitchFamily="18" charset="2"/>
              </a:rPr>
              <a:t> Type-3 Grammar</a:t>
            </a:r>
            <a:r>
              <a:rPr lang="zh-CN" altLang="en-US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）</a:t>
            </a: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678C80-C873-8CEA-F56C-52CB4F30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3943E-43D5-4E05-A2C4-994A90CBCB41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7647CB-2E01-2438-C3C3-9AAF9401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4232AA-65EC-2FEB-A0A6-B0792A1B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71607A6-A208-4CB8-9F5B-779825F538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3.2.9 </a:t>
            </a:r>
            <a:r>
              <a:rPr lang="zh-CN" altLang="en-US" dirty="0"/>
              <a:t>形式语言的</a:t>
            </a:r>
            <a:r>
              <a:rPr lang="en-US" altLang="zh-CN" dirty="0"/>
              <a:t>Chomsky</a:t>
            </a:r>
            <a:r>
              <a:rPr lang="zh-CN" altLang="en-US" dirty="0"/>
              <a:t>分类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1B8500A6-733A-458D-ADF7-1A4E25359C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sym typeface="Symbol" panose="05050102010706020507" pitchFamily="18" charset="2"/>
              </a:rPr>
              <a:t>文法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= 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S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0"/>
              </a:spcBef>
            </a:pP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型文法：</a:t>
            </a:r>
            <a:r>
              <a:rPr lang="zh-CN" altLang="en-US" sz="2800" b="1" i="1" dirty="0">
                <a:sym typeface="Symbol" panose="05050102010706020507" pitchFamily="18" charset="2"/>
              </a:rPr>
              <a:t></a:t>
            </a:r>
            <a:r>
              <a:rPr lang="zh-CN" altLang="en-US" sz="2800" b="1" dirty="0">
                <a:sym typeface="Symbol" panose="05050102010706020507" pitchFamily="18" charset="2"/>
              </a:rPr>
              <a:t>  </a:t>
            </a:r>
            <a:r>
              <a:rPr lang="zh-CN" altLang="en-US" sz="2800" b="1" i="1" dirty="0">
                <a:sym typeface="Symbol" panose="05050102010706020507" pitchFamily="18" charset="2"/>
              </a:rPr>
              <a:t></a:t>
            </a:r>
            <a:r>
              <a:rPr lang="zh-CN" altLang="en-US" sz="2800" b="1" dirty="0">
                <a:sym typeface="Symbol" panose="05050102010706020507" pitchFamily="18" charset="2"/>
              </a:rPr>
              <a:t>，</a:t>
            </a:r>
            <a:r>
              <a:rPr lang="zh-CN" altLang="en-US" sz="2800" b="1" i="1" dirty="0">
                <a:sym typeface="Symbol" panose="05050102010706020507" pitchFamily="18" charset="2"/>
              </a:rPr>
              <a:t> </a:t>
            </a:r>
            <a:r>
              <a:rPr lang="en-US" altLang="zh-CN" sz="2800" b="1" i="1" dirty="0">
                <a:sym typeface="Symbol" panose="05050102010706020507" pitchFamily="18" charset="2"/>
              </a:rPr>
              <a:t>,  </a:t>
            </a:r>
            <a:r>
              <a:rPr lang="en-US" altLang="zh-CN" sz="2800" b="1" dirty="0">
                <a:sym typeface="Symbol" panose="05050102010706020507" pitchFamily="18" charset="2"/>
              </a:rPr>
              <a:t>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|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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 1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endParaRPr lang="en-US" altLang="zh-CN" sz="28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sym typeface="Symbol" panose="05050102010706020507" pitchFamily="18" charset="2"/>
              </a:rPr>
              <a:t>短语文法（</a:t>
            </a:r>
            <a:r>
              <a:rPr lang="en-US" altLang="zh-CN" sz="2800" dirty="0">
                <a:sym typeface="Symbol" panose="05050102010706020507" pitchFamily="18" charset="2"/>
              </a:rPr>
              <a:t>Phrase Structure Grammar, PSG</a:t>
            </a:r>
            <a:r>
              <a:rPr lang="zh-CN" altLang="en-US" sz="2800" dirty="0">
                <a:sym typeface="Symbol" panose="05050102010706020507" pitchFamily="18" charset="2"/>
              </a:rPr>
              <a:t>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1B6C6E-EF70-9472-E4C1-667DAC3FF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4666-7DE1-4FDB-B9E2-ADA1C3503B10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B762D0-E92B-7EA2-B03E-CC3E5B580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2DD1FC-4855-D3D2-5FE3-E8E1E04D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114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2209E0A4-1B37-48B1-9D24-D15AEEA6D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3.2.9 </a:t>
            </a:r>
            <a:r>
              <a:rPr lang="zh-CN" altLang="en-US" dirty="0"/>
              <a:t>形式语言的</a:t>
            </a:r>
            <a:r>
              <a:rPr lang="en-US" altLang="zh-CN" dirty="0"/>
              <a:t>Chomsky</a:t>
            </a:r>
            <a:r>
              <a:rPr lang="zh-CN" altLang="en-US" dirty="0"/>
              <a:t>分类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37F4E376-F576-4A6B-917C-55D543C857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sym typeface="Symbol" panose="05050102010706020507" pitchFamily="18" charset="2"/>
              </a:rPr>
              <a:t>文法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= 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S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0"/>
              </a:spcBef>
            </a:pP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型文法：</a:t>
            </a:r>
            <a:r>
              <a:rPr lang="zh-CN" altLang="en-US" sz="2800" b="1" i="1" dirty="0">
                <a:sym typeface="Symbol" panose="05050102010706020507" pitchFamily="18" charset="2"/>
              </a:rPr>
              <a:t></a:t>
            </a:r>
            <a:r>
              <a:rPr lang="zh-CN" altLang="en-US" sz="2800" b="1" dirty="0">
                <a:sym typeface="Symbol" panose="05050102010706020507" pitchFamily="18" charset="2"/>
              </a:rPr>
              <a:t>  </a:t>
            </a:r>
            <a:r>
              <a:rPr lang="zh-CN" altLang="en-US" sz="2800" b="1" i="1" dirty="0">
                <a:sym typeface="Symbol" panose="05050102010706020507" pitchFamily="18" charset="2"/>
              </a:rPr>
              <a:t></a:t>
            </a:r>
            <a:r>
              <a:rPr lang="zh-CN" altLang="en-US" sz="2800" b="1" dirty="0">
                <a:sym typeface="Symbol" panose="05050102010706020507" pitchFamily="18" charset="2"/>
              </a:rPr>
              <a:t>，</a:t>
            </a:r>
            <a:r>
              <a:rPr lang="zh-CN" altLang="en-US" sz="2800" b="1" i="1" dirty="0">
                <a:sym typeface="Symbol" panose="05050102010706020507" pitchFamily="18" charset="2"/>
              </a:rPr>
              <a:t> </a:t>
            </a:r>
            <a:r>
              <a:rPr lang="en-US" altLang="zh-CN" sz="2800" b="1" i="1" dirty="0">
                <a:sym typeface="Symbol" panose="05050102010706020507" pitchFamily="18" charset="2"/>
              </a:rPr>
              <a:t>,  </a:t>
            </a:r>
            <a:r>
              <a:rPr lang="en-US" altLang="zh-CN" sz="2800" b="1" dirty="0">
                <a:sym typeface="Symbol" panose="05050102010706020507" pitchFamily="18" charset="2"/>
              </a:rPr>
              <a:t>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|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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 1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型文法：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2800" b="1" i="1" dirty="0">
                <a:sym typeface="Symbol" panose="05050102010706020507" pitchFamily="18" charset="2"/>
              </a:rPr>
              <a:t>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 |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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zh-CN" altLang="en-US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zh-CN" altLang="en-US" sz="2800" b="1" i="1" dirty="0">
                <a:sym typeface="Symbol" panose="05050102010706020507" pitchFamily="18" charset="2"/>
              </a:rPr>
              <a:t> </a:t>
            </a:r>
            <a:r>
              <a:rPr lang="en-US" altLang="zh-CN" sz="2800" b="1" i="1" dirty="0">
                <a:sym typeface="Symbol" panose="05050102010706020507" pitchFamily="18" charset="2"/>
              </a:rPr>
              <a:t>,  </a:t>
            </a:r>
            <a:r>
              <a:rPr lang="en-US" altLang="zh-CN" sz="2800" b="1" dirty="0">
                <a:sym typeface="Symbol" panose="05050102010706020507" pitchFamily="18" charset="2"/>
              </a:rPr>
              <a:t>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endParaRPr lang="zh-CN" altLang="en-US" sz="2800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 </a:t>
            </a:r>
          </a:p>
          <a:p>
            <a:pPr eaLnBrk="1" hangingPunct="1">
              <a:spcBef>
                <a:spcPct val="0"/>
              </a:spcBef>
            </a:pP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sym typeface="Symbol" panose="05050102010706020507" pitchFamily="18" charset="2"/>
              </a:rPr>
              <a:t>短语文法、上下文有关文法（</a:t>
            </a:r>
            <a:r>
              <a:rPr lang="en-US" altLang="zh-CN" sz="2800" dirty="0">
                <a:sym typeface="Symbol" panose="05050102010706020507" pitchFamily="18" charset="2"/>
              </a:rPr>
              <a:t>Context Sensitive Grammar , CSG </a:t>
            </a:r>
            <a:r>
              <a:rPr lang="zh-CN" altLang="en-US" sz="2800" dirty="0">
                <a:sym typeface="Symbol" panose="05050102010706020507" pitchFamily="18" charset="2"/>
              </a:rPr>
              <a:t>）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/>
              <a:t>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FFFCF9-66CF-4DED-D30A-034ACB4CA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95A38-4DF3-4CEB-8454-2063656E8DE9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206205-6D84-6A94-0D34-BA0E3FD87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18FA5-8F1E-E32B-A661-740A40515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9043D39-F621-4180-81ED-2B93373E23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3.2.9 </a:t>
            </a:r>
            <a:r>
              <a:rPr lang="zh-CN" altLang="en-US" dirty="0"/>
              <a:t>形式语言的</a:t>
            </a:r>
            <a:r>
              <a:rPr lang="en-US" altLang="zh-CN" dirty="0"/>
              <a:t>Chomsky</a:t>
            </a:r>
            <a:r>
              <a:rPr lang="zh-CN" altLang="en-US" dirty="0"/>
              <a:t>分类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77B6938C-47A7-4CB5-8600-6A9A630DE8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sym typeface="Symbol" panose="05050102010706020507" pitchFamily="18" charset="2"/>
              </a:rPr>
              <a:t>文法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= 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S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0"/>
              </a:spcBef>
            </a:pP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型文法：</a:t>
            </a:r>
            <a:r>
              <a:rPr lang="zh-CN" altLang="en-US" sz="2800" b="1" i="1" dirty="0">
                <a:sym typeface="Symbol" panose="05050102010706020507" pitchFamily="18" charset="2"/>
              </a:rPr>
              <a:t></a:t>
            </a:r>
            <a:r>
              <a:rPr lang="zh-CN" altLang="en-US" sz="2800" b="1" dirty="0">
                <a:sym typeface="Symbol" panose="05050102010706020507" pitchFamily="18" charset="2"/>
              </a:rPr>
              <a:t>  </a:t>
            </a:r>
            <a:r>
              <a:rPr lang="zh-CN" altLang="en-US" sz="2800" b="1" i="1" dirty="0">
                <a:sym typeface="Symbol" panose="05050102010706020507" pitchFamily="18" charset="2"/>
              </a:rPr>
              <a:t></a:t>
            </a:r>
            <a:r>
              <a:rPr lang="zh-CN" altLang="en-US" sz="2800" b="1" dirty="0">
                <a:sym typeface="Symbol" panose="05050102010706020507" pitchFamily="18" charset="2"/>
              </a:rPr>
              <a:t>，</a:t>
            </a:r>
            <a:r>
              <a:rPr lang="zh-CN" altLang="en-US" sz="2800" b="1" i="1" dirty="0">
                <a:sym typeface="Symbol" panose="05050102010706020507" pitchFamily="18" charset="2"/>
              </a:rPr>
              <a:t> </a:t>
            </a:r>
            <a:r>
              <a:rPr lang="en-US" altLang="zh-CN" sz="2800" b="1" i="1" dirty="0">
                <a:sym typeface="Symbol" panose="05050102010706020507" pitchFamily="18" charset="2"/>
              </a:rPr>
              <a:t>,  </a:t>
            </a:r>
            <a:r>
              <a:rPr lang="en-US" altLang="zh-CN" sz="2800" b="1" dirty="0">
                <a:sym typeface="Symbol" panose="05050102010706020507" pitchFamily="18" charset="2"/>
              </a:rPr>
              <a:t>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|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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 1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型文法：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2800" b="1" i="1" dirty="0">
                <a:sym typeface="Symbol" panose="05050102010706020507" pitchFamily="18" charset="2"/>
              </a:rPr>
              <a:t>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 |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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zh-CN" altLang="en-US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zh-CN" altLang="en-US" sz="2800" b="1" i="1" dirty="0">
                <a:sym typeface="Symbol" panose="05050102010706020507" pitchFamily="18" charset="2"/>
              </a:rPr>
              <a:t> </a:t>
            </a:r>
            <a:r>
              <a:rPr lang="en-US" altLang="zh-CN" sz="2800" b="1" i="1" dirty="0">
                <a:sym typeface="Symbol" panose="05050102010706020507" pitchFamily="18" charset="2"/>
              </a:rPr>
              <a:t>,  </a:t>
            </a:r>
            <a:r>
              <a:rPr lang="en-US" altLang="zh-CN" sz="2800" b="1" dirty="0">
                <a:sym typeface="Symbol" panose="05050102010706020507" pitchFamily="18" charset="2"/>
              </a:rPr>
              <a:t>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型文法：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</a:t>
            </a:r>
            <a:r>
              <a:rPr lang="zh-CN" altLang="en-US" sz="2800" b="1" dirty="0">
                <a:sym typeface="Symbol" panose="05050102010706020507" pitchFamily="18" charset="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 </a:t>
            </a:r>
            <a:r>
              <a:rPr lang="en-US" altLang="zh-CN" sz="2800" b="1" dirty="0">
                <a:sym typeface="Symbol" panose="05050102010706020507" pitchFamily="18" charset="2"/>
              </a:rPr>
              <a:t>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 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sym typeface="Symbol" panose="05050102010706020507" pitchFamily="18" charset="2"/>
              </a:rPr>
              <a:t>短语文法、上下文有关文法、上下文无关文法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/>
              <a:t>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945BA2-AB07-3B2B-CC06-1B3137DCE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97A78-ADB1-46F3-9999-EFE1AC1851F1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162290-BE6A-CC3F-A04D-EF3F8BA1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B462DD-9422-1CD7-04CA-DD78B3AB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2A67090-0433-4F9B-A24F-8B84F50EA9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3.2.9 </a:t>
            </a:r>
            <a:r>
              <a:rPr lang="zh-CN" altLang="en-US" dirty="0"/>
              <a:t>形式语言的</a:t>
            </a:r>
            <a:r>
              <a:rPr lang="en-US" altLang="zh-CN" dirty="0"/>
              <a:t>Chomsky</a:t>
            </a:r>
            <a:r>
              <a:rPr lang="zh-CN" altLang="en-US" dirty="0"/>
              <a:t>分类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AB14745-F29B-4D33-A23B-B0D37E2F30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sym typeface="Symbol" panose="05050102010706020507" pitchFamily="18" charset="2"/>
              </a:rPr>
              <a:t>文法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= 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S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0"/>
              </a:spcBef>
            </a:pP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型文法：</a:t>
            </a:r>
            <a:r>
              <a:rPr lang="zh-CN" altLang="en-US" sz="2800" b="1" i="1" dirty="0">
                <a:sym typeface="Symbol" panose="05050102010706020507" pitchFamily="18" charset="2"/>
              </a:rPr>
              <a:t></a:t>
            </a:r>
            <a:r>
              <a:rPr lang="zh-CN" altLang="en-US" sz="2800" b="1" dirty="0">
                <a:sym typeface="Symbol" panose="05050102010706020507" pitchFamily="18" charset="2"/>
              </a:rPr>
              <a:t>  </a:t>
            </a:r>
            <a:r>
              <a:rPr lang="zh-CN" altLang="en-US" sz="2800" b="1" i="1" dirty="0">
                <a:sym typeface="Symbol" panose="05050102010706020507" pitchFamily="18" charset="2"/>
              </a:rPr>
              <a:t></a:t>
            </a:r>
            <a:r>
              <a:rPr lang="zh-CN" altLang="en-US" sz="2800" b="1" dirty="0">
                <a:sym typeface="Symbol" panose="05050102010706020507" pitchFamily="18" charset="2"/>
              </a:rPr>
              <a:t>，</a:t>
            </a:r>
            <a:r>
              <a:rPr lang="zh-CN" altLang="en-US" sz="2800" b="1" i="1" dirty="0">
                <a:sym typeface="Symbol" panose="05050102010706020507" pitchFamily="18" charset="2"/>
              </a:rPr>
              <a:t> </a:t>
            </a:r>
            <a:r>
              <a:rPr lang="en-US" altLang="zh-CN" sz="2800" b="1" i="1" dirty="0">
                <a:sym typeface="Symbol" panose="05050102010706020507" pitchFamily="18" charset="2"/>
              </a:rPr>
              <a:t>,  </a:t>
            </a:r>
            <a:r>
              <a:rPr lang="en-US" altLang="zh-CN" sz="2800" b="1" dirty="0">
                <a:sym typeface="Symbol" panose="05050102010706020507" pitchFamily="18" charset="2"/>
              </a:rPr>
              <a:t>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|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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 1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型文法：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2800" b="1" i="1" dirty="0">
                <a:sym typeface="Symbol" panose="05050102010706020507" pitchFamily="18" charset="2"/>
              </a:rPr>
              <a:t>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 |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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zh-CN" altLang="en-US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zh-CN" altLang="en-US" sz="2800" b="1" i="1" dirty="0">
                <a:sym typeface="Symbol" panose="05050102010706020507" pitchFamily="18" charset="2"/>
              </a:rPr>
              <a:t> </a:t>
            </a:r>
            <a:r>
              <a:rPr lang="en-US" altLang="zh-CN" sz="2800" b="1" i="1" dirty="0">
                <a:sym typeface="Symbol" panose="05050102010706020507" pitchFamily="18" charset="2"/>
              </a:rPr>
              <a:t>,  </a:t>
            </a:r>
            <a:r>
              <a:rPr lang="en-US" altLang="zh-CN" sz="2800" b="1" dirty="0">
                <a:sym typeface="Symbol" panose="05050102010706020507" pitchFamily="18" charset="2"/>
              </a:rPr>
              <a:t>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型文法：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</a:t>
            </a:r>
            <a:r>
              <a:rPr lang="zh-CN" altLang="en-US" sz="2800" b="1" dirty="0">
                <a:sym typeface="Symbol" panose="05050102010706020507" pitchFamily="18" charset="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 </a:t>
            </a:r>
            <a:r>
              <a:rPr lang="en-US" altLang="zh-CN" sz="2800" b="1" dirty="0">
                <a:sym typeface="Symbol" panose="05050102010706020507" pitchFamily="18" charset="2"/>
              </a:rPr>
              <a:t>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endParaRPr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型文法：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aB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A, 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          </a:t>
            </a:r>
            <a:r>
              <a:rPr lang="zh-CN" altLang="en-US" sz="2800" dirty="0">
                <a:sym typeface="Symbol" panose="05050102010706020507" pitchFamily="18" charset="2"/>
              </a:rPr>
              <a:t>或者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Ba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A, B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sym typeface="Symbol" panose="05050102010706020507" pitchFamily="18" charset="2"/>
              </a:rPr>
              <a:t>短语文法、上下文有关文法、上下文无关文法、正规文法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</a:p>
          <a:p>
            <a:pPr eaLnBrk="1" hangingPunct="1"/>
            <a:endParaRPr lang="en-US" altLang="zh-CN" sz="2800" dirty="0"/>
          </a:p>
        </p:txBody>
      </p:sp>
      <p:sp>
        <p:nvSpPr>
          <p:cNvPr id="340996" name="AutoShape 4">
            <a:extLst>
              <a:ext uri="{FF2B5EF4-FFF2-40B4-BE49-F238E27FC236}">
                <a16:creationId xmlns:a16="http://schemas.microsoft.com/office/drawing/2014/main" id="{B5DFF0B8-16E4-4A79-89F9-1512C4C4A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6697" y="2762956"/>
            <a:ext cx="2057400" cy="457200"/>
          </a:xfrm>
          <a:prstGeom prst="wedgeRoundRectCallout">
            <a:avLst>
              <a:gd name="adj1" fmla="val -167865"/>
              <a:gd name="adj2" fmla="val 127199"/>
              <a:gd name="adj3" fmla="val 16667"/>
            </a:avLst>
          </a:prstGeom>
          <a:solidFill>
            <a:schemeClr val="bg1"/>
          </a:solidFill>
          <a:ln w="25400" algn="ctr">
            <a:solidFill>
              <a:srgbClr val="008000"/>
            </a:solidFill>
            <a:miter lim="800000"/>
            <a:headEnd/>
            <a:tailEnd/>
          </a:ln>
        </p:spPr>
        <p:txBody>
          <a:bodyPr lIns="54000" tIns="28800" rIns="54000" bIns="28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</a:rPr>
              <a:t>右线性文法</a:t>
            </a:r>
          </a:p>
        </p:txBody>
      </p:sp>
      <p:sp>
        <p:nvSpPr>
          <p:cNvPr id="340997" name="AutoShape 5">
            <a:extLst>
              <a:ext uri="{FF2B5EF4-FFF2-40B4-BE49-F238E27FC236}">
                <a16:creationId xmlns:a16="http://schemas.microsoft.com/office/drawing/2014/main" id="{37A338D7-75A7-4E1E-BFE8-EC9677CD0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6697" y="4343645"/>
            <a:ext cx="2057400" cy="457200"/>
          </a:xfrm>
          <a:prstGeom prst="wedgeRoundRectCallout">
            <a:avLst>
              <a:gd name="adj1" fmla="val -162927"/>
              <a:gd name="adj2" fmla="val -71990"/>
              <a:gd name="adj3" fmla="val 16667"/>
            </a:avLst>
          </a:prstGeom>
          <a:solidFill>
            <a:schemeClr val="bg1"/>
          </a:solidFill>
          <a:ln w="25400" algn="ctr">
            <a:solidFill>
              <a:srgbClr val="008000"/>
            </a:solidFill>
            <a:miter lim="800000"/>
            <a:headEnd/>
            <a:tailEnd/>
          </a:ln>
        </p:spPr>
        <p:txBody>
          <a:bodyPr lIns="54000" tIns="28800" rIns="54000" bIns="28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rgbClr val="000000"/>
                </a:solidFill>
                <a:latin typeface="Times New Roman" panose="02020603050405020304" pitchFamily="18" charset="0"/>
              </a:rPr>
              <a:t>左线性文法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41CCFB-D939-1C7B-EB37-290C8E8A9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6665D-809E-4B0D-9B22-5526D65A3E0F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5E1A41-7999-C3AE-271F-025264D6E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25D65B-0045-634F-FE89-F8227AF5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6" grpId="0" animBg="1"/>
      <p:bldP spid="34099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F7BCA2C-0CFB-4440-868B-DF0BE1832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3.2.9 </a:t>
            </a:r>
            <a:r>
              <a:rPr lang="zh-CN" altLang="en-US" dirty="0"/>
              <a:t>形式语言的</a:t>
            </a:r>
            <a:r>
              <a:rPr lang="en-US" altLang="zh-CN" dirty="0"/>
              <a:t>Chomsky</a:t>
            </a:r>
            <a:r>
              <a:rPr lang="zh-CN" altLang="en-US" dirty="0"/>
              <a:t>分类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576E9DE1-E5A1-4823-A7F4-DE2EC1ADE7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3200" dirty="0">
                <a:sym typeface="Symbol" panose="05050102010706020507" pitchFamily="18" charset="2"/>
              </a:rPr>
              <a:t>四种文法之间的关系：</a:t>
            </a:r>
            <a:r>
              <a:rPr lang="zh-CN" altLang="en-US" sz="3200" b="0" i="0" u="none" strike="noStrike" baseline="0" dirty="0">
                <a:solidFill>
                  <a:schemeClr val="accent2"/>
                </a:solidFill>
              </a:rPr>
              <a:t>逐级限制</a:t>
            </a:r>
          </a:p>
          <a:p>
            <a:pPr lvl="1"/>
            <a:r>
              <a:rPr lang="en-US" altLang="zh-CN" sz="2800" b="1" i="0" u="none" strike="noStrike" baseline="0" dirty="0">
                <a:solidFill>
                  <a:srgbClr val="000000"/>
                </a:solidFill>
              </a:rPr>
              <a:t>0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</a:rPr>
              <a:t>型文法：</a:t>
            </a:r>
            <a:r>
              <a:rPr lang="en-US" altLang="zh-CN" sz="2800" b="1" i="1" u="none" strike="noStrike" baseline="0" dirty="0">
                <a:solidFill>
                  <a:srgbClr val="000000"/>
                </a:solidFill>
              </a:rPr>
              <a:t>α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</a:rPr>
              <a:t>中至少包含</a:t>
            </a:r>
            <a:r>
              <a:rPr lang="en-US" altLang="zh-CN" sz="2800" b="1" i="0" u="none" strike="noStrike" baseline="0" dirty="0">
                <a:solidFill>
                  <a:srgbClr val="000000"/>
                </a:solidFill>
              </a:rPr>
              <a:t>1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</a:rPr>
              <a:t>个非终结符</a:t>
            </a:r>
          </a:p>
          <a:p>
            <a:pPr lvl="1"/>
            <a:r>
              <a:rPr lang="en-US" altLang="zh-CN" sz="2800" b="1" i="0" u="none" strike="noStrike" baseline="0" dirty="0">
                <a:solidFill>
                  <a:srgbClr val="000000"/>
                </a:solidFill>
              </a:rPr>
              <a:t>1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</a:rPr>
              <a:t>型文法（</a:t>
            </a:r>
            <a:r>
              <a:rPr lang="en-US" altLang="zh-CN" sz="2800" b="1" i="1" u="none" strike="noStrike" baseline="0" dirty="0">
                <a:solidFill>
                  <a:srgbClr val="000000"/>
                </a:solidFill>
              </a:rPr>
              <a:t>CSG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</a:rPr>
              <a:t>）：</a:t>
            </a:r>
            <a:r>
              <a:rPr lang="zh-CN" altLang="en-US" sz="2800" b="1" i="0" u="none" strike="noStrike" baseline="0" dirty="0">
                <a:solidFill>
                  <a:srgbClr val="000000"/>
                </a:solidFill>
              </a:rPr>
              <a:t>｜</a:t>
            </a:r>
            <a:r>
              <a:rPr lang="el-GR" altLang="zh-CN" sz="2800" b="1" i="1" u="none" strike="noStrike" baseline="0" dirty="0">
                <a:solidFill>
                  <a:srgbClr val="000000"/>
                </a:solidFill>
              </a:rPr>
              <a:t>α</a:t>
            </a:r>
            <a:r>
              <a:rPr lang="zh-CN" altLang="el-GR" sz="2800" b="1" i="0" u="none" strike="noStrike" baseline="0" dirty="0">
                <a:solidFill>
                  <a:srgbClr val="000000"/>
                </a:solidFill>
              </a:rPr>
              <a:t>｜</a:t>
            </a:r>
            <a:r>
              <a:rPr lang="el-GR" altLang="zh-CN" sz="2800" b="1" i="0" u="none" strike="noStrike" baseline="0" dirty="0">
                <a:solidFill>
                  <a:srgbClr val="000000"/>
                </a:solidFill>
              </a:rPr>
              <a:t>≤</a:t>
            </a:r>
            <a:r>
              <a:rPr lang="zh-CN" altLang="el-GR" sz="2800" b="1" i="0" u="none" strike="noStrike" baseline="0" dirty="0">
                <a:solidFill>
                  <a:srgbClr val="000000"/>
                </a:solidFill>
              </a:rPr>
              <a:t>｜</a:t>
            </a:r>
            <a:r>
              <a:rPr lang="el-GR" altLang="zh-CN" sz="2800" b="1" i="1" u="none" strike="noStrike" baseline="0" dirty="0">
                <a:solidFill>
                  <a:srgbClr val="000000"/>
                </a:solidFill>
              </a:rPr>
              <a:t>β</a:t>
            </a:r>
            <a:r>
              <a:rPr lang="zh-CN" altLang="el-GR" sz="2800" b="1" i="0" u="none" strike="noStrike" baseline="0" dirty="0">
                <a:solidFill>
                  <a:srgbClr val="000000"/>
                </a:solidFill>
              </a:rPr>
              <a:t>｜</a:t>
            </a:r>
            <a:endParaRPr lang="el-GR" altLang="zh-CN" sz="2800" b="0" i="0" u="none" strike="noStrike" baseline="0" dirty="0">
              <a:solidFill>
                <a:srgbClr val="000000"/>
              </a:solidFill>
            </a:endParaRPr>
          </a:p>
          <a:p>
            <a:pPr lvl="1"/>
            <a:r>
              <a:rPr lang="en-US" altLang="zh-CN" sz="2800" b="1" i="0" u="none" strike="noStrike" baseline="0" dirty="0">
                <a:solidFill>
                  <a:srgbClr val="000000"/>
                </a:solidFill>
              </a:rPr>
              <a:t>2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</a:rPr>
              <a:t>型文法（</a:t>
            </a:r>
            <a:r>
              <a:rPr lang="en-US" altLang="zh-CN" sz="2800" b="1" i="1" u="none" strike="noStrike" baseline="0" dirty="0">
                <a:solidFill>
                  <a:srgbClr val="000000"/>
                </a:solidFill>
              </a:rPr>
              <a:t>CFG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</a:rPr>
              <a:t>）：</a:t>
            </a:r>
            <a:r>
              <a:rPr lang="el-GR" altLang="zh-CN" sz="2800" b="1" i="1" u="none" strike="noStrike" baseline="0" dirty="0">
                <a:solidFill>
                  <a:srgbClr val="000000"/>
                </a:solidFill>
              </a:rPr>
              <a:t>α</a:t>
            </a:r>
            <a:r>
              <a:rPr lang="el-GR" altLang="zh-CN" sz="2800" b="0" i="0" u="none" strike="noStrike" baseline="0" dirty="0">
                <a:solidFill>
                  <a:srgbClr val="000000"/>
                </a:solidFill>
              </a:rPr>
              <a:t>∈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sz="2800" b="1" i="1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</a:p>
          <a:p>
            <a:pPr lvl="1"/>
            <a:r>
              <a:rPr lang="en-US" altLang="zh-CN" sz="2800" b="1" i="0" u="none" strike="noStrike" baseline="0" dirty="0">
                <a:solidFill>
                  <a:srgbClr val="000000"/>
                </a:solidFill>
              </a:rPr>
              <a:t>3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</a:rPr>
              <a:t>型文法（</a:t>
            </a:r>
            <a:r>
              <a:rPr lang="en-US" altLang="zh-CN" sz="2800" b="1" i="1" u="none" strike="noStrike" baseline="0" dirty="0">
                <a:solidFill>
                  <a:srgbClr val="000000"/>
                </a:solidFill>
              </a:rPr>
              <a:t>RG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</a:rPr>
              <a:t>）：</a:t>
            </a:r>
            <a:r>
              <a:rPr lang="en-US" altLang="zh-CN" sz="2800" b="1" i="1" u="none" strike="noStrike" baseline="0" dirty="0" err="1">
                <a:solidFill>
                  <a:srgbClr val="000000"/>
                </a:solidFill>
              </a:rPr>
              <a:t>A</a:t>
            </a:r>
            <a:r>
              <a:rPr lang="en-US" altLang="zh-CN" sz="2800" b="1" i="0" u="none" strike="noStrike" baseline="0" dirty="0" err="1">
                <a:solidFill>
                  <a:srgbClr val="000000"/>
                </a:solidFill>
              </a:rPr>
              <a:t>→</a:t>
            </a:r>
            <a:r>
              <a:rPr lang="en-US" altLang="zh-CN" sz="2800" b="1" i="1" u="none" strike="noStrike" baseline="0" dirty="0" err="1">
                <a:solidFill>
                  <a:srgbClr val="000000"/>
                </a:solidFill>
              </a:rPr>
              <a:t>wB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</a:rPr>
              <a:t>或</a:t>
            </a:r>
            <a:r>
              <a:rPr lang="en-US" altLang="zh-CN" sz="2800" b="1" i="1" u="none" strike="noStrike" baseline="0" dirty="0" err="1">
                <a:solidFill>
                  <a:srgbClr val="000000"/>
                </a:solidFill>
              </a:rPr>
              <a:t>A</a:t>
            </a:r>
            <a:r>
              <a:rPr lang="en-US" altLang="zh-CN" sz="2800" b="1" i="0" u="none" strike="noStrike" baseline="0" dirty="0" err="1">
                <a:solidFill>
                  <a:srgbClr val="000000"/>
                </a:solidFill>
              </a:rPr>
              <a:t>→</a:t>
            </a:r>
            <a:r>
              <a:rPr lang="en-US" altLang="zh-CN" sz="2800" b="1" i="1" u="none" strike="noStrike" baseline="0" dirty="0" err="1">
                <a:solidFill>
                  <a:srgbClr val="000000"/>
                </a:solidFill>
              </a:rPr>
              <a:t>w</a:t>
            </a:r>
            <a:r>
              <a:rPr lang="en-US" altLang="zh-CN" sz="2800" b="1" i="0" u="none" strike="noStrike" baseline="0" dirty="0">
                <a:solidFill>
                  <a:srgbClr val="000000"/>
                </a:solidFill>
              </a:rPr>
              <a:t>(</a:t>
            </a:r>
            <a:r>
              <a:rPr lang="en-US" altLang="zh-CN" sz="2800" b="1" i="1" u="none" strike="noStrike" baseline="0" dirty="0" err="1">
                <a:solidFill>
                  <a:srgbClr val="000000"/>
                </a:solidFill>
              </a:rPr>
              <a:t>A</a:t>
            </a:r>
            <a:r>
              <a:rPr lang="en-US" altLang="zh-CN" sz="2800" b="1" i="0" u="none" strike="noStrike" baseline="0" dirty="0" err="1">
                <a:solidFill>
                  <a:srgbClr val="000000"/>
                </a:solidFill>
              </a:rPr>
              <a:t>→</a:t>
            </a:r>
            <a:r>
              <a:rPr lang="en-US" altLang="zh-CN" sz="2800" b="1" i="1" u="none" strike="noStrike" baseline="0" dirty="0" err="1">
                <a:solidFill>
                  <a:srgbClr val="000000"/>
                </a:solidFill>
              </a:rPr>
              <a:t>Bw</a:t>
            </a:r>
            <a:r>
              <a:rPr lang="zh-CN" altLang="en-US" sz="2800" b="0" i="0" u="none" strike="noStrike" baseline="0" dirty="0">
                <a:solidFill>
                  <a:srgbClr val="000000"/>
                </a:solidFill>
              </a:rPr>
              <a:t>或</a:t>
            </a:r>
            <a:r>
              <a:rPr lang="en-US" altLang="zh-CN" sz="2800" b="1" i="1" u="none" strike="noStrike" baseline="0" dirty="0" err="1">
                <a:solidFill>
                  <a:srgbClr val="000000"/>
                </a:solidFill>
              </a:rPr>
              <a:t>A</a:t>
            </a:r>
            <a:r>
              <a:rPr lang="en-US" altLang="zh-CN" sz="2800" b="1" i="0" u="none" strike="noStrike" baseline="0" dirty="0" err="1">
                <a:solidFill>
                  <a:srgbClr val="000000"/>
                </a:solidFill>
              </a:rPr>
              <a:t>→</a:t>
            </a:r>
            <a:r>
              <a:rPr lang="en-US" altLang="zh-CN" sz="2800" b="1" i="1" u="none" strike="noStrike" baseline="0" dirty="0" err="1">
                <a:solidFill>
                  <a:srgbClr val="000000"/>
                </a:solidFill>
              </a:rPr>
              <a:t>w</a:t>
            </a:r>
            <a:r>
              <a:rPr lang="en-US" altLang="zh-CN" sz="2800" b="1" i="0" u="none" strike="noStrike" baseline="0" dirty="0">
                <a:solidFill>
                  <a:srgbClr val="000000"/>
                </a:solidFill>
              </a:rPr>
              <a:t>)</a:t>
            </a:r>
          </a:p>
          <a:p>
            <a:r>
              <a:rPr lang="zh-CN" altLang="en-US" sz="3200" dirty="0">
                <a:solidFill>
                  <a:schemeClr val="accent2"/>
                </a:solidFill>
              </a:rPr>
              <a:t>逐级包含</a:t>
            </a:r>
            <a:endParaRPr lang="en-US" altLang="zh-CN" sz="3200" i="0" u="none" strike="noStrike" baseline="0" dirty="0">
              <a:solidFill>
                <a:schemeClr val="accent2"/>
              </a:solidFill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94E399-F51F-4447-1F82-BAE3654A1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C47BB-2B90-4493-A3B7-B09C9F43F0B0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1443F0-096A-1424-D8B0-94903E7D4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0739755C-77EC-FC97-20B7-DC08B9FB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15</a:t>
            </a:fld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5A5C76E-1358-481D-B81C-5B109D338BBC}"/>
              </a:ext>
            </a:extLst>
          </p:cNvPr>
          <p:cNvGrpSpPr/>
          <p:nvPr/>
        </p:nvGrpSpPr>
        <p:grpSpPr>
          <a:xfrm>
            <a:off x="3668533" y="3902196"/>
            <a:ext cx="4628797" cy="2884555"/>
            <a:chOff x="3668533" y="3902196"/>
            <a:chExt cx="4628797" cy="288455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44B8FEEF-84F4-47F8-9065-E42A771CB7D9}"/>
                </a:ext>
              </a:extLst>
            </p:cNvPr>
            <p:cNvSpPr/>
            <p:nvPr/>
          </p:nvSpPr>
          <p:spPr>
            <a:xfrm>
              <a:off x="3668533" y="3902196"/>
              <a:ext cx="4628797" cy="2884555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DE55402-47A8-4793-AA06-C876AA76B79F}"/>
                </a:ext>
              </a:extLst>
            </p:cNvPr>
            <p:cNvSpPr txBox="1"/>
            <p:nvPr/>
          </p:nvSpPr>
          <p:spPr>
            <a:xfrm>
              <a:off x="4712932" y="3954524"/>
              <a:ext cx="25400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b="1" i="0" u="none" strike="noStrike" baseline="0" dirty="0">
                  <a:solidFill>
                    <a:schemeClr val="bg1"/>
                  </a:solidFill>
                </a:rPr>
                <a:t>0</a:t>
              </a:r>
              <a:r>
                <a:rPr lang="zh-CN" altLang="en-US" sz="2800" b="0" i="0" u="none" strike="noStrike" baseline="0" dirty="0">
                  <a:solidFill>
                    <a:schemeClr val="bg1"/>
                  </a:solidFill>
                </a:rPr>
                <a:t>型文法集合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D163301-A1A9-47A6-8CE8-4CA29A1D1B9D}"/>
                </a:ext>
              </a:extLst>
            </p:cNvPr>
            <p:cNvSpPr/>
            <p:nvPr/>
          </p:nvSpPr>
          <p:spPr>
            <a:xfrm>
              <a:off x="4082868" y="4489190"/>
              <a:ext cx="3800126" cy="2257891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E0047A3-852B-4F63-8EFB-BBE08D398B3D}"/>
                </a:ext>
              </a:extLst>
            </p:cNvPr>
            <p:cNvSpPr txBox="1"/>
            <p:nvPr/>
          </p:nvSpPr>
          <p:spPr>
            <a:xfrm>
              <a:off x="4712932" y="4596372"/>
              <a:ext cx="25400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b="1" i="0" u="none" strike="noStrike" baseline="0" dirty="0">
                  <a:solidFill>
                    <a:schemeClr val="bg1"/>
                  </a:solidFill>
                </a:rPr>
                <a:t>1</a:t>
              </a:r>
              <a:r>
                <a:rPr lang="zh-CN" altLang="en-US" sz="2800" b="0" i="0" u="none" strike="noStrike" baseline="0" dirty="0">
                  <a:solidFill>
                    <a:schemeClr val="bg1"/>
                  </a:solidFill>
                </a:rPr>
                <a:t>型文法集合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D9BB855-7768-4FD9-A668-88932381D234}"/>
                </a:ext>
              </a:extLst>
            </p:cNvPr>
            <p:cNvSpPr/>
            <p:nvPr/>
          </p:nvSpPr>
          <p:spPr>
            <a:xfrm>
              <a:off x="4572000" y="5135791"/>
              <a:ext cx="2831217" cy="1623723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ED4B5DF-A825-4148-A701-102D5925FB88}"/>
                </a:ext>
              </a:extLst>
            </p:cNvPr>
            <p:cNvSpPr txBox="1"/>
            <p:nvPr/>
          </p:nvSpPr>
          <p:spPr>
            <a:xfrm>
              <a:off x="4712930" y="5242973"/>
              <a:ext cx="25400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b="1" i="0" u="none" strike="noStrike" baseline="0" dirty="0">
                  <a:solidFill>
                    <a:schemeClr val="bg1"/>
                  </a:solidFill>
                </a:rPr>
                <a:t>2</a:t>
              </a:r>
              <a:r>
                <a:rPr lang="zh-CN" altLang="en-US" sz="2800" b="0" i="0" u="none" strike="noStrike" baseline="0" dirty="0">
                  <a:solidFill>
                    <a:schemeClr val="bg1"/>
                  </a:solidFill>
                </a:rPr>
                <a:t>型文法集合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5479F810-3C97-4484-BD14-36B4F466AB89}"/>
                </a:ext>
              </a:extLst>
            </p:cNvPr>
            <p:cNvSpPr/>
            <p:nvPr/>
          </p:nvSpPr>
          <p:spPr>
            <a:xfrm>
              <a:off x="4921956" y="5782392"/>
              <a:ext cx="2144887" cy="9709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6D7EA67-9229-43C5-BEAF-7B2C4425A388}"/>
                </a:ext>
              </a:extLst>
            </p:cNvPr>
            <p:cNvSpPr txBox="1"/>
            <p:nvPr/>
          </p:nvSpPr>
          <p:spPr>
            <a:xfrm>
              <a:off x="4727217" y="5982086"/>
              <a:ext cx="25400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b="1" i="0" u="none" strike="noStrike" baseline="0" dirty="0"/>
                <a:t>3</a:t>
              </a:r>
              <a:r>
                <a:rPr lang="zh-CN" altLang="en-US" sz="2800" b="0" i="0" u="none" strike="noStrike" baseline="0" dirty="0"/>
                <a:t>型文法集合</a:t>
              </a:r>
              <a:endParaRPr lang="zh-CN" altLang="en-US" sz="2800" dirty="0"/>
            </a:p>
          </p:txBody>
        </p:sp>
      </p:grpSp>
      <p:pic>
        <p:nvPicPr>
          <p:cNvPr id="14" name="图片 13" descr="图标&#10;&#10;描述已自动生成">
            <a:extLst>
              <a:ext uri="{FF2B5EF4-FFF2-40B4-BE49-F238E27FC236}">
                <a16:creationId xmlns:a16="http://schemas.microsoft.com/office/drawing/2014/main" id="{E8F2E132-A845-1223-C1E8-4817DEF6F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195" y="265831"/>
            <a:ext cx="768469" cy="10824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F7BCA2C-0CFB-4440-868B-DF0BE1832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3.2.9 </a:t>
            </a:r>
            <a:r>
              <a:rPr lang="zh-CN" altLang="en-US" dirty="0"/>
              <a:t>形式语言的</a:t>
            </a:r>
            <a:r>
              <a:rPr lang="en-US" altLang="zh-CN" dirty="0"/>
              <a:t>Chomsky</a:t>
            </a:r>
            <a:r>
              <a:rPr lang="zh-CN" altLang="en-US" dirty="0"/>
              <a:t>分类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576E9DE1-E5A1-4823-A7F4-DE2EC1ADE7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每型文法都对应一种自动机</a:t>
            </a:r>
          </a:p>
          <a:p>
            <a:pPr lvl="1" eaLnBrk="1" hangingPunct="1"/>
            <a:r>
              <a:rPr lang="en-US" altLang="zh-CN" dirty="0">
                <a:sym typeface="Symbol" panose="05050102010706020507" pitchFamily="18" charset="2"/>
              </a:rPr>
              <a:t>0</a:t>
            </a:r>
            <a:r>
              <a:rPr lang="zh-CN" altLang="en-US" dirty="0">
                <a:sym typeface="Symbol" panose="05050102010706020507" pitchFamily="18" charset="2"/>
              </a:rPr>
              <a:t>型  </a:t>
            </a:r>
            <a:r>
              <a:rPr lang="zh-CN" altLang="en-US" dirty="0">
                <a:sym typeface="Wingdings" panose="05000000000000000000" pitchFamily="2" charset="2"/>
              </a:rPr>
              <a:t>  图灵机</a:t>
            </a:r>
          </a:p>
          <a:p>
            <a:pPr lvl="1" eaLnBrk="1" hangingPunct="1"/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>
                <a:sym typeface="Wingdings" panose="05000000000000000000" pitchFamily="2" charset="2"/>
              </a:rPr>
              <a:t>型    线性限界自动机</a:t>
            </a:r>
          </a:p>
          <a:p>
            <a:pPr lvl="1" eaLnBrk="1" hangingPunct="1"/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型    非确定下推自动机</a:t>
            </a:r>
          </a:p>
          <a:p>
            <a:pPr lvl="1" eaLnBrk="1" hangingPunct="1"/>
            <a:r>
              <a:rPr lang="en-US" altLang="zh-CN" dirty="0">
                <a:sym typeface="Wingdings" panose="05000000000000000000" pitchFamily="2" charset="2"/>
              </a:rPr>
              <a:t>3</a:t>
            </a:r>
            <a:r>
              <a:rPr lang="zh-CN" altLang="en-US" dirty="0">
                <a:sym typeface="Wingdings" panose="05000000000000000000" pitchFamily="2" charset="2"/>
              </a:rPr>
              <a:t>型    有限自动机</a:t>
            </a:r>
            <a:r>
              <a:rPr lang="zh-CN" altLang="en-US" dirty="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317A96-810B-4E69-A7E0-1B76B6413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7A1E-0596-47BF-BC1C-700330E3640F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0E599D-BB5D-008E-EA8A-6E3F66DAD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56C8B3-4D2D-D0EE-74EC-035DAC24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665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08C06825-8161-4ED5-B901-6622497AD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3.2.9 </a:t>
            </a:r>
            <a:r>
              <a:rPr lang="zh-CN" altLang="en-US" dirty="0"/>
              <a:t>形式语言的</a:t>
            </a:r>
            <a:r>
              <a:rPr lang="en-US" altLang="zh-CN" dirty="0"/>
              <a:t>Chomsky</a:t>
            </a:r>
            <a:r>
              <a:rPr lang="zh-CN" altLang="en-US" dirty="0"/>
              <a:t>分类</a:t>
            </a:r>
            <a:endParaRPr lang="en-US" altLang="zh-CN" dirty="0">
              <a:latin typeface="黑体" panose="02010609060101010101" pitchFamily="49" charset="-122"/>
            </a:endParaRPr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7BF78A94-14D1-48FB-BB91-1EC73D1F02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800" dirty="0"/>
              <a:t>例：</a:t>
            </a:r>
            <a:r>
              <a:rPr lang="en-US" altLang="zh-CN" sz="2800" b="1" i="1" dirty="0"/>
              <a:t>L</a:t>
            </a:r>
            <a:r>
              <a:rPr lang="en-US" altLang="zh-CN" sz="2800" b="1" baseline="-30000" dirty="0"/>
              <a:t>3</a:t>
            </a:r>
            <a:r>
              <a:rPr lang="zh-CN" altLang="en-US" sz="2800" b="1" dirty="0"/>
              <a:t>＝</a:t>
            </a:r>
            <a:r>
              <a:rPr lang="en-US" altLang="zh-CN" sz="2800" b="1" dirty="0"/>
              <a:t>{</a:t>
            </a:r>
            <a:r>
              <a:rPr lang="en-US" altLang="zh-CN" sz="2800" b="1" i="1" dirty="0"/>
              <a:t> a</a:t>
            </a:r>
            <a:r>
              <a:rPr lang="en-US" altLang="zh-CN" sz="2800" b="1" i="1" baseline="30000" dirty="0"/>
              <a:t> </a:t>
            </a:r>
            <a:r>
              <a:rPr lang="en-US" altLang="zh-CN" sz="2800" b="1" i="1" baseline="30000" dirty="0" err="1"/>
              <a:t>n</a:t>
            </a:r>
            <a:r>
              <a:rPr lang="en-US" altLang="zh-CN" sz="2800" b="1" i="1" dirty="0" err="1"/>
              <a:t>b</a:t>
            </a:r>
            <a:r>
              <a:rPr lang="en-US" altLang="zh-CN" sz="2800" b="1" i="1" baseline="30000" dirty="0"/>
              <a:t> </a:t>
            </a:r>
            <a:r>
              <a:rPr lang="en-US" altLang="zh-CN" sz="2800" b="1" i="1" baseline="30000" dirty="0" err="1"/>
              <a:t>n</a:t>
            </a:r>
            <a:r>
              <a:rPr lang="en-US" altLang="zh-CN" sz="2800" b="1" i="1" dirty="0" err="1"/>
              <a:t>c</a:t>
            </a:r>
            <a:r>
              <a:rPr lang="en-US" altLang="zh-CN" sz="2800" b="1" i="1" baseline="30000" dirty="0"/>
              <a:t> n</a:t>
            </a:r>
            <a:r>
              <a:rPr lang="en-US" altLang="zh-CN" sz="2800" b="1" dirty="0"/>
              <a:t>| </a:t>
            </a:r>
            <a:r>
              <a:rPr lang="en-US" altLang="zh-CN" sz="2800" b="1" i="1" dirty="0"/>
              <a:t>n </a:t>
            </a:r>
            <a:r>
              <a:rPr lang="en-US" altLang="zh-CN" sz="2800" b="1" dirty="0">
                <a:sym typeface="Symbol" panose="05050102010706020507" pitchFamily="18" charset="2"/>
              </a:rPr>
              <a:t></a:t>
            </a:r>
            <a:r>
              <a:rPr lang="en-US" altLang="zh-CN" sz="2800" b="1" dirty="0"/>
              <a:t> 1}</a:t>
            </a:r>
            <a:r>
              <a:rPr lang="zh-CN" altLang="en-US" sz="2800" dirty="0">
                <a:latin typeface="黑体" panose="02010609060101010101" pitchFamily="49" charset="-122"/>
              </a:rPr>
              <a:t>的上下文有关文法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 err="1"/>
              <a:t>aSBC</a:t>
            </a:r>
            <a:r>
              <a:rPr lang="en-US" altLang="zh-CN" sz="2400" b="1" dirty="0"/>
              <a:t> 	 	</a:t>
            </a:r>
            <a:r>
              <a:rPr lang="en-US" altLang="zh-CN" sz="2400" b="1" i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 err="1"/>
              <a:t>aBC</a:t>
            </a:r>
            <a:r>
              <a:rPr lang="en-US" altLang="zh-CN" sz="2400" b="1" dirty="0"/>
              <a:t> 		 </a:t>
            </a:r>
            <a:r>
              <a:rPr lang="en-US" altLang="zh-CN" sz="2400" b="1" i="1" dirty="0"/>
              <a:t>CB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BC</a:t>
            </a:r>
            <a:endParaRPr lang="en-US" altLang="zh-CN" sz="2400" b="1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 err="1"/>
              <a:t>aB</a:t>
            </a:r>
            <a:r>
              <a:rPr lang="en-US" altLang="zh-CN" sz="2400" b="1" i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ab</a:t>
            </a:r>
            <a:r>
              <a:rPr lang="en-US" altLang="zh-CN" sz="2400" b="1" dirty="0"/>
              <a:t> 		</a:t>
            </a:r>
            <a:r>
              <a:rPr lang="en-US" altLang="zh-CN" sz="2400" b="1" i="1" dirty="0" err="1"/>
              <a:t>bB</a:t>
            </a:r>
            <a:r>
              <a:rPr lang="en-US" altLang="zh-CN" sz="2400" b="1" i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bb		</a:t>
            </a:r>
            <a:r>
              <a:rPr lang="en-US" altLang="zh-CN" sz="2400" b="1" i="1" dirty="0" err="1"/>
              <a:t>bC</a:t>
            </a:r>
            <a:r>
              <a:rPr lang="en-US" altLang="zh-CN" sz="2400" b="1" i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 err="1"/>
              <a:t>bc</a:t>
            </a:r>
            <a:endParaRPr lang="en-US" altLang="zh-CN" sz="2400" b="1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 err="1"/>
              <a:t>cC</a:t>
            </a:r>
            <a:r>
              <a:rPr lang="en-US" altLang="zh-CN" sz="2400" b="1" i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cc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 i="1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 err="1"/>
              <a:t>a</a:t>
            </a:r>
            <a:r>
              <a:rPr lang="en-US" altLang="zh-CN" sz="2400" b="1" i="1" baseline="30000" dirty="0" err="1"/>
              <a:t>n</a:t>
            </a:r>
            <a:r>
              <a:rPr lang="en-US" altLang="zh-CN" sz="2400" b="1" i="1" dirty="0" err="1"/>
              <a:t>b</a:t>
            </a:r>
            <a:r>
              <a:rPr lang="en-US" altLang="zh-CN" sz="2400" b="1" i="1" baseline="30000" dirty="0" err="1"/>
              <a:t>n</a:t>
            </a:r>
            <a:r>
              <a:rPr lang="en-US" altLang="zh-CN" sz="2400" b="1" i="1" dirty="0" err="1"/>
              <a:t>c</a:t>
            </a:r>
            <a:r>
              <a:rPr lang="en-US" altLang="zh-CN" sz="2400" b="1" i="1" baseline="30000" dirty="0" err="1"/>
              <a:t>n</a:t>
            </a:r>
            <a:r>
              <a:rPr lang="zh-CN" altLang="en-US" sz="2400" dirty="0">
                <a:latin typeface="黑体" panose="02010609060101010101" pitchFamily="49" charset="-122"/>
              </a:rPr>
              <a:t>的推导过程如下：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dirty="0"/>
              <a:t>* </a:t>
            </a:r>
            <a:r>
              <a:rPr lang="en-US" altLang="zh-CN" sz="2400" b="1" i="1" dirty="0"/>
              <a:t>a</a:t>
            </a:r>
            <a:r>
              <a:rPr lang="en-US" altLang="zh-CN" sz="2400" b="1" i="1" baseline="30000" dirty="0"/>
              <a:t> n</a:t>
            </a:r>
            <a:r>
              <a:rPr lang="en-US" altLang="zh-CN" sz="2400" b="1" baseline="30000" dirty="0"/>
              <a:t>-1</a:t>
            </a:r>
            <a:r>
              <a:rPr lang="en-US" altLang="zh-CN" sz="2400" b="1" i="1" dirty="0"/>
              <a:t>S 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BC</a:t>
            </a:r>
            <a:r>
              <a:rPr lang="en-US" altLang="zh-CN" sz="2400" b="1" dirty="0"/>
              <a:t>)</a:t>
            </a:r>
            <a:r>
              <a:rPr lang="en-US" altLang="zh-CN" sz="2400" b="1" i="1" baseline="30000" dirty="0"/>
              <a:t> n</a:t>
            </a:r>
            <a:r>
              <a:rPr lang="en-US" altLang="zh-CN" sz="2400" b="1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/>
              <a:t>1	</a:t>
            </a:r>
            <a:r>
              <a:rPr lang="zh-CN" altLang="en-US" sz="2400" dirty="0"/>
              <a:t>用</a:t>
            </a:r>
            <a:r>
              <a:rPr lang="en-US" altLang="zh-CN" sz="2400" b="1" i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 err="1"/>
              <a:t>aSBC</a:t>
            </a:r>
            <a:r>
              <a:rPr lang="en-US" altLang="zh-CN" sz="2400" b="1" i="1" dirty="0"/>
              <a:t>  n</a:t>
            </a:r>
            <a:r>
              <a:rPr lang="en-US" altLang="zh-CN" sz="2400" b="1" dirty="0"/>
              <a:t>-1</a:t>
            </a:r>
            <a:r>
              <a:rPr lang="zh-CN" altLang="en-US" sz="2400" dirty="0">
                <a:latin typeface="黑体" panose="02010609060101010101" pitchFamily="49" charset="-122"/>
              </a:rPr>
              <a:t>次</a:t>
            </a:r>
            <a:r>
              <a:rPr lang="zh-CN" altLang="en-US" sz="2800" dirty="0">
                <a:latin typeface="黑体" panose="02010609060101010101" pitchFamily="49" charset="-122"/>
              </a:rPr>
              <a:t> </a:t>
            </a:r>
            <a:endParaRPr lang="zh-CN" altLang="en-US" sz="2400" dirty="0">
              <a:latin typeface="黑体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baseline="30000" dirty="0"/>
              <a:t>+ </a:t>
            </a:r>
            <a:r>
              <a:rPr lang="en-US" altLang="zh-CN" sz="2400" b="1" i="1" dirty="0"/>
              <a:t>a</a:t>
            </a:r>
            <a:r>
              <a:rPr lang="en-US" altLang="zh-CN" sz="2400" b="1" i="1" baseline="30000" dirty="0"/>
              <a:t>n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BC</a:t>
            </a:r>
            <a:r>
              <a:rPr lang="en-US" altLang="zh-CN" sz="2400" b="1" dirty="0"/>
              <a:t>)</a:t>
            </a:r>
            <a:r>
              <a:rPr lang="en-US" altLang="zh-CN" sz="2400" b="1" i="1" baseline="30000" dirty="0"/>
              <a:t>n</a:t>
            </a:r>
            <a:r>
              <a:rPr lang="en-US" altLang="zh-CN" sz="2400" b="1" dirty="0"/>
              <a:t> 		</a:t>
            </a:r>
            <a:r>
              <a:rPr lang="zh-CN" altLang="en-US" sz="2400" dirty="0"/>
              <a:t>用</a:t>
            </a:r>
            <a:r>
              <a:rPr lang="en-US" altLang="zh-CN" sz="2400" b="1" i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 err="1"/>
              <a:t>aBC</a:t>
            </a:r>
            <a:r>
              <a:rPr lang="en-US" altLang="zh-CN" sz="2400" b="1" i="1" dirty="0"/>
              <a:t>    </a:t>
            </a:r>
            <a:r>
              <a:rPr lang="en-US" altLang="zh-CN" sz="2400" b="1" dirty="0"/>
              <a:t>1</a:t>
            </a:r>
            <a:r>
              <a:rPr lang="zh-CN" altLang="en-US" sz="2400" dirty="0">
                <a:latin typeface="黑体" panose="02010609060101010101" pitchFamily="49" charset="-122"/>
              </a:rPr>
              <a:t>次 </a:t>
            </a:r>
            <a:endParaRPr lang="zh-CN" altLang="en-US" sz="2400" b="1" dirty="0">
              <a:latin typeface="黑体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baseline="30000" dirty="0"/>
              <a:t>+ </a:t>
            </a:r>
            <a:r>
              <a:rPr lang="en-US" altLang="zh-CN" sz="2400" b="1" i="1" dirty="0" err="1"/>
              <a:t>a</a:t>
            </a:r>
            <a:r>
              <a:rPr lang="en-US" altLang="zh-CN" sz="2400" b="1" i="1" baseline="30000" dirty="0" err="1"/>
              <a:t>n</a:t>
            </a:r>
            <a:r>
              <a:rPr lang="en-US" altLang="zh-CN" sz="2400" b="1" i="1" dirty="0" err="1"/>
              <a:t>B</a:t>
            </a:r>
            <a:r>
              <a:rPr lang="en-US" altLang="zh-CN" sz="2400" b="1" i="1" baseline="30000" dirty="0" err="1"/>
              <a:t>n</a:t>
            </a:r>
            <a:r>
              <a:rPr lang="en-US" altLang="zh-CN" sz="2400" b="1" i="1" dirty="0" err="1"/>
              <a:t>C</a:t>
            </a:r>
            <a:r>
              <a:rPr lang="en-US" altLang="zh-CN" sz="2400" b="1" i="1" baseline="30000" dirty="0" err="1"/>
              <a:t>n</a:t>
            </a:r>
            <a:r>
              <a:rPr lang="en-US" altLang="zh-CN" sz="2400" b="1" i="1" baseline="30000" dirty="0"/>
              <a:t>		</a:t>
            </a:r>
            <a:r>
              <a:rPr lang="zh-CN" altLang="en-US" sz="2400" dirty="0"/>
              <a:t>用</a:t>
            </a:r>
            <a:r>
              <a:rPr lang="en-US" altLang="zh-CN" sz="2400" b="1" i="1" dirty="0"/>
              <a:t>CB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BC</a:t>
            </a:r>
            <a:r>
              <a:rPr lang="zh-CN" altLang="en-US" sz="2400" dirty="0"/>
              <a:t>交换相邻的</a:t>
            </a:r>
            <a:r>
              <a:rPr lang="en-US" altLang="zh-CN" sz="2400" b="1" dirty="0"/>
              <a:t>CB</a:t>
            </a:r>
            <a:r>
              <a:rPr lang="en-US" altLang="zh-CN" sz="2400" dirty="0"/>
              <a:t> </a:t>
            </a:r>
            <a:endParaRPr lang="en-US" altLang="zh-CN" sz="2400" b="1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baseline="30000" dirty="0"/>
              <a:t>+ </a:t>
            </a:r>
            <a:r>
              <a:rPr lang="en-US" altLang="zh-CN" sz="2400" b="1" i="1" dirty="0"/>
              <a:t>a</a:t>
            </a:r>
            <a:r>
              <a:rPr lang="en-US" altLang="zh-CN" sz="2400" b="1" i="1" baseline="30000" dirty="0"/>
              <a:t> </a:t>
            </a:r>
            <a:r>
              <a:rPr lang="en-US" altLang="zh-CN" sz="2400" b="1" i="1" baseline="30000" dirty="0" err="1"/>
              <a:t>n</a:t>
            </a:r>
            <a:r>
              <a:rPr lang="en-US" altLang="zh-CN" sz="2400" b="1" i="1" dirty="0" err="1"/>
              <a:t>bB</a:t>
            </a:r>
            <a:r>
              <a:rPr lang="en-US" altLang="zh-CN" sz="2400" b="1" i="1" baseline="30000" dirty="0"/>
              <a:t> n</a:t>
            </a:r>
            <a:r>
              <a:rPr lang="en-US" altLang="zh-CN" sz="2400" b="1" i="1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="1" i="1" baseline="30000" dirty="0"/>
              <a:t>1</a:t>
            </a:r>
            <a:r>
              <a:rPr lang="en-US" altLang="zh-CN" sz="2400" b="1" i="1" dirty="0"/>
              <a:t>C</a:t>
            </a:r>
            <a:r>
              <a:rPr lang="en-US" altLang="zh-CN" sz="2400" b="1" i="1" baseline="30000" dirty="0"/>
              <a:t> n	</a:t>
            </a:r>
            <a:r>
              <a:rPr lang="zh-CN" altLang="en-US" sz="2400" dirty="0"/>
              <a:t>用</a:t>
            </a:r>
            <a:r>
              <a:rPr lang="en-US" altLang="zh-CN" sz="2400" b="1" i="1" dirty="0" err="1"/>
              <a:t>aB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ab</a:t>
            </a:r>
            <a:r>
              <a:rPr lang="en-US" altLang="zh-CN" sz="2400" b="1" dirty="0"/>
              <a:t>     1</a:t>
            </a:r>
            <a:r>
              <a:rPr lang="zh-CN" altLang="en-US" sz="2400" dirty="0"/>
              <a:t>次 </a:t>
            </a:r>
            <a:endParaRPr lang="zh-CN" altLang="en-US" sz="2400" b="1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baseline="30000" dirty="0"/>
              <a:t>+ </a:t>
            </a:r>
            <a:r>
              <a:rPr lang="en-US" altLang="zh-CN" sz="2400" b="1" i="1" dirty="0"/>
              <a:t>a</a:t>
            </a:r>
            <a:r>
              <a:rPr lang="en-US" altLang="zh-CN" sz="2400" b="1" i="1" baseline="30000" dirty="0"/>
              <a:t> </a:t>
            </a:r>
            <a:r>
              <a:rPr lang="en-US" altLang="zh-CN" sz="2400" b="1" i="1" baseline="30000" dirty="0" err="1"/>
              <a:t>n</a:t>
            </a:r>
            <a:r>
              <a:rPr lang="en-US" altLang="zh-CN" sz="2400" b="1" i="1" dirty="0" err="1"/>
              <a:t>b</a:t>
            </a:r>
            <a:r>
              <a:rPr lang="en-US" altLang="zh-CN" sz="2400" b="1" i="1" baseline="30000" dirty="0" err="1"/>
              <a:t>n</a:t>
            </a:r>
            <a:r>
              <a:rPr lang="en-US" altLang="zh-CN" sz="2400" b="1" i="1" dirty="0" err="1"/>
              <a:t>C</a:t>
            </a:r>
            <a:r>
              <a:rPr lang="en-US" altLang="zh-CN" sz="2400" b="1" i="1" baseline="30000" dirty="0"/>
              <a:t> n</a:t>
            </a:r>
            <a:r>
              <a:rPr lang="en-US" altLang="zh-CN" sz="2400" b="1" dirty="0"/>
              <a:t> 		</a:t>
            </a:r>
            <a:r>
              <a:rPr lang="zh-CN" altLang="en-US" sz="2400" dirty="0"/>
              <a:t>用</a:t>
            </a:r>
            <a:r>
              <a:rPr lang="en-US" altLang="zh-CN" sz="2400" b="1" i="1" dirty="0" err="1"/>
              <a:t>bB</a:t>
            </a:r>
            <a:r>
              <a:rPr lang="en-US" altLang="zh-CN" sz="2400" b="1" i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bb      n</a:t>
            </a:r>
            <a:r>
              <a:rPr lang="en-US" altLang="zh-CN" sz="2400" b="1" dirty="0"/>
              <a:t>-1</a:t>
            </a:r>
            <a:r>
              <a:rPr lang="zh-CN" altLang="en-US" sz="2400" dirty="0"/>
              <a:t>次 </a:t>
            </a:r>
            <a:endParaRPr lang="zh-CN" altLang="en-US" sz="2400" b="1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baseline="30000" dirty="0"/>
              <a:t>+ </a:t>
            </a:r>
            <a:r>
              <a:rPr lang="en-US" altLang="zh-CN" sz="2400" b="1" i="1" dirty="0" err="1"/>
              <a:t>a</a:t>
            </a:r>
            <a:r>
              <a:rPr lang="en-US" altLang="zh-CN" sz="2400" b="1" i="1" baseline="30000" dirty="0" err="1"/>
              <a:t>n</a:t>
            </a:r>
            <a:r>
              <a:rPr lang="en-US" altLang="zh-CN" sz="2400" b="1" i="1" dirty="0" err="1"/>
              <a:t>b</a:t>
            </a:r>
            <a:r>
              <a:rPr lang="en-US" altLang="zh-CN" sz="2400" b="1" i="1" baseline="30000" dirty="0" err="1"/>
              <a:t>n</a:t>
            </a:r>
            <a:r>
              <a:rPr lang="en-US" altLang="zh-CN" sz="2400" b="1" i="1" dirty="0" err="1"/>
              <a:t>cC</a:t>
            </a:r>
            <a:r>
              <a:rPr lang="en-US" altLang="zh-CN" sz="2400" b="1" i="1" baseline="30000" dirty="0"/>
              <a:t> n</a:t>
            </a:r>
            <a:r>
              <a:rPr lang="en-US" altLang="zh-CN" sz="2400" b="1" baseline="30000" dirty="0"/>
              <a:t>-1	</a:t>
            </a:r>
            <a:r>
              <a:rPr lang="zh-CN" altLang="en-US" sz="2400" dirty="0"/>
              <a:t>用</a:t>
            </a:r>
            <a:r>
              <a:rPr lang="en-US" altLang="zh-CN" sz="2400" b="1" i="1" dirty="0" err="1"/>
              <a:t>bC</a:t>
            </a:r>
            <a:r>
              <a:rPr lang="en-US" altLang="zh-CN" sz="2400" b="1" i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 err="1"/>
              <a:t>bc</a:t>
            </a:r>
            <a:r>
              <a:rPr lang="en-US" altLang="zh-CN" sz="2400" b="1" i="1" dirty="0"/>
              <a:t>      </a:t>
            </a:r>
            <a:r>
              <a:rPr lang="en-US" altLang="zh-CN" sz="2400" b="1" dirty="0"/>
              <a:t>1</a:t>
            </a:r>
            <a:r>
              <a:rPr lang="zh-CN" altLang="en-US" sz="2400" dirty="0"/>
              <a:t>次 </a:t>
            </a:r>
            <a:endParaRPr lang="zh-CN" altLang="en-US" sz="2400" b="1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baseline="30000" dirty="0"/>
              <a:t>+ </a:t>
            </a:r>
            <a:r>
              <a:rPr lang="en-US" altLang="zh-CN" sz="2400" b="1" i="1" dirty="0"/>
              <a:t>a</a:t>
            </a:r>
            <a:r>
              <a:rPr lang="en-US" altLang="zh-CN" sz="2400" b="1" i="1" baseline="30000" dirty="0"/>
              <a:t> </a:t>
            </a:r>
            <a:r>
              <a:rPr lang="en-US" altLang="zh-CN" sz="2400" b="1" i="1" baseline="30000" dirty="0" err="1"/>
              <a:t>n</a:t>
            </a:r>
            <a:r>
              <a:rPr lang="en-US" altLang="zh-CN" sz="2400" b="1" i="1" dirty="0" err="1"/>
              <a:t>b</a:t>
            </a:r>
            <a:r>
              <a:rPr lang="en-US" altLang="zh-CN" sz="2400" b="1" i="1" baseline="30000" dirty="0" err="1"/>
              <a:t>n</a:t>
            </a:r>
            <a:r>
              <a:rPr lang="en-US" altLang="zh-CN" sz="2400" b="1" i="1" dirty="0" err="1"/>
              <a:t>c</a:t>
            </a:r>
            <a:r>
              <a:rPr lang="en-US" altLang="zh-CN" sz="2400" b="1" i="1" baseline="30000" dirty="0" err="1"/>
              <a:t>n</a:t>
            </a:r>
            <a:r>
              <a:rPr lang="en-US" altLang="zh-CN" sz="2400" b="1" i="1" baseline="30000" dirty="0"/>
              <a:t>		</a:t>
            </a:r>
            <a:r>
              <a:rPr lang="zh-CN" altLang="en-US" sz="2400" dirty="0"/>
              <a:t>用</a:t>
            </a:r>
            <a:r>
              <a:rPr lang="en-US" altLang="zh-CN" sz="2400" b="1" i="1" dirty="0" err="1"/>
              <a:t>cC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cc  </a:t>
            </a:r>
            <a:r>
              <a:rPr lang="en-US" altLang="zh-CN" sz="2400" b="1" dirty="0"/>
              <a:t>    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-1</a:t>
            </a:r>
            <a:r>
              <a:rPr lang="zh-CN" altLang="en-US" sz="2400" dirty="0"/>
              <a:t>次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E85802-455C-DC99-64B5-EDAD394F4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412FA-86AD-48F7-9220-78192D72EB5B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CAD0E7-92B7-1250-7661-450F93C3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30D43E-C4CB-ECB1-FA09-003F6229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2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2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2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2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2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2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EAC177-0C0C-8DBB-C29C-8115FE1F857E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11113"/>
            <a:ext cx="3086100" cy="179387"/>
          </a:xfrm>
        </p:spPr>
        <p:txBody>
          <a:bodyPr/>
          <a:lstStyle/>
          <a:p>
            <a:fld id="{57177937-55A7-40E3-8D3B-E2B7E4AAC461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392D07-1B5B-EDF0-E8F8-AA47FA37D7E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086600" y="11113"/>
            <a:ext cx="2057400" cy="179387"/>
          </a:xfrm>
        </p:spPr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830161-35D7-C580-7D38-3992B53193D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11113"/>
            <a:ext cx="2060575" cy="179387"/>
          </a:xfrm>
        </p:spPr>
        <p:txBody>
          <a:bodyPr/>
          <a:lstStyle/>
          <a:p>
            <a:fld id="{094DEB03-EFC6-4C20-8FC8-295189A5386F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0A4C2D-FEAC-DCDB-39D6-77F552F74B0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1"/>
            <a:r>
              <a:rPr lang="zh-CN" altLang="en-US" sz="3200" dirty="0"/>
              <a:t>乔姆斯基把文法分成</a:t>
            </a:r>
            <a:r>
              <a:rPr lang="en-US" altLang="zh-CN" sz="3200" dirty="0"/>
              <a:t>4</a:t>
            </a:r>
            <a:r>
              <a:rPr lang="zh-CN" altLang="en-US" sz="3200" dirty="0"/>
              <a:t>种类型，即</a:t>
            </a:r>
            <a:r>
              <a:rPr lang="en-US" altLang="zh-CN" sz="3200" dirty="0"/>
              <a:t>0</a:t>
            </a:r>
            <a:r>
              <a:rPr lang="zh-CN" altLang="en-US" sz="3200" dirty="0"/>
              <a:t>型、</a:t>
            </a:r>
            <a:r>
              <a:rPr lang="en-US" altLang="zh-CN" sz="3200" dirty="0"/>
              <a:t>1</a:t>
            </a:r>
            <a:r>
              <a:rPr lang="zh-CN" altLang="en-US" sz="3200" dirty="0"/>
              <a:t>型、</a:t>
            </a:r>
            <a:r>
              <a:rPr lang="en-US" altLang="zh-CN" sz="3200" dirty="0"/>
              <a:t>2</a:t>
            </a:r>
            <a:r>
              <a:rPr lang="zh-CN" altLang="en-US" sz="3200" dirty="0"/>
              <a:t>型和</a:t>
            </a:r>
            <a:r>
              <a:rPr lang="en-US" altLang="zh-CN" sz="3200" dirty="0"/>
              <a:t>3</a:t>
            </a:r>
            <a:r>
              <a:rPr lang="zh-CN" altLang="en-US" sz="3200" dirty="0"/>
              <a:t>型。</a:t>
            </a:r>
            <a:r>
              <a:rPr lang="en-US" altLang="zh-CN" sz="3200" dirty="0"/>
              <a:t>2</a:t>
            </a:r>
            <a:r>
              <a:rPr lang="zh-CN" altLang="en-US" sz="3200" dirty="0"/>
              <a:t>型文法也称为（  ）</a:t>
            </a:r>
            <a:endParaRPr lang="en-US" altLang="zh-CN" sz="3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5A3396-A111-3B95-7B15-B4E1321F2F0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3200" dirty="0">
                <a:latin typeface="+mn-ea"/>
              </a:rPr>
              <a:t>上下文无关文法</a:t>
            </a:r>
            <a:endParaRPr lang="zh-CN" altLang="en-US" sz="32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B94EAC5-F0FC-E622-EA28-D2808DCE3ED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3200" dirty="0">
                <a:latin typeface="+mn-ea"/>
              </a:rPr>
              <a:t>正规文法</a:t>
            </a:r>
            <a:endParaRPr lang="en-US" altLang="zh-CN" sz="3200" dirty="0"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8F13D5-97F4-438F-895C-69769B38E19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3200" dirty="0">
                <a:latin typeface="+mn-ea"/>
              </a:rPr>
              <a:t>上下文有关文法</a:t>
            </a:r>
            <a:endParaRPr lang="zh-CN" altLang="en-US" sz="32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DAE605-8B48-207F-4E46-25A044927CC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3200" dirty="0">
                <a:latin typeface="+mn-ea"/>
              </a:rPr>
              <a:t>短语文法</a:t>
            </a:r>
            <a:endParaRPr lang="zh-CN" altLang="en-US" sz="32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BF788A3-2FA9-FC52-F190-86BA0BA3E45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6A752CB-BD21-9820-92FC-AD1FC13A40F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FE62334-A084-1198-A9BA-4F2A83669EE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711EB2B-36AA-26AB-E93D-0EAAD6E4F9E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ECC544C-7467-BFD0-DB13-19C7FCDFA65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9FEBCF4-85F3-20C6-DFDF-A074248706B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9" name="TitleBackground">
              <a:extLst>
                <a:ext uri="{FF2B5EF4-FFF2-40B4-BE49-F238E27FC236}">
                  <a16:creationId xmlns:a16="http://schemas.microsoft.com/office/drawing/2014/main" id="{CD150324-59EF-096C-51D4-30AF5AE18ED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ColorBlock">
              <a:extLst>
                <a:ext uri="{FF2B5EF4-FFF2-40B4-BE49-F238E27FC236}">
                  <a16:creationId xmlns:a16="http://schemas.microsoft.com/office/drawing/2014/main" id="{B58EA7FF-E73F-4DF5-3A66-5DCB700B5FD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TypeText">
              <a:extLst>
                <a:ext uri="{FF2B5EF4-FFF2-40B4-BE49-F238E27FC236}">
                  <a16:creationId xmlns:a16="http://schemas.microsoft.com/office/drawing/2014/main" id="{57D0231A-7C35-156E-716E-563526304D9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2" name="TipText">
              <a:extLst>
                <a:ext uri="{FF2B5EF4-FFF2-40B4-BE49-F238E27FC236}">
                  <a16:creationId xmlns:a16="http://schemas.microsoft.com/office/drawing/2014/main" id="{82D4393B-4214-E049-45C8-C91735C3376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EAAB5412-931F-1AC1-5C06-F395CA7FBC0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9126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542DA11-45E1-46AA-88D4-537324B51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3.3.1 </a:t>
            </a:r>
            <a:r>
              <a:rPr lang="zh-CN" altLang="en-US"/>
              <a:t>自上而下分析的一般方法</a:t>
            </a:r>
          </a:p>
        </p:txBody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DC20E979-4A20-4D76-98F0-EC33393F31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自上而下分析：从文法开始符号出发，自上而下，从左到右为输入串建立分析树。即：为输入串寻找最左推导。</a:t>
            </a:r>
            <a:r>
              <a:rPr lang="zh-CN" altLang="en-US" dirty="0">
                <a:solidFill>
                  <a:schemeClr val="accent2"/>
                </a:solidFill>
              </a:rPr>
              <a:t>试探</a:t>
            </a:r>
            <a:endParaRPr lang="en-US" altLang="zh-CN" dirty="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总是选择每个句型的</a:t>
            </a:r>
            <a:r>
              <a:rPr lang="zh-CN" altLang="en-US" dirty="0">
                <a:solidFill>
                  <a:schemeClr val="accent2"/>
                </a:solidFill>
              </a:rPr>
              <a:t>最左非终结符</a:t>
            </a:r>
            <a:r>
              <a:rPr lang="zh-CN" altLang="en-US" dirty="0"/>
              <a:t>进行替换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根据输入流的</a:t>
            </a:r>
            <a:r>
              <a:rPr lang="zh-CN" altLang="en-US" dirty="0">
                <a:solidFill>
                  <a:schemeClr val="accent2"/>
                </a:solidFill>
              </a:rPr>
              <a:t>下一个终结符</a:t>
            </a:r>
            <a:r>
              <a:rPr lang="zh-CN" altLang="en-US" dirty="0"/>
              <a:t>，选择最左非终结符的一个候选式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1F4578-5EA2-80F0-943F-11414F7AC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815B-4D43-4090-A261-8D97A12C9BA8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10CB73-E6B1-B337-9CA3-0490C02FA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165FF7-25B0-A812-AD69-9273B5880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542DA11-45E1-46AA-88D4-537324B51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3.3.1 </a:t>
            </a:r>
            <a:r>
              <a:rPr lang="zh-CN" altLang="en-US" dirty="0"/>
              <a:t>自上而下分析的一般方法</a:t>
            </a:r>
          </a:p>
        </p:txBody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DC20E979-4A20-4D76-98F0-EC33393F31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自上而下分析：从文法开始符号出发，自上而下，从左到右为输入串建立分析树。即：为输入串寻找最左推导。</a:t>
            </a:r>
            <a:r>
              <a:rPr lang="zh-CN" altLang="en-US" dirty="0">
                <a:solidFill>
                  <a:schemeClr val="accent2"/>
                </a:solidFill>
              </a:rPr>
              <a:t>试探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 文法</a:t>
            </a:r>
            <a:r>
              <a:rPr lang="zh-CN" altLang="en-US" b="1" dirty="0"/>
              <a:t>	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aCb</a:t>
            </a:r>
            <a:r>
              <a:rPr lang="en-US" altLang="zh-CN" b="1" i="1" dirty="0">
                <a:latin typeface="Times New Roman" panose="02020603050405020304" pitchFamily="18" charset="0"/>
              </a:rPr>
              <a:t>	C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c | d</a:t>
            </a:r>
            <a:r>
              <a:rPr lang="en-US" altLang="zh-CN" i="1" dirty="0"/>
              <a:t>		   </a:t>
            </a:r>
            <a:r>
              <a:rPr lang="zh-CN" altLang="en-US" dirty="0">
                <a:latin typeface="宋体" panose="02010600030101010101" pitchFamily="2" charset="-122"/>
              </a:rPr>
              <a:t>为输入串</a:t>
            </a:r>
            <a:r>
              <a:rPr lang="en-US" altLang="zh-CN" b="1" i="1" dirty="0">
                <a:latin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</a:rPr>
              <a:t> 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acb</a:t>
            </a:r>
            <a:r>
              <a:rPr lang="zh-CN" altLang="en-US" dirty="0">
                <a:latin typeface="宋体" panose="02010600030101010101" pitchFamily="2" charset="-122"/>
              </a:rPr>
              <a:t>建立分析树</a:t>
            </a:r>
            <a:endParaRPr lang="zh-CN" altLang="en-US" sz="2800" dirty="0"/>
          </a:p>
          <a:p>
            <a:pPr eaLnBrk="1" hangingPunct="1"/>
            <a:endParaRPr lang="en-US" altLang="zh-CN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586A9E1-6F4A-405D-9D90-BA6971501169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4164364"/>
            <a:ext cx="1752600" cy="1290637"/>
            <a:chOff x="480" y="1937"/>
            <a:chExt cx="1104" cy="813"/>
          </a:xfrm>
        </p:grpSpPr>
        <p:sp>
          <p:nvSpPr>
            <p:cNvPr id="12315" name="Rectangle 5">
              <a:extLst>
                <a:ext uri="{FF2B5EF4-FFF2-40B4-BE49-F238E27FC236}">
                  <a16:creationId xmlns:a16="http://schemas.microsoft.com/office/drawing/2014/main" id="{29D8A2C3-6386-48A1-9C29-DF69B1C39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1937"/>
              <a:ext cx="196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2316" name="Line 6">
              <a:extLst>
                <a:ext uri="{FF2B5EF4-FFF2-40B4-BE49-F238E27FC236}">
                  <a16:creationId xmlns:a16="http://schemas.microsoft.com/office/drawing/2014/main" id="{064C01CC-A8FF-494E-8D1D-27284100C3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2" y="2217"/>
              <a:ext cx="328" cy="2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7" name="Line 7">
              <a:extLst>
                <a:ext uri="{FF2B5EF4-FFF2-40B4-BE49-F238E27FC236}">
                  <a16:creationId xmlns:a16="http://schemas.microsoft.com/office/drawing/2014/main" id="{CF708E27-DAE7-4653-845C-EAC97B003B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5" y="2240"/>
              <a:ext cx="3" cy="2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8" name="Line 8">
              <a:extLst>
                <a:ext uri="{FF2B5EF4-FFF2-40B4-BE49-F238E27FC236}">
                  <a16:creationId xmlns:a16="http://schemas.microsoft.com/office/drawing/2014/main" id="{4387F4B7-F610-4476-8E36-830794AF64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3" y="2202"/>
              <a:ext cx="328" cy="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9" name="Rectangle 9">
              <a:extLst>
                <a:ext uri="{FF2B5EF4-FFF2-40B4-BE49-F238E27FC236}">
                  <a16:creationId xmlns:a16="http://schemas.microsoft.com/office/drawing/2014/main" id="{2A622276-D490-42EF-A521-29D288661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380"/>
              <a:ext cx="197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2320" name="Rectangle 10">
              <a:extLst>
                <a:ext uri="{FF2B5EF4-FFF2-40B4-BE49-F238E27FC236}">
                  <a16:creationId xmlns:a16="http://schemas.microsoft.com/office/drawing/2014/main" id="{18E90B49-6F0D-4739-9240-C0AB8EF7C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" y="2431"/>
              <a:ext cx="197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2321" name="Rectangle 11">
              <a:extLst>
                <a:ext uri="{FF2B5EF4-FFF2-40B4-BE49-F238E27FC236}">
                  <a16:creationId xmlns:a16="http://schemas.microsoft.com/office/drawing/2014/main" id="{1E6F2E78-C551-4169-8AED-355B253DB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" y="2407"/>
              <a:ext cx="197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4" name="Group 24">
            <a:extLst>
              <a:ext uri="{FF2B5EF4-FFF2-40B4-BE49-F238E27FC236}">
                <a16:creationId xmlns:a16="http://schemas.microsoft.com/office/drawing/2014/main" id="{CA801CE2-2254-494D-885D-BC2DE6294847}"/>
              </a:ext>
            </a:extLst>
          </p:cNvPr>
          <p:cNvGrpSpPr>
            <a:grpSpLocks/>
          </p:cNvGrpSpPr>
          <p:nvPr/>
        </p:nvGrpSpPr>
        <p:grpSpPr bwMode="auto">
          <a:xfrm>
            <a:off x="3459956" y="4164364"/>
            <a:ext cx="1717675" cy="2125663"/>
            <a:chOff x="4054" y="1920"/>
            <a:chExt cx="1082" cy="1339"/>
          </a:xfrm>
        </p:grpSpPr>
        <p:sp>
          <p:nvSpPr>
            <p:cNvPr id="12295" name="Rectangle 25">
              <a:extLst>
                <a:ext uri="{FF2B5EF4-FFF2-40B4-BE49-F238E27FC236}">
                  <a16:creationId xmlns:a16="http://schemas.microsoft.com/office/drawing/2014/main" id="{96B0351F-1D26-46E8-8A4F-284C36E57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920"/>
              <a:ext cx="197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2296" name="Line 26">
              <a:extLst>
                <a:ext uri="{FF2B5EF4-FFF2-40B4-BE49-F238E27FC236}">
                  <a16:creationId xmlns:a16="http://schemas.microsoft.com/office/drawing/2014/main" id="{FB88EE5E-5975-4E63-A2FE-B1CF841984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3" y="2202"/>
              <a:ext cx="328" cy="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7" name="Line 27">
              <a:extLst>
                <a:ext uri="{FF2B5EF4-FFF2-40B4-BE49-F238E27FC236}">
                  <a16:creationId xmlns:a16="http://schemas.microsoft.com/office/drawing/2014/main" id="{0B31A529-6F2C-42C0-8DF5-DA6ACDDD45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8" y="2725"/>
              <a:ext cx="1" cy="2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8" name="Line 28">
              <a:extLst>
                <a:ext uri="{FF2B5EF4-FFF2-40B4-BE49-F238E27FC236}">
                  <a16:creationId xmlns:a16="http://schemas.microsoft.com/office/drawing/2014/main" id="{57FCF76D-5592-4FB4-A79C-DDF010B7FD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6" y="2225"/>
              <a:ext cx="3" cy="2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9" name="Line 29">
              <a:extLst>
                <a:ext uri="{FF2B5EF4-FFF2-40B4-BE49-F238E27FC236}">
                  <a16:creationId xmlns:a16="http://schemas.microsoft.com/office/drawing/2014/main" id="{EC06CEF7-7EED-4E8B-A166-7E54FFDDD3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5" y="2202"/>
              <a:ext cx="328" cy="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0" name="Rectangle 30">
              <a:extLst>
                <a:ext uri="{FF2B5EF4-FFF2-40B4-BE49-F238E27FC236}">
                  <a16:creationId xmlns:a16="http://schemas.microsoft.com/office/drawing/2014/main" id="{30F21154-F871-4206-89B8-7FAF64A3F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2380"/>
              <a:ext cx="197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2301" name="Rectangle 31">
              <a:extLst>
                <a:ext uri="{FF2B5EF4-FFF2-40B4-BE49-F238E27FC236}">
                  <a16:creationId xmlns:a16="http://schemas.microsoft.com/office/drawing/2014/main" id="{6AA5F6D0-D8CF-4FB2-AE00-D75679B7D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3" y="2420"/>
              <a:ext cx="197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2302" name="Rectangle 32">
              <a:extLst>
                <a:ext uri="{FF2B5EF4-FFF2-40B4-BE49-F238E27FC236}">
                  <a16:creationId xmlns:a16="http://schemas.microsoft.com/office/drawing/2014/main" id="{00FFFB11-94AE-4937-9AB3-32CEADBDB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9" y="2395"/>
              <a:ext cx="197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2303" name="Rectangle 33">
              <a:extLst>
                <a:ext uri="{FF2B5EF4-FFF2-40B4-BE49-F238E27FC236}">
                  <a16:creationId xmlns:a16="http://schemas.microsoft.com/office/drawing/2014/main" id="{1BE67BD2-160B-46B8-93AF-FE7DFADAB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2" y="2941"/>
              <a:ext cx="197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7D9B73-EA02-AC24-CEB6-39AAE9375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8C7D-09F9-43C2-97B3-95532E061E18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AE9DB4-C46B-30E3-6BF0-53048759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3EB630-A276-FDAE-2C30-1443CF7E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73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542DA11-45E1-46AA-88D4-537324B51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3.3.1 </a:t>
            </a:r>
            <a:r>
              <a:rPr lang="zh-CN" altLang="en-US"/>
              <a:t>自上而下分析的一般方法</a:t>
            </a:r>
          </a:p>
        </p:txBody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DC20E979-4A20-4D76-98F0-EC33393F31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自上而下分析：从文法开始符号出发，自上而下，从左到右为输入串建立分析树。即：为输入串寻找最左推导。</a:t>
            </a:r>
            <a:r>
              <a:rPr lang="zh-CN" altLang="en-US" dirty="0">
                <a:solidFill>
                  <a:schemeClr val="accent2"/>
                </a:solidFill>
              </a:rPr>
              <a:t>试探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 文法</a:t>
            </a:r>
            <a:r>
              <a:rPr lang="zh-CN" altLang="en-US" b="1" dirty="0"/>
              <a:t>	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Cb</a:t>
            </a:r>
            <a:r>
              <a:rPr lang="en-US" altLang="zh-CN" b="1" i="1" dirty="0">
                <a:latin typeface="Times New Roman" panose="02020603050405020304" pitchFamily="18" charset="0"/>
              </a:rPr>
              <a:t>	C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Ca | a</a:t>
            </a:r>
            <a:r>
              <a:rPr lang="en-US" altLang="zh-CN" i="1" dirty="0"/>
              <a:t>		   </a:t>
            </a:r>
            <a:r>
              <a:rPr lang="zh-CN" altLang="en-US" dirty="0">
                <a:latin typeface="宋体" panose="02010600030101010101" pitchFamily="2" charset="-122"/>
              </a:rPr>
              <a:t>为输入串</a:t>
            </a:r>
            <a:r>
              <a:rPr lang="en-US" altLang="zh-CN" b="1" i="1" dirty="0">
                <a:latin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</a:rPr>
              <a:t> 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aab</a:t>
            </a:r>
            <a:r>
              <a:rPr lang="zh-CN" altLang="en-US" dirty="0">
                <a:latin typeface="宋体" panose="02010600030101010101" pitchFamily="2" charset="-122"/>
              </a:rPr>
              <a:t>建立分析树</a:t>
            </a:r>
            <a:endParaRPr lang="zh-CN" altLang="en-US" sz="2800" dirty="0"/>
          </a:p>
          <a:p>
            <a:pPr eaLnBrk="1" hangingPunct="1"/>
            <a:endParaRPr lang="en-US" altLang="zh-CN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586A9E1-6F4A-405D-9D90-BA6971501169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4164369"/>
            <a:ext cx="1752600" cy="1289052"/>
            <a:chOff x="480" y="1937"/>
            <a:chExt cx="1104" cy="812"/>
          </a:xfrm>
        </p:grpSpPr>
        <p:sp>
          <p:nvSpPr>
            <p:cNvPr id="12315" name="Rectangle 5">
              <a:extLst>
                <a:ext uri="{FF2B5EF4-FFF2-40B4-BE49-F238E27FC236}">
                  <a16:creationId xmlns:a16="http://schemas.microsoft.com/office/drawing/2014/main" id="{29D8A2C3-6386-48A1-9C29-DF69B1C39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1937"/>
              <a:ext cx="196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2316" name="Line 6">
              <a:extLst>
                <a:ext uri="{FF2B5EF4-FFF2-40B4-BE49-F238E27FC236}">
                  <a16:creationId xmlns:a16="http://schemas.microsoft.com/office/drawing/2014/main" id="{064C01CC-A8FF-494E-8D1D-27284100C3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2" y="2217"/>
              <a:ext cx="328" cy="2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8" name="Line 8">
              <a:extLst>
                <a:ext uri="{FF2B5EF4-FFF2-40B4-BE49-F238E27FC236}">
                  <a16:creationId xmlns:a16="http://schemas.microsoft.com/office/drawing/2014/main" id="{4387F4B7-F610-4476-8E36-830794AF64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3" y="2202"/>
              <a:ext cx="328" cy="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9" name="Rectangle 9">
              <a:extLst>
                <a:ext uri="{FF2B5EF4-FFF2-40B4-BE49-F238E27FC236}">
                  <a16:creationId xmlns:a16="http://schemas.microsoft.com/office/drawing/2014/main" id="{2A622276-D490-42EF-A521-29D288661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429"/>
              <a:ext cx="197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2321" name="Rectangle 11">
              <a:extLst>
                <a:ext uri="{FF2B5EF4-FFF2-40B4-BE49-F238E27FC236}">
                  <a16:creationId xmlns:a16="http://schemas.microsoft.com/office/drawing/2014/main" id="{1E6F2E78-C551-4169-8AED-355B253DB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" y="2407"/>
              <a:ext cx="197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273549C2-4D3E-4236-B56A-DC2BA6EF50ED}"/>
              </a:ext>
            </a:extLst>
          </p:cNvPr>
          <p:cNvGrpSpPr/>
          <p:nvPr/>
        </p:nvGrpSpPr>
        <p:grpSpPr>
          <a:xfrm>
            <a:off x="2843908" y="4138970"/>
            <a:ext cx="2399695" cy="2090725"/>
            <a:chOff x="2843908" y="4138970"/>
            <a:chExt cx="2399695" cy="2090725"/>
          </a:xfrm>
        </p:grpSpPr>
        <p:sp>
          <p:nvSpPr>
            <p:cNvPr id="12295" name="Rectangle 25">
              <a:extLst>
                <a:ext uri="{FF2B5EF4-FFF2-40B4-BE49-F238E27FC236}">
                  <a16:creationId xmlns:a16="http://schemas.microsoft.com/office/drawing/2014/main" id="{96B0351F-1D26-46E8-8A4F-284C36E57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839" y="4138970"/>
              <a:ext cx="312738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2296" name="Line 26">
              <a:extLst>
                <a:ext uri="{FF2B5EF4-FFF2-40B4-BE49-F238E27FC236}">
                  <a16:creationId xmlns:a16="http://schemas.microsoft.com/office/drawing/2014/main" id="{FB88EE5E-5975-4E63-A2FE-B1CF841984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67213" y="4586645"/>
              <a:ext cx="520701" cy="4238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7" name="Line 27">
              <a:extLst>
                <a:ext uri="{FF2B5EF4-FFF2-40B4-BE49-F238E27FC236}">
                  <a16:creationId xmlns:a16="http://schemas.microsoft.com/office/drawing/2014/main" id="{0B31A529-6F2C-42C0-8DF5-DA6ACDDD4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3238" y="5348645"/>
              <a:ext cx="371476" cy="4222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2299" name="Line 29">
              <a:extLst>
                <a:ext uri="{FF2B5EF4-FFF2-40B4-BE49-F238E27FC236}">
                  <a16:creationId xmlns:a16="http://schemas.microsoft.com/office/drawing/2014/main" id="{EC06CEF7-7EED-4E8B-A166-7E54FFDDD3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8264" y="4586645"/>
              <a:ext cx="520701" cy="4238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0" name="Rectangle 30">
              <a:extLst>
                <a:ext uri="{FF2B5EF4-FFF2-40B4-BE49-F238E27FC236}">
                  <a16:creationId xmlns:a16="http://schemas.microsoft.com/office/drawing/2014/main" id="{30F21154-F871-4206-89B8-7FAF64A3F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9250" y="4947008"/>
              <a:ext cx="312738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2302" name="Rectangle 32">
              <a:extLst>
                <a:ext uri="{FF2B5EF4-FFF2-40B4-BE49-F238E27FC236}">
                  <a16:creationId xmlns:a16="http://schemas.microsoft.com/office/drawing/2014/main" id="{00FFFB11-94AE-4937-9AB3-32CEADBDB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865" y="4893033"/>
              <a:ext cx="312738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2303" name="Rectangle 33">
              <a:extLst>
                <a:ext uri="{FF2B5EF4-FFF2-40B4-BE49-F238E27FC236}">
                  <a16:creationId xmlns:a16="http://schemas.microsoft.com/office/drawing/2014/main" id="{1BE67BD2-160B-46B8-93AF-FE7DFADAB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901" y="5682020"/>
              <a:ext cx="312738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44F07F00-5015-4998-9A3F-D1DE1FD346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64823" y="5335939"/>
              <a:ext cx="527500" cy="5048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3" name="Rectangle 33">
              <a:extLst>
                <a:ext uri="{FF2B5EF4-FFF2-40B4-BE49-F238E27FC236}">
                  <a16:creationId xmlns:a16="http://schemas.microsoft.com/office/drawing/2014/main" id="{6705E10F-63D9-472F-8821-FA853E442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908" y="5724870"/>
              <a:ext cx="312738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E75D03-91D9-51FF-8FC9-C95E17BDC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B2F7-696C-4D2C-A17E-4C10CBC14751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485F9D-7EDE-2D40-4139-FD14DCC64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B6D067-C363-5120-348A-A585C1D2B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64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542DA11-45E1-46AA-88D4-537324B51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3.3.1 </a:t>
            </a:r>
            <a:r>
              <a:rPr lang="zh-CN" altLang="en-US"/>
              <a:t>自上而下分析的一般方法</a:t>
            </a:r>
          </a:p>
        </p:txBody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DC20E979-4A20-4D76-98F0-EC33393F31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自上而下分析：从文法开始符号出发，自上而下，从左到右为输入串建立分析树。即：为输入串寻找最左推导。</a:t>
            </a:r>
            <a:r>
              <a:rPr lang="zh-CN" altLang="en-US" dirty="0">
                <a:solidFill>
                  <a:schemeClr val="accent2"/>
                </a:solidFill>
              </a:rPr>
              <a:t>试探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 文法</a:t>
            </a:r>
            <a:r>
              <a:rPr lang="zh-CN" altLang="en-US" b="1" dirty="0"/>
              <a:t>	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aCb</a:t>
            </a:r>
            <a:r>
              <a:rPr lang="en-US" altLang="zh-CN" b="1" i="1" dirty="0">
                <a:latin typeface="Times New Roman" panose="02020603050405020304" pitchFamily="18" charset="0"/>
              </a:rPr>
              <a:t>	C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cd | c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 dirty="0"/>
              <a:t>		   </a:t>
            </a:r>
            <a:r>
              <a:rPr lang="zh-CN" altLang="en-US" dirty="0">
                <a:latin typeface="宋体" panose="02010600030101010101" pitchFamily="2" charset="-122"/>
              </a:rPr>
              <a:t>为输入串</a:t>
            </a:r>
            <a:r>
              <a:rPr lang="en-US" altLang="zh-CN" b="1" i="1" dirty="0">
                <a:latin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</a:rPr>
              <a:t> 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acb</a:t>
            </a:r>
            <a:r>
              <a:rPr lang="zh-CN" altLang="en-US" dirty="0">
                <a:latin typeface="宋体" panose="02010600030101010101" pitchFamily="2" charset="-122"/>
              </a:rPr>
              <a:t>建立分析树</a:t>
            </a:r>
            <a:endParaRPr lang="zh-CN" altLang="en-US" sz="2800" dirty="0"/>
          </a:p>
          <a:p>
            <a:pPr eaLnBrk="1" hangingPunct="1"/>
            <a:endParaRPr lang="en-US" altLang="zh-CN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586A9E1-6F4A-405D-9D90-BA6971501169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4164364"/>
            <a:ext cx="1752600" cy="1290637"/>
            <a:chOff x="480" y="1937"/>
            <a:chExt cx="1104" cy="813"/>
          </a:xfrm>
        </p:grpSpPr>
        <p:sp>
          <p:nvSpPr>
            <p:cNvPr id="12315" name="Rectangle 5">
              <a:extLst>
                <a:ext uri="{FF2B5EF4-FFF2-40B4-BE49-F238E27FC236}">
                  <a16:creationId xmlns:a16="http://schemas.microsoft.com/office/drawing/2014/main" id="{29D8A2C3-6386-48A1-9C29-DF69B1C39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1937"/>
              <a:ext cx="196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2316" name="Line 6">
              <a:extLst>
                <a:ext uri="{FF2B5EF4-FFF2-40B4-BE49-F238E27FC236}">
                  <a16:creationId xmlns:a16="http://schemas.microsoft.com/office/drawing/2014/main" id="{064C01CC-A8FF-494E-8D1D-27284100C3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2" y="2217"/>
              <a:ext cx="328" cy="2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7" name="Line 7">
              <a:extLst>
                <a:ext uri="{FF2B5EF4-FFF2-40B4-BE49-F238E27FC236}">
                  <a16:creationId xmlns:a16="http://schemas.microsoft.com/office/drawing/2014/main" id="{CF708E27-DAE7-4653-845C-EAC97B003B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5" y="2240"/>
              <a:ext cx="3" cy="2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8" name="Line 8">
              <a:extLst>
                <a:ext uri="{FF2B5EF4-FFF2-40B4-BE49-F238E27FC236}">
                  <a16:creationId xmlns:a16="http://schemas.microsoft.com/office/drawing/2014/main" id="{4387F4B7-F610-4476-8E36-830794AF64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3" y="2202"/>
              <a:ext cx="328" cy="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9" name="Rectangle 9">
              <a:extLst>
                <a:ext uri="{FF2B5EF4-FFF2-40B4-BE49-F238E27FC236}">
                  <a16:creationId xmlns:a16="http://schemas.microsoft.com/office/drawing/2014/main" id="{2A622276-D490-42EF-A521-29D288661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380"/>
              <a:ext cx="197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2320" name="Rectangle 10">
              <a:extLst>
                <a:ext uri="{FF2B5EF4-FFF2-40B4-BE49-F238E27FC236}">
                  <a16:creationId xmlns:a16="http://schemas.microsoft.com/office/drawing/2014/main" id="{18E90B49-6F0D-4739-9240-C0AB8EF7C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" y="2431"/>
              <a:ext cx="197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2321" name="Rectangle 11">
              <a:extLst>
                <a:ext uri="{FF2B5EF4-FFF2-40B4-BE49-F238E27FC236}">
                  <a16:creationId xmlns:a16="http://schemas.microsoft.com/office/drawing/2014/main" id="{1E6F2E78-C551-4169-8AED-355B253DB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" y="2407"/>
              <a:ext cx="197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9847A3FD-96CB-48EE-82A4-D0AD5ADEF8CA}"/>
              </a:ext>
            </a:extLst>
          </p:cNvPr>
          <p:cNvGrpSpPr>
            <a:grpSpLocks/>
          </p:cNvGrpSpPr>
          <p:nvPr/>
        </p:nvGrpSpPr>
        <p:grpSpPr bwMode="auto">
          <a:xfrm>
            <a:off x="3538538" y="4181826"/>
            <a:ext cx="1785937" cy="2039938"/>
            <a:chOff x="2229" y="1948"/>
            <a:chExt cx="1125" cy="1285"/>
          </a:xfrm>
        </p:grpSpPr>
        <p:sp>
          <p:nvSpPr>
            <p:cNvPr id="12304" name="Rectangle 13">
              <a:extLst>
                <a:ext uri="{FF2B5EF4-FFF2-40B4-BE49-F238E27FC236}">
                  <a16:creationId xmlns:a16="http://schemas.microsoft.com/office/drawing/2014/main" id="{45F07312-C450-499F-B6B1-38F7AAD93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3" y="1948"/>
              <a:ext cx="197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2305" name="Line 14">
              <a:extLst>
                <a:ext uri="{FF2B5EF4-FFF2-40B4-BE49-F238E27FC236}">
                  <a16:creationId xmlns:a16="http://schemas.microsoft.com/office/drawing/2014/main" id="{6E99C864-7992-4AE0-9E10-291ABC74A0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0" y="2710"/>
              <a:ext cx="328" cy="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6" name="Line 15">
              <a:extLst>
                <a:ext uri="{FF2B5EF4-FFF2-40B4-BE49-F238E27FC236}">
                  <a16:creationId xmlns:a16="http://schemas.microsoft.com/office/drawing/2014/main" id="{56428221-DF36-48F3-8EA6-9BE6932AEE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1" y="2227"/>
              <a:ext cx="328" cy="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7" name="Line 16">
              <a:extLst>
                <a:ext uri="{FF2B5EF4-FFF2-40B4-BE49-F238E27FC236}">
                  <a16:creationId xmlns:a16="http://schemas.microsoft.com/office/drawing/2014/main" id="{3F0C47BC-F12C-4BF8-93D8-19BF468AF9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5" y="2250"/>
              <a:ext cx="4" cy="2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8" name="Line 17">
              <a:extLst>
                <a:ext uri="{FF2B5EF4-FFF2-40B4-BE49-F238E27FC236}">
                  <a16:creationId xmlns:a16="http://schemas.microsoft.com/office/drawing/2014/main" id="{FA771FED-E146-484C-BA47-07A8A9600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2708"/>
              <a:ext cx="328" cy="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9" name="Line 18">
              <a:extLst>
                <a:ext uri="{FF2B5EF4-FFF2-40B4-BE49-F238E27FC236}">
                  <a16:creationId xmlns:a16="http://schemas.microsoft.com/office/drawing/2014/main" id="{10A6E815-D005-424A-943B-AAF1AEF95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2" y="2227"/>
              <a:ext cx="328" cy="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0" name="Rectangle 19">
              <a:extLst>
                <a:ext uri="{FF2B5EF4-FFF2-40B4-BE49-F238E27FC236}">
                  <a16:creationId xmlns:a16="http://schemas.microsoft.com/office/drawing/2014/main" id="{839014F5-1175-46BF-921E-AC5EBD06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2395"/>
              <a:ext cx="19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2311" name="Rectangle 20">
              <a:extLst>
                <a:ext uri="{FF2B5EF4-FFF2-40B4-BE49-F238E27FC236}">
                  <a16:creationId xmlns:a16="http://schemas.microsoft.com/office/drawing/2014/main" id="{0F743AFD-D65D-4EFC-B001-1C6446A0E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2" y="2433"/>
              <a:ext cx="19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2312" name="Rectangle 21">
              <a:extLst>
                <a:ext uri="{FF2B5EF4-FFF2-40B4-BE49-F238E27FC236}">
                  <a16:creationId xmlns:a16="http://schemas.microsoft.com/office/drawing/2014/main" id="{9A4EC45C-BC8D-4BA2-BE94-8E5E52EA1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8" y="2433"/>
              <a:ext cx="19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2313" name="Rectangle 22">
              <a:extLst>
                <a:ext uri="{FF2B5EF4-FFF2-40B4-BE49-F238E27FC236}">
                  <a16:creationId xmlns:a16="http://schemas.microsoft.com/office/drawing/2014/main" id="{E5D4D24E-7BB0-4D9E-BEAF-299975B66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2" y="2888"/>
              <a:ext cx="197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2314" name="Rectangle 23">
              <a:extLst>
                <a:ext uri="{FF2B5EF4-FFF2-40B4-BE49-F238E27FC236}">
                  <a16:creationId xmlns:a16="http://schemas.microsoft.com/office/drawing/2014/main" id="{2542488A-A65C-40D5-A92B-766FC3DE5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8" y="2916"/>
              <a:ext cx="19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</p:grpSp>
      <p:grpSp>
        <p:nvGrpSpPr>
          <p:cNvPr id="4" name="Group 24">
            <a:extLst>
              <a:ext uri="{FF2B5EF4-FFF2-40B4-BE49-F238E27FC236}">
                <a16:creationId xmlns:a16="http://schemas.microsoft.com/office/drawing/2014/main" id="{CA801CE2-2254-494D-885D-BC2DE6294847}"/>
              </a:ext>
            </a:extLst>
          </p:cNvPr>
          <p:cNvGrpSpPr>
            <a:grpSpLocks/>
          </p:cNvGrpSpPr>
          <p:nvPr/>
        </p:nvGrpSpPr>
        <p:grpSpPr bwMode="auto">
          <a:xfrm>
            <a:off x="6435725" y="4137376"/>
            <a:ext cx="1717675" cy="2125663"/>
            <a:chOff x="4054" y="1920"/>
            <a:chExt cx="1082" cy="1339"/>
          </a:xfrm>
        </p:grpSpPr>
        <p:sp>
          <p:nvSpPr>
            <p:cNvPr id="12295" name="Rectangle 25">
              <a:extLst>
                <a:ext uri="{FF2B5EF4-FFF2-40B4-BE49-F238E27FC236}">
                  <a16:creationId xmlns:a16="http://schemas.microsoft.com/office/drawing/2014/main" id="{96B0351F-1D26-46E8-8A4F-284C36E57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920"/>
              <a:ext cx="197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2296" name="Line 26">
              <a:extLst>
                <a:ext uri="{FF2B5EF4-FFF2-40B4-BE49-F238E27FC236}">
                  <a16:creationId xmlns:a16="http://schemas.microsoft.com/office/drawing/2014/main" id="{FB88EE5E-5975-4E63-A2FE-B1CF841984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3" y="2202"/>
              <a:ext cx="328" cy="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7" name="Line 27">
              <a:extLst>
                <a:ext uri="{FF2B5EF4-FFF2-40B4-BE49-F238E27FC236}">
                  <a16:creationId xmlns:a16="http://schemas.microsoft.com/office/drawing/2014/main" id="{0B31A529-6F2C-42C0-8DF5-DA6ACDDD45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8" y="2725"/>
              <a:ext cx="1" cy="2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8" name="Line 28">
              <a:extLst>
                <a:ext uri="{FF2B5EF4-FFF2-40B4-BE49-F238E27FC236}">
                  <a16:creationId xmlns:a16="http://schemas.microsoft.com/office/drawing/2014/main" id="{57FCF76D-5592-4FB4-A79C-DDF010B7FD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6" y="2225"/>
              <a:ext cx="3" cy="2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9" name="Line 29">
              <a:extLst>
                <a:ext uri="{FF2B5EF4-FFF2-40B4-BE49-F238E27FC236}">
                  <a16:creationId xmlns:a16="http://schemas.microsoft.com/office/drawing/2014/main" id="{EC06CEF7-7EED-4E8B-A166-7E54FFDDD3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5" y="2202"/>
              <a:ext cx="328" cy="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0" name="Rectangle 30">
              <a:extLst>
                <a:ext uri="{FF2B5EF4-FFF2-40B4-BE49-F238E27FC236}">
                  <a16:creationId xmlns:a16="http://schemas.microsoft.com/office/drawing/2014/main" id="{30F21154-F871-4206-89B8-7FAF64A3F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2380"/>
              <a:ext cx="197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2301" name="Rectangle 31">
              <a:extLst>
                <a:ext uri="{FF2B5EF4-FFF2-40B4-BE49-F238E27FC236}">
                  <a16:creationId xmlns:a16="http://schemas.microsoft.com/office/drawing/2014/main" id="{6AA5F6D0-D8CF-4FB2-AE00-D75679B7D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3" y="2420"/>
              <a:ext cx="197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2302" name="Rectangle 32">
              <a:extLst>
                <a:ext uri="{FF2B5EF4-FFF2-40B4-BE49-F238E27FC236}">
                  <a16:creationId xmlns:a16="http://schemas.microsoft.com/office/drawing/2014/main" id="{00FFFB11-94AE-4937-9AB3-32CEADBDB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9" y="2395"/>
              <a:ext cx="197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2303" name="Rectangle 33">
              <a:extLst>
                <a:ext uri="{FF2B5EF4-FFF2-40B4-BE49-F238E27FC236}">
                  <a16:creationId xmlns:a16="http://schemas.microsoft.com/office/drawing/2014/main" id="{1BE67BD2-160B-46B8-93AF-FE7DFADAB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2" y="2941"/>
              <a:ext cx="197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</p:grp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89AE9B-3E1D-7503-053A-57F543089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41BE-4042-47C9-A1F6-A7DEF80C6194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1584C4-7EA9-5A63-0C08-39F55D681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BAE593-C3E7-D0DE-8CB6-3504CBBE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17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542DA11-45E1-46AA-88D4-537324B51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3.3.1 </a:t>
            </a:r>
            <a:r>
              <a:rPr lang="zh-CN" altLang="en-US"/>
              <a:t>自上而下分析的一般方法</a:t>
            </a:r>
          </a:p>
        </p:txBody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DC20E979-4A20-4D76-98F0-EC33393F31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自上而下分析：从文法开始符号出发，自上而下，从左到右为输入串建立分析树。即：为输入串寻找最左推导。</a:t>
            </a:r>
            <a:r>
              <a:rPr lang="zh-CN" altLang="en-US" dirty="0">
                <a:solidFill>
                  <a:schemeClr val="accent2"/>
                </a:solidFill>
              </a:rPr>
              <a:t>试探</a:t>
            </a:r>
          </a:p>
          <a:p>
            <a:pPr>
              <a:spcBef>
                <a:spcPct val="0"/>
              </a:spcBef>
            </a:pPr>
            <a:r>
              <a:rPr lang="zh-CN" altLang="en-US" dirty="0"/>
              <a:t>例</a:t>
            </a:r>
            <a:r>
              <a:rPr lang="en-US" altLang="zh-CN" dirty="0"/>
              <a:t>4</a:t>
            </a:r>
            <a:r>
              <a:rPr lang="zh-CN" altLang="en-US" dirty="0"/>
              <a:t>： 文法</a:t>
            </a:r>
            <a:r>
              <a:rPr lang="zh-CN" altLang="en-US" b="1" dirty="0"/>
              <a:t>	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aCb</a:t>
            </a:r>
            <a:r>
              <a:rPr lang="en-US" altLang="zh-CN" b="1" i="1" dirty="0">
                <a:latin typeface="Times New Roman" panose="02020603050405020304" pitchFamily="18" charset="0"/>
              </a:rPr>
              <a:t>	C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cD</a:t>
            </a:r>
            <a:r>
              <a:rPr lang="en-US" altLang="zh-CN" b="1" i="1" dirty="0">
                <a:latin typeface="Times New Roman" panose="02020603050405020304" pitchFamily="18" charset="0"/>
              </a:rPr>
              <a:t>  D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 d | </a:t>
            </a:r>
            <a:r>
              <a:rPr lang="el-GR" altLang="zh-CN" b="1" i="1" dirty="0">
                <a:latin typeface="Times New Roman" panose="02020603050405020304" pitchFamily="18" charset="0"/>
              </a:rPr>
              <a:t>ε</a:t>
            </a:r>
            <a:endParaRPr lang="en-US" altLang="zh-CN" b="1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 dirty="0"/>
              <a:t>		</a:t>
            </a:r>
            <a:r>
              <a:rPr lang="zh-CN" altLang="en-US" dirty="0">
                <a:latin typeface="宋体" panose="02010600030101010101" pitchFamily="2" charset="-122"/>
              </a:rPr>
              <a:t>为输入串</a:t>
            </a:r>
            <a:r>
              <a:rPr lang="en-US" altLang="zh-CN" b="1" i="1" dirty="0">
                <a:latin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</a:rPr>
              <a:t> 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acb</a:t>
            </a:r>
            <a:r>
              <a:rPr lang="zh-CN" altLang="en-US" dirty="0">
                <a:latin typeface="宋体" panose="02010600030101010101" pitchFamily="2" charset="-122"/>
              </a:rPr>
              <a:t>建立分析树</a:t>
            </a:r>
            <a:endParaRPr lang="zh-CN" altLang="en-US" sz="2800" dirty="0"/>
          </a:p>
          <a:p>
            <a:pPr eaLnBrk="1" hangingPunct="1"/>
            <a:endParaRPr lang="en-US" altLang="zh-CN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586A9E1-6F4A-405D-9D90-BA6971501169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764314"/>
            <a:ext cx="1752600" cy="1290637"/>
            <a:chOff x="480" y="1937"/>
            <a:chExt cx="1104" cy="813"/>
          </a:xfrm>
        </p:grpSpPr>
        <p:sp>
          <p:nvSpPr>
            <p:cNvPr id="12315" name="Rectangle 5">
              <a:extLst>
                <a:ext uri="{FF2B5EF4-FFF2-40B4-BE49-F238E27FC236}">
                  <a16:creationId xmlns:a16="http://schemas.microsoft.com/office/drawing/2014/main" id="{29D8A2C3-6386-48A1-9C29-DF69B1C39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1937"/>
              <a:ext cx="196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2316" name="Line 6">
              <a:extLst>
                <a:ext uri="{FF2B5EF4-FFF2-40B4-BE49-F238E27FC236}">
                  <a16:creationId xmlns:a16="http://schemas.microsoft.com/office/drawing/2014/main" id="{064C01CC-A8FF-494E-8D1D-27284100C3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2" y="2217"/>
              <a:ext cx="328" cy="2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7" name="Line 7">
              <a:extLst>
                <a:ext uri="{FF2B5EF4-FFF2-40B4-BE49-F238E27FC236}">
                  <a16:creationId xmlns:a16="http://schemas.microsoft.com/office/drawing/2014/main" id="{CF708E27-DAE7-4653-845C-EAC97B003B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5" y="2240"/>
              <a:ext cx="3" cy="2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8" name="Line 8">
              <a:extLst>
                <a:ext uri="{FF2B5EF4-FFF2-40B4-BE49-F238E27FC236}">
                  <a16:creationId xmlns:a16="http://schemas.microsoft.com/office/drawing/2014/main" id="{4387F4B7-F610-4476-8E36-830794AF64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3" y="2202"/>
              <a:ext cx="328" cy="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9" name="Rectangle 9">
              <a:extLst>
                <a:ext uri="{FF2B5EF4-FFF2-40B4-BE49-F238E27FC236}">
                  <a16:creationId xmlns:a16="http://schemas.microsoft.com/office/drawing/2014/main" id="{2A622276-D490-42EF-A521-29D288661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380"/>
              <a:ext cx="197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2320" name="Rectangle 10">
              <a:extLst>
                <a:ext uri="{FF2B5EF4-FFF2-40B4-BE49-F238E27FC236}">
                  <a16:creationId xmlns:a16="http://schemas.microsoft.com/office/drawing/2014/main" id="{18E90B49-6F0D-4739-9240-C0AB8EF7C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" y="2431"/>
              <a:ext cx="197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2321" name="Rectangle 11">
              <a:extLst>
                <a:ext uri="{FF2B5EF4-FFF2-40B4-BE49-F238E27FC236}">
                  <a16:creationId xmlns:a16="http://schemas.microsoft.com/office/drawing/2014/main" id="{1E6F2E78-C551-4169-8AED-355B253DB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" y="2407"/>
              <a:ext cx="197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DFB6314-7B35-4B13-94C7-2331EAC1522A}"/>
              </a:ext>
            </a:extLst>
          </p:cNvPr>
          <p:cNvGrpSpPr/>
          <p:nvPr/>
        </p:nvGrpSpPr>
        <p:grpSpPr>
          <a:xfrm>
            <a:off x="2739591" y="3742087"/>
            <a:ext cx="1785937" cy="1973263"/>
            <a:chOff x="2739591" y="3742087"/>
            <a:chExt cx="1785937" cy="1973263"/>
          </a:xfrm>
        </p:grpSpPr>
        <p:sp>
          <p:nvSpPr>
            <p:cNvPr id="12304" name="Rectangle 13">
              <a:extLst>
                <a:ext uri="{FF2B5EF4-FFF2-40B4-BE49-F238E27FC236}">
                  <a16:creationId xmlns:a16="http://schemas.microsoft.com/office/drawing/2014/main" id="{45F07312-C450-499F-B6B1-38F7AAD93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7941" y="3742087"/>
              <a:ext cx="312737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2305" name="Line 14">
              <a:extLst>
                <a:ext uri="{FF2B5EF4-FFF2-40B4-BE49-F238E27FC236}">
                  <a16:creationId xmlns:a16="http://schemas.microsoft.com/office/drawing/2014/main" id="{6E99C864-7992-4AE0-9E10-291ABC74A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0978" y="4902550"/>
              <a:ext cx="349250" cy="374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6" name="Line 15">
              <a:extLst>
                <a:ext uri="{FF2B5EF4-FFF2-40B4-BE49-F238E27FC236}">
                  <a16:creationId xmlns:a16="http://schemas.microsoft.com/office/drawing/2014/main" id="{56428221-DF36-48F3-8EA6-9BE6932AEE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33266" y="4185000"/>
              <a:ext cx="520700" cy="4238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7" name="Line 16">
              <a:extLst>
                <a:ext uri="{FF2B5EF4-FFF2-40B4-BE49-F238E27FC236}">
                  <a16:creationId xmlns:a16="http://schemas.microsoft.com/office/drawing/2014/main" id="{3F0C47BC-F12C-4BF8-93D8-19BF468AF9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6366" y="4221512"/>
              <a:ext cx="6350" cy="4476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9" name="Line 18">
              <a:extLst>
                <a:ext uri="{FF2B5EF4-FFF2-40B4-BE49-F238E27FC236}">
                  <a16:creationId xmlns:a16="http://schemas.microsoft.com/office/drawing/2014/main" id="{10A6E815-D005-424A-943B-AAF1AEF95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8603" y="4185000"/>
              <a:ext cx="520700" cy="4238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0" name="Rectangle 19">
              <a:extLst>
                <a:ext uri="{FF2B5EF4-FFF2-40B4-BE49-F238E27FC236}">
                  <a16:creationId xmlns:a16="http://schemas.microsoft.com/office/drawing/2014/main" id="{839014F5-1175-46BF-921E-AC5EBD06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9591" y="4451700"/>
              <a:ext cx="311150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2311" name="Rectangle 20">
              <a:extLst>
                <a:ext uri="{FF2B5EF4-FFF2-40B4-BE49-F238E27FC236}">
                  <a16:creationId xmlns:a16="http://schemas.microsoft.com/office/drawing/2014/main" id="{0F743AFD-D65D-4EFC-B001-1C6446A0E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0478" y="4512025"/>
              <a:ext cx="312737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2312" name="Rectangle 21">
              <a:extLst>
                <a:ext uri="{FF2B5EF4-FFF2-40B4-BE49-F238E27FC236}">
                  <a16:creationId xmlns:a16="http://schemas.microsoft.com/office/drawing/2014/main" id="{9A4EC45C-BC8D-4BA2-BE94-8E5E52EA1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378" y="4512025"/>
              <a:ext cx="311150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2313" name="Rectangle 22">
              <a:extLst>
                <a:ext uri="{FF2B5EF4-FFF2-40B4-BE49-F238E27FC236}">
                  <a16:creationId xmlns:a16="http://schemas.microsoft.com/office/drawing/2014/main" id="{E5D4D24E-7BB0-4D9E-BEAF-299975B66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528" y="5210525"/>
              <a:ext cx="312737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34" name="Line 14">
              <a:extLst>
                <a:ext uri="{FF2B5EF4-FFF2-40B4-BE49-F238E27FC236}">
                  <a16:creationId xmlns:a16="http://schemas.microsoft.com/office/drawing/2014/main" id="{D6C6140B-F9E9-41A1-BE09-9BF9BDBD37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3820" y="4926539"/>
              <a:ext cx="412750" cy="374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5" name="Rectangle 19">
              <a:extLst>
                <a:ext uri="{FF2B5EF4-FFF2-40B4-BE49-F238E27FC236}">
                  <a16:creationId xmlns:a16="http://schemas.microsoft.com/office/drawing/2014/main" id="{DF0ED717-C713-43EB-9E9E-CE606C651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783" y="5168456"/>
              <a:ext cx="311150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472F0F1-AE70-4700-BB7A-6B6404AE46D0}"/>
              </a:ext>
            </a:extLst>
          </p:cNvPr>
          <p:cNvGrpSpPr/>
          <p:nvPr/>
        </p:nvGrpSpPr>
        <p:grpSpPr>
          <a:xfrm>
            <a:off x="4852771" y="3761138"/>
            <a:ext cx="1785937" cy="2803310"/>
            <a:chOff x="4852771" y="3761138"/>
            <a:chExt cx="1785937" cy="2803310"/>
          </a:xfrm>
        </p:grpSpPr>
        <p:sp>
          <p:nvSpPr>
            <p:cNvPr id="46" name="Rectangle 13">
              <a:extLst>
                <a:ext uri="{FF2B5EF4-FFF2-40B4-BE49-F238E27FC236}">
                  <a16:creationId xmlns:a16="http://schemas.microsoft.com/office/drawing/2014/main" id="{E2D2DAAE-DD95-4A90-8890-DB3563540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1121" y="3761138"/>
              <a:ext cx="312737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47" name="Line 14">
              <a:extLst>
                <a:ext uri="{FF2B5EF4-FFF2-40B4-BE49-F238E27FC236}">
                  <a16:creationId xmlns:a16="http://schemas.microsoft.com/office/drawing/2014/main" id="{B6BD3A50-EB39-4AC2-8EBF-032A2FC5A3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4158" y="4921601"/>
              <a:ext cx="349250" cy="374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15">
              <a:extLst>
                <a:ext uri="{FF2B5EF4-FFF2-40B4-BE49-F238E27FC236}">
                  <a16:creationId xmlns:a16="http://schemas.microsoft.com/office/drawing/2014/main" id="{97FAD783-F647-44AC-AC8E-2B9F97514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46446" y="4204051"/>
              <a:ext cx="520700" cy="4238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16">
              <a:extLst>
                <a:ext uri="{FF2B5EF4-FFF2-40B4-BE49-F238E27FC236}">
                  <a16:creationId xmlns:a16="http://schemas.microsoft.com/office/drawing/2014/main" id="{64DC0691-B3F9-4EA9-9E31-248E5F5C3E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19546" y="4240563"/>
              <a:ext cx="6350" cy="4476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18">
              <a:extLst>
                <a:ext uri="{FF2B5EF4-FFF2-40B4-BE49-F238E27FC236}">
                  <a16:creationId xmlns:a16="http://schemas.microsoft.com/office/drawing/2014/main" id="{0DD11A8B-887E-4FBB-8237-0C5046718F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41783" y="4204051"/>
              <a:ext cx="520700" cy="4238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Rectangle 19">
              <a:extLst>
                <a:ext uri="{FF2B5EF4-FFF2-40B4-BE49-F238E27FC236}">
                  <a16:creationId xmlns:a16="http://schemas.microsoft.com/office/drawing/2014/main" id="{4C1F7D79-B4B1-4D61-B0FD-0CC76A800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2771" y="4470751"/>
              <a:ext cx="311150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52" name="Rectangle 20">
              <a:extLst>
                <a:ext uri="{FF2B5EF4-FFF2-40B4-BE49-F238E27FC236}">
                  <a16:creationId xmlns:a16="http://schemas.microsoft.com/office/drawing/2014/main" id="{E363E0DC-2785-4755-9474-1FB1308F2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3658" y="4531076"/>
              <a:ext cx="312737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53" name="Rectangle 21">
              <a:extLst>
                <a:ext uri="{FF2B5EF4-FFF2-40B4-BE49-F238E27FC236}">
                  <a16:creationId xmlns:a16="http://schemas.microsoft.com/office/drawing/2014/main" id="{A0115505-A8AF-4F0B-87B0-1EF9BD7E7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7558" y="4531076"/>
              <a:ext cx="311150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54" name="Rectangle 22">
              <a:extLst>
                <a:ext uri="{FF2B5EF4-FFF2-40B4-BE49-F238E27FC236}">
                  <a16:creationId xmlns:a16="http://schemas.microsoft.com/office/drawing/2014/main" id="{03303E97-10EE-41CA-9113-B68EB7B3F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3708" y="5229576"/>
              <a:ext cx="312737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55" name="Line 14">
              <a:extLst>
                <a:ext uri="{FF2B5EF4-FFF2-40B4-BE49-F238E27FC236}">
                  <a16:creationId xmlns:a16="http://schemas.microsoft.com/office/drawing/2014/main" id="{70A4AA28-6678-4B27-B388-6FD36C8FB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47000" y="4945590"/>
              <a:ext cx="412750" cy="374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6" name="Rectangle 19">
              <a:extLst>
                <a:ext uri="{FF2B5EF4-FFF2-40B4-BE49-F238E27FC236}">
                  <a16:creationId xmlns:a16="http://schemas.microsoft.com/office/drawing/2014/main" id="{D17C9989-50DE-4566-8CEB-879EC3160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3963" y="5187507"/>
              <a:ext cx="311150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59" name="Line 14">
              <a:extLst>
                <a:ext uri="{FF2B5EF4-FFF2-40B4-BE49-F238E27FC236}">
                  <a16:creationId xmlns:a16="http://schemas.microsoft.com/office/drawing/2014/main" id="{F5C1BDF0-87A6-4CAC-AF34-FBD66E74E8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30800" y="5623060"/>
              <a:ext cx="3175" cy="4955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0" name="Rectangle 19">
              <a:extLst>
                <a:ext uri="{FF2B5EF4-FFF2-40B4-BE49-F238E27FC236}">
                  <a16:creationId xmlns:a16="http://schemas.microsoft.com/office/drawing/2014/main" id="{318124B9-6E78-4B00-8F93-F4688072F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7833" y="6061210"/>
              <a:ext cx="311150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F53C67A9-3566-483C-9505-42F0853AA35C}"/>
              </a:ext>
            </a:extLst>
          </p:cNvPr>
          <p:cNvGrpSpPr/>
          <p:nvPr/>
        </p:nvGrpSpPr>
        <p:grpSpPr>
          <a:xfrm>
            <a:off x="7043087" y="3740501"/>
            <a:ext cx="1785937" cy="2803310"/>
            <a:chOff x="7043087" y="3740501"/>
            <a:chExt cx="1785937" cy="2803310"/>
          </a:xfrm>
        </p:grpSpPr>
        <p:sp>
          <p:nvSpPr>
            <p:cNvPr id="61" name="Rectangle 13">
              <a:extLst>
                <a:ext uri="{FF2B5EF4-FFF2-40B4-BE49-F238E27FC236}">
                  <a16:creationId xmlns:a16="http://schemas.microsoft.com/office/drawing/2014/main" id="{C48D5C40-E043-4E28-A7D6-4E5F4784C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1437" y="3740501"/>
              <a:ext cx="312737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62" name="Line 14">
              <a:extLst>
                <a:ext uri="{FF2B5EF4-FFF2-40B4-BE49-F238E27FC236}">
                  <a16:creationId xmlns:a16="http://schemas.microsoft.com/office/drawing/2014/main" id="{C538C3BC-F610-4E43-B45E-30F2CB28DB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4474" y="4900964"/>
              <a:ext cx="349250" cy="374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15">
              <a:extLst>
                <a:ext uri="{FF2B5EF4-FFF2-40B4-BE49-F238E27FC236}">
                  <a16:creationId xmlns:a16="http://schemas.microsoft.com/office/drawing/2014/main" id="{BEC77DD4-183B-448E-956E-D8915E8A46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36762" y="4183414"/>
              <a:ext cx="520700" cy="4238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16">
              <a:extLst>
                <a:ext uri="{FF2B5EF4-FFF2-40B4-BE49-F238E27FC236}">
                  <a16:creationId xmlns:a16="http://schemas.microsoft.com/office/drawing/2014/main" id="{8862ED4F-8D68-41C2-89E8-3F8CCAD0E4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09862" y="4219926"/>
              <a:ext cx="6350" cy="4476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18">
              <a:extLst>
                <a:ext uri="{FF2B5EF4-FFF2-40B4-BE49-F238E27FC236}">
                  <a16:creationId xmlns:a16="http://schemas.microsoft.com/office/drawing/2014/main" id="{1BCB3F34-AF74-4D1E-9212-791F2FBBCC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32099" y="4183414"/>
              <a:ext cx="520700" cy="4238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Rectangle 19">
              <a:extLst>
                <a:ext uri="{FF2B5EF4-FFF2-40B4-BE49-F238E27FC236}">
                  <a16:creationId xmlns:a16="http://schemas.microsoft.com/office/drawing/2014/main" id="{D13FE2CA-5552-40E0-B2FD-BC04D83B5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3087" y="4450114"/>
              <a:ext cx="311150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67" name="Rectangle 20">
              <a:extLst>
                <a:ext uri="{FF2B5EF4-FFF2-40B4-BE49-F238E27FC236}">
                  <a16:creationId xmlns:a16="http://schemas.microsoft.com/office/drawing/2014/main" id="{4A79ABDA-F8BE-4B32-AF7A-EF139828F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3974" y="4510439"/>
              <a:ext cx="312737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68" name="Rectangle 21">
              <a:extLst>
                <a:ext uri="{FF2B5EF4-FFF2-40B4-BE49-F238E27FC236}">
                  <a16:creationId xmlns:a16="http://schemas.microsoft.com/office/drawing/2014/main" id="{3FFBC9FD-7988-4C2F-9511-771C92086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7874" y="4510439"/>
              <a:ext cx="311150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69" name="Rectangle 22">
              <a:extLst>
                <a:ext uri="{FF2B5EF4-FFF2-40B4-BE49-F238E27FC236}">
                  <a16:creationId xmlns:a16="http://schemas.microsoft.com/office/drawing/2014/main" id="{6210E920-C515-4878-8936-391FB1A88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4024" y="5208939"/>
              <a:ext cx="312737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70" name="Line 14">
              <a:extLst>
                <a:ext uri="{FF2B5EF4-FFF2-40B4-BE49-F238E27FC236}">
                  <a16:creationId xmlns:a16="http://schemas.microsoft.com/office/drawing/2014/main" id="{EC6EC173-6B65-48F9-AC77-3F95FABCF3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37316" y="4924953"/>
              <a:ext cx="412750" cy="374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1" name="Rectangle 19">
              <a:extLst>
                <a:ext uri="{FF2B5EF4-FFF2-40B4-BE49-F238E27FC236}">
                  <a16:creationId xmlns:a16="http://schemas.microsoft.com/office/drawing/2014/main" id="{45D94E17-684A-4D9B-801B-B2EE3401D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4279" y="5166870"/>
              <a:ext cx="311150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72" name="Line 14">
              <a:extLst>
                <a:ext uri="{FF2B5EF4-FFF2-40B4-BE49-F238E27FC236}">
                  <a16:creationId xmlns:a16="http://schemas.microsoft.com/office/drawing/2014/main" id="{BEE6B252-D49F-4BEA-8A06-6D7510E010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21116" y="5602423"/>
              <a:ext cx="3175" cy="4955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3" name="Rectangle 19">
              <a:extLst>
                <a:ext uri="{FF2B5EF4-FFF2-40B4-BE49-F238E27FC236}">
                  <a16:creationId xmlns:a16="http://schemas.microsoft.com/office/drawing/2014/main" id="{59DF64DF-8446-446F-9345-7202C0A99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8149" y="6040573"/>
              <a:ext cx="311150" cy="50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l-GR" altLang="zh-CN" sz="2800" b="1" i="1" dirty="0">
                  <a:latin typeface="Times New Roman" panose="02020603050405020304" pitchFamily="18" charset="0"/>
                </a:rPr>
                <a:t>ε</a:t>
              </a:r>
              <a:endPara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1E57C3-714E-E114-4033-5CEBDE68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18E21-4F6D-465A-A9B4-42DC76DA49E4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293FC0-3F03-5125-9873-2675EB8A9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6D75DB0-4CD2-79AA-DF5A-8A12F190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61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5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5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5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F514790-0B80-432C-B391-6307BC5DA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3.3.1 </a:t>
            </a:r>
            <a:r>
              <a:rPr lang="zh-CN" altLang="en-US" dirty="0"/>
              <a:t>自上而下分析的一般方法</a:t>
            </a:r>
          </a:p>
        </p:txBody>
      </p:sp>
      <p:sp>
        <p:nvSpPr>
          <p:cNvPr id="466947" name="Rectangle 3">
            <a:extLst>
              <a:ext uri="{FF2B5EF4-FFF2-40B4-BE49-F238E27FC236}">
                <a16:creationId xmlns:a16="http://schemas.microsoft.com/office/drawing/2014/main" id="{6F7D09BE-4544-4D8A-8290-EFDA478C39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这种方法的问题：</a:t>
            </a:r>
          </a:p>
          <a:p>
            <a:pPr lvl="1" eaLnBrk="1" hangingPunct="1"/>
            <a:r>
              <a:rPr lang="zh-CN" altLang="en-US" dirty="0"/>
              <a:t>不能处理左递归（容易陷入无限循环）</a:t>
            </a:r>
          </a:p>
          <a:p>
            <a:pPr lvl="1" eaLnBrk="1" hangingPunct="1"/>
            <a:r>
              <a:rPr lang="zh-CN" altLang="en-US" dirty="0"/>
              <a:t>需要更多临时变量来保存状态</a:t>
            </a:r>
          </a:p>
          <a:p>
            <a:pPr lvl="1" eaLnBrk="1" hangingPunct="1"/>
            <a:r>
              <a:rPr lang="zh-CN" altLang="en-US" dirty="0"/>
              <a:t>回溯导致语义工作推倒重来</a:t>
            </a:r>
          </a:p>
          <a:p>
            <a:pPr lvl="1" eaLnBrk="1" hangingPunct="1"/>
            <a:r>
              <a:rPr lang="zh-CN" altLang="en-US" dirty="0"/>
              <a:t>效率低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218B7E-6ACB-16BC-EBB1-C397035F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81F7-1AAB-4856-86F5-EFE3D29FC470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2DA307-8233-B886-4BD7-2A4E19C72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FA785E-D994-BC53-72D8-37087AA5A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AA21267B-B1EF-1EA4-1872-B1EFC2AA57B5}"/>
              </a:ext>
            </a:extLst>
          </p:cNvPr>
          <p:cNvSpPr/>
          <p:nvPr/>
        </p:nvSpPr>
        <p:spPr>
          <a:xfrm>
            <a:off x="4572000" y="3560266"/>
            <a:ext cx="4340646" cy="2783977"/>
          </a:xfrm>
          <a:prstGeom prst="cloudCallout">
            <a:avLst>
              <a:gd name="adj1" fmla="val -61638"/>
              <a:gd name="adj2" fmla="val -83413"/>
            </a:avLst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在解决实际工程问题时，若寻得的解决方案无法满足实际生产需求，则需总结关键问题，尝试寻得效率更高、稳定性更强的办法。</a:t>
            </a:r>
            <a:endParaRPr lang="zh-CN" altLang="en-US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20E400B-0B0A-4868-B3FF-4CD0B98924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3.3.2 LL(1)</a:t>
            </a:r>
            <a:r>
              <a:rPr lang="zh-CN" altLang="en-US"/>
              <a:t>文法</a:t>
            </a:r>
          </a:p>
        </p:txBody>
      </p:sp>
      <p:sp>
        <p:nvSpPr>
          <p:cNvPr id="467971" name="Rectangle 3">
            <a:extLst>
              <a:ext uri="{FF2B5EF4-FFF2-40B4-BE49-F238E27FC236}">
                <a16:creationId xmlns:a16="http://schemas.microsoft.com/office/drawing/2014/main" id="{D040A2E9-D314-44AA-AAE6-645DF741B7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3600" dirty="0">
                <a:latin typeface="Times New Roman" panose="02020603050405020304" pitchFamily="18" charset="0"/>
              </a:rPr>
              <a:t>对文法加什么样的限制可以保证没有回溯？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文法没有左递归（前提）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每次都能选择</a:t>
            </a:r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</a:rPr>
              <a:t>确定正确</a:t>
            </a:r>
            <a:r>
              <a:rPr lang="zh-CN" altLang="en-US" sz="3200" dirty="0">
                <a:latin typeface="Times New Roman" panose="02020603050405020304" pitchFamily="18" charset="0"/>
              </a:rPr>
              <a:t>的产生式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6B45CD-5ADC-1B5A-8B05-F8A6A85B3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0E2E5-4437-4A1E-A960-EFCA7992B636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183016-BA5A-3D3D-2AF7-AF1F82975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FFAE29-E0D7-9C00-F012-02064699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04014166-CC65-C85B-C811-0CC493CD0032}"/>
              </a:ext>
            </a:extLst>
          </p:cNvPr>
          <p:cNvSpPr/>
          <p:nvPr/>
        </p:nvSpPr>
        <p:spPr>
          <a:xfrm>
            <a:off x="4693185" y="3872810"/>
            <a:ext cx="4313105" cy="2304153"/>
          </a:xfrm>
          <a:prstGeom prst="cloudCallout">
            <a:avLst>
              <a:gd name="adj1" fmla="val -49412"/>
              <a:gd name="adj2" fmla="val -66928"/>
            </a:avLst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accent2"/>
                </a:solidFill>
              </a:rPr>
              <a:t>如果文法有二义性或者有左公因子，会怎样？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6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20E400B-0B0A-4868-B3FF-4CD0B98924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3.3.2 LL(1)</a:t>
            </a:r>
            <a:r>
              <a:rPr lang="zh-CN" altLang="en-US"/>
              <a:t>文法</a:t>
            </a:r>
          </a:p>
        </p:txBody>
      </p:sp>
      <p:sp>
        <p:nvSpPr>
          <p:cNvPr id="467971" name="Rectangle 3">
            <a:extLst>
              <a:ext uri="{FF2B5EF4-FFF2-40B4-BE49-F238E27FC236}">
                <a16:creationId xmlns:a16="http://schemas.microsoft.com/office/drawing/2014/main" id="{D040A2E9-D314-44AA-AAE6-645DF741B7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dirty="0"/>
              <a:t>预测分析法（</a:t>
            </a:r>
            <a:r>
              <a:rPr lang="en-US" altLang="zh-CN" dirty="0"/>
              <a:t>Predictive Parsing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spcBef>
                <a:spcPct val="0"/>
              </a:spcBef>
            </a:pPr>
            <a:r>
              <a:rPr lang="zh-CN" altLang="en-US" dirty="0"/>
              <a:t>预测分析是自上而下分析技术的一个</a:t>
            </a:r>
            <a:r>
              <a:rPr lang="zh-CN" altLang="en-US" dirty="0">
                <a:solidFill>
                  <a:schemeClr val="accent2"/>
                </a:solidFill>
              </a:rPr>
              <a:t>特例</a:t>
            </a:r>
            <a:r>
              <a:rPr lang="zh-CN" altLang="en-US" dirty="0"/>
              <a:t>，通过在输入中向前看固定个数（通常是一个）符号来选择正确的产生式。</a:t>
            </a:r>
            <a:endParaRPr lang="en-US" altLang="zh-CN" dirty="0"/>
          </a:p>
          <a:p>
            <a:pPr lvl="1">
              <a:spcBef>
                <a:spcPct val="0"/>
              </a:spcBef>
            </a:pPr>
            <a:r>
              <a:rPr lang="zh-CN" altLang="en-US" dirty="0"/>
              <a:t>可以对某些文法构造出向前看</a:t>
            </a:r>
            <a:r>
              <a:rPr lang="en-US" altLang="zh-CN" dirty="0"/>
              <a:t>k</a:t>
            </a:r>
            <a:r>
              <a:rPr lang="zh-CN" altLang="en-US" dirty="0"/>
              <a:t>个输入符号的预测分析器，该类文法有时也称为</a:t>
            </a:r>
            <a:r>
              <a:rPr lang="en-US" altLang="zh-CN" dirty="0">
                <a:solidFill>
                  <a:schemeClr val="accent2"/>
                </a:solidFill>
              </a:rPr>
              <a:t>LL(k) </a:t>
            </a:r>
            <a:r>
              <a:rPr lang="zh-CN" altLang="en-US" dirty="0"/>
              <a:t>文法类</a:t>
            </a:r>
            <a:endParaRPr lang="en-US" altLang="zh-CN" dirty="0"/>
          </a:p>
          <a:p>
            <a:pPr lvl="1">
              <a:spcBef>
                <a:spcPct val="0"/>
              </a:spcBef>
            </a:pPr>
            <a:r>
              <a:rPr lang="zh-CN" altLang="en-US" dirty="0"/>
              <a:t>预测分析</a:t>
            </a:r>
            <a:r>
              <a:rPr lang="zh-CN" altLang="en-US" dirty="0">
                <a:solidFill>
                  <a:schemeClr val="accent2"/>
                </a:solidFill>
              </a:rPr>
              <a:t>不需要回溯</a:t>
            </a:r>
            <a:r>
              <a:rPr lang="zh-CN" altLang="en-US" dirty="0"/>
              <a:t>，是一种确定的自顶向下分析方法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C282F3-FACB-422A-8228-48B9A2A01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1961" y="5396089"/>
            <a:ext cx="5420078" cy="11401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+mn-ea"/>
                <a:ea typeface="+mn-ea"/>
              </a:rPr>
              <a:t>下面介绍的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LL(1)</a:t>
            </a:r>
            <a:r>
              <a:rPr lang="zh-CN" altLang="en-US" b="0" dirty="0">
                <a:latin typeface="+mn-ea"/>
                <a:ea typeface="+mn-ea"/>
              </a:rPr>
              <a:t>文法是符合预测分析的一种文法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69A99C-D47A-9982-EA8D-F1EF40B7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C3A70-6BB7-4A0F-B57D-ED3885D5809D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C245DD-61B1-F4D7-F94F-2AE6226D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982B65-655A-D720-9A23-A14BF5F7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6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6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20E400B-0B0A-4868-B3FF-4CD0B98924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3.3.2 LL(1)</a:t>
            </a:r>
            <a:r>
              <a:rPr lang="zh-CN" altLang="en-US"/>
              <a:t>文法</a:t>
            </a:r>
          </a:p>
        </p:txBody>
      </p:sp>
      <p:sp>
        <p:nvSpPr>
          <p:cNvPr id="467971" name="Rectangle 3">
            <a:extLst>
              <a:ext uri="{FF2B5EF4-FFF2-40B4-BE49-F238E27FC236}">
                <a16:creationId xmlns:a16="http://schemas.microsoft.com/office/drawing/2014/main" id="{D040A2E9-D314-44AA-AAE6-645DF741B7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先定义两个和文法有关的函数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FIRST 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)={</a:t>
            </a:r>
            <a:r>
              <a:rPr lang="en-US" altLang="zh-CN" b="1" i="1" dirty="0"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Times New Roman" panose="02020603050405020304" pitchFamily="18" charset="0"/>
              </a:rPr>
              <a:t>*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…,</a:t>
            </a:r>
            <a:r>
              <a:rPr lang="en-US" altLang="zh-CN" b="1" i="1" dirty="0">
                <a:latin typeface="Times New Roman" panose="02020603050405020304" pitchFamily="18" charset="0"/>
              </a:rPr>
              <a:t> a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i="1" baseline="-30000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}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特别的，</a:t>
            </a:r>
            <a:r>
              <a:rPr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b="1" i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b="1" dirty="0">
                <a:latin typeface="Times New Roman" panose="02020603050405020304" pitchFamily="18" charset="0"/>
              </a:rPr>
              <a:t>*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dirty="0">
                <a:latin typeface="Times New Roman" panose="02020603050405020304" pitchFamily="18" charset="0"/>
              </a:rPr>
              <a:t>时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规定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FIRST 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对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的任何两个不同选择</a:t>
            </a:r>
            <a:r>
              <a:rPr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baseline="-30000" dirty="0" err="1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baseline="-30000" dirty="0">
                <a:latin typeface="Times New Roman" panose="02020603050405020304" pitchFamily="18" charset="0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希望有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			</a:t>
            </a:r>
            <a:r>
              <a:rPr lang="en-US" altLang="zh-CN" b="1" dirty="0">
                <a:latin typeface="Times New Roman" panose="02020603050405020304" pitchFamily="18" charset="0"/>
              </a:rPr>
              <a:t>FIRST 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baseline="-30000" dirty="0" err="1">
                <a:latin typeface="Times New Roman" panose="02020603050405020304" pitchFamily="18" charset="0"/>
              </a:rPr>
              <a:t>i</a:t>
            </a:r>
            <a:r>
              <a:rPr lang="en-US" altLang="zh-CN" b="1" i="1" baseline="-30000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dirty="0">
                <a:latin typeface="Times New Roman" panose="02020603050405020304" pitchFamily="18" charset="0"/>
              </a:rPr>
              <a:t> FIRST 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baseline="-30000" dirty="0">
                <a:latin typeface="Times New Roman" panose="02020603050405020304" pitchFamily="18" charset="0"/>
              </a:rPr>
              <a:t>j </a:t>
            </a:r>
            <a:r>
              <a:rPr lang="en-US" altLang="zh-CN" b="1" dirty="0">
                <a:latin typeface="Times New Roman" panose="02020603050405020304" pitchFamily="18" charset="0"/>
              </a:rPr>
              <a:t>) =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FIRST (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baseline="-300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i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FIRST (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含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，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还需增加条件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68C624-4117-3599-082F-BFA01C7FC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7BC99-BFF6-4FB2-B3FD-C23A29532A1B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FC5B1A-67A5-8B41-D262-1F0739BE0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92D282-DF57-D52C-70E4-F5AF24DE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13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D117851-7C0A-4BB4-B6D9-AB45B0C8E5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3.3.2 LL(1)</a:t>
            </a:r>
            <a:r>
              <a:rPr lang="zh-CN" altLang="en-US" dirty="0"/>
              <a:t>文法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FD17021-5A7C-4CEB-954A-029092D26E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先定义两个和文法有关的函数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FIRST 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)={</a:t>
            </a:r>
            <a:r>
              <a:rPr lang="en-US" altLang="zh-CN" b="1" i="1" dirty="0"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Times New Roman" panose="02020603050405020304" pitchFamily="18" charset="0"/>
              </a:rPr>
              <a:t>*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…,</a:t>
            </a:r>
            <a:r>
              <a:rPr lang="en-US" altLang="zh-CN" b="1" i="1" dirty="0">
                <a:latin typeface="Times New Roman" panose="02020603050405020304" pitchFamily="18" charset="0"/>
              </a:rPr>
              <a:t> a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i="1" baseline="-30000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}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特别的，</a:t>
            </a:r>
            <a:r>
              <a:rPr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b="1" i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b="1" dirty="0">
                <a:latin typeface="Times New Roman" panose="02020603050405020304" pitchFamily="18" charset="0"/>
              </a:rPr>
              <a:t>*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dirty="0">
                <a:latin typeface="Times New Roman" panose="02020603050405020304" pitchFamily="18" charset="0"/>
              </a:rPr>
              <a:t>时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规定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FIRST 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lvl="1" algn="just" eaLnBrk="1" hangingPunct="1">
              <a:spcBef>
                <a:spcPct val="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FOLLOW (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) =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| 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$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Times New Roman" panose="02020603050405020304" pitchFamily="18" charset="0"/>
              </a:rPr>
              <a:t>* …</a:t>
            </a:r>
            <a:r>
              <a:rPr lang="en-US" altLang="zh-CN" b="1" i="1" dirty="0">
                <a:latin typeface="Times New Roman" panose="02020603050405020304" pitchFamily="18" charset="0"/>
              </a:rPr>
              <a:t>Aa</a:t>
            </a:r>
            <a:r>
              <a:rPr lang="en-US" altLang="zh-CN" b="1" dirty="0">
                <a:latin typeface="Times New Roman" panose="02020603050405020304" pitchFamily="18" charset="0"/>
              </a:rPr>
              <a:t>…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b="1" i="1" baseline="-30000" dirty="0" err="1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</a:rPr>
              <a:t>特别的，如果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是某个句型的最右符号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那么</a:t>
            </a:r>
            <a:r>
              <a:rPr lang="en-US" altLang="zh-CN" b="1" dirty="0">
                <a:latin typeface="Times New Roman" panose="02020603050405020304" pitchFamily="18" charset="0"/>
              </a:rPr>
              <a:t>$</a:t>
            </a:r>
            <a:r>
              <a:rPr lang="zh-CN" altLang="en-US" dirty="0">
                <a:latin typeface="Times New Roman" panose="02020603050405020304" pitchFamily="18" charset="0"/>
              </a:rPr>
              <a:t>属于</a:t>
            </a:r>
            <a:r>
              <a:rPr lang="en-US" altLang="zh-CN" b="1" dirty="0">
                <a:latin typeface="Times New Roman" panose="02020603050405020304" pitchFamily="18" charset="0"/>
              </a:rPr>
              <a:t>FOLLOW(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FD504B-245D-4A85-BF6D-016A0E005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666C-EC4A-4C43-A299-6594025AF17F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C07DF6-B823-B264-302F-703C2A4E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AB7B58-6DDF-E9BF-B56A-D22E8303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9E9F55F-9F8E-4AC5-BD3C-E7EBDBB43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3.3.2 LL(1)</a:t>
            </a:r>
            <a:r>
              <a:rPr lang="zh-CN" altLang="en-US" dirty="0"/>
              <a:t>文法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AA3AF7F-F86F-4DEF-A2F4-EE1705A1F0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计算</a:t>
            </a:r>
            <a:r>
              <a:rPr lang="en-US" altLang="zh-CN" b="1" dirty="0">
                <a:latin typeface="Times New Roman" panose="02020603050405020304" pitchFamily="18" charset="0"/>
              </a:rPr>
              <a:t>FIRST 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：重复下列算法直到无新的终结符或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可以加入</a:t>
            </a:r>
            <a:r>
              <a:rPr lang="en-US" altLang="zh-CN" b="1" dirty="0">
                <a:latin typeface="Times New Roman" panose="02020603050405020304" pitchFamily="18" charset="0"/>
              </a:rPr>
              <a:t>FIRST 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是终结符，则</a:t>
            </a:r>
            <a:r>
              <a:rPr lang="en-US" altLang="zh-CN" b="1" dirty="0">
                <a:latin typeface="Times New Roman" panose="02020603050405020304" pitchFamily="18" charset="0"/>
              </a:rPr>
              <a:t>FIRST(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)={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} 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是非终结符，且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="0" i="0" u="none" strike="noStrike" baseline="0" dirty="0" err="1"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lang="en-US" altLang="zh-CN" b="1" i="1" u="none" strike="noStrike" baseline="0" dirty="0" err="1">
                <a:latin typeface="TimesNewRomanPS-BoldItalicMT"/>
                <a:ea typeface="宋体" panose="02010600030101010101" pitchFamily="2" charset="-122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，则对某个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，若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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FIRST(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)…FIRST(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i-1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即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i="0" u="none" strike="noStrike" baseline="0" dirty="0">
                <a:latin typeface="TimesNewRomanPS-BoldMT"/>
              </a:rPr>
              <a:t>...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Y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i-1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Times New Roman" panose="02020603050405020304" pitchFamily="18" charset="0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而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FIRST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FIRST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。若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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FIRST(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)…FIRST(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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FIRST(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</a:t>
            </a:r>
            <a:r>
              <a:rPr lang="en-US" altLang="zh-CN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lang="en-US" altLang="zh-CN" b="1" i="1" u="none" strike="noStrike" baseline="0" dirty="0">
                <a:latin typeface="TimesNewRomanPS-BoldItalicMT"/>
                <a:ea typeface="宋体" panose="02010600030101010101" pitchFamily="2" charset="-122"/>
              </a:rPr>
              <a:t>P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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FIRST(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D84DE8-C624-3049-B196-80317EAAE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A227D-1C4B-4058-9BB1-AB4E5F449B99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F6F30B-0AC3-B133-4EDB-035DE8430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8D6EBA-2DD3-EA01-DA7E-06093D314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6E9B5-9F8D-4582-82E7-1C080D75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3.3.2 LL(1)</a:t>
            </a:r>
            <a:r>
              <a:rPr lang="zh-CN" altLang="en-US" dirty="0"/>
              <a:t>文法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9D602D-A133-4B87-A655-0D4674BCA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例：</a:t>
            </a:r>
            <a:endParaRPr lang="en-US" altLang="zh-CN" dirty="0"/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TE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			</a:t>
            </a:r>
            <a:r>
              <a:rPr lang="en-US" altLang="zh-CN" b="1" dirty="0">
                <a:latin typeface="Times New Roman" panose="02020603050405020304" pitchFamily="18" charset="0"/>
              </a:rPr>
              <a:t>FIRST( </a:t>
            </a:r>
            <a:r>
              <a:rPr lang="en-US" altLang="zh-CN" b="1" i="1" dirty="0">
                <a:latin typeface="Times New Roman" panose="02020603050405020304" pitchFamily="18" charset="0"/>
              </a:rPr>
              <a:t>E </a:t>
            </a:r>
            <a:r>
              <a:rPr lang="en-US" altLang="zh-CN" b="1" dirty="0">
                <a:latin typeface="Times New Roman" panose="02020603050405020304" pitchFamily="18" charset="0"/>
              </a:rPr>
              <a:t>) = {		}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E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+ </a:t>
            </a:r>
            <a:r>
              <a:rPr lang="en-US" altLang="zh-CN" b="1" i="1" dirty="0">
                <a:latin typeface="Times New Roman" panose="02020603050405020304" pitchFamily="18" charset="0"/>
              </a:rPr>
              <a:t>TE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		</a:t>
            </a:r>
            <a:r>
              <a:rPr lang="en-US" altLang="zh-CN" b="1" dirty="0">
                <a:latin typeface="Times New Roman" panose="02020603050405020304" pitchFamily="18" charset="0"/>
              </a:rPr>
              <a:t>FIRST(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en-US" altLang="zh-CN" b="1" dirty="0">
                <a:latin typeface="Times New Roman" panose="02020603050405020304" pitchFamily="18" charset="0"/>
              </a:rPr>
              <a:t>) = {		}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FT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 			</a:t>
            </a:r>
            <a:r>
              <a:rPr lang="en-US" altLang="zh-CN" b="1" dirty="0">
                <a:latin typeface="Times New Roman" panose="02020603050405020304" pitchFamily="18" charset="0"/>
              </a:rPr>
              <a:t>FIRST( </a:t>
            </a:r>
            <a:r>
              <a:rPr lang="en-US" altLang="zh-CN" b="1" i="1" dirty="0">
                <a:latin typeface="Times New Roman" panose="02020603050405020304" pitchFamily="18" charset="0"/>
              </a:rPr>
              <a:t>T </a:t>
            </a:r>
            <a:r>
              <a:rPr lang="en-US" altLang="zh-CN" b="1" dirty="0">
                <a:latin typeface="Times New Roman" panose="02020603050405020304" pitchFamily="18" charset="0"/>
              </a:rPr>
              <a:t>) = {		}</a:t>
            </a:r>
            <a:endParaRPr lang="en-US" altLang="zh-CN" b="1" baseline="30000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T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FT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		</a:t>
            </a:r>
            <a:r>
              <a:rPr lang="en-US" altLang="zh-CN" b="1" dirty="0">
                <a:latin typeface="Times New Roman" panose="02020603050405020304" pitchFamily="18" charset="0"/>
              </a:rPr>
              <a:t>FIRST(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en-US" altLang="zh-CN" b="1" dirty="0">
                <a:latin typeface="Times New Roman" panose="02020603050405020304" pitchFamily="18" charset="0"/>
              </a:rPr>
              <a:t>) = {		}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( 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 ) | id		FIRST( </a:t>
            </a:r>
            <a:r>
              <a:rPr lang="en-US" altLang="zh-CN" b="1" i="1" dirty="0">
                <a:latin typeface="Times New Roman" panose="02020603050405020304" pitchFamily="18" charset="0"/>
              </a:rPr>
              <a:t>F </a:t>
            </a:r>
            <a:r>
              <a:rPr lang="en-US" altLang="zh-CN" b="1" dirty="0">
                <a:latin typeface="Times New Roman" panose="02020603050405020304" pitchFamily="18" charset="0"/>
              </a:rPr>
              <a:t>) = {		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906110-FD65-452F-A927-4AE8577983C6}"/>
              </a:ext>
            </a:extLst>
          </p:cNvPr>
          <p:cNvSpPr txBox="1"/>
          <p:nvPr/>
        </p:nvSpPr>
        <p:spPr>
          <a:xfrm>
            <a:off x="7029450" y="1762125"/>
            <a:ext cx="8675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(, id</a:t>
            </a:r>
            <a:endParaRPr lang="zh-CN" alt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717974-AB6E-4B42-9464-E55976AB0E5F}"/>
              </a:ext>
            </a:extLst>
          </p:cNvPr>
          <p:cNvSpPr txBox="1"/>
          <p:nvPr/>
        </p:nvSpPr>
        <p:spPr>
          <a:xfrm>
            <a:off x="7069524" y="3193709"/>
            <a:ext cx="827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*, </a:t>
            </a:r>
            <a:r>
              <a:rPr lang="en-US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zh-CN" alt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64E817-11EC-48D5-B216-569C1E79BFC4}"/>
              </a:ext>
            </a:extLst>
          </p:cNvPr>
          <p:cNvSpPr txBox="1"/>
          <p:nvPr/>
        </p:nvSpPr>
        <p:spPr>
          <a:xfrm>
            <a:off x="7009412" y="2756351"/>
            <a:ext cx="8675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(, id</a:t>
            </a:r>
            <a:endParaRPr lang="zh-CN" alt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BC24F1-F0EC-4027-ABD2-15A065437EB1}"/>
              </a:ext>
            </a:extLst>
          </p:cNvPr>
          <p:cNvSpPr txBox="1"/>
          <p:nvPr/>
        </p:nvSpPr>
        <p:spPr>
          <a:xfrm>
            <a:off x="7009412" y="3697146"/>
            <a:ext cx="8675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(, id</a:t>
            </a:r>
            <a:endParaRPr lang="zh-CN" alt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86D9EF-1F89-49AE-9E62-32EDF2F48182}"/>
              </a:ext>
            </a:extLst>
          </p:cNvPr>
          <p:cNvSpPr txBox="1"/>
          <p:nvPr/>
        </p:nvSpPr>
        <p:spPr>
          <a:xfrm>
            <a:off x="7049486" y="2210640"/>
            <a:ext cx="827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+, </a:t>
            </a:r>
            <a:r>
              <a:rPr lang="en-US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zh-CN" alt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CBDF49-9D37-B52A-223D-67D312B5E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B60A9-D63F-40D1-9916-322274BBF538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CC584F-D699-266D-0F49-3E45ED4E6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C2E19D1B-6802-7792-3DB3-6C31A8F2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30</a:t>
            </a:fld>
            <a:endParaRPr lang="zh-CN" altLang="en-US"/>
          </a:p>
        </p:txBody>
      </p:sp>
      <p:pic>
        <p:nvPicPr>
          <p:cNvPr id="12" name="图片 11" descr="图标&#10;&#10;描述已自动生成">
            <a:extLst>
              <a:ext uri="{FF2B5EF4-FFF2-40B4-BE49-F238E27FC236}">
                <a16:creationId xmlns:a16="http://schemas.microsoft.com/office/drawing/2014/main" id="{DA15A85C-15E7-5448-DF2D-3E09020DA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6733" y="321851"/>
            <a:ext cx="804397" cy="80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2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2214B55-FAD4-4E09-A2FA-1D316F4F54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3.3.2 LL(1)</a:t>
            </a:r>
            <a:r>
              <a:rPr lang="zh-CN" altLang="en-US" dirty="0"/>
              <a:t>文法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8C9E7A0-6679-4334-92DF-B5373DA8EC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计算</a:t>
            </a:r>
            <a:r>
              <a:rPr lang="en-US" altLang="zh-CN" sz="2800" b="1" dirty="0">
                <a:latin typeface="Times New Roman" panose="02020603050405020304" pitchFamily="18" charset="0"/>
              </a:rPr>
              <a:t>FOLLOW 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是非终结符。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重复下列算法直到无新的符号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可以加入</a:t>
            </a:r>
            <a:r>
              <a:rPr lang="en-US" altLang="zh-CN" sz="2800" b="1" dirty="0">
                <a:latin typeface="Times New Roman" panose="02020603050405020304" pitchFamily="18" charset="0"/>
              </a:rPr>
              <a:t>FOLLOW (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如果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</a:rPr>
              <a:t>是开始符号，则</a:t>
            </a:r>
            <a:r>
              <a:rPr lang="en-US" altLang="zh-CN" sz="2400" b="1" dirty="0">
                <a:latin typeface="Times New Roman" panose="02020603050405020304" pitchFamily="18" charset="0"/>
              </a:rPr>
              <a:t>$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FOLLOW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），</a:t>
            </a:r>
            <a:r>
              <a:rPr lang="en-US" altLang="zh-CN" sz="2400" b="1" dirty="0">
                <a:latin typeface="Times New Roman" panose="02020603050405020304" pitchFamily="18" charset="0"/>
              </a:rPr>
              <a:t>$</a:t>
            </a:r>
            <a:r>
              <a:rPr lang="zh-CN" altLang="en-US" sz="2400" dirty="0">
                <a:latin typeface="Times New Roman" panose="02020603050405020304" pitchFamily="18" charset="0"/>
              </a:rPr>
              <a:t>是输入右端的结束标记</a:t>
            </a:r>
            <a:endParaRPr lang="zh-CN" altLang="en-US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若有产生式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A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中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除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以外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的一切符号都属于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若有产生式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A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，或产生式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A 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而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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)FOLLOW(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，即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中的一切符号都要放入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中</a:t>
            </a:r>
            <a:endParaRPr lang="zh-CN" altLang="en-US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C7EF0C-CEA4-872E-34DF-69CEF603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49BE7-2BF5-491F-9AD7-CB911DBCCA60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7C1060-FA1A-FCC9-4F39-8ACBD3160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902F0C-C89C-71AA-7D07-73938267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6E9B5-9F8D-4582-82E7-1C080D75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3.3.2 LL(1)</a:t>
            </a:r>
            <a:r>
              <a:rPr lang="zh-CN" altLang="en-US" dirty="0"/>
              <a:t>文法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9D602D-A133-4B87-A655-0D4674BCA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" y="1257300"/>
            <a:ext cx="8867775" cy="4919663"/>
          </a:xfrm>
        </p:spPr>
        <p:txBody>
          <a:bodyPr>
            <a:noAutofit/>
          </a:bodyPr>
          <a:lstStyle/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		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(, id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}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 	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+, 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}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FT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 		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(, id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}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FT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 	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*, 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}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) | id		FIRST(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(, id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 }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7F7EC36-0A9F-49F0-9C97-E62DDBCBAA22}"/>
              </a:ext>
            </a:extLst>
          </p:cNvPr>
          <p:cNvSpPr txBox="1"/>
          <p:nvPr/>
        </p:nvSpPr>
        <p:spPr>
          <a:xfrm>
            <a:off x="7998679" y="3817952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E863A8-1C1C-47D0-BCC6-10B45BCD1AA1}"/>
              </a:ext>
            </a:extLst>
          </p:cNvPr>
          <p:cNvSpPr txBox="1"/>
          <p:nvPr/>
        </p:nvSpPr>
        <p:spPr>
          <a:xfrm>
            <a:off x="295276" y="1252436"/>
            <a:ext cx="8467724" cy="23083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、如果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</a:rPr>
              <a:t>是开始符号，则</a:t>
            </a:r>
            <a:r>
              <a:rPr lang="en-US" altLang="zh-CN" sz="2400" b="1" dirty="0">
                <a:latin typeface="Times New Roman" panose="02020603050405020304" pitchFamily="18" charset="0"/>
              </a:rPr>
              <a:t>$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FOLLOW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、若有产生式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A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中除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以外的一切符号都属于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、若有产生式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A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，或产生式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A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而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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)FOLLOW(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，即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中的一切符号都要放入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中</a:t>
            </a:r>
            <a:endParaRPr lang="zh-CN" altLang="en-US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4AE3D0-6D90-4B47-8343-39A13EA8D9CE}"/>
              </a:ext>
            </a:extLst>
          </p:cNvPr>
          <p:cNvSpPr txBox="1"/>
          <p:nvPr/>
        </p:nvSpPr>
        <p:spPr>
          <a:xfrm>
            <a:off x="7974867" y="4607251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CF8C301-03F0-4508-9BD2-B40D96D24A9E}"/>
              </a:ext>
            </a:extLst>
          </p:cNvPr>
          <p:cNvSpPr txBox="1"/>
          <p:nvPr/>
        </p:nvSpPr>
        <p:spPr>
          <a:xfrm>
            <a:off x="8206428" y="4628554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6FCDB6F-CC17-465B-8B4C-4F80EABEFB44}"/>
              </a:ext>
            </a:extLst>
          </p:cNvPr>
          <p:cNvSpPr txBox="1"/>
          <p:nvPr/>
        </p:nvSpPr>
        <p:spPr>
          <a:xfrm>
            <a:off x="8016829" y="4236107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F82C7BB-4496-4A82-AE65-2A4049E28423}"/>
              </a:ext>
            </a:extLst>
          </p:cNvPr>
          <p:cNvSpPr txBox="1"/>
          <p:nvPr/>
        </p:nvSpPr>
        <p:spPr>
          <a:xfrm>
            <a:off x="7983751" y="5392107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38870A-C1A8-4F5C-A6F9-F8771A1A72CC}"/>
              </a:ext>
            </a:extLst>
          </p:cNvPr>
          <p:cNvSpPr txBox="1"/>
          <p:nvPr/>
        </p:nvSpPr>
        <p:spPr>
          <a:xfrm>
            <a:off x="8153400" y="5365747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96F5012-48CD-4A45-B56C-35141FB78F8F}"/>
              </a:ext>
            </a:extLst>
          </p:cNvPr>
          <p:cNvSpPr txBox="1"/>
          <p:nvPr/>
        </p:nvSpPr>
        <p:spPr>
          <a:xfrm>
            <a:off x="7972425" y="5029104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D0608D-4504-4AC3-9B18-E128AD62AA45}"/>
              </a:ext>
            </a:extLst>
          </p:cNvPr>
          <p:cNvSpPr txBox="1"/>
          <p:nvPr/>
        </p:nvSpPr>
        <p:spPr>
          <a:xfrm>
            <a:off x="8287390" y="3806150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3A2B97B-B865-4606-BFD8-84EDF242B56E}"/>
              </a:ext>
            </a:extLst>
          </p:cNvPr>
          <p:cNvSpPr txBox="1"/>
          <p:nvPr/>
        </p:nvSpPr>
        <p:spPr>
          <a:xfrm>
            <a:off x="3210878" y="6077192"/>
            <a:ext cx="2722244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第一轮结束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335FBC-13C4-4334-A8E4-C5E7C605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AF02F-D5F3-4EA6-ABCD-73D55C492E96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4B7AE0-2C03-EB5F-344E-5ECED6EB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E2A1FE-593C-D2E0-782F-3B2712E42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32</a:t>
            </a:fld>
            <a:endParaRPr lang="zh-CN" altLang="en-US"/>
          </a:p>
        </p:txBody>
      </p:sp>
      <p:pic>
        <p:nvPicPr>
          <p:cNvPr id="7" name="图片 6" descr="图标&#10;&#10;描述已自动生成">
            <a:extLst>
              <a:ext uri="{FF2B5EF4-FFF2-40B4-BE49-F238E27FC236}">
                <a16:creationId xmlns:a16="http://schemas.microsoft.com/office/drawing/2014/main" id="{6143E36B-9B68-9C12-C7B4-B1009B619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6733" y="321851"/>
            <a:ext cx="804397" cy="80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32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6E9B5-9F8D-4582-82E7-1C080D75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3.3.2 LL(1)</a:t>
            </a:r>
            <a:r>
              <a:rPr lang="zh-CN" altLang="en-US" dirty="0"/>
              <a:t>文法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9D602D-A133-4B87-A655-0D4674BCA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" y="1257300"/>
            <a:ext cx="8867775" cy="4919663"/>
          </a:xfrm>
        </p:spPr>
        <p:txBody>
          <a:bodyPr>
            <a:noAutofit/>
          </a:bodyPr>
          <a:lstStyle/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		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(, id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}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 	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+, 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}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FT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 		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(, id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}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FT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 	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*, 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}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) | id		FIRST(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(, id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 }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7F7EC36-0A9F-49F0-9C97-E62DDBCBAA22}"/>
              </a:ext>
            </a:extLst>
          </p:cNvPr>
          <p:cNvSpPr txBox="1"/>
          <p:nvPr/>
        </p:nvSpPr>
        <p:spPr>
          <a:xfrm>
            <a:off x="7998679" y="3817952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E863A8-1C1C-47D0-BCC6-10B45BCD1AA1}"/>
              </a:ext>
            </a:extLst>
          </p:cNvPr>
          <p:cNvSpPr txBox="1"/>
          <p:nvPr/>
        </p:nvSpPr>
        <p:spPr>
          <a:xfrm>
            <a:off x="295276" y="1252436"/>
            <a:ext cx="8467724" cy="23083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、如果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</a:rPr>
              <a:t>是开始符号，则</a:t>
            </a:r>
            <a:r>
              <a:rPr lang="en-US" altLang="zh-CN" sz="2400" b="1" dirty="0">
                <a:latin typeface="Times New Roman" panose="02020603050405020304" pitchFamily="18" charset="0"/>
              </a:rPr>
              <a:t>$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FOLLOW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、若有产生式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A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中除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以外的一切符号都属于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、若有产生式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A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，或产生式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A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而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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)FOLLOW(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，即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中的一切符号都要放入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中</a:t>
            </a:r>
            <a:endParaRPr lang="zh-CN" altLang="en-US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4AE3D0-6D90-4B47-8343-39A13EA8D9CE}"/>
              </a:ext>
            </a:extLst>
          </p:cNvPr>
          <p:cNvSpPr txBox="1"/>
          <p:nvPr/>
        </p:nvSpPr>
        <p:spPr>
          <a:xfrm>
            <a:off x="7974867" y="4607251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CF8C301-03F0-4508-9BD2-B40D96D24A9E}"/>
              </a:ext>
            </a:extLst>
          </p:cNvPr>
          <p:cNvSpPr txBox="1"/>
          <p:nvPr/>
        </p:nvSpPr>
        <p:spPr>
          <a:xfrm>
            <a:off x="8206428" y="4628554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6FCDB6F-CC17-465B-8B4C-4F80EABEFB44}"/>
              </a:ext>
            </a:extLst>
          </p:cNvPr>
          <p:cNvSpPr txBox="1"/>
          <p:nvPr/>
        </p:nvSpPr>
        <p:spPr>
          <a:xfrm>
            <a:off x="8016829" y="4236107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F82C7BB-4496-4A82-AE65-2A4049E28423}"/>
              </a:ext>
            </a:extLst>
          </p:cNvPr>
          <p:cNvSpPr txBox="1"/>
          <p:nvPr/>
        </p:nvSpPr>
        <p:spPr>
          <a:xfrm>
            <a:off x="7983751" y="5392107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38870A-C1A8-4F5C-A6F9-F8771A1A72CC}"/>
              </a:ext>
            </a:extLst>
          </p:cNvPr>
          <p:cNvSpPr txBox="1"/>
          <p:nvPr/>
        </p:nvSpPr>
        <p:spPr>
          <a:xfrm>
            <a:off x="8153400" y="5365747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96F5012-48CD-4A45-B56C-35141FB78F8F}"/>
              </a:ext>
            </a:extLst>
          </p:cNvPr>
          <p:cNvSpPr txBox="1"/>
          <p:nvPr/>
        </p:nvSpPr>
        <p:spPr>
          <a:xfrm>
            <a:off x="7972425" y="5029104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D0608D-4504-4AC3-9B18-E128AD62AA45}"/>
              </a:ext>
            </a:extLst>
          </p:cNvPr>
          <p:cNvSpPr txBox="1"/>
          <p:nvPr/>
        </p:nvSpPr>
        <p:spPr>
          <a:xfrm>
            <a:off x="8287390" y="3806150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3A2B97B-B865-4606-BFD8-84EDF242B56E}"/>
              </a:ext>
            </a:extLst>
          </p:cNvPr>
          <p:cNvSpPr txBox="1"/>
          <p:nvPr/>
        </p:nvSpPr>
        <p:spPr>
          <a:xfrm>
            <a:off x="3210878" y="6105646"/>
            <a:ext cx="2722244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第二轮结束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B697372-8376-47CB-B392-0AF164716965}"/>
              </a:ext>
            </a:extLst>
          </p:cNvPr>
          <p:cNvSpPr txBox="1"/>
          <p:nvPr/>
        </p:nvSpPr>
        <p:spPr>
          <a:xfrm>
            <a:off x="8440431" y="4607251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0C8F7D5-6594-4305-849E-18FFE80A618E}"/>
              </a:ext>
            </a:extLst>
          </p:cNvPr>
          <p:cNvSpPr txBox="1"/>
          <p:nvPr/>
        </p:nvSpPr>
        <p:spPr>
          <a:xfrm>
            <a:off x="8323430" y="4209747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E20109D-2ACA-48C6-95E8-00BC9AFB1477}"/>
              </a:ext>
            </a:extLst>
          </p:cNvPr>
          <p:cNvSpPr txBox="1"/>
          <p:nvPr/>
        </p:nvSpPr>
        <p:spPr>
          <a:xfrm>
            <a:off x="8574681" y="5336352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A3C4E4A-46C3-4C63-B6B7-D0ACF446BAA0}"/>
              </a:ext>
            </a:extLst>
          </p:cNvPr>
          <p:cNvSpPr txBox="1"/>
          <p:nvPr/>
        </p:nvSpPr>
        <p:spPr>
          <a:xfrm>
            <a:off x="8432326" y="4988519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2474BB-25E8-B101-3902-4062F118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54F94-1DCB-4F83-BB6A-C5F4812850AA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DA621-89AD-45CB-2ED2-E20A62840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BCA836-35B5-B34E-488B-C1B545F2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73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0" grpId="0"/>
      <p:bldP spid="28" grpId="0"/>
      <p:bldP spid="29" grpId="0"/>
      <p:bldP spid="3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6E9B5-9F8D-4582-82E7-1C080D75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3.3.2 LL(1)</a:t>
            </a:r>
            <a:r>
              <a:rPr lang="zh-CN" altLang="en-US" dirty="0"/>
              <a:t>文法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9D602D-A133-4B87-A655-0D4674BCA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" y="1257300"/>
            <a:ext cx="8867775" cy="4919663"/>
          </a:xfrm>
        </p:spPr>
        <p:txBody>
          <a:bodyPr>
            <a:noAutofit/>
          </a:bodyPr>
          <a:lstStyle/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		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(, id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}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 	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+, 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}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FT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 		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(, id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}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FT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 	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*, 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}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) | id		FIRST(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(, id</a:t>
            </a:r>
            <a:r>
              <a:rPr lang="en-US" altLang="zh-CN" sz="2400" b="1" dirty="0">
                <a:latin typeface="Times New Roman" panose="02020603050405020304" pitchFamily="18" charset="0"/>
              </a:rPr>
              <a:t>}	FOLLOW(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	    }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7F7EC36-0A9F-49F0-9C97-E62DDBCBAA22}"/>
              </a:ext>
            </a:extLst>
          </p:cNvPr>
          <p:cNvSpPr txBox="1"/>
          <p:nvPr/>
        </p:nvSpPr>
        <p:spPr>
          <a:xfrm>
            <a:off x="7998679" y="3817952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E863A8-1C1C-47D0-BCC6-10B45BCD1AA1}"/>
              </a:ext>
            </a:extLst>
          </p:cNvPr>
          <p:cNvSpPr txBox="1"/>
          <p:nvPr/>
        </p:nvSpPr>
        <p:spPr>
          <a:xfrm>
            <a:off x="295276" y="1252436"/>
            <a:ext cx="8467724" cy="23083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、如果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</a:rPr>
              <a:t>是开始符号，则</a:t>
            </a:r>
            <a:r>
              <a:rPr lang="en-US" altLang="zh-CN" sz="2400" b="1" dirty="0">
                <a:latin typeface="Times New Roman" panose="02020603050405020304" pitchFamily="18" charset="0"/>
              </a:rPr>
              <a:t>$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FOLLOW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、若有产生式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A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中除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以外的一切符号都属于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、若有产生式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A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，或产生式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A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而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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)FOLLOW(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，即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中的一切符号都要放入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中</a:t>
            </a:r>
            <a:endParaRPr lang="zh-CN" altLang="en-US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4AE3D0-6D90-4B47-8343-39A13EA8D9CE}"/>
              </a:ext>
            </a:extLst>
          </p:cNvPr>
          <p:cNvSpPr txBox="1"/>
          <p:nvPr/>
        </p:nvSpPr>
        <p:spPr>
          <a:xfrm>
            <a:off x="7974867" y="4607251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CF8C301-03F0-4508-9BD2-B40D96D24A9E}"/>
              </a:ext>
            </a:extLst>
          </p:cNvPr>
          <p:cNvSpPr txBox="1"/>
          <p:nvPr/>
        </p:nvSpPr>
        <p:spPr>
          <a:xfrm>
            <a:off x="8206428" y="4628554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6FCDB6F-CC17-465B-8B4C-4F80EABEFB44}"/>
              </a:ext>
            </a:extLst>
          </p:cNvPr>
          <p:cNvSpPr txBox="1"/>
          <p:nvPr/>
        </p:nvSpPr>
        <p:spPr>
          <a:xfrm>
            <a:off x="8016829" y="4236107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F82C7BB-4496-4A82-AE65-2A4049E28423}"/>
              </a:ext>
            </a:extLst>
          </p:cNvPr>
          <p:cNvSpPr txBox="1"/>
          <p:nvPr/>
        </p:nvSpPr>
        <p:spPr>
          <a:xfrm>
            <a:off x="7983751" y="5392107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38870A-C1A8-4F5C-A6F9-F8771A1A72CC}"/>
              </a:ext>
            </a:extLst>
          </p:cNvPr>
          <p:cNvSpPr txBox="1"/>
          <p:nvPr/>
        </p:nvSpPr>
        <p:spPr>
          <a:xfrm>
            <a:off x="8153400" y="5365747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96F5012-48CD-4A45-B56C-35141FB78F8F}"/>
              </a:ext>
            </a:extLst>
          </p:cNvPr>
          <p:cNvSpPr txBox="1"/>
          <p:nvPr/>
        </p:nvSpPr>
        <p:spPr>
          <a:xfrm>
            <a:off x="7972425" y="5029104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+$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D0608D-4504-4AC3-9B18-E128AD62AA45}"/>
              </a:ext>
            </a:extLst>
          </p:cNvPr>
          <p:cNvSpPr txBox="1"/>
          <p:nvPr/>
        </p:nvSpPr>
        <p:spPr>
          <a:xfrm>
            <a:off x="8287390" y="3806150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3A2B97B-B865-4606-BFD8-84EDF242B56E}"/>
              </a:ext>
            </a:extLst>
          </p:cNvPr>
          <p:cNvSpPr txBox="1"/>
          <p:nvPr/>
        </p:nvSpPr>
        <p:spPr>
          <a:xfrm>
            <a:off x="1231263" y="6096363"/>
            <a:ext cx="6681474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第三轮</a:t>
            </a:r>
            <a:r>
              <a:rPr lang="en-US" altLang="zh-CN" sz="2800" dirty="0"/>
              <a:t>FOLLOW</a:t>
            </a:r>
            <a:r>
              <a:rPr lang="zh-CN" altLang="en-US" sz="2800" dirty="0"/>
              <a:t>集不再更新，算法结束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B697372-8376-47CB-B392-0AF164716965}"/>
              </a:ext>
            </a:extLst>
          </p:cNvPr>
          <p:cNvSpPr txBox="1"/>
          <p:nvPr/>
        </p:nvSpPr>
        <p:spPr>
          <a:xfrm>
            <a:off x="8440431" y="4607251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0C8F7D5-6594-4305-849E-18FFE80A618E}"/>
              </a:ext>
            </a:extLst>
          </p:cNvPr>
          <p:cNvSpPr txBox="1"/>
          <p:nvPr/>
        </p:nvSpPr>
        <p:spPr>
          <a:xfrm>
            <a:off x="8323430" y="4209747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E20109D-2ACA-48C6-95E8-00BC9AFB1477}"/>
              </a:ext>
            </a:extLst>
          </p:cNvPr>
          <p:cNvSpPr txBox="1"/>
          <p:nvPr/>
        </p:nvSpPr>
        <p:spPr>
          <a:xfrm>
            <a:off x="8574681" y="5336352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A3C4E4A-46C3-4C63-B6B7-D0ACF446BAA0}"/>
              </a:ext>
            </a:extLst>
          </p:cNvPr>
          <p:cNvSpPr txBox="1"/>
          <p:nvPr/>
        </p:nvSpPr>
        <p:spPr>
          <a:xfrm>
            <a:off x="8432326" y="4988519"/>
            <a:ext cx="415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CD7BAA-7439-8AC0-D375-5BFE7E25A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420A3-224B-438A-939E-9333A3B495BA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CF9165-32D7-BCF6-F97D-E9319620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1451A0-C1C5-C057-669F-2DDB1237E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76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001F3-B515-4A7B-B075-0FE7BDCA1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3.3.2 LL(1)</a:t>
            </a:r>
            <a:r>
              <a:rPr lang="zh-CN" altLang="en-US" dirty="0"/>
              <a:t>文法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3B486B-8A8B-4350-A069-B23BE8AF1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回到刚才的问题：对文法加什么样的限制可以保证没有回溯？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文法没有左递归（前提）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每次都能选择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确定正确</a:t>
            </a:r>
            <a:r>
              <a:rPr lang="zh-CN" altLang="en-US" sz="2400" dirty="0">
                <a:latin typeface="Times New Roman" panose="02020603050405020304" pitchFamily="18" charset="0"/>
              </a:rPr>
              <a:t>的产生式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r>
              <a:rPr lang="zh-CN" altLang="en-US" sz="2800" dirty="0"/>
              <a:t>对于不含左递归的产生式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，对于终结符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，我们能够保证选择正确的条件是：</a:t>
            </a:r>
            <a:endParaRPr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</a:rPr>
              <a:t>不能同时出现在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中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、如果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800" b="1" dirty="0">
                <a:latin typeface="Times New Roman" panose="02020603050405020304" pitchFamily="18" charset="0"/>
              </a:rPr>
              <a:t>* </a:t>
            </a:r>
            <a:r>
              <a:rPr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，那么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</a:rPr>
              <a:t>不能同时出现在</a:t>
            </a:r>
            <a:r>
              <a:rPr lang="en-US" altLang="zh-CN" sz="24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</a:rPr>
              <a:t>FOLLOW 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中，反之亦然</a:t>
            </a:r>
            <a:endParaRPr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0596E0-142A-CF52-4F6A-866489B11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951A7-167C-4F21-9FCF-CD64B98DC959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E7D142-D657-8468-E217-F5421E552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4631B7-4D5E-A040-BB9D-EDDBF3EE0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2697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38FFE00-BD4D-4C62-B352-9E61BA3B18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3.3.2 LL(1)</a:t>
            </a:r>
            <a:r>
              <a:rPr lang="zh-CN" altLang="en-US" dirty="0"/>
              <a:t>文法</a:t>
            </a:r>
          </a:p>
        </p:txBody>
      </p:sp>
      <p:sp>
        <p:nvSpPr>
          <p:cNvPr id="473091" name="Rectangle 3">
            <a:extLst>
              <a:ext uri="{FF2B5EF4-FFF2-40B4-BE49-F238E27FC236}">
                <a16:creationId xmlns:a16="http://schemas.microsoft.com/office/drawing/2014/main" id="{62AA63DA-7267-4CB4-B306-89EDA9D030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18988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LL(1)</a:t>
            </a:r>
            <a:r>
              <a:rPr lang="zh-CN" altLang="en-US" dirty="0">
                <a:latin typeface="Times New Roman" panose="02020603050405020304" pitchFamily="18" charset="0"/>
              </a:rPr>
              <a:t>文法：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</a:rPr>
              <a:t>任何两个产生式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都满足下列条件：</a:t>
            </a:r>
          </a:p>
          <a:p>
            <a:pPr lvl="1" algn="just" eaLnBrk="1" hangingPunct="1">
              <a:spcBef>
                <a:spcPct val="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FIRST(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dirty="0">
                <a:latin typeface="Times New Roman" panose="02020603050405020304" pitchFamily="18" charset="0"/>
              </a:rPr>
              <a:t> FIRST(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="1" dirty="0">
                <a:latin typeface="Times New Roman" panose="02020603050405020304" pitchFamily="18" charset="0"/>
              </a:rPr>
              <a:t> ) =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zh-CN" altLang="en-US" b="1" i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b="1" dirty="0">
                <a:latin typeface="Times New Roman" panose="02020603050405020304" pitchFamily="18" charset="0"/>
              </a:rPr>
              <a:t>*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b="1" dirty="0">
                <a:latin typeface="Times New Roman" panose="02020603050405020304" pitchFamily="18" charset="0"/>
              </a:rPr>
              <a:t> ，</a:t>
            </a:r>
            <a:r>
              <a:rPr lang="zh-CN" altLang="en-US" dirty="0">
                <a:latin typeface="Times New Roman" panose="02020603050405020304" pitchFamily="18" charset="0"/>
              </a:rPr>
              <a:t>那么</a:t>
            </a:r>
            <a:r>
              <a:rPr lang="en-US" altLang="zh-CN" b="1" dirty="0">
                <a:latin typeface="Times New Roman" panose="02020603050405020304" pitchFamily="18" charset="0"/>
              </a:rPr>
              <a:t>FIRST(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dirty="0">
                <a:latin typeface="Times New Roman" panose="02020603050405020304" pitchFamily="18" charset="0"/>
              </a:rPr>
              <a:t> FOLLOW(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) =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</a:p>
          <a:p>
            <a:pPr lvl="1" eaLnBrk="1" hangingPunct="1">
              <a:spcBef>
                <a:spcPct val="0"/>
              </a:spcBef>
            </a:pP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例如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对于下面文法，面临串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时不知用什么规则，所以它不是</a:t>
            </a:r>
            <a:r>
              <a:rPr lang="en-US" altLang="zh-CN" b="1" dirty="0">
                <a:latin typeface="Times New Roman" panose="02020603050405020304" pitchFamily="18" charset="0"/>
              </a:rPr>
              <a:t>LL(1)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文法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 b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	        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 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FIRST(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ab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FOLLOW(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 C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…</a:t>
            </a:r>
            <a:endParaRPr lang="en-US" altLang="zh-CN" sz="20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74CB05-1BBF-9197-45B7-55D48274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66CD0-5196-4E69-A212-77C5F90C1033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DEF45A5-3BC8-06E5-4894-9A3668228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884898-EFB7-8205-1ADD-A80B6F9E5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B23B5C4-517D-48A7-BE3A-B97CD50C03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3.3.2 LL(1)</a:t>
            </a:r>
            <a:r>
              <a:rPr lang="zh-CN" altLang="en-US" dirty="0"/>
              <a:t>文法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9C87F15-E7A4-49B3-94F7-0CC6A1BA7B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LL(1)</a:t>
            </a:r>
            <a:r>
              <a:rPr lang="zh-CN" altLang="en-US" dirty="0">
                <a:latin typeface="Times New Roman" panose="02020603050405020304" pitchFamily="18" charset="0"/>
              </a:rPr>
              <a:t>文法：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</a:rPr>
              <a:t>任何两个产生式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都满足下列条件：</a:t>
            </a:r>
          </a:p>
          <a:p>
            <a:pPr lvl="1" algn="just" eaLnBrk="1" hangingPunct="1">
              <a:spcBef>
                <a:spcPct val="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FIRST(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dirty="0">
                <a:latin typeface="Times New Roman" panose="02020603050405020304" pitchFamily="18" charset="0"/>
              </a:rPr>
              <a:t> FIRST(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="1" dirty="0">
                <a:latin typeface="Times New Roman" panose="02020603050405020304" pitchFamily="18" charset="0"/>
              </a:rPr>
              <a:t> ) =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zh-CN" altLang="en-US" b="1" i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b="1" dirty="0">
                <a:latin typeface="Times New Roman" panose="02020603050405020304" pitchFamily="18" charset="0"/>
              </a:rPr>
              <a:t>*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b="1" dirty="0">
                <a:latin typeface="Times New Roman" panose="02020603050405020304" pitchFamily="18" charset="0"/>
              </a:rPr>
              <a:t> ，</a:t>
            </a:r>
            <a:r>
              <a:rPr lang="zh-CN" altLang="en-US" dirty="0">
                <a:latin typeface="Times New Roman" panose="02020603050405020304" pitchFamily="18" charset="0"/>
              </a:rPr>
              <a:t>那么</a:t>
            </a:r>
            <a:r>
              <a:rPr lang="en-US" altLang="zh-CN" b="1" dirty="0">
                <a:latin typeface="Times New Roman" panose="02020603050405020304" pitchFamily="18" charset="0"/>
              </a:rPr>
              <a:t>FIRST(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dirty="0">
                <a:latin typeface="Times New Roman" panose="02020603050405020304" pitchFamily="18" charset="0"/>
              </a:rPr>
              <a:t> FOLLOW(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) =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</a:p>
          <a:p>
            <a:pPr lvl="1" eaLnBrk="1" hangingPunct="1">
              <a:spcBef>
                <a:spcPct val="0"/>
              </a:spcBef>
            </a:pP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LL(1)</a:t>
            </a:r>
            <a:r>
              <a:rPr lang="zh-CN" altLang="en-US" dirty="0">
                <a:latin typeface="Times New Roman" panose="02020603050405020304" pitchFamily="18" charset="0"/>
              </a:rPr>
              <a:t>含义：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</a:rPr>
              <a:t>：从左到右（分析）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</a:rPr>
              <a:t>：最左推导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</a:rPr>
              <a:t>：每步向前搜索一个输入符号，即输入指针所指向的符号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E7E28B-ED09-88F4-EE84-AB4099BAB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CAB6C-96A0-4198-980C-E400DC43D00E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F3D8BF-3852-F72A-C049-ADB851935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D30745-6890-DA4F-C602-5F0C4993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A07C100-27B0-4602-9321-382BFAD2E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3.3.2 LL(1)</a:t>
            </a:r>
            <a:r>
              <a:rPr lang="zh-CN" altLang="en-US" dirty="0"/>
              <a:t>文法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8A0EC54-DA09-4986-9499-823CBB657C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LL(1)</a:t>
            </a:r>
            <a:r>
              <a:rPr lang="zh-CN" altLang="en-US" dirty="0">
                <a:latin typeface="Times New Roman" panose="02020603050405020304" pitchFamily="18" charset="0"/>
              </a:rPr>
              <a:t>文法：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</a:rPr>
              <a:t>任何两个产生式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|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都满足下列条件：</a:t>
            </a:r>
          </a:p>
          <a:p>
            <a:pPr lvl="1" algn="just" eaLnBrk="1" hangingPunct="1">
              <a:spcBef>
                <a:spcPct val="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FIRST(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dirty="0">
                <a:latin typeface="Times New Roman" panose="02020603050405020304" pitchFamily="18" charset="0"/>
              </a:rPr>
              <a:t> FIRST(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="1" dirty="0">
                <a:latin typeface="Times New Roman" panose="02020603050405020304" pitchFamily="18" charset="0"/>
              </a:rPr>
              <a:t> ) =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zh-CN" altLang="en-US" b="1" i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b="1" dirty="0">
                <a:latin typeface="Times New Roman" panose="02020603050405020304" pitchFamily="18" charset="0"/>
              </a:rPr>
              <a:t>*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b="1" dirty="0">
                <a:latin typeface="Times New Roman" panose="02020603050405020304" pitchFamily="18" charset="0"/>
              </a:rPr>
              <a:t> ，</a:t>
            </a:r>
            <a:r>
              <a:rPr lang="zh-CN" altLang="en-US" dirty="0">
                <a:latin typeface="Times New Roman" panose="02020603050405020304" pitchFamily="18" charset="0"/>
              </a:rPr>
              <a:t>那么</a:t>
            </a:r>
            <a:r>
              <a:rPr lang="en-US" altLang="zh-CN" b="1" dirty="0">
                <a:latin typeface="Times New Roman" panose="02020603050405020304" pitchFamily="18" charset="0"/>
              </a:rPr>
              <a:t>FIRST(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b="1" dirty="0">
                <a:latin typeface="Times New Roman" panose="02020603050405020304" pitchFamily="18" charset="0"/>
              </a:rPr>
              <a:t> FOLLOW(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) =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</a:p>
          <a:p>
            <a:pPr lvl="1" eaLnBrk="1" hangingPunct="1">
              <a:spcBef>
                <a:spcPct val="0"/>
              </a:spcBef>
            </a:pP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LL(1)</a:t>
            </a:r>
            <a:r>
              <a:rPr lang="zh-CN" altLang="en-US" dirty="0">
                <a:latin typeface="Times New Roman" panose="02020603050405020304" pitchFamily="18" charset="0"/>
              </a:rPr>
              <a:t>文法有一些明显的性质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没有公共左因子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不是二义的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不含左递归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endParaRPr lang="en-US" altLang="zh-CN" sz="28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B52FB2-46BA-8EDD-77D9-549D0218E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314F1-D8A5-4DC1-9150-E0B070887D5D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81C2A1-2A45-1506-F765-7EEA86565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1FDF74-B9C7-5221-EE68-0972DADD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2B1EAB8-AAEF-427A-9F45-81F101472C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3.3.2 LL(1)</a:t>
            </a:r>
            <a:r>
              <a:rPr lang="zh-CN" altLang="en-US" dirty="0"/>
              <a:t>文法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E340957-B733-4A9C-8F2F-EBEA779C6C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例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3.12	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	  		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+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    		T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FT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    		T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FT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    		F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) | id</a:t>
            </a:r>
          </a:p>
          <a:p>
            <a:pPr algn="just"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FIRST(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FIRST(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 ( , id }</a:t>
            </a:r>
          </a:p>
          <a:p>
            <a:pPr algn="just"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{+,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</a:p>
          <a:p>
            <a:pPr algn="just"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</a:p>
          <a:p>
            <a:pPr algn="just"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FOLLOW(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 ), $}</a:t>
            </a:r>
          </a:p>
          <a:p>
            <a:pPr algn="just"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FOLLOW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 +, ), $}</a:t>
            </a:r>
          </a:p>
          <a:p>
            <a:pPr algn="just"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FOLLOW(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) = {+,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, ), $} </a:t>
            </a:r>
          </a:p>
          <a:p>
            <a:pPr eaLnBrk="1" hangingPunct="1">
              <a:lnSpc>
                <a:spcPct val="80000"/>
              </a:lnSpc>
            </a:pP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E1DC64E3-3F4F-4819-B719-362505FFD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981200"/>
            <a:ext cx="2590800" cy="76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>
                <a:latin typeface="+mn-lt"/>
                <a:ea typeface="+mn-ea"/>
              </a:rPr>
              <a:t>该例是</a:t>
            </a:r>
            <a:r>
              <a:rPr lang="en-US" altLang="zh-CN" sz="2400">
                <a:latin typeface="+mn-lt"/>
                <a:ea typeface="+mn-ea"/>
              </a:rPr>
              <a:t>LL(1)</a:t>
            </a:r>
            <a:r>
              <a:rPr lang="zh-CN" altLang="en-US" sz="2400" b="0">
                <a:latin typeface="+mn-lt"/>
                <a:ea typeface="+mn-ea"/>
              </a:rPr>
              <a:t>文法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2FCE23-0935-FB7D-5F79-844E421E0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EA411-73C7-429C-BB59-3E75568B87A5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0AF536-9E2F-7114-3320-482B7525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6D63A9-DB07-5612-860C-9981213B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9EF82-2DFC-4E75-AC7C-94D57EBF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3.3.2 LL(1)</a:t>
            </a:r>
            <a:r>
              <a:rPr lang="zh-CN" altLang="en-US" dirty="0"/>
              <a:t>文法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31B5B1-456E-42A2-9504-90E9502D3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练习：写出下列文法的</a:t>
            </a:r>
            <a:r>
              <a:rPr lang="en-US" altLang="zh-CN" dirty="0"/>
              <a:t>first</a:t>
            </a:r>
            <a:r>
              <a:rPr lang="zh-CN" altLang="en-US" dirty="0"/>
              <a:t>集和</a:t>
            </a:r>
            <a:r>
              <a:rPr lang="en-US" altLang="zh-CN" dirty="0"/>
              <a:t>follow</a:t>
            </a:r>
            <a:r>
              <a:rPr lang="zh-CN" altLang="en-US" dirty="0"/>
              <a:t>集。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D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TL</a:t>
            </a:r>
          </a:p>
          <a:p>
            <a:pPr marL="0" indent="0"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 int | real</a:t>
            </a:r>
          </a:p>
          <a:p>
            <a:pPr marL="0" indent="0">
              <a:buNone/>
            </a:pP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 id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</a:p>
          <a:p>
            <a:pPr marL="0" indent="0">
              <a:buNone/>
            </a:pP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id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9054FC-E6E7-4640-A6E2-62DCAD48149B}"/>
              </a:ext>
            </a:extLst>
          </p:cNvPr>
          <p:cNvSpPr txBox="1"/>
          <p:nvPr/>
        </p:nvSpPr>
        <p:spPr>
          <a:xfrm>
            <a:off x="881726" y="4571107"/>
            <a:ext cx="7380547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{int, real}</a:t>
            </a:r>
            <a:r>
              <a:rPr lang="en-US" altLang="zh-CN" sz="2800" b="1" dirty="0">
                <a:latin typeface="Times New Roman" panose="02020603050405020304" pitchFamily="18" charset="0"/>
              </a:rPr>
              <a:t>		FOLLOW(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{$}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{int, real}</a:t>
            </a:r>
            <a:r>
              <a:rPr lang="en-US" altLang="zh-CN" sz="2800" b="1" dirty="0">
                <a:latin typeface="Times New Roman" panose="02020603050405020304" pitchFamily="18" charset="0"/>
              </a:rPr>
              <a:t>		FOLLOW(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{id}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{id}</a:t>
            </a:r>
            <a:r>
              <a:rPr lang="en-US" altLang="zh-CN" sz="2800" b="1" dirty="0">
                <a:latin typeface="Times New Roman" panose="02020603050405020304" pitchFamily="18" charset="0"/>
              </a:rPr>
              <a:t>				FOLLOW(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{$}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</a:rPr>
              <a:t>FIRST(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}</a:t>
            </a:r>
            <a:r>
              <a:rPr lang="en-US" altLang="zh-CN" sz="2800" b="1" dirty="0">
                <a:latin typeface="Times New Roman" panose="02020603050405020304" pitchFamily="18" charset="0"/>
              </a:rPr>
              <a:t>			FOLLOW(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</a:rPr>
              <a:t>) = {$}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309B25-88D4-43D7-B034-F889609E3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981200"/>
            <a:ext cx="2590800" cy="76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>
                <a:latin typeface="+mn-lt"/>
                <a:ea typeface="+mn-ea"/>
              </a:rPr>
              <a:t>该例是</a:t>
            </a:r>
            <a:r>
              <a:rPr lang="en-US" altLang="zh-CN" sz="2400">
                <a:latin typeface="+mn-lt"/>
                <a:ea typeface="+mn-ea"/>
              </a:rPr>
              <a:t>LL(1)</a:t>
            </a:r>
            <a:r>
              <a:rPr lang="zh-CN" altLang="en-US" sz="2400" b="0">
                <a:latin typeface="+mn-lt"/>
                <a:ea typeface="+mn-ea"/>
              </a:rPr>
              <a:t>文法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261EBDF-9B3D-10E3-A93A-0E5CA8F38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2C4B-660D-4C38-99E0-F05ADE54735A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614CBA67-20B3-19EE-B870-43D6A8DBC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DD7759D-7C3C-54D5-C32D-87DAA962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40</a:t>
            </a:fld>
            <a:endParaRPr lang="zh-CN" altLang="en-US"/>
          </a:p>
        </p:txBody>
      </p:sp>
      <p:pic>
        <p:nvPicPr>
          <p:cNvPr id="9" name="图片 8" descr="卡通人物&#10;&#10;描述已自动生成">
            <a:extLst>
              <a:ext uri="{FF2B5EF4-FFF2-40B4-BE49-F238E27FC236}">
                <a16:creationId xmlns:a16="http://schemas.microsoft.com/office/drawing/2014/main" id="{2460F4C4-F7FB-D6C7-870C-8931D9D2F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802" y="239854"/>
            <a:ext cx="731598" cy="101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23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57FD38A7-8A41-4DB4-B4F6-E349077AD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3.3.2 LL(1)</a:t>
            </a:r>
            <a:r>
              <a:rPr lang="zh-CN" altLang="en-US" dirty="0"/>
              <a:t>文法</a:t>
            </a:r>
          </a:p>
        </p:txBody>
      </p:sp>
      <p:sp>
        <p:nvSpPr>
          <p:cNvPr id="24579" name="内容占位符 2">
            <a:extLst>
              <a:ext uri="{FF2B5EF4-FFF2-40B4-BE49-F238E27FC236}">
                <a16:creationId xmlns:a16="http://schemas.microsoft.com/office/drawing/2014/main" id="{B6077227-3762-4BAD-B6F7-720488D9C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对于</a:t>
            </a:r>
            <a:r>
              <a:rPr lang="en-US" altLang="zh-CN"/>
              <a:t>LL(1)</a:t>
            </a:r>
            <a:r>
              <a:rPr lang="zh-CN" altLang="en-US"/>
              <a:t>文法，怎样进行无回溯的自上而下的分析？</a:t>
            </a:r>
          </a:p>
          <a:p>
            <a:pPr lvl="1"/>
            <a:r>
              <a:rPr lang="zh-CN" altLang="en-US"/>
              <a:t>递归下降的预测分析</a:t>
            </a:r>
          </a:p>
          <a:p>
            <a:pPr lvl="1"/>
            <a:r>
              <a:rPr lang="zh-CN" altLang="en-US"/>
              <a:t>非递归的预测分析</a:t>
            </a:r>
          </a:p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8EE145-C11E-6949-6D63-53790318D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9929-01BB-4279-9916-40CB63298AC5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0D6B5CB-01C8-45B5-CB86-AB0C18959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1957D-980A-1386-E94D-F6B89977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CB7F6C8-AA33-4AF2-A9CE-38672C8DF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3.3.3 </a:t>
            </a:r>
            <a:r>
              <a:rPr lang="zh-CN" altLang="en-US" dirty="0"/>
              <a:t>递归下降的预测分析</a:t>
            </a:r>
          </a:p>
        </p:txBody>
      </p:sp>
      <p:sp>
        <p:nvSpPr>
          <p:cNvPr id="353283" name="Rectangle 3">
            <a:extLst>
              <a:ext uri="{FF2B5EF4-FFF2-40B4-BE49-F238E27FC236}">
                <a16:creationId xmlns:a16="http://schemas.microsoft.com/office/drawing/2014/main" id="{879DCE6C-870E-42B3-91C6-A08DE72AFE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预测分析：</a:t>
            </a:r>
            <a:r>
              <a:rPr lang="zh-CN" altLang="en-US" sz="2800" dirty="0"/>
              <a:t>通过在输入中向前看固定个数（通常是一个）符号来选择正确的产生式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（显然，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LL(1)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文法满足该要求）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</a:rPr>
              <a:t>递归下降的预测分析：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为每一个非终结符写一个分析过程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由于文法定义是递归的，因此这些过程也是递归的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递归下降预测分析的执行过程：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先执行开始符号对应的过程，根据产生式右部出现的非终结符，依次调用相应过程。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调用序列是逐步下降的，隐含定义了输入的分析树。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D8F42B-6444-34C0-3D68-A7480978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D967-7F87-4DCC-9613-B6B8CCAC205A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970A27-2674-0F20-9AFB-CA8041927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F7CC05-B1B9-9F7E-7C29-1EDB4BC8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B7D792B-BD2B-4F0E-9D1D-89EBFBB6D5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3.3.3 </a:t>
            </a:r>
            <a:r>
              <a:rPr lang="zh-CN" altLang="en-US" dirty="0"/>
              <a:t>递归下降的预测分析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FB7A10A5-D84D-45DF-AD3E-B2D44A7251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>
                <a:latin typeface="Times New Roman" panose="02020603050405020304" pitchFamily="18" charset="0"/>
              </a:rPr>
              <a:t>例：</a:t>
            </a:r>
            <a:r>
              <a:rPr lang="en-US" altLang="zh-CN" b="1">
                <a:latin typeface="Times New Roman" panose="02020603050405020304" pitchFamily="18" charset="0"/>
              </a:rPr>
              <a:t>Pascal</a:t>
            </a:r>
            <a:r>
              <a:rPr lang="zh-CN" altLang="en-US">
                <a:latin typeface="Times New Roman" panose="02020603050405020304" pitchFamily="18" charset="0"/>
              </a:rPr>
              <a:t>语言的类型子集（该语言是</a:t>
            </a:r>
            <a:r>
              <a:rPr lang="en-US" altLang="zh-CN" b="1">
                <a:latin typeface="Times New Roman" panose="02020603050405020304" pitchFamily="18" charset="0"/>
              </a:rPr>
              <a:t>LL(1)</a:t>
            </a:r>
            <a:r>
              <a:rPr lang="zh-CN" altLang="en-US">
                <a:latin typeface="Times New Roman" panose="02020603050405020304" pitchFamily="18" charset="0"/>
              </a:rPr>
              <a:t>的）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i="1">
                <a:latin typeface="Times New Roman" panose="02020603050405020304" pitchFamily="18" charset="0"/>
              </a:rPr>
              <a:t>	</a:t>
            </a:r>
            <a:r>
              <a:rPr lang="en-US" altLang="zh-CN" b="1" i="1">
                <a:latin typeface="Times New Roman" panose="02020603050405020304" pitchFamily="18" charset="0"/>
              </a:rPr>
              <a:t>type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simple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    |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b="1">
                <a:latin typeface="Times New Roman" panose="02020603050405020304" pitchFamily="18" charset="0"/>
              </a:rPr>
              <a:t> id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    	    | array [</a:t>
            </a:r>
            <a:r>
              <a:rPr lang="en-US" altLang="zh-CN" b="1" i="1">
                <a:latin typeface="Times New Roman" panose="02020603050405020304" pitchFamily="18" charset="0"/>
              </a:rPr>
              <a:t>simple</a:t>
            </a:r>
            <a:r>
              <a:rPr lang="en-US" altLang="zh-CN" b="1">
                <a:latin typeface="Times New Roman" panose="02020603050405020304" pitchFamily="18" charset="0"/>
              </a:rPr>
              <a:t>] of </a:t>
            </a:r>
            <a:r>
              <a:rPr lang="en-US" altLang="zh-CN" b="1" i="1">
                <a:latin typeface="Times New Roman" panose="02020603050405020304" pitchFamily="18" charset="0"/>
              </a:rPr>
              <a:t>type</a:t>
            </a:r>
            <a:endParaRPr lang="en-US" altLang="zh-CN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i="1">
                <a:latin typeface="Times New Roman" panose="02020603050405020304" pitchFamily="18" charset="0"/>
              </a:rPr>
              <a:t>	simple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>
                <a:latin typeface="Times New Roman" panose="02020603050405020304" pitchFamily="18" charset="0"/>
              </a:rPr>
              <a:t> integer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          | char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    | num dotdot num</a:t>
            </a:r>
          </a:p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8AB9BD-69CC-3830-01F5-9907EEB44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D5FD-BB0E-4FC2-9546-49336C691F15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88CA13-B811-22B8-7EB8-39E8E4064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719302-5506-C6DB-34E9-4835F38FD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C7E53B9-2CC4-4DAB-AE42-366F3C81DE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3.3.3 </a:t>
            </a:r>
            <a:r>
              <a:rPr lang="zh-CN" altLang="en-US" dirty="0"/>
              <a:t>递归下降的预测分析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ABF4534-128D-4737-9470-6CC977282E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一个辅助过程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void </a:t>
            </a:r>
            <a:r>
              <a:rPr lang="en-US" altLang="zh-CN" b="1" i="1">
                <a:latin typeface="Times New Roman" panose="02020603050405020304" pitchFamily="18" charset="0"/>
              </a:rPr>
              <a:t>match</a:t>
            </a:r>
            <a:r>
              <a:rPr lang="en-US" altLang="zh-CN" b="1">
                <a:latin typeface="Times New Roman" panose="02020603050405020304" pitchFamily="18" charset="0"/>
              </a:rPr>
              <a:t> (terminal </a:t>
            </a:r>
            <a:r>
              <a:rPr lang="en-US" altLang="zh-CN" b="1" i="1">
                <a:latin typeface="Times New Roman" panose="02020603050405020304" pitchFamily="18" charset="0"/>
              </a:rPr>
              <a:t>t</a:t>
            </a:r>
            <a:r>
              <a:rPr lang="en-US" altLang="zh-CN" b="1">
                <a:latin typeface="Times New Roman" panose="02020603050405020304" pitchFamily="18" charset="0"/>
              </a:rPr>
              <a:t>){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if (</a:t>
            </a:r>
            <a:r>
              <a:rPr lang="en-US" altLang="zh-CN" b="1" i="1">
                <a:latin typeface="Times New Roman" panose="02020603050405020304" pitchFamily="18" charset="0"/>
              </a:rPr>
              <a:t>lookahead </a:t>
            </a:r>
            <a:r>
              <a:rPr lang="en-US" altLang="zh-CN" b="1">
                <a:latin typeface="Times New Roman" panose="02020603050405020304" pitchFamily="18" charset="0"/>
              </a:rPr>
              <a:t>== </a:t>
            </a:r>
            <a:r>
              <a:rPr lang="en-US" altLang="zh-CN" b="1" i="1">
                <a:latin typeface="Times New Roman" panose="02020603050405020304" pitchFamily="18" charset="0"/>
              </a:rPr>
              <a:t>t</a:t>
            </a:r>
            <a:r>
              <a:rPr lang="en-US" altLang="zh-CN" b="1">
                <a:latin typeface="Times New Roman" panose="02020603050405020304" pitchFamily="18" charset="0"/>
              </a:rPr>
              <a:t>) 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      </a:t>
            </a:r>
            <a:r>
              <a:rPr lang="en-US" altLang="zh-CN" b="1" i="1">
                <a:latin typeface="Times New Roman" panose="02020603050405020304" pitchFamily="18" charset="0"/>
              </a:rPr>
              <a:t>lookahead </a:t>
            </a:r>
            <a:r>
              <a:rPr lang="en-US" altLang="zh-CN" b="1">
                <a:latin typeface="Times New Roman" panose="02020603050405020304" pitchFamily="18" charset="0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</a:rPr>
              <a:t>nexttoken</a:t>
            </a:r>
            <a:r>
              <a:rPr lang="en-US" altLang="zh-CN" b="1">
                <a:latin typeface="Times New Roman" panose="02020603050405020304" pitchFamily="18" charset="0"/>
              </a:rPr>
              <a:t>();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else  </a:t>
            </a:r>
            <a:r>
              <a:rPr lang="en-US" altLang="zh-CN" b="1" i="1">
                <a:latin typeface="Times New Roman" panose="02020603050405020304" pitchFamily="18" charset="0"/>
              </a:rPr>
              <a:t>error</a:t>
            </a:r>
            <a:r>
              <a:rPr lang="en-US" altLang="zh-CN" b="1">
                <a:latin typeface="Times New Roman" panose="02020603050405020304" pitchFamily="18" charset="0"/>
              </a:rPr>
              <a:t>();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}</a:t>
            </a:r>
          </a:p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98906D-B6B4-5550-5511-BDE9365B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26C0-E98F-46E2-A17E-AA7DB4026CC7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BA6A9F4-5A15-C40D-DC32-09D9D59F5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E90206-D6E4-CF97-C937-C1CEB786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3676B7F-C1EA-43CE-973F-40441C78D2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3.3.3 </a:t>
            </a:r>
            <a:r>
              <a:rPr lang="zh-CN" altLang="en-US" dirty="0"/>
              <a:t>递归下降的预测分析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BF7A5BE-A929-45C2-A38F-1CD969806D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void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type</a:t>
            </a:r>
            <a:r>
              <a:rPr lang="en-US" altLang="zh-CN" sz="2400" b="1" dirty="0">
                <a:latin typeface="Times New Roman" panose="02020603050405020304" pitchFamily="18" charset="0"/>
              </a:rPr>
              <a:t>(){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	if ((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lookahead</a:t>
            </a:r>
            <a:r>
              <a:rPr lang="en-US" altLang="zh-CN" sz="2400" b="1" dirty="0">
                <a:latin typeface="Times New Roman" panose="02020603050405020304" pitchFamily="18" charset="0"/>
              </a:rPr>
              <a:t> == integer) ||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lookahead</a:t>
            </a:r>
            <a:r>
              <a:rPr lang="en-US" altLang="zh-CN" sz="2400" b="1" dirty="0">
                <a:latin typeface="Times New Roman" panose="02020603050405020304" pitchFamily="18" charset="0"/>
              </a:rPr>
              <a:t> == char)||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lookahead</a:t>
            </a:r>
            <a:r>
              <a:rPr lang="en-US" altLang="zh-CN" sz="2400" b="1" dirty="0">
                <a:latin typeface="Times New Roman" panose="02020603050405020304" pitchFamily="18" charset="0"/>
              </a:rPr>
              <a:t> == num)) 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	   simple</a:t>
            </a:r>
            <a:r>
              <a:rPr lang="en-US" altLang="zh-CN" sz="2400" b="1" dirty="0">
                <a:latin typeface="Times New Roman" panose="02020603050405020304" pitchFamily="18" charset="0"/>
              </a:rPr>
              <a:t>();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	else  if 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lookahead</a:t>
            </a:r>
            <a:r>
              <a:rPr lang="en-US" altLang="zh-CN" sz="2400" b="1" dirty="0">
                <a:latin typeface="Times New Roman" panose="02020603050405020304" pitchFamily="18" charset="0"/>
              </a:rPr>
              <a:t> ==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){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	           match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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);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match </a:t>
            </a:r>
            <a:r>
              <a:rPr lang="en-US" altLang="zh-CN" sz="2400" b="1" dirty="0">
                <a:latin typeface="Times New Roman" panose="02020603050405020304" pitchFamily="18" charset="0"/>
              </a:rPr>
              <a:t>(id);}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	else  if 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lookahead</a:t>
            </a:r>
            <a:r>
              <a:rPr lang="en-US" altLang="zh-CN" sz="2400" b="1" dirty="0">
                <a:latin typeface="Times New Roman" panose="02020603050405020304" pitchFamily="18" charset="0"/>
              </a:rPr>
              <a:t> == array){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	           match </a:t>
            </a:r>
            <a:r>
              <a:rPr lang="en-US" altLang="zh-CN" sz="2400" b="1" dirty="0">
                <a:latin typeface="Times New Roman" panose="02020603050405020304" pitchFamily="18" charset="0"/>
              </a:rPr>
              <a:t>(array);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match</a:t>
            </a:r>
            <a:r>
              <a:rPr lang="en-US" altLang="zh-CN" sz="2400" b="1" dirty="0">
                <a:latin typeface="Times New Roman" panose="02020603050405020304" pitchFamily="18" charset="0"/>
              </a:rPr>
              <a:t> (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 [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 );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simple</a:t>
            </a:r>
            <a:r>
              <a:rPr lang="en-US" altLang="zh-CN" sz="2400" b="1" dirty="0">
                <a:latin typeface="Times New Roman" panose="02020603050405020304" pitchFamily="18" charset="0"/>
              </a:rPr>
              <a:t>( ); 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		   match</a:t>
            </a:r>
            <a:r>
              <a:rPr lang="en-US" altLang="zh-CN" sz="2400" b="1" dirty="0">
                <a:latin typeface="Times New Roman" panose="02020603050405020304" pitchFamily="18" charset="0"/>
              </a:rPr>
              <a:t> (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 ]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 );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match </a:t>
            </a:r>
            <a:r>
              <a:rPr lang="en-US" altLang="zh-CN" sz="2400" b="1" dirty="0">
                <a:latin typeface="Times New Roman" panose="02020603050405020304" pitchFamily="18" charset="0"/>
              </a:rPr>
              <a:t>(of );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type</a:t>
            </a:r>
            <a:r>
              <a:rPr lang="en-US" altLang="zh-CN" sz="2400" b="1" dirty="0">
                <a:latin typeface="Times New Roman" panose="02020603050405020304" pitchFamily="18" charset="0"/>
              </a:rPr>
              <a:t>( );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}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	else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error</a:t>
            </a:r>
            <a:r>
              <a:rPr lang="en-US" altLang="zh-CN" sz="2400" b="1" dirty="0">
                <a:latin typeface="Times New Roman" panose="02020603050405020304" pitchFamily="18" charset="0"/>
              </a:rPr>
              <a:t>( );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887880D0-E516-4290-B386-5846AF549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4652963"/>
            <a:ext cx="5029200" cy="152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type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simple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 |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id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	 | array [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simple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] of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type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A6E0CC-53EE-D3E1-9B2C-725B90861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CA5E2-F613-4F98-8C28-07481754E969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838943-1B06-2086-405C-57387E14F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00FC6C-0C73-D5DA-3135-94B5A3167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CF8FD99-EC07-4DAD-A958-5DF344A1E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3.3.3 </a:t>
            </a:r>
            <a:r>
              <a:rPr lang="zh-CN" altLang="en-US" dirty="0"/>
              <a:t>递归下降的预测分析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D438FBA-53B2-4E3C-B2D8-72194912CD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void </a:t>
            </a:r>
            <a:r>
              <a:rPr lang="en-US" altLang="zh-CN" sz="2800" b="1" i="1">
                <a:latin typeface="Times New Roman" panose="02020603050405020304" pitchFamily="18" charset="0"/>
              </a:rPr>
              <a:t>simple </a:t>
            </a:r>
            <a:r>
              <a:rPr lang="en-US" altLang="zh-CN" sz="2800" b="1">
                <a:latin typeface="Times New Roman" panose="02020603050405020304" pitchFamily="18" charset="0"/>
              </a:rPr>
              <a:t>( )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	if  (</a:t>
            </a:r>
            <a:r>
              <a:rPr lang="en-US" altLang="zh-CN" sz="2800" b="1" i="1">
                <a:latin typeface="Times New Roman" panose="02020603050405020304" pitchFamily="18" charset="0"/>
              </a:rPr>
              <a:t>lookahead</a:t>
            </a:r>
            <a:r>
              <a:rPr lang="en-US" altLang="zh-CN" sz="2800" b="1">
                <a:latin typeface="Times New Roman" panose="02020603050405020304" pitchFamily="18" charset="0"/>
              </a:rPr>
              <a:t> == integer) </a:t>
            </a:r>
            <a:r>
              <a:rPr lang="en-US" altLang="zh-CN" sz="2800" b="1" i="1">
                <a:latin typeface="Times New Roman" panose="02020603050405020304" pitchFamily="18" charset="0"/>
              </a:rPr>
              <a:t> match</a:t>
            </a:r>
            <a:r>
              <a:rPr lang="en-US" altLang="zh-CN" sz="2800" b="1">
                <a:latin typeface="Times New Roman" panose="02020603050405020304" pitchFamily="18" charset="0"/>
              </a:rPr>
              <a:t> (integer);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	else  if  (</a:t>
            </a:r>
            <a:r>
              <a:rPr lang="en-US" altLang="zh-CN" sz="2800" b="1" i="1">
                <a:latin typeface="Times New Roman" panose="02020603050405020304" pitchFamily="18" charset="0"/>
              </a:rPr>
              <a:t>lookahead</a:t>
            </a:r>
            <a:r>
              <a:rPr lang="en-US" altLang="zh-CN" sz="2800" b="1">
                <a:latin typeface="Times New Roman" panose="02020603050405020304" pitchFamily="18" charset="0"/>
              </a:rPr>
              <a:t> == char) </a:t>
            </a:r>
            <a:r>
              <a:rPr lang="en-US" altLang="zh-CN" sz="2800" b="1" i="1">
                <a:latin typeface="Times New Roman" panose="02020603050405020304" pitchFamily="18" charset="0"/>
              </a:rPr>
              <a:t> match </a:t>
            </a:r>
            <a:r>
              <a:rPr lang="en-US" altLang="zh-CN" sz="2800" b="1">
                <a:latin typeface="Times New Roman" panose="02020603050405020304" pitchFamily="18" charset="0"/>
              </a:rPr>
              <a:t>(char);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else  if  (</a:t>
            </a:r>
            <a:r>
              <a:rPr lang="en-US" altLang="zh-CN" sz="2800" b="1" i="1">
                <a:latin typeface="Times New Roman" panose="02020603050405020304" pitchFamily="18" charset="0"/>
              </a:rPr>
              <a:t>lookahead</a:t>
            </a:r>
            <a:r>
              <a:rPr lang="en-US" altLang="zh-CN" sz="2800" b="1">
                <a:latin typeface="Times New Roman" panose="02020603050405020304" pitchFamily="18" charset="0"/>
              </a:rPr>
              <a:t> == num){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		      match </a:t>
            </a:r>
            <a:r>
              <a:rPr lang="en-US" altLang="zh-CN" sz="2800" b="1">
                <a:latin typeface="Times New Roman" panose="02020603050405020304" pitchFamily="18" charset="0"/>
              </a:rPr>
              <a:t>(num); 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                match </a:t>
            </a:r>
            <a:r>
              <a:rPr lang="en-US" altLang="zh-CN" sz="2800" b="1">
                <a:latin typeface="Times New Roman" panose="02020603050405020304" pitchFamily="18" charset="0"/>
              </a:rPr>
              <a:t>(dotdot); 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                match </a:t>
            </a:r>
            <a:r>
              <a:rPr lang="en-US" altLang="zh-CN" sz="2800" b="1">
                <a:latin typeface="Times New Roman" panose="02020603050405020304" pitchFamily="18" charset="0"/>
              </a:rPr>
              <a:t>(num);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}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else  </a:t>
            </a:r>
            <a:r>
              <a:rPr lang="en-US" altLang="zh-CN" sz="2800" b="1" i="1">
                <a:latin typeface="Times New Roman" panose="02020603050405020304" pitchFamily="18" charset="0"/>
              </a:rPr>
              <a:t>error</a:t>
            </a:r>
            <a:r>
              <a:rPr lang="en-US" altLang="zh-CN" sz="2800" b="1">
                <a:latin typeface="Times New Roman" panose="02020603050405020304" pitchFamily="18" charset="0"/>
              </a:rPr>
              <a:t>( );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25E3FA38-8D86-43CC-B7D3-EA81485A0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1900" y="4457700"/>
            <a:ext cx="5029200" cy="152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simple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integer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    | char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    | num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dotdot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num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A4D0DD-281E-AA86-57B3-AA64CFD18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0B2E-B4E9-476F-BD5C-7E6077538AFE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24E2C1-BEF1-36E3-0107-D4E0A0BA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11D1D0-6CB9-02E2-0E4D-A3243700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42D0614E-C525-439C-BEC5-97085898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递归下降预测分析的例子：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825F7-1BEF-4F9D-A2D7-26DDE5EB8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文法：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	S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 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|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endParaRPr lang="en-US" altLang="zh-CN" dirty="0">
              <a:sym typeface="Symbol" panose="05050102010706020507" pitchFamily="18" charset="2"/>
            </a:endParaRPr>
          </a:p>
          <a:p>
            <a:pPr>
              <a:buClr>
                <a:srgbClr val="3333CC"/>
              </a:buClr>
              <a:buNone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L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</a:p>
          <a:p>
            <a:pPr lvl="1"/>
            <a:r>
              <a:rPr lang="zh-CN" altLang="en-US" dirty="0"/>
              <a:t>消除左递归？</a:t>
            </a:r>
            <a:endParaRPr lang="en-US" altLang="zh-CN" dirty="0"/>
          </a:p>
          <a:p>
            <a:pPr lvl="1"/>
            <a:r>
              <a:rPr lang="zh-CN" altLang="en-US" dirty="0"/>
              <a:t>消除左递归后的文法：</a:t>
            </a:r>
            <a:endParaRPr lang="en-US" altLang="zh-CN" dirty="0"/>
          </a:p>
          <a:p>
            <a:pPr>
              <a:buClr>
                <a:srgbClr val="3333CC"/>
              </a:buClr>
              <a:buNone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		S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 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|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buClr>
                <a:srgbClr val="3333CC"/>
              </a:buClr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	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 L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  <a:p>
            <a:pPr>
              <a:buClr>
                <a:srgbClr val="3333CC"/>
              </a:buClr>
              <a:buNone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	L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 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 | </a:t>
            </a:r>
          </a:p>
          <a:p>
            <a:pPr>
              <a:buClr>
                <a:srgbClr val="3333CC"/>
              </a:buClr>
              <a:buNone/>
            </a:pPr>
            <a:r>
              <a:rPr lang="zh-CN" altLang="en-US" dirty="0"/>
              <a:t>递归下降的预测分析器？输入串</a:t>
            </a:r>
            <a:r>
              <a:rPr lang="en-US" altLang="zh-CN" dirty="0"/>
              <a:t>w=(</a:t>
            </a:r>
            <a:r>
              <a:rPr lang="en-US" altLang="zh-CN" dirty="0" err="1"/>
              <a:t>a,a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793CBB-17C6-06DC-AE7C-EE0642F29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A7C5-5747-4ED2-8ACE-E3B621F3A0F9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96DBF2-2891-150B-EB70-23032CAD6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372304-309D-5F40-2ED0-FF7E7B835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207CF23-4389-46D8-BC81-B2329244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递归下降预测分析的例子：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A13CA5-DC23-4BD8-9D06-1FD077E8D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void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(){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	if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lookahead</a:t>
            </a:r>
            <a:r>
              <a:rPr lang="en-US" altLang="zh-CN" sz="2400" b="1" dirty="0">
                <a:latin typeface="Times New Roman" panose="02020603050405020304" pitchFamily="18" charset="0"/>
              </a:rPr>
              <a:t> ==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400" b="1" dirty="0">
                <a:latin typeface="Times New Roman" panose="02020603050405020304" pitchFamily="18" charset="0"/>
              </a:rPr>
              <a:t>){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	   match</a:t>
            </a:r>
            <a:r>
              <a:rPr lang="en-US" altLang="zh-CN" sz="2400" b="1" dirty="0">
                <a:latin typeface="Times New Roman" panose="02020603050405020304" pitchFamily="18" charset="0"/>
              </a:rPr>
              <a:t>(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);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();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match</a:t>
            </a:r>
            <a:r>
              <a:rPr lang="en-US" altLang="zh-CN" sz="2400" b="1" dirty="0">
                <a:latin typeface="Times New Roman" panose="02020603050405020304" pitchFamily="18" charset="0"/>
              </a:rPr>
              <a:t>(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); 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	else  if 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lookahead</a:t>
            </a:r>
            <a:r>
              <a:rPr lang="en-US" altLang="zh-CN" sz="2400" b="1" dirty="0">
                <a:latin typeface="Times New Roman" panose="02020603050405020304" pitchFamily="18" charset="0"/>
              </a:rPr>
              <a:t> ==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){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	           match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);}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	else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error</a:t>
            </a:r>
            <a:r>
              <a:rPr lang="en-US" altLang="zh-CN" sz="2400" b="1" dirty="0">
                <a:latin typeface="Times New Roman" panose="02020603050405020304" pitchFamily="18" charset="0"/>
              </a:rPr>
              <a:t>( );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void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(){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	if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lookahead</a:t>
            </a:r>
            <a:r>
              <a:rPr lang="en-US" altLang="zh-CN" sz="2400" b="1" dirty="0">
                <a:latin typeface="Times New Roman" panose="02020603050405020304" pitchFamily="18" charset="0"/>
              </a:rPr>
              <a:t> ==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||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lookahead</a:t>
            </a:r>
            <a:r>
              <a:rPr lang="en-US" altLang="zh-CN" sz="2400" b="1" dirty="0">
                <a:latin typeface="Times New Roman" panose="02020603050405020304" pitchFamily="18" charset="0"/>
              </a:rPr>
              <a:t> ==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400" b="1" dirty="0">
                <a:latin typeface="Times New Roman" panose="02020603050405020304" pitchFamily="18" charset="0"/>
              </a:rPr>
              <a:t>){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	   S</a:t>
            </a:r>
            <a:r>
              <a:rPr lang="en-US" altLang="zh-CN" sz="2400" b="1" dirty="0">
                <a:latin typeface="Times New Roman" panose="02020603050405020304" pitchFamily="18" charset="0"/>
              </a:rPr>
              <a:t>();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();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	else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error</a:t>
            </a:r>
            <a:r>
              <a:rPr lang="en-US" altLang="zh-CN" sz="2400" b="1" dirty="0">
                <a:latin typeface="Times New Roman" panose="02020603050405020304" pitchFamily="18" charset="0"/>
              </a:rPr>
              <a:t>( );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5081DD-53C2-4890-9AC7-80F48DFEDF79}"/>
              </a:ext>
            </a:extLst>
          </p:cNvPr>
          <p:cNvSpPr txBox="1"/>
          <p:nvPr/>
        </p:nvSpPr>
        <p:spPr>
          <a:xfrm>
            <a:off x="5524500" y="1570107"/>
            <a:ext cx="2771775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4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 (</a:t>
            </a:r>
            <a:r>
              <a:rPr lang="en-US" altLang="zh-CN" sz="40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| </a:t>
            </a:r>
            <a:r>
              <a:rPr lang="en-US" altLang="zh-CN" sz="40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r>
              <a:rPr lang="en-US" altLang="zh-CN" sz="40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40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 L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311EC7-FDF5-7613-E354-A613D7E17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88F40-83CD-4864-8F7D-72AB3384E34D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DD1886-01E5-D372-0B37-A1F560711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CC811E-C3B2-5E74-5B31-D69C91CE2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1887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207CF23-4389-46D8-BC81-B2329244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递归下降预测分析的例子：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A13CA5-DC23-4BD8-9D06-1FD077E8D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void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(){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	if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lookahead</a:t>
            </a:r>
            <a:r>
              <a:rPr lang="en-US" altLang="zh-CN" sz="2400" b="1" dirty="0">
                <a:latin typeface="Times New Roman" panose="02020603050405020304" pitchFamily="18" charset="0"/>
              </a:rPr>
              <a:t> ==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400" b="1" dirty="0">
                <a:latin typeface="Times New Roman" panose="02020603050405020304" pitchFamily="18" charset="0"/>
              </a:rPr>
              <a:t>){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	   match</a:t>
            </a:r>
            <a:r>
              <a:rPr lang="en-US" altLang="zh-CN" sz="2400" b="1" dirty="0">
                <a:latin typeface="Times New Roman" panose="02020603050405020304" pitchFamily="18" charset="0"/>
              </a:rPr>
              <a:t>(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 );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();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();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	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else  if  (</a:t>
            </a:r>
            <a:r>
              <a:rPr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lookahead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!=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))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   error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 );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5081DD-53C2-4890-9AC7-80F48DFEDF79}"/>
              </a:ext>
            </a:extLst>
          </p:cNvPr>
          <p:cNvSpPr txBox="1"/>
          <p:nvPr/>
        </p:nvSpPr>
        <p:spPr>
          <a:xfrm>
            <a:off x="5324475" y="2505075"/>
            <a:ext cx="3457575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3333CC"/>
              </a:buClr>
              <a:buNone/>
            </a:pPr>
            <a:r>
              <a:rPr lang="en-US" altLang="zh-CN" sz="40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 </a:t>
            </a:r>
            <a:r>
              <a:rPr lang="en-US" altLang="zh-CN" sz="40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40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4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40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40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 | </a:t>
            </a:r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6F365D5F-4020-4694-B29C-CC1C1F4B4820}"/>
              </a:ext>
            </a:extLst>
          </p:cNvPr>
          <p:cNvSpPr/>
          <p:nvPr/>
        </p:nvSpPr>
        <p:spPr>
          <a:xfrm>
            <a:off x="2476500" y="3840957"/>
            <a:ext cx="4114800" cy="1759743"/>
          </a:xfrm>
          <a:prstGeom prst="wedgeRectCallout">
            <a:avLst>
              <a:gd name="adj1" fmla="val -15623"/>
              <a:gd name="adj2" fmla="val -114011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产生式的情况：查看输入字符是否属于其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FOLLOW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集，如果属于，则什么也不做，继续执行递归上一层的代码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D832CA-9A2E-60DC-4965-C19D1AE2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F629-AD53-43E9-B849-95E6CE17FFA7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B62E11-F4FD-99D8-5E82-132C716C8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5E00A27-946D-ADD9-0D88-2C138D46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83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B2D95-EC02-E560-3B84-0E219D896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小节练习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73734F-0095-3F80-B7D1-9FDBC7FAB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下面文法是否</a:t>
            </a:r>
            <a:r>
              <a:rPr lang="en-US" altLang="zh-CN" b="1" dirty="0"/>
              <a:t>LL(1)</a:t>
            </a:r>
            <a:r>
              <a:rPr lang="zh-CN" altLang="en-US" dirty="0"/>
              <a:t>文法？说明理由。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800" b="1" i="1" dirty="0"/>
              <a:t>	S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AB</a:t>
            </a:r>
          </a:p>
          <a:p>
            <a:pPr marL="0" indent="0"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	A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Bd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  <a:p>
            <a:pPr marL="0" indent="0"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	B  Ce | </a:t>
            </a:r>
            <a:r>
              <a:rPr lang="en-US" altLang="zh-CN" sz="28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fA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| </a:t>
            </a:r>
          </a:p>
          <a:p>
            <a:pPr marL="0" indent="0">
              <a:buNone/>
            </a:pPr>
            <a:r>
              <a:rPr lang="en-US" altLang="zh-CN" b="1" i="1" dirty="0"/>
              <a:t>	C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 |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zh-CN" altLang="en-US" b="1" i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685018-C1A3-D7D7-1660-76713D369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77937-55A7-40E3-8D3B-E2B7E4AAC461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26C306-B553-EB03-2F84-FB2BA80E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B30DD2-ECFA-0446-649A-343758788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50</a:t>
            </a:fld>
            <a:endParaRPr lang="zh-CN" altLang="en-US"/>
          </a:p>
        </p:txBody>
      </p:sp>
      <p:pic>
        <p:nvPicPr>
          <p:cNvPr id="7" name="图片 6" descr="卡通人物&#10;&#10;描述已自动生成">
            <a:extLst>
              <a:ext uri="{FF2B5EF4-FFF2-40B4-BE49-F238E27FC236}">
                <a16:creationId xmlns:a16="http://schemas.microsoft.com/office/drawing/2014/main" id="{4C261577-7243-FA5C-8DAA-DA28D1D32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802" y="239854"/>
            <a:ext cx="731598" cy="1017446"/>
          </a:xfrm>
          <a:prstGeom prst="rect">
            <a:avLst/>
          </a:prstGeom>
        </p:spPr>
      </p:pic>
      <p:sp>
        <p:nvSpPr>
          <p:cNvPr id="8" name="思想气泡: 云 7">
            <a:extLst>
              <a:ext uri="{FF2B5EF4-FFF2-40B4-BE49-F238E27FC236}">
                <a16:creationId xmlns:a16="http://schemas.microsoft.com/office/drawing/2014/main" id="{BE4B1A1B-386F-A1AC-DD93-B0B4D5F89284}"/>
              </a:ext>
            </a:extLst>
          </p:cNvPr>
          <p:cNvSpPr/>
          <p:nvPr/>
        </p:nvSpPr>
        <p:spPr>
          <a:xfrm>
            <a:off x="4687677" y="2060536"/>
            <a:ext cx="3619042" cy="2304153"/>
          </a:xfrm>
          <a:prstGeom prst="cloudCallout">
            <a:avLst>
              <a:gd name="adj1" fmla="val -51072"/>
              <a:gd name="adj2" fmla="val -55931"/>
            </a:avLst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accent2"/>
                </a:solidFill>
              </a:rPr>
              <a:t>回忆：</a:t>
            </a:r>
            <a:r>
              <a:rPr lang="en-US" altLang="zh-CN" sz="2800" dirty="0">
                <a:solidFill>
                  <a:schemeClr val="accent2"/>
                </a:solidFill>
              </a:rPr>
              <a:t>LL(1)</a:t>
            </a:r>
            <a:r>
              <a:rPr lang="zh-CN" altLang="en-US" sz="2800" dirty="0">
                <a:solidFill>
                  <a:schemeClr val="accent2"/>
                </a:solidFill>
              </a:rPr>
              <a:t>文法的定义？</a:t>
            </a:r>
          </a:p>
        </p:txBody>
      </p:sp>
      <p:pic>
        <p:nvPicPr>
          <p:cNvPr id="9" name="图片 8" descr="图标&#10;&#10;描述已自动生成">
            <a:extLst>
              <a:ext uri="{FF2B5EF4-FFF2-40B4-BE49-F238E27FC236}">
                <a16:creationId xmlns:a16="http://schemas.microsoft.com/office/drawing/2014/main" id="{E568B5AC-5A84-015C-B4F1-91DF0DC50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465" y="190800"/>
            <a:ext cx="768469" cy="108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4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B2D95-EC02-E560-3B84-0E219D896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小节练习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73734F-0095-3F80-B7D1-9FDBC7FAB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答：先求</a:t>
            </a:r>
            <a:r>
              <a:rPr lang="en-US" altLang="zh-CN" dirty="0"/>
              <a:t>FIRST</a:t>
            </a:r>
            <a:r>
              <a:rPr lang="zh-CN" altLang="en-US" dirty="0"/>
              <a:t>和</a:t>
            </a:r>
            <a:r>
              <a:rPr lang="en-US" altLang="zh-CN" dirty="0"/>
              <a:t>FOLLOW</a:t>
            </a:r>
            <a:r>
              <a:rPr lang="zh-CN" altLang="en-US" dirty="0"/>
              <a:t>集：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800" b="1" dirty="0"/>
              <a:t>FIRST(</a:t>
            </a:r>
            <a:r>
              <a:rPr lang="en-US" altLang="zh-CN" sz="2800" b="1" i="1" dirty="0"/>
              <a:t>C</a:t>
            </a:r>
            <a:r>
              <a:rPr lang="en-US" altLang="zh-CN" sz="2800" dirty="0"/>
              <a:t>) </a:t>
            </a:r>
            <a:r>
              <a:rPr lang="en-US" altLang="zh-CN" sz="2800" b="1" dirty="0"/>
              <a:t>= {g,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 </a:t>
            </a:r>
            <a:r>
              <a:rPr lang="en-US" altLang="zh-CN" sz="2800" b="1" dirty="0"/>
              <a:t>}, FIRST(</a:t>
            </a:r>
            <a:r>
              <a:rPr lang="en-US" altLang="zh-CN" sz="2800" b="1" i="1" dirty="0"/>
              <a:t>B</a:t>
            </a:r>
            <a:r>
              <a:rPr lang="en-US" altLang="zh-CN" sz="2800" b="1" dirty="0"/>
              <a:t>) = {e,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f, g,  </a:t>
            </a:r>
            <a:r>
              <a:rPr lang="en-US" altLang="zh-CN" sz="2800" b="1" dirty="0"/>
              <a:t>}</a:t>
            </a:r>
          </a:p>
          <a:p>
            <a:pPr marL="0" indent="0">
              <a:buNone/>
            </a:pPr>
            <a:r>
              <a:rPr lang="en-US" altLang="zh-CN" sz="2800" b="1" dirty="0"/>
              <a:t>FIRST(</a:t>
            </a:r>
            <a:r>
              <a:rPr lang="en-US" altLang="zh-CN" sz="2800" b="1" i="1" dirty="0"/>
              <a:t>A</a:t>
            </a:r>
            <a:r>
              <a:rPr lang="en-US" altLang="zh-CN" sz="2800" dirty="0"/>
              <a:t>) </a:t>
            </a:r>
            <a:r>
              <a:rPr lang="en-US" altLang="zh-CN" sz="2800" b="1" dirty="0"/>
              <a:t>= {</a:t>
            </a:r>
            <a:r>
              <a:rPr lang="en-US" altLang="zh-CN" sz="2800" b="1" i="1" dirty="0"/>
              <a:t>d, </a:t>
            </a:r>
            <a:r>
              <a:rPr lang="en-US" altLang="zh-CN" sz="2800" b="1" dirty="0"/>
              <a:t>e,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f, g,  </a:t>
            </a:r>
            <a:r>
              <a:rPr lang="en-US" altLang="zh-CN" sz="2800" b="1" dirty="0"/>
              <a:t>}, FIRST(</a:t>
            </a:r>
            <a:r>
              <a:rPr lang="en-US" altLang="zh-CN" sz="2800" b="1" i="1" dirty="0"/>
              <a:t>S</a:t>
            </a:r>
            <a:r>
              <a:rPr lang="en-US" altLang="zh-CN" sz="2800" b="1" dirty="0"/>
              <a:t>) = {</a:t>
            </a:r>
            <a:r>
              <a:rPr lang="en-US" altLang="zh-CN" sz="2800" b="1" i="1" dirty="0"/>
              <a:t>d, </a:t>
            </a:r>
            <a:r>
              <a:rPr lang="en-US" altLang="zh-CN" sz="2800" b="1" dirty="0"/>
              <a:t>e,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f, g,  </a:t>
            </a:r>
            <a:r>
              <a:rPr lang="en-US" altLang="zh-CN" sz="2800" b="1" dirty="0"/>
              <a:t>}</a:t>
            </a:r>
          </a:p>
          <a:p>
            <a:pPr marL="0" indent="0">
              <a:buNone/>
            </a:pPr>
            <a:r>
              <a:rPr lang="en-US" altLang="zh-CN" sz="2800" b="1" dirty="0"/>
              <a:t>FOLLOW(</a:t>
            </a:r>
            <a:r>
              <a:rPr lang="en-US" altLang="zh-CN" sz="2800" b="1" i="1" dirty="0"/>
              <a:t>S</a:t>
            </a:r>
            <a:r>
              <a:rPr lang="en-US" altLang="zh-CN" sz="2800" b="1" dirty="0"/>
              <a:t>)={</a:t>
            </a:r>
            <a:r>
              <a:rPr lang="en-US" altLang="zh-CN" sz="2800" b="1" i="1" dirty="0"/>
              <a:t>$</a:t>
            </a:r>
            <a:r>
              <a:rPr lang="en-US" altLang="zh-CN" sz="2800" b="1" dirty="0"/>
              <a:t>},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FOLLOW(</a:t>
            </a:r>
            <a:r>
              <a:rPr lang="en-US" altLang="zh-CN" sz="2800" b="1" i="1" dirty="0"/>
              <a:t>A</a:t>
            </a:r>
            <a:r>
              <a:rPr lang="en-US" altLang="zh-CN" sz="2800" b="1" dirty="0"/>
              <a:t>)={</a:t>
            </a:r>
            <a:r>
              <a:rPr lang="en-US" altLang="zh-CN" sz="2800" b="1" i="1" dirty="0">
                <a:solidFill>
                  <a:srgbClr val="C00000"/>
                </a:solidFill>
              </a:rPr>
              <a:t>d, </a:t>
            </a:r>
            <a:r>
              <a:rPr lang="en-US" altLang="zh-CN" sz="2800" b="1" dirty="0"/>
              <a:t>e,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f, g, </a:t>
            </a:r>
            <a:r>
              <a:rPr lang="en-US" altLang="zh-CN" sz="2800" b="1" i="1" dirty="0"/>
              <a:t>$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/>
              <a:t>},</a:t>
            </a:r>
            <a:r>
              <a:rPr lang="zh-CN" altLang="en-US" sz="2800" b="1" dirty="0"/>
              <a:t> 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800" b="1" dirty="0"/>
              <a:t>FOLLOW(B)={</a:t>
            </a:r>
            <a:r>
              <a:rPr lang="en-US" altLang="zh-CN" sz="2800" b="1" i="1" dirty="0"/>
              <a:t>d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/>
              <a:t>$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/>
              <a:t>}, FOLLOW(</a:t>
            </a:r>
            <a:r>
              <a:rPr lang="en-US" altLang="zh-CN" sz="2800" b="1" i="1" dirty="0"/>
              <a:t>C</a:t>
            </a:r>
            <a:r>
              <a:rPr lang="en-US" altLang="zh-CN" sz="2800" b="1" dirty="0"/>
              <a:t>)={e},</a:t>
            </a:r>
            <a:r>
              <a:rPr lang="zh-CN" altLang="en-US" sz="2800" b="1" dirty="0"/>
              <a:t> </a:t>
            </a:r>
            <a:endParaRPr lang="en-US" altLang="zh-CN" sz="2800" b="1" dirty="0"/>
          </a:p>
          <a:p>
            <a:pPr marL="0" indent="0">
              <a:buNone/>
            </a:pPr>
            <a:r>
              <a:rPr lang="zh-CN" altLang="en-US" sz="2800" dirty="0"/>
              <a:t>根据</a:t>
            </a:r>
            <a:r>
              <a:rPr lang="en-US" altLang="zh-CN" sz="2800" b="1" dirty="0"/>
              <a:t>LL(1)</a:t>
            </a:r>
            <a:r>
              <a:rPr lang="zh-CN" altLang="en-US" sz="2800" dirty="0"/>
              <a:t>文法的定义，我们发现：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b="1" dirty="0"/>
              <a:t>FIRST(</a:t>
            </a:r>
            <a:r>
              <a:rPr lang="en-US" altLang="zh-CN" sz="2800" b="1" i="1" dirty="0"/>
              <a:t>Bd</a:t>
            </a:r>
            <a:r>
              <a:rPr lang="en-US" altLang="zh-CN" sz="2800" dirty="0"/>
              <a:t>) </a:t>
            </a:r>
            <a:r>
              <a:rPr lang="en-US" altLang="zh-CN" sz="2800" b="1" dirty="0"/>
              <a:t>∩ FOLLOW(</a:t>
            </a:r>
            <a:r>
              <a:rPr lang="en-US" altLang="zh-CN" sz="2800" b="1" i="1" dirty="0"/>
              <a:t>A</a:t>
            </a:r>
            <a:r>
              <a:rPr lang="en-US" altLang="zh-CN" sz="2800" b="1" dirty="0"/>
              <a:t>) = {</a:t>
            </a:r>
            <a:r>
              <a:rPr lang="en-US" altLang="zh-CN" sz="2800" b="1" i="1" dirty="0"/>
              <a:t>d, </a:t>
            </a:r>
            <a:r>
              <a:rPr lang="en-US" altLang="zh-CN" sz="2800" b="1" dirty="0"/>
              <a:t>e,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f, g</a:t>
            </a:r>
            <a:r>
              <a:rPr lang="en-US" altLang="zh-CN" sz="2800" b="1" dirty="0"/>
              <a:t>} ≠ </a:t>
            </a:r>
            <a:r>
              <a:rPr lang="en-US" altLang="zh-CN" sz="2800" dirty="0"/>
              <a:t>∅</a:t>
            </a:r>
          </a:p>
          <a:p>
            <a:pPr marL="0" indent="0">
              <a:buNone/>
            </a:pPr>
            <a:r>
              <a:rPr lang="zh-CN" altLang="en-US" sz="2800" dirty="0"/>
              <a:t>所以该文法不是</a:t>
            </a:r>
            <a:r>
              <a:rPr lang="en-US" altLang="zh-CN" sz="2800" b="1" dirty="0"/>
              <a:t>LL(1)</a:t>
            </a:r>
            <a:r>
              <a:rPr lang="zh-CN" altLang="en-US" sz="2800" dirty="0"/>
              <a:t>文法。</a:t>
            </a:r>
            <a:endParaRPr lang="en-US" altLang="zh-CN" sz="28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685018-C1A3-D7D7-1660-76713D369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77937-55A7-40E3-8D3B-E2B7E4AAC461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26C306-B553-EB03-2F84-FB2BA80E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B30DD2-ECFA-0446-649A-343758788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95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BCB14357-A6C3-49CF-B63A-0C8F7428DE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本节小结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09FA8B0-1F8D-454B-98EB-8FCE0BE47D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3600" dirty="0"/>
              <a:t>3.2 </a:t>
            </a:r>
            <a:r>
              <a:rPr lang="zh-CN" altLang="en-US" sz="3600" dirty="0"/>
              <a:t>语言和文法</a:t>
            </a:r>
            <a:endParaRPr lang="en-US" altLang="zh-CN" sz="3600" dirty="0"/>
          </a:p>
          <a:p>
            <a:pPr lvl="1" eaLnBrk="1" hangingPunct="1"/>
            <a:r>
              <a:rPr lang="en-US" altLang="zh-CN" sz="3200" dirty="0"/>
              <a:t>3.2.8 </a:t>
            </a:r>
            <a:r>
              <a:rPr lang="zh-CN" altLang="en-US" sz="3200" dirty="0"/>
              <a:t>非上下文无关的语言构造*</a:t>
            </a:r>
            <a:endParaRPr lang="en-US" altLang="zh-CN" sz="3200" dirty="0"/>
          </a:p>
          <a:p>
            <a:pPr lvl="1" eaLnBrk="1" hangingPunct="1"/>
            <a:r>
              <a:rPr lang="en-US" altLang="zh-CN" sz="3200" dirty="0"/>
              <a:t>3.2.9 </a:t>
            </a:r>
            <a:r>
              <a:rPr lang="zh-CN" altLang="en-US" sz="3200" dirty="0"/>
              <a:t>形式语言的</a:t>
            </a:r>
            <a:r>
              <a:rPr lang="en-US" altLang="zh-CN" sz="3200" dirty="0"/>
              <a:t>Chomsky</a:t>
            </a:r>
            <a:r>
              <a:rPr lang="zh-CN" altLang="en-US" sz="3200" dirty="0"/>
              <a:t>分类</a:t>
            </a:r>
            <a:endParaRPr lang="en-US" altLang="zh-CN" sz="3600" dirty="0"/>
          </a:p>
          <a:p>
            <a:pPr eaLnBrk="1" hangingPunct="1"/>
            <a:r>
              <a:rPr lang="en-US" altLang="zh-CN" sz="3600" dirty="0"/>
              <a:t>3.3 </a:t>
            </a:r>
            <a:r>
              <a:rPr lang="zh-CN" altLang="en-US" sz="3600" dirty="0"/>
              <a:t>自上而下分析</a:t>
            </a:r>
          </a:p>
          <a:p>
            <a:pPr lvl="1" eaLnBrk="1" hangingPunct="1"/>
            <a:r>
              <a:rPr lang="en-US" altLang="zh-CN" sz="3200" dirty="0"/>
              <a:t>3.3.1 </a:t>
            </a:r>
            <a:r>
              <a:rPr lang="zh-CN" altLang="en-US" sz="3200" dirty="0"/>
              <a:t>一般分析方法</a:t>
            </a:r>
          </a:p>
          <a:p>
            <a:pPr lvl="1" eaLnBrk="1" hangingPunct="1"/>
            <a:r>
              <a:rPr lang="en-US" altLang="zh-CN" sz="3200" dirty="0"/>
              <a:t>3.3.2 </a:t>
            </a:r>
            <a:r>
              <a:rPr lang="zh-CN" altLang="en-US" sz="3200" dirty="0"/>
              <a:t>预测分析方法的一种形式：</a:t>
            </a:r>
            <a:r>
              <a:rPr lang="en-US" altLang="zh-CN" sz="3200" dirty="0"/>
              <a:t>LL(1)</a:t>
            </a:r>
            <a:r>
              <a:rPr lang="zh-CN" altLang="en-US" sz="3200" dirty="0"/>
              <a:t>文法</a:t>
            </a:r>
            <a:endParaRPr lang="en-US" altLang="zh-CN" sz="2400" dirty="0"/>
          </a:p>
          <a:p>
            <a:pPr lvl="1" eaLnBrk="1" hangingPunct="1"/>
            <a:r>
              <a:rPr lang="en-US" altLang="zh-CN" sz="3200" dirty="0"/>
              <a:t>3.3.3 </a:t>
            </a:r>
            <a:r>
              <a:rPr lang="zh-CN" altLang="en-US" sz="3200" dirty="0"/>
              <a:t>预测分析实现：递归</a:t>
            </a:r>
            <a:endParaRPr lang="en-US" altLang="zh-CN" sz="3200" dirty="0"/>
          </a:p>
          <a:p>
            <a:pPr lvl="1" eaLnBrk="1" hangingPunct="1"/>
            <a:r>
              <a:rPr lang="en-US" altLang="zh-CN" sz="3200" dirty="0"/>
              <a:t>3.3.4 </a:t>
            </a:r>
            <a:r>
              <a:rPr lang="zh-CN" altLang="en-US" sz="3200" dirty="0"/>
              <a:t>预测分析实现：非递归（下次课讲）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064BBB-ABC2-5311-CECE-249A8B1E9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1C21-3B32-469E-9FED-908B95EF8BFF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C698F4-78D8-FBE8-8C2F-B240DAFE7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0329B0-9FDB-F5D5-039E-AC23E344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5D57FCA-D7E8-8B9A-9435-695647EB0A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00" y="1147049"/>
            <a:ext cx="9082800" cy="5302896"/>
          </a:xfrm>
          <a:prstGeom prst="rect">
            <a:avLst/>
          </a:prstGeom>
        </p:spPr>
      </p:pic>
      <p:sp>
        <p:nvSpPr>
          <p:cNvPr id="9" name="标题 8">
            <a:extLst>
              <a:ext uri="{FF2B5EF4-FFF2-40B4-BE49-F238E27FC236}">
                <a16:creationId xmlns:a16="http://schemas.microsoft.com/office/drawing/2014/main" id="{9DC28C08-DF14-3DC8-F82B-92E7B3BC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本节小结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E0DCAC-D5B3-8406-9734-5E4AAFE9C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77937-55A7-40E3-8D3B-E2B7E4AAC461}" type="datetime2">
              <a:rPr lang="zh-CN" altLang="en-US" smtClean="0"/>
              <a:t>2026年4月8日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132D6-8427-66CF-1B7E-8521DC7C7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8EF08-9BD0-07D0-2D77-2CDC9837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3588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编译原理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E1A4A9B1-7E4E-47AA-AA07-2768A6A8C14F}" vid="{86F4E090-C3C9-4325-B7F9-CF07F329FE4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1906</TotalTime>
  <Words>5780</Words>
  <Application>Microsoft Office PowerPoint</Application>
  <PresentationFormat>全屏显示(4:3)</PresentationFormat>
  <Paragraphs>738</Paragraphs>
  <Slides>53</Slides>
  <Notes>9</Notes>
  <HiddenSlides>3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5" baseType="lpstr">
      <vt:lpstr>TimesNewRomanPS-BoldItalicMT</vt:lpstr>
      <vt:lpstr>TimesNewRomanPS-BoldMT</vt:lpstr>
      <vt:lpstr>等线</vt:lpstr>
      <vt:lpstr>仿宋</vt:lpstr>
      <vt:lpstr>黑体</vt:lpstr>
      <vt:lpstr>宋体</vt:lpstr>
      <vt:lpstr>Microsoft Yahei</vt:lpstr>
      <vt:lpstr>Arial</vt:lpstr>
      <vt:lpstr>Symbol</vt:lpstr>
      <vt:lpstr>Times New Roman</vt:lpstr>
      <vt:lpstr>Wingdings</vt:lpstr>
      <vt:lpstr>主题1</vt:lpstr>
      <vt:lpstr>第三章 语法分析(3)</vt:lpstr>
      <vt:lpstr>上次课回顾</vt:lpstr>
      <vt:lpstr>上次课回顾</vt:lpstr>
      <vt:lpstr>上次课回顾</vt:lpstr>
      <vt:lpstr>本次课内容</vt:lpstr>
      <vt:lpstr>3.2.8 非上下文无关的语言结构*</vt:lpstr>
      <vt:lpstr>3.2.8 非上下文无关的语言结构*</vt:lpstr>
      <vt:lpstr>3.2.8 非上下文无关的语言结构*</vt:lpstr>
      <vt:lpstr>3.2.8 非上下文无关的语言结构*</vt:lpstr>
      <vt:lpstr>3.2.9 形式语言的Chomsky分类</vt:lpstr>
      <vt:lpstr>3.2.9 形式语言的Chomsky分类</vt:lpstr>
      <vt:lpstr>3.2.9 形式语言的Chomsky分类</vt:lpstr>
      <vt:lpstr>3.2.9 形式语言的Chomsky分类</vt:lpstr>
      <vt:lpstr>3.2.9 形式语言的Chomsky分类</vt:lpstr>
      <vt:lpstr>3.2.9 形式语言的Chomsky分类</vt:lpstr>
      <vt:lpstr>3.2.9 形式语言的Chomsky分类</vt:lpstr>
      <vt:lpstr>3.2.9 形式语言的Chomsky分类</vt:lpstr>
      <vt:lpstr>PowerPoint 演示文稿</vt:lpstr>
      <vt:lpstr>3.3.1 自上而下分析的一般方法</vt:lpstr>
      <vt:lpstr>3.3.1 自上而下分析的一般方法</vt:lpstr>
      <vt:lpstr>3.3.1 自上而下分析的一般方法</vt:lpstr>
      <vt:lpstr>3.3.1 自上而下分析的一般方法</vt:lpstr>
      <vt:lpstr>3.3.1 自上而下分析的一般方法</vt:lpstr>
      <vt:lpstr>3.3.1 自上而下分析的一般方法</vt:lpstr>
      <vt:lpstr>3.3.2 LL(1)文法</vt:lpstr>
      <vt:lpstr>3.3.2 LL(1)文法</vt:lpstr>
      <vt:lpstr>3.3.2 LL(1)文法</vt:lpstr>
      <vt:lpstr>3.3.2 LL(1)文法</vt:lpstr>
      <vt:lpstr>3.3.2 LL(1)文法</vt:lpstr>
      <vt:lpstr>3.3.2 LL(1)文法</vt:lpstr>
      <vt:lpstr>3.3.2 LL(1)文法</vt:lpstr>
      <vt:lpstr>3.3.2 LL(1)文法</vt:lpstr>
      <vt:lpstr>3.3.2 LL(1)文法</vt:lpstr>
      <vt:lpstr>3.3.2 LL(1)文法</vt:lpstr>
      <vt:lpstr>3.3.2 LL(1)文法</vt:lpstr>
      <vt:lpstr>3.3.2 LL(1)文法</vt:lpstr>
      <vt:lpstr>3.3.2 LL(1)文法</vt:lpstr>
      <vt:lpstr>3.3.2 LL(1)文法</vt:lpstr>
      <vt:lpstr>3.3.2 LL(1)文法</vt:lpstr>
      <vt:lpstr>3.3.2 LL(1)文法</vt:lpstr>
      <vt:lpstr>3.3.2 LL(1)文法</vt:lpstr>
      <vt:lpstr>3.3.3 递归下降的预测分析</vt:lpstr>
      <vt:lpstr>3.3.3 递归下降的预测分析</vt:lpstr>
      <vt:lpstr>3.3.3 递归下降的预测分析</vt:lpstr>
      <vt:lpstr>3.3.3 递归下降的预测分析</vt:lpstr>
      <vt:lpstr>3.3.3 递归下降的预测分析</vt:lpstr>
      <vt:lpstr>递归下降预测分析的例子：</vt:lpstr>
      <vt:lpstr>递归下降预测分析的例子：</vt:lpstr>
      <vt:lpstr>递归下降预测分析的例子：</vt:lpstr>
      <vt:lpstr>小节练习</vt:lpstr>
      <vt:lpstr>小节练习</vt:lpstr>
      <vt:lpstr>本节小结</vt:lpstr>
      <vt:lpstr>本节小结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欣捷</dc:creator>
  <cp:lastModifiedBy>欣捷 王</cp:lastModifiedBy>
  <cp:revision>45</cp:revision>
  <dcterms:created xsi:type="dcterms:W3CDTF">2021-02-17T04:10:24Z</dcterms:created>
  <dcterms:modified xsi:type="dcterms:W3CDTF">2026-04-08T03:29:16Z</dcterms:modified>
</cp:coreProperties>
</file>