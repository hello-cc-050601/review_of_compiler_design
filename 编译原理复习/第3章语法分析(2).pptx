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43"/>
  </p:notesMasterIdLst>
  <p:sldIdLst>
    <p:sldId id="256" r:id="rId2"/>
    <p:sldId id="510" r:id="rId3"/>
    <p:sldId id="544" r:id="rId4"/>
    <p:sldId id="547" r:id="rId5"/>
    <p:sldId id="548" r:id="rId6"/>
    <p:sldId id="592" r:id="rId7"/>
    <p:sldId id="549" r:id="rId8"/>
    <p:sldId id="580" r:id="rId9"/>
    <p:sldId id="619" r:id="rId10"/>
    <p:sldId id="525" r:id="rId11"/>
    <p:sldId id="598" r:id="rId12"/>
    <p:sldId id="599" r:id="rId13"/>
    <p:sldId id="601" r:id="rId14"/>
    <p:sldId id="526" r:id="rId15"/>
    <p:sldId id="527" r:id="rId16"/>
    <p:sldId id="529" r:id="rId17"/>
    <p:sldId id="605" r:id="rId18"/>
    <p:sldId id="611" r:id="rId19"/>
    <p:sldId id="532" r:id="rId20"/>
    <p:sldId id="603" r:id="rId21"/>
    <p:sldId id="533" r:id="rId22"/>
    <p:sldId id="604" r:id="rId23"/>
    <p:sldId id="534" r:id="rId24"/>
    <p:sldId id="535" r:id="rId25"/>
    <p:sldId id="536" r:id="rId26"/>
    <p:sldId id="537" r:id="rId27"/>
    <p:sldId id="538" r:id="rId28"/>
    <p:sldId id="620" r:id="rId29"/>
    <p:sldId id="539" r:id="rId30"/>
    <p:sldId id="540" r:id="rId31"/>
    <p:sldId id="541" r:id="rId32"/>
    <p:sldId id="542" r:id="rId33"/>
    <p:sldId id="543" r:id="rId34"/>
    <p:sldId id="606" r:id="rId35"/>
    <p:sldId id="607" r:id="rId36"/>
    <p:sldId id="565" r:id="rId37"/>
    <p:sldId id="566" r:id="rId38"/>
    <p:sldId id="617" r:id="rId39"/>
    <p:sldId id="618" r:id="rId40"/>
    <p:sldId id="596" r:id="rId41"/>
    <p:sldId id="579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17D"/>
    <a:srgbClr val="316886"/>
    <a:srgbClr val="3A7B9F"/>
    <a:srgbClr val="20455A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1448F-5C01-4E63-B499-41DF5551AA04}" v="4" dt="2026-03-26T01:36:08.80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74447" autoAdjust="0"/>
  </p:normalViewPr>
  <p:slideViewPr>
    <p:cSldViewPr snapToGrid="0">
      <p:cViewPr varScale="1">
        <p:scale>
          <a:sx n="84" d="100"/>
          <a:sy n="84" d="100"/>
        </p:scale>
        <p:origin x="1632" y="48"/>
      </p:cViewPr>
      <p:guideLst/>
    </p:cSldViewPr>
  </p:slideViewPr>
  <p:outlineViewPr>
    <p:cViewPr>
      <p:scale>
        <a:sx n="33" d="100"/>
        <a:sy n="33" d="100"/>
      </p:scale>
      <p:origin x="0" y="-962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欣捷 王" userId="b965477fa0aef5e6" providerId="LiveId" clId="{97C6B45D-85CF-4E4B-9C99-FFEAE701DD4A}"/>
    <pc:docChg chg="custSel modSld">
      <pc:chgData name="欣捷 王" userId="b965477fa0aef5e6" providerId="LiveId" clId="{97C6B45D-85CF-4E4B-9C99-FFEAE701DD4A}" dt="2026-03-26T01:36:08.807" v="5"/>
      <pc:docMkLst>
        <pc:docMk/>
      </pc:docMkLst>
      <pc:sldChg chg="modSp mod">
        <pc:chgData name="欣捷 王" userId="b965477fa0aef5e6" providerId="LiveId" clId="{97C6B45D-85CF-4E4B-9C99-FFEAE701DD4A}" dt="2026-03-26T01:36:08.807" v="5"/>
        <pc:sldMkLst>
          <pc:docMk/>
          <pc:sldMk cId="77715251" sldId="620"/>
        </pc:sldMkLst>
        <pc:spChg chg="mod">
          <ac:chgData name="欣捷 王" userId="b965477fa0aef5e6" providerId="LiveId" clId="{97C6B45D-85CF-4E4B-9C99-FFEAE701DD4A}" dt="2026-03-26T01:36:08.806" v="2"/>
          <ac:spMkLst>
            <pc:docMk/>
            <pc:sldMk cId="77715251" sldId="620"/>
            <ac:spMk id="19" creationId="{FC311E84-2935-8036-810E-C0239E2B1F53}"/>
          </ac:spMkLst>
        </pc:spChg>
        <pc:spChg chg="mod">
          <ac:chgData name="欣捷 王" userId="b965477fa0aef5e6" providerId="LiveId" clId="{97C6B45D-85CF-4E4B-9C99-FFEAE701DD4A}" dt="2026-03-26T01:36:08.802" v="1"/>
          <ac:spMkLst>
            <pc:docMk/>
            <pc:sldMk cId="77715251" sldId="620"/>
            <ac:spMk id="20" creationId="{FDE92CC1-F66F-B6EB-0EAF-A07A9ABA687D}"/>
          </ac:spMkLst>
        </pc:spChg>
        <pc:spChg chg="mod">
          <ac:chgData name="欣捷 王" userId="b965477fa0aef5e6" providerId="LiveId" clId="{97C6B45D-85CF-4E4B-9C99-FFEAE701DD4A}" dt="2026-03-26T01:36:08.802" v="1"/>
          <ac:spMkLst>
            <pc:docMk/>
            <pc:sldMk cId="77715251" sldId="620"/>
            <ac:spMk id="21" creationId="{E2B48570-46AE-4C88-1DF6-375CE04BA8F3}"/>
          </ac:spMkLst>
        </pc:spChg>
        <pc:spChg chg="mod">
          <ac:chgData name="欣捷 王" userId="b965477fa0aef5e6" providerId="LiveId" clId="{97C6B45D-85CF-4E4B-9C99-FFEAE701DD4A}" dt="2026-03-26T01:36:08.802" v="1"/>
          <ac:spMkLst>
            <pc:docMk/>
            <pc:sldMk cId="77715251" sldId="620"/>
            <ac:spMk id="22" creationId="{B01F75C2-5B1D-14A9-86BB-6F60F49E7E8E}"/>
          </ac:spMkLst>
        </pc:spChg>
        <pc:grpChg chg="mod">
          <ac:chgData name="欣捷 王" userId="b965477fa0aef5e6" providerId="LiveId" clId="{97C6B45D-85CF-4E4B-9C99-FFEAE701DD4A}" dt="2026-03-26T01:36:08.806" v="3"/>
          <ac:grpSpMkLst>
            <pc:docMk/>
            <pc:sldMk cId="77715251" sldId="620"/>
            <ac:grpSpMk id="23" creationId="{53DB1D86-0ECB-73A9-C9FE-05D2ED30F588}"/>
          </ac:grpSpMkLst>
        </pc:grpChg>
        <pc:picChg chg="mod ord">
          <ac:chgData name="欣捷 王" userId="b965477fa0aef5e6" providerId="LiveId" clId="{97C6B45D-85CF-4E4B-9C99-FFEAE701DD4A}" dt="2026-03-26T01:36:08.807" v="5"/>
          <ac:picMkLst>
            <pc:docMk/>
            <pc:sldMk cId="77715251" sldId="620"/>
            <ac:picMk id="8" creationId="{EDF7CA6D-48AC-1CAC-641B-81F1E54BA6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9D049-5B44-483E-9C3C-697C85C65D4A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C3482-A6A0-4CF0-A287-4BD4EF082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4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18842A18-B17C-4DD9-8E02-70543860EA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C44F0925-673A-48A7-8578-86EFE90276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8DF531D2-D367-4A2F-BC27-6340E1E94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AE5BEF-A927-4FB0-8ABF-587835847E46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0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399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18842A18-B17C-4DD9-8E02-70543860EA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C44F0925-673A-48A7-8578-86EFE90276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8DF531D2-D367-4A2F-BC27-6340E1E94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AE5BEF-A927-4FB0-8ABF-587835847E46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988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79B91A8-AB00-1A41-CA6A-4FF2FEA0A1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0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3863-AF88-4113-A9D2-D4DB109FE869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22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10F30-101E-4B70-81E3-E92535CA62D8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35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8F8E5F-6573-7ED2-B0EC-CAF1ED51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D991-FD4B-4B12-BB88-6B8BD00A7EC1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4B572B-804C-256C-A9DB-B9D13268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6098AD-64BA-5B92-7F82-EC918332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05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1898-DC5C-4931-B9CC-2F720F99C55F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80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E029-0406-4AE6-BAE9-EB0596E38F98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96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7C7C-BC7D-47BD-890D-F5D764B256D3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50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F3C5-B417-4C3F-86D5-248A37230A6F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34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7870-F841-49AD-B65D-F6456C096D94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7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02DC-F07E-4588-96CC-E473FB64A8BC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55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8158-B666-42A8-9567-B1F34E13105D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636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7E0B-076A-412D-995B-5854EC70EC9C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752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11B4-9D22-4991-8CC4-B66E8DE878F6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070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4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262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5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4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0AD6D21F-606C-C712-B75E-0FF4C7EFCD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F82F08-118F-00BB-0395-44BDC545CC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30A4E-CAEF-BC13-1BFA-2E4EF5E7CBB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98CD991-FD4B-4B12-BB88-6B8BD00A7EC1}" type="datetime2">
              <a:rPr lang="zh-CN" altLang="en-US" smtClean="0"/>
              <a:t>2026年3月26日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26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98CD991-FD4B-4B12-BB88-6B8BD00A7EC1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D9017E2D-D5FD-82A7-3A87-59F40C5D0C8A}"/>
              </a:ext>
            </a:extLst>
          </p:cNvPr>
          <p:cNvSpPr/>
          <p:nvPr userDrawn="1"/>
        </p:nvSpPr>
        <p:spPr>
          <a:xfrm>
            <a:off x="0" y="365134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02907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67" r:id="rId14"/>
    <p:sldLayoutId id="2147483669" r:id="rId15"/>
    <p:sldLayoutId id="2147483671" r:id="rId16"/>
    <p:sldLayoutId id="2147483688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7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第三章 语法分析</a:t>
            </a:r>
            <a:r>
              <a:rPr lang="en-US" altLang="zh-CN" dirty="0"/>
              <a:t>(2)</a:t>
            </a:r>
            <a:endParaRPr lang="zh-CN" altLang="en-US" sz="3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 dirty="0"/>
          </a:p>
          <a:p>
            <a:r>
              <a:rPr lang="zh-CN" altLang="en-US" sz="1800" dirty="0"/>
              <a:t>中国海洋大学 计算机系 王欣捷</a:t>
            </a:r>
            <a:endParaRPr lang="en-US" altLang="zh-CN" sz="1800" dirty="0"/>
          </a:p>
          <a:p>
            <a:r>
              <a:rPr lang="en-US" altLang="zh-CN" sz="1800" dirty="0"/>
              <a:t>wangxinjie@ouc.edu.cn</a:t>
            </a:r>
            <a:endParaRPr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BF5FE2D-46CF-4D58-86D5-14ACBD829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020876E-E8E4-4B6E-8ED2-C3CF006C1D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altLang="zh-CN" dirty="0"/>
              <a:t>3.1 </a:t>
            </a:r>
            <a:r>
              <a:rPr lang="zh-CN" altLang="en-US" dirty="0"/>
              <a:t>上下文无关文法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en-US" altLang="zh-CN" dirty="0"/>
              <a:t>3.1.1 </a:t>
            </a:r>
            <a:r>
              <a:rPr lang="zh-CN" altLang="en-US" dirty="0"/>
              <a:t>定义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en-US" altLang="zh-CN" dirty="0"/>
              <a:t>3.1.2 </a:t>
            </a:r>
            <a:r>
              <a:rPr lang="zh-CN" altLang="en-US" dirty="0"/>
              <a:t>推导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en-US" altLang="zh-CN" dirty="0"/>
              <a:t>3.1.3 </a:t>
            </a:r>
            <a:r>
              <a:rPr lang="zh-CN" altLang="en-US" dirty="0"/>
              <a:t>分析树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en-US" altLang="zh-CN" dirty="0"/>
              <a:t>3.1.4 </a:t>
            </a:r>
            <a:r>
              <a:rPr lang="zh-CN" altLang="en-US" dirty="0"/>
              <a:t>二义性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defRPr/>
            </a:pPr>
            <a:r>
              <a:rPr lang="en-US" altLang="zh-CN" dirty="0"/>
              <a:t>3.2 </a:t>
            </a:r>
            <a:r>
              <a:rPr lang="zh-CN" altLang="en-US" dirty="0"/>
              <a:t>语言和文法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en-US" altLang="zh-CN" dirty="0"/>
              <a:t>3.2.1 </a:t>
            </a:r>
            <a:r>
              <a:rPr lang="zh-CN" altLang="en-US" dirty="0"/>
              <a:t>正规式和上下文无关文法的比较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en-US" altLang="zh-CN" dirty="0"/>
              <a:t>3.2.2 </a:t>
            </a:r>
            <a:r>
              <a:rPr lang="zh-CN" altLang="en-US" dirty="0"/>
              <a:t>分离词法分析器的理由</a:t>
            </a:r>
            <a:endParaRPr lang="en-US" altLang="zh-CN" dirty="0"/>
          </a:p>
          <a:p>
            <a:pPr lvl="1">
              <a:lnSpc>
                <a:spcPct val="100000"/>
              </a:lnSpc>
              <a:defRPr/>
            </a:pPr>
            <a:r>
              <a:rPr lang="en-US" altLang="zh-CN" dirty="0"/>
              <a:t>3.2.3 </a:t>
            </a:r>
            <a:r>
              <a:rPr lang="zh-CN" altLang="en-US" dirty="0"/>
              <a:t>验证文法产生的语言</a:t>
            </a:r>
            <a:endParaRPr lang="en-US" altLang="zh-CN" dirty="0"/>
          </a:p>
          <a:p>
            <a:pPr marL="0" indent="0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eaLnBrk="1" hangingPunct="1">
              <a:lnSpc>
                <a:spcPct val="100000"/>
              </a:lnSpc>
              <a:defRPr/>
            </a:pP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E57A71-FE19-CC4B-50A1-65EF6A1E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C5B5-625C-458F-AD05-F226EAB5BD9E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0227BF-4992-9A28-EB60-BD2823B1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415E5-4E0D-3F8A-2E11-640C8194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CEC1FB8-D119-40DF-961F-4AE07A1AC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DD38DE1-F14D-4778-8FDC-9AB0BF7408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>
                <a:solidFill>
                  <a:schemeClr val="accent1"/>
                </a:solidFill>
              </a:rPr>
              <a:t>语法分析器（</a:t>
            </a:r>
            <a:r>
              <a:rPr lang="en-US" altLang="zh-CN" sz="3200" dirty="0">
                <a:solidFill>
                  <a:schemeClr val="accent1"/>
                </a:solidFill>
              </a:rPr>
              <a:t>syntax analyzer</a:t>
            </a:r>
            <a:r>
              <a:rPr lang="zh-CN" altLang="en-US" sz="3200" dirty="0">
                <a:solidFill>
                  <a:schemeClr val="accent1"/>
                </a:solidFill>
              </a:rPr>
              <a:t>）</a:t>
            </a:r>
            <a:r>
              <a:rPr lang="zh-CN" altLang="en-US" dirty="0"/>
              <a:t>的功能：分析出记号流的语法结构</a:t>
            </a:r>
            <a:endParaRPr lang="en-US" altLang="zh-CN" dirty="0"/>
          </a:p>
          <a:p>
            <a:r>
              <a:rPr lang="zh-CN" altLang="en-US" sz="3200" dirty="0"/>
              <a:t>语法分析器简称</a:t>
            </a:r>
            <a:r>
              <a:rPr lang="zh-CN" altLang="en-US" sz="3200" dirty="0">
                <a:solidFill>
                  <a:schemeClr val="accent1"/>
                </a:solidFill>
              </a:rPr>
              <a:t>分析器（</a:t>
            </a:r>
            <a:r>
              <a:rPr lang="en-US" altLang="zh-CN" sz="3200" dirty="0">
                <a:solidFill>
                  <a:schemeClr val="accent1"/>
                </a:solidFill>
              </a:rPr>
              <a:t>parser</a:t>
            </a:r>
            <a:r>
              <a:rPr lang="zh-CN" altLang="en-US" sz="3200" dirty="0">
                <a:solidFill>
                  <a:schemeClr val="accent1"/>
                </a:solidFill>
              </a:rPr>
              <a:t>）</a:t>
            </a:r>
            <a:endParaRPr lang="zh-CN" altLang="en-US" dirty="0"/>
          </a:p>
          <a:p>
            <a:r>
              <a:rPr lang="zh-CN" altLang="en-US" dirty="0"/>
              <a:t>上下文无关文法的定义（四元组）：</a:t>
            </a:r>
            <a:r>
              <a:rPr lang="zh-CN" altLang="en-US" sz="3200" b="1" dirty="0">
                <a:latin typeface="Times New Roman" panose="02020603050405020304" pitchFamily="18" charset="0"/>
              </a:rPr>
              <a:t>（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3200" b="1" i="1" baseline="-30000" dirty="0">
                <a:latin typeface="Times New Roman" panose="02020603050405020304" pitchFamily="18" charset="0"/>
              </a:rPr>
              <a:t>T 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3200" b="1" i="1" baseline="-30000" dirty="0">
                <a:latin typeface="Times New Roman" panose="02020603050405020304" pitchFamily="18" charset="0"/>
              </a:rPr>
              <a:t>N 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</a:rPr>
              <a:t>）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r>
              <a:rPr lang="zh-CN" altLang="en-US" dirty="0"/>
              <a:t>及简化表示：不引起歧义的情况下只写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P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E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E A E |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E 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i="1" dirty="0">
                <a:latin typeface="Times New Roman" panose="02020603050405020304" pitchFamily="18" charset="0"/>
              </a:rPr>
              <a:t> 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 dirty="0">
                <a:latin typeface="Times New Roman" panose="02020603050405020304" pitchFamily="18" charset="0"/>
              </a:rPr>
              <a:t>E | </a:t>
            </a:r>
            <a:r>
              <a:rPr lang="en-US" altLang="zh-CN" b="1" dirty="0">
                <a:latin typeface="Times New Roman" panose="02020603050405020304" pitchFamily="18" charset="0"/>
              </a:rPr>
              <a:t>id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+ |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25A8CE-20C8-3912-4537-F98F8F58B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6887-587D-434E-B04E-88F8F9BDBD61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87D877-4FFB-8706-7D77-07A91796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90230-7175-23DE-E8AE-4282263F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B22F8F8-F927-4823-9A90-34EBD6AEB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8F50CA1-F17F-47BD-8664-4393AD1DEB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3.3</a:t>
            </a:r>
            <a:r>
              <a:rPr lang="zh-CN" altLang="en-US" sz="3600" dirty="0">
                <a:latin typeface="Times New Roman" panose="02020603050405020304" pitchFamily="18" charset="0"/>
              </a:rPr>
              <a:t>：</a:t>
            </a:r>
            <a:r>
              <a:rPr lang="zh-CN" altLang="en-US" sz="36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600" b="1" dirty="0">
                <a:latin typeface="Times New Roman" panose="02020603050405020304" pitchFamily="18" charset="0"/>
              </a:rPr>
              <a:t>+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 E </a:t>
            </a:r>
            <a:r>
              <a:rPr lang="en-US" altLang="zh-CN" sz="3600" b="1" dirty="0">
                <a:latin typeface="Times New Roman" panose="02020603050405020304" pitchFamily="18" charset="0"/>
              </a:rPr>
              <a:t>|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 | (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 ) |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 | id </a:t>
            </a:r>
          </a:p>
          <a:p>
            <a:pPr>
              <a:lnSpc>
                <a:spcPct val="110000"/>
              </a:lnSpc>
            </a:pPr>
            <a:r>
              <a:rPr lang="zh-CN" altLang="en-US" sz="3600" dirty="0">
                <a:solidFill>
                  <a:schemeClr val="accent2"/>
                </a:solidFill>
              </a:rPr>
              <a:t>最左</a:t>
            </a:r>
            <a:r>
              <a:rPr lang="zh-CN" altLang="en-US" sz="3600" dirty="0">
                <a:solidFill>
                  <a:schemeClr val="accent2"/>
                </a:solidFill>
                <a:latin typeface="宋体" panose="02010600030101010101" pitchFamily="2" charset="-122"/>
              </a:rPr>
              <a:t>推导</a:t>
            </a:r>
            <a:r>
              <a:rPr lang="zh-CN" altLang="en-US" sz="3600" dirty="0">
                <a:solidFill>
                  <a:schemeClr val="accent2"/>
                </a:solidFill>
              </a:rPr>
              <a:t>（</a:t>
            </a:r>
            <a:r>
              <a:rPr lang="en-US" altLang="zh-CN" sz="3600" dirty="0">
                <a:solidFill>
                  <a:schemeClr val="accent2"/>
                </a:solidFill>
              </a:rPr>
              <a:t>leftmost derivation</a:t>
            </a:r>
            <a:r>
              <a:rPr lang="zh-CN" altLang="en-US" sz="3600" dirty="0">
                <a:solidFill>
                  <a:schemeClr val="accent2"/>
                </a:solidFill>
              </a:rPr>
              <a:t>）</a:t>
            </a:r>
          </a:p>
          <a:p>
            <a:pPr>
              <a:lnSpc>
                <a:spcPct val="110000"/>
              </a:lnSpc>
              <a:buNone/>
            </a:pPr>
            <a:r>
              <a:rPr lang="zh-CN" altLang="en-US" sz="36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 	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3600" b="1" i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3600" b="1" i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dirty="0">
                <a:latin typeface="Times New Roman" panose="02020603050405020304" pitchFamily="18" charset="0"/>
              </a:rPr>
              <a:t>(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)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3600" b="1" i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dirty="0">
                <a:latin typeface="Times New Roman" panose="02020603050405020304" pitchFamily="18" charset="0"/>
              </a:rPr>
              <a:t>(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600" b="1" dirty="0">
                <a:latin typeface="Times New Roman" panose="02020603050405020304" pitchFamily="18" charset="0"/>
              </a:rPr>
              <a:t>+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 </a:t>
            </a:r>
            <a:r>
              <a:rPr lang="en-US" altLang="zh-CN" sz="3600" b="1" i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dirty="0">
                <a:latin typeface="Times New Roman" panose="02020603050405020304" pitchFamily="18" charset="0"/>
              </a:rPr>
              <a:t>(id +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)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3600" b="1" i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lm</a:t>
            </a:r>
            <a:r>
              <a:rPr lang="en-US" altLang="zh-CN" sz="36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sz="3600" b="1" dirty="0">
                <a:latin typeface="Times New Roman" panose="02020603050405020304" pitchFamily="18" charset="0"/>
              </a:rPr>
              <a:t>(id + id)</a:t>
            </a:r>
          </a:p>
          <a:p>
            <a:pPr>
              <a:lnSpc>
                <a:spcPct val="110000"/>
              </a:lnSpc>
            </a:pPr>
            <a:r>
              <a:rPr lang="zh-CN" altLang="en-US" sz="3600" dirty="0">
                <a:solidFill>
                  <a:schemeClr val="accent2"/>
                </a:solidFill>
              </a:rPr>
              <a:t>最右</a:t>
            </a:r>
            <a:r>
              <a:rPr lang="zh-CN" altLang="en-US" sz="3600" dirty="0">
                <a:solidFill>
                  <a:schemeClr val="accent2"/>
                </a:solidFill>
                <a:latin typeface="宋体" panose="02010600030101010101" pitchFamily="2" charset="-122"/>
              </a:rPr>
              <a:t>推导（</a:t>
            </a:r>
            <a:r>
              <a:rPr lang="en-US" altLang="zh-CN" sz="3600" dirty="0">
                <a:solidFill>
                  <a:schemeClr val="accent2"/>
                </a:solidFill>
              </a:rPr>
              <a:t>rightmost derivation</a:t>
            </a:r>
            <a:r>
              <a:rPr lang="zh-CN" altLang="en-US" sz="3600" dirty="0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  <a:endParaRPr lang="zh-CN" altLang="en-US" sz="3600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36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 	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36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36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dirty="0">
                <a:latin typeface="Times New Roman" panose="02020603050405020304" pitchFamily="18" charset="0"/>
              </a:rPr>
              <a:t>(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)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36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dirty="0">
                <a:latin typeface="Times New Roman" panose="02020603050405020304" pitchFamily="18" charset="0"/>
              </a:rPr>
              <a:t>(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600" b="1" dirty="0">
                <a:latin typeface="Times New Roman" panose="02020603050405020304" pitchFamily="18" charset="0"/>
              </a:rPr>
              <a:t>+ 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36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600" b="1" dirty="0">
                <a:latin typeface="Times New Roman" panose="02020603050405020304" pitchFamily="18" charset="0"/>
              </a:rPr>
              <a:t>(</a:t>
            </a:r>
            <a:r>
              <a:rPr lang="en-US" altLang="zh-CN" sz="36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600" b="1" dirty="0">
                <a:latin typeface="Times New Roman" panose="02020603050405020304" pitchFamily="18" charset="0"/>
              </a:rPr>
              <a:t> + id)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36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rm </a:t>
            </a:r>
            <a:r>
              <a:rPr lang="en-US" altLang="zh-CN" sz="36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sz="3600" b="1" dirty="0">
                <a:latin typeface="Times New Roman" panose="02020603050405020304" pitchFamily="18" charset="0"/>
              </a:rPr>
              <a:t>(id + id)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chemeClr val="accent2"/>
                </a:solidFill>
                <a:latin typeface="宋体" panose="02010600030101010101" pitchFamily="2" charset="-122"/>
              </a:rPr>
              <a:t>最右推导又叫规范推导</a:t>
            </a:r>
            <a:r>
              <a:rPr lang="zh-CN" altLang="en-US" sz="3600" dirty="0">
                <a:solidFill>
                  <a:schemeClr val="accent2"/>
                </a:solidFill>
              </a:rPr>
              <a:t>（</a:t>
            </a:r>
            <a:r>
              <a:rPr lang="en-US" altLang="zh-CN" sz="3600" dirty="0">
                <a:solidFill>
                  <a:schemeClr val="accent2"/>
                </a:solidFill>
              </a:rPr>
              <a:t>canonical derivation</a:t>
            </a:r>
            <a:r>
              <a:rPr lang="zh-CN" altLang="en-US" sz="3600" dirty="0">
                <a:solidFill>
                  <a:schemeClr val="accent2"/>
                </a:solidFill>
              </a:rPr>
              <a:t>）</a:t>
            </a:r>
            <a:endParaRPr lang="en-US" altLang="zh-CN" sz="3600" b="1" dirty="0">
              <a:solidFill>
                <a:schemeClr val="accent2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897896-72D5-A130-29BD-9143974D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0B5F-95BF-441B-9FAF-4498CDDD9765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3AC89C-30AD-7721-250B-BF0EA851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6A8B41-5021-A7D0-576F-BAF30A75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4" name="Rectangle 84">
            <a:extLst>
              <a:ext uri="{FF2B5EF4-FFF2-40B4-BE49-F238E27FC236}">
                <a16:creationId xmlns:a16="http://schemas.microsoft.com/office/drawing/2014/main" id="{4BCA7CE4-8DFA-4109-BE38-2AAC6347F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691" y="221201"/>
            <a:ext cx="2472444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串：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(id + id)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276078A-F862-41E1-8182-09951ABFD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0365E32-43C2-4B3D-BBDC-B53C3CF60B78}"/>
              </a:ext>
            </a:extLst>
          </p:cNvPr>
          <p:cNvGrpSpPr/>
          <p:nvPr/>
        </p:nvGrpSpPr>
        <p:grpSpPr>
          <a:xfrm>
            <a:off x="398463" y="1397000"/>
            <a:ext cx="8305801" cy="4648201"/>
            <a:chOff x="398463" y="1397000"/>
            <a:chExt cx="8305801" cy="4648201"/>
          </a:xfrm>
        </p:grpSpPr>
        <p:sp>
          <p:nvSpPr>
            <p:cNvPr id="11270" name="Rectangle 5">
              <a:extLst>
                <a:ext uri="{FF2B5EF4-FFF2-40B4-BE49-F238E27FC236}">
                  <a16:creationId xmlns:a16="http://schemas.microsoft.com/office/drawing/2014/main" id="{9FB50F77-FAC0-47E5-81B1-90C2B59F7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6363" y="1400175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71" name="Rectangle 6">
              <a:extLst>
                <a:ext uri="{FF2B5EF4-FFF2-40B4-BE49-F238E27FC236}">
                  <a16:creationId xmlns:a16="http://schemas.microsoft.com/office/drawing/2014/main" id="{5FCF3508-29F9-433F-85BC-61ADC01B9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1" y="1400175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endParaRPr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2" name="Rectangle 7">
              <a:extLst>
                <a:ext uri="{FF2B5EF4-FFF2-40B4-BE49-F238E27FC236}">
                  <a16:creationId xmlns:a16="http://schemas.microsoft.com/office/drawing/2014/main" id="{2815AE4D-4AE3-4347-99D4-36C718C93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501" y="1419225"/>
              <a:ext cx="3683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endParaRPr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3" name="Rectangle 8">
              <a:extLst>
                <a:ext uri="{FF2B5EF4-FFF2-40B4-BE49-F238E27FC236}">
                  <a16:creationId xmlns:a16="http://schemas.microsoft.com/office/drawing/2014/main" id="{B043CE16-79AE-4D8C-AF56-7B1757AF6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63" y="3348038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4" name="Rectangle 9">
              <a:extLst>
                <a:ext uri="{FF2B5EF4-FFF2-40B4-BE49-F238E27FC236}">
                  <a16:creationId xmlns:a16="http://schemas.microsoft.com/office/drawing/2014/main" id="{EE7BC7AA-3FAB-46C1-AFBA-408AE8D19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1397000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75" name="Rectangle 10">
              <a:extLst>
                <a:ext uri="{FF2B5EF4-FFF2-40B4-BE49-F238E27FC236}">
                  <a16:creationId xmlns:a16="http://schemas.microsoft.com/office/drawing/2014/main" id="{D8A304C6-39B6-482B-8799-46032F4D0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451" y="1836738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76" name="Line 11">
              <a:extLst>
                <a:ext uri="{FF2B5EF4-FFF2-40B4-BE49-F238E27FC236}">
                  <a16:creationId xmlns:a16="http://schemas.microsoft.com/office/drawing/2014/main" id="{149C1688-F8E5-4502-ADA3-B306FC820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9226" y="1836738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Line 12">
              <a:extLst>
                <a:ext uri="{FF2B5EF4-FFF2-40B4-BE49-F238E27FC236}">
                  <a16:creationId xmlns:a16="http://schemas.microsoft.com/office/drawing/2014/main" id="{29EB477B-EB64-4410-8B50-B9F55F880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8976" y="1836738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Rectangle 13">
              <a:extLst>
                <a:ext uri="{FF2B5EF4-FFF2-40B4-BE49-F238E27FC236}">
                  <a16:creationId xmlns:a16="http://schemas.microsoft.com/office/drawing/2014/main" id="{7479F94C-CF87-4484-A487-DDDED3167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163" y="1812925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9" name="Rectangle 14">
              <a:extLst>
                <a:ext uri="{FF2B5EF4-FFF2-40B4-BE49-F238E27FC236}">
                  <a16:creationId xmlns:a16="http://schemas.microsoft.com/office/drawing/2014/main" id="{663FB0E1-A667-489F-8CC8-BE46D72FB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513" y="1419225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80" name="Rectangle 15">
              <a:extLst>
                <a:ext uri="{FF2B5EF4-FFF2-40B4-BE49-F238E27FC236}">
                  <a16:creationId xmlns:a16="http://schemas.microsoft.com/office/drawing/2014/main" id="{DC94B005-95A3-4123-9FFE-74C5DEE85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9388" y="1816100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81" name="Line 16">
              <a:extLst>
                <a:ext uri="{FF2B5EF4-FFF2-40B4-BE49-F238E27FC236}">
                  <a16:creationId xmlns:a16="http://schemas.microsoft.com/office/drawing/2014/main" id="{E32A6872-770B-4AC7-A336-1240A9C7AF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0238" y="1860550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Line 17">
              <a:extLst>
                <a:ext uri="{FF2B5EF4-FFF2-40B4-BE49-F238E27FC236}">
                  <a16:creationId xmlns:a16="http://schemas.microsoft.com/office/drawing/2014/main" id="{287A7661-6F36-4BEB-AF67-81B521054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9988" y="1860550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Rectangle 18">
              <a:extLst>
                <a:ext uri="{FF2B5EF4-FFF2-40B4-BE49-F238E27FC236}">
                  <a16:creationId xmlns:a16="http://schemas.microsoft.com/office/drawing/2014/main" id="{67ED2EF8-9F87-4570-97E1-81EFDC9A4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4176" y="1836738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84" name="Rectangle 19">
              <a:extLst>
                <a:ext uri="{FF2B5EF4-FFF2-40B4-BE49-F238E27FC236}">
                  <a16:creationId xmlns:a16="http://schemas.microsoft.com/office/drawing/2014/main" id="{5EA5450A-3826-4499-816B-5D474FC4E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3776" y="2341563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11285" name="Line 20">
              <a:extLst>
                <a:ext uri="{FF2B5EF4-FFF2-40B4-BE49-F238E27FC236}">
                  <a16:creationId xmlns:a16="http://schemas.microsoft.com/office/drawing/2014/main" id="{5B5270BB-DD0E-4AB7-B02D-75673D93FC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39038" y="2278063"/>
              <a:ext cx="24130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Line 21">
              <a:extLst>
                <a:ext uri="{FF2B5EF4-FFF2-40B4-BE49-F238E27FC236}">
                  <a16:creationId xmlns:a16="http://schemas.microsoft.com/office/drawing/2014/main" id="{691C2CE6-B662-44CD-92B0-FA4B018D0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9738" y="2278063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Line 22">
              <a:extLst>
                <a:ext uri="{FF2B5EF4-FFF2-40B4-BE49-F238E27FC236}">
                  <a16:creationId xmlns:a16="http://schemas.microsoft.com/office/drawing/2014/main" id="{F2AE3862-DD33-4D04-82B1-3A0D3CEF4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0038" y="2295525"/>
              <a:ext cx="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Rectangle 23">
              <a:extLst>
                <a:ext uri="{FF2B5EF4-FFF2-40B4-BE49-F238E27FC236}">
                  <a16:creationId xmlns:a16="http://schemas.microsoft.com/office/drawing/2014/main" id="{F9E6C30E-F0B0-45AD-B47D-339B57E64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7551" y="2341563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1289" name="Rectangle 24">
              <a:extLst>
                <a:ext uri="{FF2B5EF4-FFF2-40B4-BE49-F238E27FC236}">
                  <a16:creationId xmlns:a16="http://schemas.microsoft.com/office/drawing/2014/main" id="{A8BF3F46-15A2-408D-BAB1-50B898A30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3676" y="2386013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90" name="Rectangle 25">
              <a:extLst>
                <a:ext uri="{FF2B5EF4-FFF2-40B4-BE49-F238E27FC236}">
                  <a16:creationId xmlns:a16="http://schemas.microsoft.com/office/drawing/2014/main" id="{EEFAB932-F3DE-4ADF-ACE1-D03608F21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26" y="3324225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91" name="Rectangle 26">
              <a:extLst>
                <a:ext uri="{FF2B5EF4-FFF2-40B4-BE49-F238E27FC236}">
                  <a16:creationId xmlns:a16="http://schemas.microsoft.com/office/drawing/2014/main" id="{AFAC1774-99DA-42A8-8876-3CD482C2A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1" y="3721100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92" name="Line 27">
              <a:extLst>
                <a:ext uri="{FF2B5EF4-FFF2-40B4-BE49-F238E27FC236}">
                  <a16:creationId xmlns:a16="http://schemas.microsoft.com/office/drawing/2014/main" id="{43C3B8C7-7926-47EB-B73A-69C159C28F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9651" y="3763963"/>
              <a:ext cx="242888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Line 28">
              <a:extLst>
                <a:ext uri="{FF2B5EF4-FFF2-40B4-BE49-F238E27FC236}">
                  <a16:creationId xmlns:a16="http://schemas.microsoft.com/office/drawing/2014/main" id="{C82EE1E6-3849-4AEE-99DA-775E83DAF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9401" y="3763963"/>
              <a:ext cx="242888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Rectangle 29">
              <a:extLst>
                <a:ext uri="{FF2B5EF4-FFF2-40B4-BE49-F238E27FC236}">
                  <a16:creationId xmlns:a16="http://schemas.microsoft.com/office/drawing/2014/main" id="{E48B004D-3CA7-4B20-85E6-1A4BCEBC4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88" y="3741738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5" name="Rectangle 30">
              <a:extLst>
                <a:ext uri="{FF2B5EF4-FFF2-40B4-BE49-F238E27FC236}">
                  <a16:creationId xmlns:a16="http://schemas.microsoft.com/office/drawing/2014/main" id="{ED59C033-F56D-4F8B-8E48-93AE7C242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88" y="4246563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11296" name="Line 31">
              <a:extLst>
                <a:ext uri="{FF2B5EF4-FFF2-40B4-BE49-F238E27FC236}">
                  <a16:creationId xmlns:a16="http://schemas.microsoft.com/office/drawing/2014/main" id="{E8712546-A319-41ED-AD82-6A79BEE538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451" y="4181475"/>
              <a:ext cx="24130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Line 32">
              <a:extLst>
                <a:ext uri="{FF2B5EF4-FFF2-40B4-BE49-F238E27FC236}">
                  <a16:creationId xmlns:a16="http://schemas.microsoft.com/office/drawing/2014/main" id="{3134DA9E-4CAF-4F35-A89A-DECE9C9C0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9151" y="4181475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Line 33">
              <a:extLst>
                <a:ext uri="{FF2B5EF4-FFF2-40B4-BE49-F238E27FC236}">
                  <a16:creationId xmlns:a16="http://schemas.microsoft.com/office/drawing/2014/main" id="{9A79927A-AE76-4941-A084-6DD5F3D45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451" y="4198938"/>
              <a:ext cx="0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9" name="Rectangle 34">
              <a:extLst>
                <a:ext uri="{FF2B5EF4-FFF2-40B4-BE49-F238E27FC236}">
                  <a16:creationId xmlns:a16="http://schemas.microsoft.com/office/drawing/2014/main" id="{9C22196B-6528-44C7-BAE9-9A60986D8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6963" y="4246563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1300" name="Rectangle 35">
              <a:extLst>
                <a:ext uri="{FF2B5EF4-FFF2-40B4-BE49-F238E27FC236}">
                  <a16:creationId xmlns:a16="http://schemas.microsoft.com/office/drawing/2014/main" id="{A7831F9B-B7AE-4B6F-8705-150F51279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088" y="4289425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01" name="Rectangle 36">
              <a:extLst>
                <a:ext uri="{FF2B5EF4-FFF2-40B4-BE49-F238E27FC236}">
                  <a16:creationId xmlns:a16="http://schemas.microsoft.com/office/drawing/2014/main" id="{FEE1EE64-E4C0-474E-A154-58099E4E4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138" y="4902200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02" name="Line 37">
              <a:extLst>
                <a:ext uri="{FF2B5EF4-FFF2-40B4-BE49-F238E27FC236}">
                  <a16:creationId xmlns:a16="http://schemas.microsoft.com/office/drawing/2014/main" id="{1C8D9341-1EEF-4FAE-8128-59F954EBBD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9401" y="4838700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3" name="Line 38">
              <a:extLst>
                <a:ext uri="{FF2B5EF4-FFF2-40B4-BE49-F238E27FC236}">
                  <a16:creationId xmlns:a16="http://schemas.microsoft.com/office/drawing/2014/main" id="{01E84E91-3076-498C-825F-A4FE7B040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101" y="4838700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4" name="Line 39">
              <a:extLst>
                <a:ext uri="{FF2B5EF4-FFF2-40B4-BE49-F238E27FC236}">
                  <a16:creationId xmlns:a16="http://schemas.microsoft.com/office/drawing/2014/main" id="{92CD31F9-0611-40F0-9AF2-3F2BA1165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1988" y="4856163"/>
              <a:ext cx="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5" name="Rectangle 40">
              <a:extLst>
                <a:ext uri="{FF2B5EF4-FFF2-40B4-BE49-F238E27FC236}">
                  <a16:creationId xmlns:a16="http://schemas.microsoft.com/office/drawing/2014/main" id="{63E578FD-AF12-453A-B6B5-F3C9B989E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913" y="4902200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06" name="Rectangle 41">
              <a:extLst>
                <a:ext uri="{FF2B5EF4-FFF2-40B4-BE49-F238E27FC236}">
                  <a16:creationId xmlns:a16="http://schemas.microsoft.com/office/drawing/2014/main" id="{6618FED2-D7E6-4E4F-8F77-4C6C02B32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913" y="4926013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1307" name="Rectangle 42">
              <a:extLst>
                <a:ext uri="{FF2B5EF4-FFF2-40B4-BE49-F238E27FC236}">
                  <a16:creationId xmlns:a16="http://schemas.microsoft.com/office/drawing/2014/main" id="{981BE47A-5D98-4113-A577-D73171F9E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126" y="3368675"/>
              <a:ext cx="366713" cy="47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08" name="Rectangle 43">
              <a:extLst>
                <a:ext uri="{FF2B5EF4-FFF2-40B4-BE49-F238E27FC236}">
                  <a16:creationId xmlns:a16="http://schemas.microsoft.com/office/drawing/2014/main" id="{3620544D-677E-463E-83CE-47B9C4804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7376" y="3370263"/>
              <a:ext cx="3683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endParaRPr lang="en-US" altLang="zh-CN" sz="28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09" name="Rectangle 44">
              <a:extLst>
                <a:ext uri="{FF2B5EF4-FFF2-40B4-BE49-F238E27FC236}">
                  <a16:creationId xmlns:a16="http://schemas.microsoft.com/office/drawing/2014/main" id="{05425CB1-39C3-46BC-B2E7-9F4179510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988" y="3303588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10" name="Rectangle 45">
              <a:extLst>
                <a:ext uri="{FF2B5EF4-FFF2-40B4-BE49-F238E27FC236}">
                  <a16:creationId xmlns:a16="http://schemas.microsoft.com/office/drawing/2014/main" id="{964DB022-59E5-4FF0-AA7F-5B5339796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1863" y="3700463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11" name="Line 46">
              <a:extLst>
                <a:ext uri="{FF2B5EF4-FFF2-40B4-BE49-F238E27FC236}">
                  <a16:creationId xmlns:a16="http://schemas.microsoft.com/office/drawing/2014/main" id="{741A1BC0-5754-449A-9416-A10682E60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2713" y="3744913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Line 47">
              <a:extLst>
                <a:ext uri="{FF2B5EF4-FFF2-40B4-BE49-F238E27FC236}">
                  <a16:creationId xmlns:a16="http://schemas.microsoft.com/office/drawing/2014/main" id="{0E8318B7-0BB7-458F-8CA1-16D341D9A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463" y="3744913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Rectangle 48">
              <a:extLst>
                <a:ext uri="{FF2B5EF4-FFF2-40B4-BE49-F238E27FC236}">
                  <a16:creationId xmlns:a16="http://schemas.microsoft.com/office/drawing/2014/main" id="{5FBE38FC-C925-4B98-9AA8-F69437564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651" y="3721100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14" name="Rectangle 49">
              <a:extLst>
                <a:ext uri="{FF2B5EF4-FFF2-40B4-BE49-F238E27FC236}">
                  <a16:creationId xmlns:a16="http://schemas.microsoft.com/office/drawing/2014/main" id="{963384CA-1118-48B6-82B8-653F01EBB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51" y="4225925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11315" name="Line 50">
              <a:extLst>
                <a:ext uri="{FF2B5EF4-FFF2-40B4-BE49-F238E27FC236}">
                  <a16:creationId xmlns:a16="http://schemas.microsoft.com/office/drawing/2014/main" id="{918D959D-F48E-4CB1-B604-7FA0D3B37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81513" y="4160838"/>
              <a:ext cx="241300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6" name="Line 51">
              <a:extLst>
                <a:ext uri="{FF2B5EF4-FFF2-40B4-BE49-F238E27FC236}">
                  <a16:creationId xmlns:a16="http://schemas.microsoft.com/office/drawing/2014/main" id="{5A6F9D89-FB78-430D-B96E-A47DF3EDE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2213" y="4160838"/>
              <a:ext cx="242888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Line 52">
              <a:extLst>
                <a:ext uri="{FF2B5EF4-FFF2-40B4-BE49-F238E27FC236}">
                  <a16:creationId xmlns:a16="http://schemas.microsoft.com/office/drawing/2014/main" id="{708DF492-95DA-42A7-A6BE-66F591677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2513" y="4178300"/>
              <a:ext cx="0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8" name="Rectangle 53">
              <a:extLst>
                <a:ext uri="{FF2B5EF4-FFF2-40B4-BE49-F238E27FC236}">
                  <a16:creationId xmlns:a16="http://schemas.microsoft.com/office/drawing/2014/main" id="{CD09F915-00B7-4F0D-9E20-C5CCA4F1C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026" y="4225925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1319" name="Rectangle 54">
              <a:extLst>
                <a:ext uri="{FF2B5EF4-FFF2-40B4-BE49-F238E27FC236}">
                  <a16:creationId xmlns:a16="http://schemas.microsoft.com/office/drawing/2014/main" id="{497D19F1-6345-457C-9D47-7780F6C2E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1" y="4268788"/>
              <a:ext cx="36671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20" name="Rectangle 55">
              <a:extLst>
                <a:ext uri="{FF2B5EF4-FFF2-40B4-BE49-F238E27FC236}">
                  <a16:creationId xmlns:a16="http://schemas.microsoft.com/office/drawing/2014/main" id="{73EAD9DF-5BA5-46E3-8440-D1D806E79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1" y="4881563"/>
              <a:ext cx="3683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21" name="Line 56">
              <a:extLst>
                <a:ext uri="{FF2B5EF4-FFF2-40B4-BE49-F238E27FC236}">
                  <a16:creationId xmlns:a16="http://schemas.microsoft.com/office/drawing/2014/main" id="{C61767F2-D9D1-48C0-B326-9898EBF55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2463" y="4818063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2" name="Line 57">
              <a:extLst>
                <a:ext uri="{FF2B5EF4-FFF2-40B4-BE49-F238E27FC236}">
                  <a16:creationId xmlns:a16="http://schemas.microsoft.com/office/drawing/2014/main" id="{17F38F49-E902-4E06-8B18-A7557CA4A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163" y="4818063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3" name="Line 58">
              <a:extLst>
                <a:ext uri="{FF2B5EF4-FFF2-40B4-BE49-F238E27FC236}">
                  <a16:creationId xmlns:a16="http://schemas.microsoft.com/office/drawing/2014/main" id="{EAB68AB1-FDEF-4F34-A065-789BF434A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1" y="4835525"/>
              <a:ext cx="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4" name="Rectangle 59">
              <a:extLst>
                <a:ext uri="{FF2B5EF4-FFF2-40B4-BE49-F238E27FC236}">
                  <a16:creationId xmlns:a16="http://schemas.microsoft.com/office/drawing/2014/main" id="{7304EC23-7D89-4834-8B0F-FD2F879DE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0976" y="4881563"/>
              <a:ext cx="36671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25" name="Rectangle 60">
              <a:extLst>
                <a:ext uri="{FF2B5EF4-FFF2-40B4-BE49-F238E27FC236}">
                  <a16:creationId xmlns:a16="http://schemas.microsoft.com/office/drawing/2014/main" id="{84880506-6AFA-4B18-87C6-0512C93AC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976" y="4905375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1326" name="Line 61">
              <a:extLst>
                <a:ext uri="{FF2B5EF4-FFF2-40B4-BE49-F238E27FC236}">
                  <a16:creationId xmlns:a16="http://schemas.microsoft.com/office/drawing/2014/main" id="{E3EA4429-7C34-425C-8E61-91B751A07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5151" y="5383213"/>
              <a:ext cx="0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7" name="Rectangle 62">
              <a:extLst>
                <a:ext uri="{FF2B5EF4-FFF2-40B4-BE49-F238E27FC236}">
                  <a16:creationId xmlns:a16="http://schemas.microsoft.com/office/drawing/2014/main" id="{EF5ADA1D-04C1-40D3-ABFA-FA3BDA083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151" y="5541963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11328" name="Rectangle 63">
              <a:extLst>
                <a:ext uri="{FF2B5EF4-FFF2-40B4-BE49-F238E27FC236}">
                  <a16:creationId xmlns:a16="http://schemas.microsoft.com/office/drawing/2014/main" id="{1DD8DF13-19B4-4AD9-B60D-1D85C3A79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3926" y="3328988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29" name="Rectangle 64">
              <a:extLst>
                <a:ext uri="{FF2B5EF4-FFF2-40B4-BE49-F238E27FC236}">
                  <a16:creationId xmlns:a16="http://schemas.microsoft.com/office/drawing/2014/main" id="{B07C4F65-139F-40B1-9F94-7E6D3071D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1" y="3725863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30" name="Line 65">
              <a:extLst>
                <a:ext uri="{FF2B5EF4-FFF2-40B4-BE49-F238E27FC236}">
                  <a16:creationId xmlns:a16="http://schemas.microsoft.com/office/drawing/2014/main" id="{52FD2D8C-7530-4623-B794-0E1E8F658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77063" y="3768725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1" name="Line 66">
              <a:extLst>
                <a:ext uri="{FF2B5EF4-FFF2-40B4-BE49-F238E27FC236}">
                  <a16:creationId xmlns:a16="http://schemas.microsoft.com/office/drawing/2014/main" id="{9425D7FB-8DEE-4B5B-A9A6-D36106769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401" y="3768725"/>
              <a:ext cx="24130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2" name="Rectangle 67">
              <a:extLst>
                <a:ext uri="{FF2B5EF4-FFF2-40B4-BE49-F238E27FC236}">
                  <a16:creationId xmlns:a16="http://schemas.microsoft.com/office/drawing/2014/main" id="{C7861590-70ED-4519-BF66-2034E8D5D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1" y="3746500"/>
              <a:ext cx="368300" cy="47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33" name="Rectangle 68">
              <a:extLst>
                <a:ext uri="{FF2B5EF4-FFF2-40B4-BE49-F238E27FC236}">
                  <a16:creationId xmlns:a16="http://schemas.microsoft.com/office/drawing/2014/main" id="{13D20E1B-45AC-4108-B7AD-15CB115E4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0601" y="4249738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11334" name="Line 69">
              <a:extLst>
                <a:ext uri="{FF2B5EF4-FFF2-40B4-BE49-F238E27FC236}">
                  <a16:creationId xmlns:a16="http://schemas.microsoft.com/office/drawing/2014/main" id="{14444878-7612-4764-8C15-1E9008D060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35863" y="4186238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5" name="Line 70">
              <a:extLst>
                <a:ext uri="{FF2B5EF4-FFF2-40B4-BE49-F238E27FC236}">
                  <a16:creationId xmlns:a16="http://schemas.microsoft.com/office/drawing/2014/main" id="{22E9A205-F0B8-4EEA-8D50-1A38AA707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8151" y="4186238"/>
              <a:ext cx="24130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6" name="Line 71">
              <a:extLst>
                <a:ext uri="{FF2B5EF4-FFF2-40B4-BE49-F238E27FC236}">
                  <a16:creationId xmlns:a16="http://schemas.microsoft.com/office/drawing/2014/main" id="{80C1A3AA-F167-4F8D-AE47-3AE2ACCA7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8451" y="4203700"/>
              <a:ext cx="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7" name="Rectangle 72">
              <a:extLst>
                <a:ext uri="{FF2B5EF4-FFF2-40B4-BE49-F238E27FC236}">
                  <a16:creationId xmlns:a16="http://schemas.microsoft.com/office/drawing/2014/main" id="{E1CABF2E-0F98-46EC-AB01-83A0323D7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6" y="4249738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1338" name="Rectangle 73">
              <a:extLst>
                <a:ext uri="{FF2B5EF4-FFF2-40B4-BE49-F238E27FC236}">
                  <a16:creationId xmlns:a16="http://schemas.microsoft.com/office/drawing/2014/main" id="{98C00A94-53DD-4CEF-B210-FB0AF80C3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0501" y="4294188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39" name="Rectangle 74">
              <a:extLst>
                <a:ext uri="{FF2B5EF4-FFF2-40B4-BE49-F238E27FC236}">
                  <a16:creationId xmlns:a16="http://schemas.microsoft.com/office/drawing/2014/main" id="{38D35309-F277-442A-9C85-F3CD5BC25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1551" y="4905375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40" name="Line 75">
              <a:extLst>
                <a:ext uri="{FF2B5EF4-FFF2-40B4-BE49-F238E27FC236}">
                  <a16:creationId xmlns:a16="http://schemas.microsoft.com/office/drawing/2014/main" id="{832E9C41-C899-4CF1-B16B-1857152089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18401" y="4841875"/>
              <a:ext cx="24130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1" name="Line 76">
              <a:extLst>
                <a:ext uri="{FF2B5EF4-FFF2-40B4-BE49-F238E27FC236}">
                  <a16:creationId xmlns:a16="http://schemas.microsoft.com/office/drawing/2014/main" id="{26244083-E395-4303-A391-99BE80BD2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9101" y="4841875"/>
              <a:ext cx="242888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2" name="Line 77">
              <a:extLst>
                <a:ext uri="{FF2B5EF4-FFF2-40B4-BE49-F238E27FC236}">
                  <a16:creationId xmlns:a16="http://schemas.microsoft.com/office/drawing/2014/main" id="{C57110DB-B7D2-40BE-A679-EFBF353717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9401" y="4859338"/>
              <a:ext cx="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Rectangle 78">
              <a:extLst>
                <a:ext uri="{FF2B5EF4-FFF2-40B4-BE49-F238E27FC236}">
                  <a16:creationId xmlns:a16="http://schemas.microsoft.com/office/drawing/2014/main" id="{3B0A1082-1C31-42D7-A24A-52DB01FF8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6913" y="4905375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344" name="Rectangle 79">
              <a:extLst>
                <a:ext uri="{FF2B5EF4-FFF2-40B4-BE49-F238E27FC236}">
                  <a16:creationId xmlns:a16="http://schemas.microsoft.com/office/drawing/2014/main" id="{8A8353EC-FB72-4896-A01B-1D7EFA6E1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8913" y="4929188"/>
              <a:ext cx="3683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1345" name="Line 80">
              <a:extLst>
                <a:ext uri="{FF2B5EF4-FFF2-40B4-BE49-F238E27FC236}">
                  <a16:creationId xmlns:a16="http://schemas.microsoft.com/office/drawing/2014/main" id="{7ABD11E8-C816-4B04-931A-AEEB204BD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501" y="5407025"/>
              <a:ext cx="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6" name="Rectangle 81">
              <a:extLst>
                <a:ext uri="{FF2B5EF4-FFF2-40B4-BE49-F238E27FC236}">
                  <a16:creationId xmlns:a16="http://schemas.microsoft.com/office/drawing/2014/main" id="{1AAA932B-5C45-4200-958C-486248C64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4088" y="5564188"/>
              <a:ext cx="36671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11347" name="Line 82">
              <a:extLst>
                <a:ext uri="{FF2B5EF4-FFF2-40B4-BE49-F238E27FC236}">
                  <a16:creationId xmlns:a16="http://schemas.microsoft.com/office/drawing/2014/main" id="{8532BF2E-B19F-47C3-B659-E7540E6F3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3276" y="5383213"/>
              <a:ext cx="0" cy="174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8" name="Rectangle 83">
              <a:extLst>
                <a:ext uri="{FF2B5EF4-FFF2-40B4-BE49-F238E27FC236}">
                  <a16:creationId xmlns:a16="http://schemas.microsoft.com/office/drawing/2014/main" id="{DA0677E5-D28B-45C4-8A88-5E9EA1209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6913" y="5521325"/>
              <a:ext cx="366713" cy="47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1DD73AF0-90D7-4EE3-8197-2B23B7407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6" y="383966"/>
            <a:ext cx="4042129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(id + id)</a:t>
            </a:r>
            <a:r>
              <a:rPr lang="zh-CN" altLang="en-US" sz="2800" b="0" dirty="0">
                <a:latin typeface="Times New Roman" panose="02020603050405020304" pitchFamily="18" charset="0"/>
              </a:rPr>
              <a:t>的推导分析树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160761-EA33-B3FE-EA40-E314C430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C518-CB52-43FE-8704-E94935D6F3A5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B9473A-8A18-FE7D-9BDC-05C7F7D8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57C425-C69B-64E7-F7EB-3A8ADE139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78DFC-6C84-45D7-A6D0-E6B9427E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上次课回顾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84102E-EA3C-4272-BE62-6FB129386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二义性：文法存在某个句子，有不止一个最左（最右）推导。</a:t>
            </a:r>
            <a:endParaRPr lang="en-US" altLang="zh-CN" sz="2400" dirty="0"/>
          </a:p>
          <a:p>
            <a:pPr lvl="1"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E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|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) 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| id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			        E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E		                 	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+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</a:p>
          <a:p>
            <a:pPr lvl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		     	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</a:p>
          <a:p>
            <a:pPr lvl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	 	     	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+ id		     	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+ id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49810-1650-B981-8849-2FCF4196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1C0-71B1-494B-ABB7-1A943341726E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9254F3-4993-ADBE-FAA1-A4E531B5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03C5B-D254-966B-CC72-57AABCE7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EBA4CCC7-32BA-1249-4C8E-131A0C1393B7}"/>
              </a:ext>
            </a:extLst>
          </p:cNvPr>
          <p:cNvGrpSpPr>
            <a:grpSpLocks/>
          </p:cNvGrpSpPr>
          <p:nvPr/>
        </p:nvGrpSpPr>
        <p:grpSpPr bwMode="auto">
          <a:xfrm>
            <a:off x="1276350" y="4657634"/>
            <a:ext cx="6591300" cy="1971230"/>
            <a:chOff x="288" y="2592"/>
            <a:chExt cx="5136" cy="1536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389633AA-F7F5-266C-3528-4ECD56101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" y="2592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D77168EA-EEE2-B472-D087-CD8CA9A3A8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" y="2850"/>
              <a:ext cx="431" cy="2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38C8E47C-5FB7-E41E-9592-30A14484C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2" y="2865"/>
              <a:ext cx="431" cy="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B3D42BEB-0BAC-9265-4393-A759BBAA5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9" y="2928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C6F09FB8-737E-63A6-7D58-EA338569A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974"/>
              <a:ext cx="293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CE866789-D3C3-C297-3368-7BAD86DC7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" y="2987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FBC8D605-5877-F1D2-3565-20AF19CF7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" y="3036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FB46D346-89CC-05AA-81ED-A15779C2D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" y="3217"/>
              <a:ext cx="431" cy="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53C35AB9-7CBD-91C9-BDEB-43D22EFFCF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0" y="3217"/>
              <a:ext cx="430" cy="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C051B5C3-3CAE-8C74-32FA-B4A852DDE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3371"/>
              <a:ext cx="29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8537D767-7FE5-9217-F3B4-954B46B6E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1" y="3308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1A77E7D0-27DB-DA87-77ED-E52143644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" y="3324"/>
              <a:ext cx="293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4805567-5D28-D220-9CA9-A34A59D62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308"/>
              <a:ext cx="293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6F04D752-0BF7-A044-2B0F-3F26C63B6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660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E429E4F2-A017-1073-C35D-C1D176348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1" y="3658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591F74E6-B5AF-0A66-D9ED-9F4DD218D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" y="3294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4DF5F49D-D8C3-0ADA-8D2B-66A6CA5AA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459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9A43589D-FADB-1A8E-D3AC-8F8C6423D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" y="3809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84418265-AB47-D800-6695-54B560D6A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3794"/>
              <a:ext cx="293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55985171-DA03-AAF4-0E61-8D8F2A2FE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" y="2595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DA3D5C85-B591-A1F3-BA21-31C2CDDAF9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2" y="2853"/>
              <a:ext cx="430" cy="2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22A7FCB0-B354-0F22-C3C3-9D4864841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9" y="2867"/>
              <a:ext cx="430" cy="2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61D9C66F-BC71-3474-E09F-29A06D6499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5" y="2931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3571287C-A41B-E630-6FFE-F7DF4D6DD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1" y="3024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BC060309-1FC7-6765-29B0-5FF10FADFF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6" y="3343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E78B6CA0-3F68-1F7B-5529-6279DBC79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1" y="3508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352C4628-C7E8-5D51-912C-C68C5882B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2977"/>
              <a:ext cx="293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29C86605-EFA7-4CA4-0E98-2E88CB62C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3437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2E30A3E1-D84C-DA2F-246E-2E52B4496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9" y="3207"/>
              <a:ext cx="431" cy="2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42ACAE0F-CF99-800F-199D-B37FC8118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5" y="3207"/>
              <a:ext cx="430" cy="2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13C0DD76-38AD-0742-11F1-B77F64DDD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3014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4DA5A98F-A723-7736-7A74-67DCB33EB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3299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BE12AFDD-9AB1-198B-EDB7-9E78F83C0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3315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11CFF4A9-AC08-BFC6-071E-D13141BCD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299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4582EB1F-C6CA-D41D-95A1-AB69379A9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5" y="3650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53580AFB-F40B-B602-EB03-489BE8606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5" y="3648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F4A283D2-608B-CC9D-17D9-D9FC72755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3799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156D5839-4D5C-4C1E-D278-ABA43F096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" y="3785"/>
              <a:ext cx="293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</a:p>
          </p:txBody>
        </p:sp>
      </p:grpSp>
      <p:sp>
        <p:nvSpPr>
          <p:cNvPr id="46" name="Rectangle 84">
            <a:extLst>
              <a:ext uri="{FF2B5EF4-FFF2-40B4-BE49-F238E27FC236}">
                <a16:creationId xmlns:a16="http://schemas.microsoft.com/office/drawing/2014/main" id="{BB4BEF71-5090-0E78-45C2-EA3144BE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903" y="2094852"/>
            <a:ext cx="2190739" cy="5322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串：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id + id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84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330CDEE-B6EF-43C8-8B9E-CD25E4D59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D8292441-EA65-4005-BC65-C4F797344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正规式和上下文无关文法的关系</a:t>
            </a:r>
          </a:p>
          <a:p>
            <a:pPr lvl="1" eaLnBrk="1" hangingPunct="1"/>
            <a:r>
              <a:rPr lang="zh-CN" altLang="en-US"/>
              <a:t>正规式能描述的语言都可以用上下文无关文法描述，并且正规式表示可机械转换为上下文无关文法的表示。</a:t>
            </a:r>
          </a:p>
          <a:p>
            <a:pPr lvl="1" eaLnBrk="1" hangingPunct="1"/>
            <a:r>
              <a:rPr lang="zh-CN" altLang="en-US">
                <a:latin typeface="宋体" panose="02010600030101010101" pitchFamily="2" charset="-122"/>
              </a:rPr>
              <a:t>在编程语言的设计中，正规式描述关键字、标识符、常数等词法结构，上下文无关文法描述配对和嵌套等语法结构。</a:t>
            </a:r>
          </a:p>
          <a:p>
            <a:pPr eaLnBrk="1" hangingPunct="1"/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E58DB0-9CCA-CD8F-4178-F5F41091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981D-DEEB-4274-94A5-038CDF4AD963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32FF9C-E43B-4B2D-9EF4-BD021F8C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CED97-59F1-9380-02F4-4B5B7C80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F0DE04D-C995-4C85-969C-21A2CF4FF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本次课内容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01F629B-64AE-4EFA-82CB-9B0DFFA8D4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要求掌握下列变换方法：</a:t>
            </a:r>
            <a:endParaRPr lang="en-US" altLang="zh-CN" sz="4000" dirty="0"/>
          </a:p>
          <a:p>
            <a:pPr eaLnBrk="1" hangingPunct="1"/>
            <a:r>
              <a:rPr lang="en-US" altLang="zh-CN" sz="4000" dirty="0"/>
              <a:t>3.2 </a:t>
            </a:r>
            <a:r>
              <a:rPr lang="zh-CN" altLang="en-US" sz="4000" dirty="0"/>
              <a:t>语言和文法</a:t>
            </a:r>
          </a:p>
          <a:p>
            <a:pPr lvl="1" eaLnBrk="1" hangingPunct="1"/>
            <a:r>
              <a:rPr lang="en-US" altLang="zh-CN" sz="3600" dirty="0"/>
              <a:t>3.2.4/5 </a:t>
            </a:r>
            <a:r>
              <a:rPr lang="zh-CN" altLang="en-US" sz="3600" dirty="0"/>
              <a:t>消除二义性</a:t>
            </a:r>
            <a:endParaRPr lang="en-US" altLang="zh-CN" sz="3600" dirty="0"/>
          </a:p>
          <a:p>
            <a:pPr lvl="1" eaLnBrk="1" hangingPunct="1"/>
            <a:r>
              <a:rPr lang="en-US" altLang="zh-CN" sz="3600" dirty="0"/>
              <a:t>3.2.6 </a:t>
            </a:r>
            <a:r>
              <a:rPr lang="zh-CN" altLang="en-US" sz="3600" dirty="0"/>
              <a:t>消除左递归</a:t>
            </a:r>
            <a:endParaRPr lang="en-US" altLang="zh-CN" sz="3600" dirty="0"/>
          </a:p>
          <a:p>
            <a:pPr lvl="1" eaLnBrk="1" hangingPunct="1"/>
            <a:r>
              <a:rPr lang="en-US" altLang="zh-CN" sz="3600" dirty="0"/>
              <a:t>3.2.7 </a:t>
            </a:r>
            <a:r>
              <a:rPr lang="zh-CN" altLang="en-US" sz="3600" dirty="0"/>
              <a:t>提左因子</a:t>
            </a:r>
            <a:endParaRPr lang="en-US" altLang="zh-CN" sz="3600" dirty="0"/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EAB5F3A6-0EBA-4A82-886A-604F27743E01}"/>
              </a:ext>
            </a:extLst>
          </p:cNvPr>
          <p:cNvSpPr/>
          <p:nvPr/>
        </p:nvSpPr>
        <p:spPr>
          <a:xfrm>
            <a:off x="5520056" y="2972283"/>
            <a:ext cx="393699" cy="1378129"/>
          </a:xfrm>
          <a:prstGeom prst="rightBrace">
            <a:avLst>
              <a:gd name="adj1" fmla="val 64175"/>
              <a:gd name="adj2" fmla="val 50000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108401-96B1-4BD4-9620-4996393CAE0C}"/>
              </a:ext>
            </a:extLst>
          </p:cNvPr>
          <p:cNvSpPr txBox="1"/>
          <p:nvPr/>
        </p:nvSpPr>
        <p:spPr>
          <a:xfrm>
            <a:off x="5716905" y="3061182"/>
            <a:ext cx="2453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/>
              <a:t>文法的</a:t>
            </a:r>
            <a:endParaRPr lang="en-US" altLang="zh-CN" sz="3600" dirty="0"/>
          </a:p>
          <a:p>
            <a:pPr algn="ctr"/>
            <a:r>
              <a:rPr lang="zh-CN" altLang="en-US" sz="3600" dirty="0"/>
              <a:t>变换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658CD4-6A87-010E-22CE-A122A46E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FA6C4-5485-478F-8B6B-0632E34CA0D6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67237C-A0C7-F988-B27A-EF6FFA72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444DEC-32D5-3585-333C-9D720AD0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8512B4B-C547-107A-8BA0-13B92A74B9C9}"/>
              </a:ext>
            </a:extLst>
          </p:cNvPr>
          <p:cNvGrpSpPr/>
          <p:nvPr/>
        </p:nvGrpSpPr>
        <p:grpSpPr>
          <a:xfrm>
            <a:off x="1892485" y="4565693"/>
            <a:ext cx="5359030" cy="1307087"/>
            <a:chOff x="2350513" y="4048032"/>
            <a:chExt cx="5359030" cy="1307087"/>
          </a:xfrm>
        </p:grpSpPr>
        <p:sp>
          <p:nvSpPr>
            <p:cNvPr id="6" name="Rectangle 84">
              <a:extLst>
                <a:ext uri="{FF2B5EF4-FFF2-40B4-BE49-F238E27FC236}">
                  <a16:creationId xmlns:a16="http://schemas.microsoft.com/office/drawing/2014/main" id="{C1E9A9BD-5C45-46AE-9D08-9E5484BFA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513" y="4449712"/>
              <a:ext cx="4442974" cy="7364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为什么要对文法进行变换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FD7237D0-89C1-2D05-C82E-95EDAB70DBE0}"/>
                </a:ext>
              </a:extLst>
            </p:cNvPr>
            <p:cNvGrpSpPr/>
            <p:nvPr/>
          </p:nvGrpSpPr>
          <p:grpSpPr>
            <a:xfrm>
              <a:off x="6402456" y="4048032"/>
              <a:ext cx="1307087" cy="1307087"/>
              <a:chOff x="6659157" y="4018540"/>
              <a:chExt cx="1307087" cy="1307087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BC82411-F397-92C4-88F0-33C3F13FB884}"/>
                  </a:ext>
                </a:extLst>
              </p:cNvPr>
              <p:cNvSpPr/>
              <p:nvPr/>
            </p:nvSpPr>
            <p:spPr>
              <a:xfrm>
                <a:off x="6659157" y="4018540"/>
                <a:ext cx="1307087" cy="1307087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" name="图形 8" descr="问号 纯色填充">
                <a:extLst>
                  <a:ext uri="{FF2B5EF4-FFF2-40B4-BE49-F238E27FC236}">
                    <a16:creationId xmlns:a16="http://schemas.microsoft.com/office/drawing/2014/main" id="{EE0F42B5-7376-0B09-5E8A-B5DCB84BC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32392" y="4101358"/>
                <a:ext cx="1160619" cy="1160619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32CC9-BDB3-F008-44D9-3A715B18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本次课内容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905BCE-7D92-84D1-846D-447C7502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3600" dirty="0"/>
          </a:p>
          <a:p>
            <a:endParaRPr lang="en-US" altLang="zh-CN" sz="2800" dirty="0"/>
          </a:p>
          <a:p>
            <a:r>
              <a:rPr lang="zh-CN" altLang="en-US" sz="2800" dirty="0"/>
              <a:t>大部分语法分析器都期望文法是</a:t>
            </a:r>
            <a:r>
              <a:rPr lang="zh-CN" altLang="en-US" sz="2800" b="1" dirty="0">
                <a:solidFill>
                  <a:srgbClr val="C00000"/>
                </a:solidFill>
              </a:rPr>
              <a:t>无二义性</a:t>
            </a:r>
            <a:r>
              <a:rPr lang="zh-CN" altLang="en-US" sz="2800" dirty="0"/>
              <a:t>的，否则，我们就不能为一个句子</a:t>
            </a:r>
            <a:r>
              <a:rPr lang="zh-CN" altLang="en-US" sz="2800" b="1" dirty="0">
                <a:solidFill>
                  <a:srgbClr val="C00000"/>
                </a:solidFill>
              </a:rPr>
              <a:t>唯一选定</a:t>
            </a:r>
            <a:r>
              <a:rPr lang="zh-CN" altLang="en-US" sz="2800" dirty="0"/>
              <a:t>语法分析树。</a:t>
            </a:r>
            <a:endParaRPr lang="en-US" altLang="zh-CN" sz="2800" dirty="0"/>
          </a:p>
          <a:p>
            <a:r>
              <a:rPr lang="zh-CN" altLang="en-US" sz="2800" dirty="0"/>
              <a:t>（在某些情况下，使用二义性文法更方便，但需要制定避免二义性的规则）</a:t>
            </a:r>
            <a:endParaRPr lang="en-US" altLang="zh-CN" sz="2800" dirty="0"/>
          </a:p>
          <a:p>
            <a:r>
              <a:rPr lang="zh-CN" altLang="en-US" sz="2800" dirty="0"/>
              <a:t>除了对二义性的要求外，</a:t>
            </a:r>
            <a:r>
              <a:rPr lang="zh-CN" altLang="en-US" sz="2800" b="1" dirty="0">
                <a:solidFill>
                  <a:srgbClr val="C00000"/>
                </a:solidFill>
              </a:rPr>
              <a:t>自上向下的语法分析</a:t>
            </a:r>
            <a:r>
              <a:rPr lang="zh-CN" altLang="en-US" sz="2800" dirty="0"/>
              <a:t>还要求文法</a:t>
            </a:r>
            <a:r>
              <a:rPr lang="zh-CN" altLang="en-US" sz="2800" b="1" dirty="0">
                <a:solidFill>
                  <a:srgbClr val="C00000"/>
                </a:solidFill>
              </a:rPr>
              <a:t>无左递归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rgbClr val="C00000"/>
                </a:solidFill>
              </a:rPr>
              <a:t>左公因子</a:t>
            </a:r>
            <a:r>
              <a:rPr lang="zh-CN" altLang="en-US" sz="2800" dirty="0"/>
              <a:t>，否则，分析器无法确定选用哪一个产生式。</a:t>
            </a:r>
            <a:endParaRPr lang="en-US" altLang="zh-CN" sz="2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843977-F87B-8205-43FD-DDA18E04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3863-AF88-4113-A9D2-D4DB109FE869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D4004B-3977-AEB3-417E-5F1FA36B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8180D-A51C-22C9-C13F-9FD4E940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9D98E85-8C9F-027C-A279-28341AEA3CDB}"/>
              </a:ext>
            </a:extLst>
          </p:cNvPr>
          <p:cNvGrpSpPr/>
          <p:nvPr/>
        </p:nvGrpSpPr>
        <p:grpSpPr>
          <a:xfrm>
            <a:off x="1892485" y="995185"/>
            <a:ext cx="5359030" cy="1307087"/>
            <a:chOff x="2350513" y="4041314"/>
            <a:chExt cx="5359030" cy="1307087"/>
          </a:xfrm>
        </p:grpSpPr>
        <p:sp>
          <p:nvSpPr>
            <p:cNvPr id="8" name="Rectangle 84">
              <a:extLst>
                <a:ext uri="{FF2B5EF4-FFF2-40B4-BE49-F238E27FC236}">
                  <a16:creationId xmlns:a16="http://schemas.microsoft.com/office/drawing/2014/main" id="{E8B44492-3817-FFE2-8726-F61616463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513" y="4449712"/>
              <a:ext cx="4442974" cy="7364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为什么要对文法进行变换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732FD7C-3AA0-286B-9BEF-ECCB3D18DF45}"/>
                </a:ext>
              </a:extLst>
            </p:cNvPr>
            <p:cNvGrpSpPr/>
            <p:nvPr/>
          </p:nvGrpSpPr>
          <p:grpSpPr>
            <a:xfrm>
              <a:off x="6402456" y="4041314"/>
              <a:ext cx="1307087" cy="1307087"/>
              <a:chOff x="6659157" y="4011822"/>
              <a:chExt cx="1307087" cy="1307087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AECF12CA-EB3B-ED2C-65BB-3C7E8CD35769}"/>
                  </a:ext>
                </a:extLst>
              </p:cNvPr>
              <p:cNvSpPr/>
              <p:nvPr/>
            </p:nvSpPr>
            <p:spPr>
              <a:xfrm>
                <a:off x="6659157" y="4011822"/>
                <a:ext cx="1307087" cy="1307087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" name="图形 10" descr="问号 纯色填充">
                <a:extLst>
                  <a:ext uri="{FF2B5EF4-FFF2-40B4-BE49-F238E27FC236}">
                    <a16:creationId xmlns:a16="http://schemas.microsoft.com/office/drawing/2014/main" id="{8F2C1DEB-FF1B-16C1-19E4-198680F51F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732390" y="4085055"/>
                <a:ext cx="1160619" cy="11606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0900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4FA121B-2F03-4453-A513-F43272BEF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/>
            <a:r>
              <a:rPr lang="en-US" altLang="zh-CN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3.2.4/5 </a:t>
            </a:r>
            <a:r>
              <a:rPr lang="zh-CN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消除二义性</a:t>
            </a:r>
            <a:endParaRPr lang="en-US" altLang="zh-CN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71269B1-BADE-47D5-9439-66A904CBC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二义性问题：一个句子可能对应了多棵语法分析树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有二义性的表达式文法：</a:t>
            </a:r>
          </a:p>
          <a:p>
            <a:pPr>
              <a:buNone/>
            </a:pPr>
            <a:r>
              <a:rPr lang="zh-CN" altLang="en-US" sz="3200" b="1" i="1" dirty="0">
                <a:latin typeface="Times New Roman" panose="02020603050405020304" pitchFamily="18" charset="0"/>
              </a:rPr>
              <a:t>   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200" b="1" dirty="0">
                <a:latin typeface="Times New Roman" panose="02020603050405020304" pitchFamily="18" charset="0"/>
              </a:rPr>
              <a:t>+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E </a:t>
            </a:r>
            <a:r>
              <a:rPr lang="en-US" altLang="zh-CN" sz="3200" b="1" dirty="0">
                <a:latin typeface="Times New Roman" panose="02020603050405020304" pitchFamily="18" charset="0"/>
              </a:rPr>
              <a:t>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dirty="0">
                <a:latin typeface="Times New Roman" panose="02020603050405020304" pitchFamily="18" charset="0"/>
              </a:rPr>
              <a:t> | (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dirty="0">
                <a:latin typeface="Times New Roman" panose="02020603050405020304" pitchFamily="18" charset="0"/>
              </a:rPr>
              <a:t> ) |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dirty="0">
                <a:latin typeface="Times New Roman" panose="02020603050405020304" pitchFamily="18" charset="0"/>
              </a:rPr>
              <a:t> | id</a:t>
            </a:r>
            <a:endParaRPr lang="en-US" altLang="zh-CN" sz="3200" dirty="0"/>
          </a:p>
          <a:p>
            <a:r>
              <a:rPr lang="zh-CN" altLang="en-US" dirty="0"/>
              <a:t>表达式文法的不同分析树体现了不同算符的</a:t>
            </a:r>
            <a:r>
              <a:rPr lang="zh-CN" altLang="en-US" dirty="0">
                <a:solidFill>
                  <a:schemeClr val="accent2"/>
                </a:solidFill>
              </a:rPr>
              <a:t>优先级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2"/>
                </a:solidFill>
              </a:rPr>
              <a:t>结合性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/>
            <a:r>
              <a:rPr lang="zh-CN" altLang="en-US" dirty="0">
                <a:solidFill>
                  <a:schemeClr val="accent2"/>
                </a:solidFill>
              </a:rPr>
              <a:t>优先级：</a:t>
            </a:r>
            <a:r>
              <a:rPr lang="en-US" altLang="zh-CN" sz="2800" b="1" dirty="0">
                <a:latin typeface="Times New Roman" panose="02020603050405020304" pitchFamily="18" charset="0"/>
              </a:rPr>
              <a:t> id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</a:rPr>
              <a:t> id </a:t>
            </a:r>
            <a:r>
              <a:rPr lang="zh-CN" altLang="en-US" sz="2800" b="1" dirty="0">
                <a:latin typeface="Times New Roman" panose="02020603050405020304" pitchFamily="18" charset="0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</a:rPr>
              <a:t> id </a:t>
            </a:r>
            <a:r>
              <a:rPr lang="zh-CN" altLang="en-US" sz="2800" dirty="0">
                <a:latin typeface="Times New Roman" panose="02020603050405020304" pitchFamily="18" charset="0"/>
              </a:rPr>
              <a:t>先算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zh-CN" altLang="en-US" sz="2800" b="1" dirty="0">
                <a:latin typeface="Times New Roman" panose="02020603050405020304" pitchFamily="18" charset="0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  <a:r>
              <a:rPr lang="zh-CN" altLang="en-US" sz="2800" dirty="0">
                <a:latin typeface="Times New Roman" panose="02020603050405020304" pitchFamily="18" charset="0"/>
              </a:rPr>
              <a:t>再算</a:t>
            </a:r>
            <a:r>
              <a:rPr lang="en-US" altLang="zh-CN" sz="2800" b="1" dirty="0">
                <a:latin typeface="Times New Roman" panose="02020603050405020304" pitchFamily="18" charset="0"/>
              </a:rPr>
              <a:t>[+]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结合性：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id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</a:rPr>
              <a:t> id + id </a:t>
            </a:r>
            <a:r>
              <a:rPr lang="zh-CN" altLang="en-US" sz="2800" dirty="0">
                <a:latin typeface="Times New Roman" panose="02020603050405020304" pitchFamily="18" charset="0"/>
              </a:rPr>
              <a:t>先算左边的</a:t>
            </a:r>
            <a:r>
              <a:rPr lang="en-US" altLang="zh-CN" sz="2800" b="1" dirty="0">
                <a:latin typeface="Times New Roman" panose="02020603050405020304" pitchFamily="18" charset="0"/>
              </a:rPr>
              <a:t>[+]</a:t>
            </a:r>
            <a:r>
              <a:rPr lang="zh-CN" altLang="en-US" sz="2800" dirty="0">
                <a:latin typeface="Times New Roman" panose="02020603050405020304" pitchFamily="18" charset="0"/>
              </a:rPr>
              <a:t>再算右边的</a:t>
            </a:r>
            <a:r>
              <a:rPr lang="en-US" altLang="zh-CN" sz="2800" b="1" dirty="0">
                <a:latin typeface="Times New Roman" panose="02020603050405020304" pitchFamily="18" charset="0"/>
              </a:rPr>
              <a:t>[+]</a:t>
            </a:r>
            <a:r>
              <a:rPr lang="zh-CN" altLang="en-US" sz="2800" dirty="0">
                <a:latin typeface="Times New Roman" panose="02020603050405020304" pitchFamily="18" charset="0"/>
              </a:rPr>
              <a:t>（左结合符号），</a:t>
            </a:r>
            <a:r>
              <a:rPr lang="en-US" altLang="zh-CN" sz="2800" b="1" dirty="0">
                <a:latin typeface="Times New Roman" panose="02020603050405020304" pitchFamily="18" charset="0"/>
              </a:rPr>
              <a:t>[-]</a:t>
            </a:r>
            <a:r>
              <a:rPr lang="zh-CN" altLang="en-US" sz="2800" dirty="0">
                <a:latin typeface="Times New Roman" panose="02020603050405020304" pitchFamily="18" charset="0"/>
              </a:rPr>
              <a:t>号是右结合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6AF2EF-DE2B-741E-2E54-54507B2C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F2FC-2046-4720-B1AC-193532A49165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C097A8-E15C-9956-DFFA-7137D7F1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9198C6-150D-AB62-34DE-E15737F2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4FA121B-2F03-4453-A513-F43272BEF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/>
            <a:r>
              <a:rPr lang="en-US" altLang="zh-CN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3.2.4/5 </a:t>
            </a:r>
            <a:r>
              <a:rPr lang="zh-CN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消除二义性</a:t>
            </a:r>
            <a:endParaRPr lang="en-US" altLang="zh-CN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71269B1-BADE-47D5-9439-66A904CBC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二义性问题：一个句子可能对应了多棵语法分析树</a:t>
            </a:r>
            <a:endParaRPr lang="en-US" altLang="zh-CN" dirty="0">
              <a:solidFill>
                <a:schemeClr val="accent2"/>
              </a:solidFill>
            </a:endParaRPr>
          </a:p>
          <a:p>
            <a:r>
              <a:rPr lang="zh-CN" altLang="en-US" dirty="0"/>
              <a:t>解决方案：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、改变</a:t>
            </a:r>
            <a:r>
              <a:rPr lang="zh-CN" altLang="en-US" b="1" dirty="0">
                <a:solidFill>
                  <a:schemeClr val="accent2"/>
                </a:solidFill>
              </a:rPr>
              <a:t>语言</a:t>
            </a:r>
            <a:r>
              <a:rPr lang="zh-CN" altLang="en-US" dirty="0"/>
              <a:t>的语法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、制定规则，</a:t>
            </a:r>
            <a:r>
              <a:rPr lang="zh-CN" altLang="en-US" b="1" dirty="0">
                <a:solidFill>
                  <a:schemeClr val="accent2"/>
                </a:solidFill>
              </a:rPr>
              <a:t>抛弃</a:t>
            </a:r>
            <a:r>
              <a:rPr lang="zh-CN" altLang="en-US" dirty="0"/>
              <a:t>其中一棵分析树，即隐式规定符号的优先级和结合性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、将二义文法改成</a:t>
            </a:r>
            <a:r>
              <a:rPr lang="zh-CN" altLang="en-US" b="1" dirty="0">
                <a:solidFill>
                  <a:schemeClr val="accent2"/>
                </a:solidFill>
              </a:rPr>
              <a:t>等价的</a:t>
            </a:r>
            <a:r>
              <a:rPr lang="zh-CN" altLang="en-US" dirty="0"/>
              <a:t>非二义文法，即显式规定符号的优先级和结合性</a:t>
            </a:r>
            <a:endParaRPr lang="en-US" altLang="zh-CN" dirty="0"/>
          </a:p>
          <a:p>
            <a:r>
              <a:rPr lang="zh-CN" altLang="en-US" dirty="0"/>
              <a:t>解决方案的本质就是</a:t>
            </a:r>
            <a:r>
              <a:rPr lang="zh-CN" altLang="en-US" b="1" dirty="0">
                <a:solidFill>
                  <a:srgbClr val="C00000"/>
                </a:solidFill>
              </a:rPr>
              <a:t>解决优先级和结合性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956910-B5C7-3B74-3720-530EB7C7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8E49-21B4-4F24-9435-8B09F309E807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C59D4A-3B67-79A6-821C-28B19E8A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251EA-611D-75FB-6E8B-3380B511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5" name="Rectangle 84">
            <a:extLst>
              <a:ext uri="{FF2B5EF4-FFF2-40B4-BE49-F238E27FC236}">
                <a16:creationId xmlns:a16="http://schemas.microsoft.com/office/drawing/2014/main" id="{647A7E9F-70A0-4A66-A849-957DDB9AB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42520"/>
            <a:ext cx="4454526" cy="461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id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</a:rPr>
              <a:t> id + id </a:t>
            </a:r>
            <a:r>
              <a:rPr lang="zh-CN" altLang="en-US" sz="2800" b="1" dirty="0">
                <a:latin typeface="Times New Roman" panose="02020603050405020304" pitchFamily="18" charset="0"/>
              </a:rPr>
              <a:t>改为</a:t>
            </a:r>
            <a:r>
              <a:rPr lang="en-US" altLang="zh-CN" sz="2800" b="1" dirty="0">
                <a:latin typeface="Times New Roman" panose="02020603050405020304" pitchFamily="18" charset="0"/>
              </a:rPr>
              <a:t>(id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</a:rPr>
              <a:t> id) + id </a:t>
            </a:r>
            <a:endParaRPr lang="zh-CN" altLang="en-US" sz="2800" b="0" dirty="0">
              <a:latin typeface="Times New Roman" panose="02020603050405020304" pitchFamily="18" charset="0"/>
            </a:endParaRPr>
          </a:p>
        </p:txBody>
      </p:sp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7656384E-30DA-DDCF-A169-2F55C8C0E649}"/>
              </a:ext>
            </a:extLst>
          </p:cNvPr>
          <p:cNvSpPr/>
          <p:nvPr/>
        </p:nvSpPr>
        <p:spPr>
          <a:xfrm>
            <a:off x="4213185" y="443220"/>
            <a:ext cx="4712787" cy="2186451"/>
          </a:xfrm>
          <a:prstGeom prst="cloudCallout">
            <a:avLst>
              <a:gd name="adj1" fmla="val -43451"/>
              <a:gd name="adj2" fmla="val 64568"/>
            </a:avLst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从不同的角度思考问题，可以更加全面和多元化，进而看清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事物的本质</a:t>
            </a:r>
          </a:p>
        </p:txBody>
      </p:sp>
    </p:spTree>
    <p:extLst>
      <p:ext uri="{BB962C8B-B14F-4D97-AF65-F5344CB8AC3E}">
        <p14:creationId xmlns:p14="http://schemas.microsoft.com/office/powerpoint/2010/main" val="419832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61061-365E-47D3-AE64-AF48313A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D7DA90-BB31-4B70-B656-89FCA0342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将二义文法改成非二义文法</a:t>
            </a:r>
            <a:endParaRPr lang="en-US" altLang="zh-CN" dirty="0"/>
          </a:p>
          <a:p>
            <a:r>
              <a:rPr lang="zh-CN" altLang="en-US" dirty="0"/>
              <a:t>思路：限制每一步推导都只有唯一的选择</a:t>
            </a:r>
            <a:endParaRPr lang="en-US" altLang="zh-CN" dirty="0"/>
          </a:p>
          <a:p>
            <a:pPr lvl="1"/>
            <a:r>
              <a:rPr lang="zh-CN" altLang="en-US" dirty="0"/>
              <a:t>解决优先级：引入新的非终结符，增加一个子结构并提高一级优先级，越靠近开始符号的文法符号优先级越低</a:t>
            </a:r>
            <a:endParaRPr lang="en-US" altLang="zh-CN" dirty="0"/>
          </a:p>
          <a:p>
            <a:pPr lvl="1"/>
            <a:r>
              <a:rPr lang="zh-CN" altLang="en-US" dirty="0"/>
              <a:t>解决结合性：对于递归产生式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E+a</a:t>
            </a:r>
            <a:r>
              <a:rPr kumimoji="1"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出现在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[+]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左边，则产生式具有左结合性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80F2C2-DF6C-5F59-6397-9648B5B80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640FD-774D-444D-B640-FA059A99EFB5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620BC-F548-F6D4-E241-6D6B426A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B1984C-2046-6C64-14E4-3ED560D2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551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C1E26E9-5526-4DFA-8791-CFFF5746DF19}"/>
              </a:ext>
            </a:extLst>
          </p:cNvPr>
          <p:cNvSpPr/>
          <p:nvPr/>
        </p:nvSpPr>
        <p:spPr>
          <a:xfrm>
            <a:off x="628650" y="4515557"/>
            <a:ext cx="5610225" cy="22126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64FA121B-2F03-4453-A513-F43272BEF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/>
            <a:r>
              <a:rPr lang="en-US" altLang="zh-CN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3.2.4/5 </a:t>
            </a:r>
            <a:r>
              <a:rPr lang="zh-CN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消除二义性</a:t>
            </a:r>
            <a:endParaRPr lang="en-US" altLang="zh-CN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1A7FDCAA-7A66-4377-8DA0-6039520053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将二义文法改成非二义文法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E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|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) |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| id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给每个优先级的运算符引入新的非终结符，并规定他们的结合性：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expr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</a:rPr>
              <a:t>+ </a:t>
            </a:r>
            <a:r>
              <a:rPr lang="zh-CN" altLang="en-US" sz="2800" dirty="0">
                <a:latin typeface="Times New Roman" panose="02020603050405020304" pitchFamily="18" charset="0"/>
              </a:rPr>
              <a:t>（左递归）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zh-CN" altLang="en-US" sz="2800" b="1" dirty="0">
                <a:latin typeface="Times New Roman" panose="02020603050405020304" pitchFamily="18" charset="0"/>
              </a:rPr>
              <a:t>：*  </a:t>
            </a:r>
            <a:r>
              <a:rPr lang="zh-CN" altLang="en-US" sz="2800" dirty="0">
                <a:latin typeface="Times New Roman" panose="02020603050405020304" pitchFamily="18" charset="0"/>
              </a:rPr>
              <a:t>（左递归）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800" b="1" i="1" dirty="0">
                <a:latin typeface="Times New Roman" panose="02020603050405020304" pitchFamily="18" charset="0"/>
              </a:rPr>
              <a:t>factor 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</a:rPr>
              <a:t>（右递归）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	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	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	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-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word 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	word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800" b="1" dirty="0">
                <a:latin typeface="Times New Roman" panose="02020603050405020304" pitchFamily="18" charset="0"/>
              </a:rPr>
              <a:t>id |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9DE733-4089-D885-7606-2F957AB3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ADF7-8A80-4B38-AE9E-D9A637698EA6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0C6739-93E5-091E-289A-820F25DE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74E8CB-E579-47F5-0063-362FD8D5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5" name="Rectangle 84">
            <a:extLst>
              <a:ext uri="{FF2B5EF4-FFF2-40B4-BE49-F238E27FC236}">
                <a16:creationId xmlns:a16="http://schemas.microsoft.com/office/drawing/2014/main" id="{6441E191-D0AA-4FDE-BE3F-24117D586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980" y="2874169"/>
            <a:ext cx="2593976" cy="23669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优先级：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</a:t>
            </a:r>
            <a:r>
              <a:rPr lang="en-US" altLang="zh-CN" sz="2800" b="1" dirty="0">
                <a:latin typeface="Times New Roman" panose="02020603050405020304" pitchFamily="18" charset="0"/>
              </a:rPr>
              <a:t>+] &lt; [*] &lt; [-]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结合性：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[+]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[*]</a:t>
            </a:r>
            <a:r>
              <a:rPr lang="zh-CN" altLang="en-US" sz="2800" dirty="0">
                <a:latin typeface="Times New Roman" panose="02020603050405020304" pitchFamily="18" charset="0"/>
              </a:rPr>
              <a:t>左结合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[-]</a:t>
            </a:r>
            <a:r>
              <a:rPr lang="zh-CN" altLang="en-US" sz="2800" dirty="0">
                <a:latin typeface="Times New Roman" panose="02020603050405020304" pitchFamily="18" charset="0"/>
              </a:rPr>
              <a:t>右结合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6A41CA-208C-432E-BE22-EA710053DA5F}"/>
              </a:ext>
            </a:extLst>
          </p:cNvPr>
          <p:cNvCxnSpPr>
            <a:cxnSpLocks/>
          </p:cNvCxnSpPr>
          <p:nvPr/>
        </p:nvCxnSpPr>
        <p:spPr>
          <a:xfrm>
            <a:off x="993775" y="6278203"/>
            <a:ext cx="271780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D20B9CA-4863-4B03-9062-06DB02B0974F}"/>
              </a:ext>
            </a:extLst>
          </p:cNvPr>
          <p:cNvCxnSpPr>
            <a:cxnSpLocks/>
          </p:cNvCxnSpPr>
          <p:nvPr/>
        </p:nvCxnSpPr>
        <p:spPr>
          <a:xfrm>
            <a:off x="3711575" y="5798243"/>
            <a:ext cx="68580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DEE9D7C-62A6-4B4F-8F69-24E86EC6A43B}"/>
              </a:ext>
            </a:extLst>
          </p:cNvPr>
          <p:cNvSpPr txBox="1"/>
          <p:nvPr/>
        </p:nvSpPr>
        <p:spPr>
          <a:xfrm>
            <a:off x="4475692" y="5524310"/>
            <a:ext cx="17399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id |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70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1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1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1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1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1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1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1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1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1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1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1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1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37BEC2B-93F3-4710-B5C2-D2AB94191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81AEB97-C897-462D-B4B5-2F1931270A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-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 | </a:t>
            </a:r>
            <a:r>
              <a:rPr lang="en-US" altLang="zh-CN" sz="2800" b="1" dirty="0">
                <a:latin typeface="Times New Roman" panose="02020603050405020304" pitchFamily="18" charset="0"/>
              </a:rPr>
              <a:t>id |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E497764-4AF1-482F-868F-7D3A3F0BC2FB}"/>
              </a:ext>
            </a:extLst>
          </p:cNvPr>
          <p:cNvGrpSpPr>
            <a:grpSpLocks/>
          </p:cNvGrpSpPr>
          <p:nvPr/>
        </p:nvGrpSpPr>
        <p:grpSpPr bwMode="auto">
          <a:xfrm>
            <a:off x="361950" y="2619376"/>
            <a:ext cx="8153400" cy="4038600"/>
            <a:chOff x="336" y="1584"/>
            <a:chExt cx="5136" cy="2544"/>
          </a:xfrm>
        </p:grpSpPr>
        <p:grpSp>
          <p:nvGrpSpPr>
            <p:cNvPr id="17414" name="Group 5">
              <a:extLst>
                <a:ext uri="{FF2B5EF4-FFF2-40B4-BE49-F238E27FC236}">
                  <a16:creationId xmlns:a16="http://schemas.microsoft.com/office/drawing/2014/main" id="{9CB08CAC-7673-4BB6-8FF4-A8C3858790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584"/>
              <a:ext cx="5136" cy="2352"/>
              <a:chOff x="384" y="1776"/>
              <a:chExt cx="5136" cy="2352"/>
            </a:xfrm>
          </p:grpSpPr>
          <p:grpSp>
            <p:nvGrpSpPr>
              <p:cNvPr id="17416" name="Group 6">
                <a:extLst>
                  <a:ext uri="{FF2B5EF4-FFF2-40B4-BE49-F238E27FC236}">
                    <a16:creationId xmlns:a16="http://schemas.microsoft.com/office/drawing/2014/main" id="{08685720-08F0-44D0-8539-7D2F19E997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1817"/>
                <a:ext cx="2496" cy="2311"/>
                <a:chOff x="384" y="1817"/>
                <a:chExt cx="2496" cy="2311"/>
              </a:xfrm>
            </p:grpSpPr>
            <p:sp>
              <p:nvSpPr>
                <p:cNvPr id="17444" name="Rectangle 7">
                  <a:extLst>
                    <a:ext uri="{FF2B5EF4-FFF2-40B4-BE49-F238E27FC236}">
                      <a16:creationId xmlns:a16="http://schemas.microsoft.com/office/drawing/2014/main" id="{3C8D53C6-AF01-406D-97BB-55EA41E152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1817"/>
                  <a:ext cx="480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expr</a:t>
                  </a:r>
                </a:p>
              </p:txBody>
            </p:sp>
            <p:sp>
              <p:nvSpPr>
                <p:cNvPr id="17445" name="Line 8">
                  <a:extLst>
                    <a:ext uri="{FF2B5EF4-FFF2-40B4-BE49-F238E27FC236}">
                      <a16:creationId xmlns:a16="http://schemas.microsoft.com/office/drawing/2014/main" id="{1E09CC56-33F6-431B-9A06-2EBD99470C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18" y="2463"/>
                  <a:ext cx="348" cy="1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6" name="Line 9">
                  <a:extLst>
                    <a:ext uri="{FF2B5EF4-FFF2-40B4-BE49-F238E27FC236}">
                      <a16:creationId xmlns:a16="http://schemas.microsoft.com/office/drawing/2014/main" id="{869CF8F3-24C9-4179-B11E-16CEB2C1EE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9" y="2461"/>
                  <a:ext cx="348" cy="1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7" name="Line 10">
                  <a:extLst>
                    <a:ext uri="{FF2B5EF4-FFF2-40B4-BE49-F238E27FC236}">
                      <a16:creationId xmlns:a16="http://schemas.microsoft.com/office/drawing/2014/main" id="{BF55A498-688F-4912-A341-2CC75F539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58" y="2162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8" name="Rectangle 11">
                  <a:extLst>
                    <a:ext uri="{FF2B5EF4-FFF2-40B4-BE49-F238E27FC236}">
                      <a16:creationId xmlns:a16="http://schemas.microsoft.com/office/drawing/2014/main" id="{69BEB049-EF2F-4599-94AB-2B1BD78F1E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9" y="3027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id</a:t>
                  </a:r>
                </a:p>
              </p:txBody>
            </p:sp>
            <p:sp>
              <p:nvSpPr>
                <p:cNvPr id="17449" name="Line 12">
                  <a:extLst>
                    <a:ext uri="{FF2B5EF4-FFF2-40B4-BE49-F238E27FC236}">
                      <a16:creationId xmlns:a16="http://schemas.microsoft.com/office/drawing/2014/main" id="{8F44EFA3-46DC-4AAD-BE87-DED4EE4D45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7" y="2906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0" name="Rectangle 13">
                  <a:extLst>
                    <a:ext uri="{FF2B5EF4-FFF2-40B4-BE49-F238E27FC236}">
                      <a16:creationId xmlns:a16="http://schemas.microsoft.com/office/drawing/2014/main" id="{D9D3B6F0-5046-4300-B4B9-4A809CA09A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204"/>
                  <a:ext cx="483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  <p:sp>
              <p:nvSpPr>
                <p:cNvPr id="17451" name="Rectangle 14">
                  <a:extLst>
                    <a:ext uri="{FF2B5EF4-FFF2-40B4-BE49-F238E27FC236}">
                      <a16:creationId xmlns:a16="http://schemas.microsoft.com/office/drawing/2014/main" id="{3A3A98AB-5DAF-4D39-A9D2-BAC6E3CE05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65" y="2560"/>
                  <a:ext cx="615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factor</a:t>
                  </a:r>
                </a:p>
              </p:txBody>
            </p:sp>
            <p:sp>
              <p:nvSpPr>
                <p:cNvPr id="17452" name="Rectangle 15">
                  <a:extLst>
                    <a:ext uri="{FF2B5EF4-FFF2-40B4-BE49-F238E27FC236}">
                      <a16:creationId xmlns:a16="http://schemas.microsoft.com/office/drawing/2014/main" id="{7106BC8E-C540-4AE3-8C1A-25DEC02A31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5" y="2660"/>
                  <a:ext cx="237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000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53" name="Line 16">
                  <a:extLst>
                    <a:ext uri="{FF2B5EF4-FFF2-40B4-BE49-F238E27FC236}">
                      <a16:creationId xmlns:a16="http://schemas.microsoft.com/office/drawing/2014/main" id="{90ADE139-4CD0-4D44-ACDC-9D6BA2C2AF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86" y="2838"/>
                  <a:ext cx="348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4" name="Line 17">
                  <a:extLst>
                    <a:ext uri="{FF2B5EF4-FFF2-40B4-BE49-F238E27FC236}">
                      <a16:creationId xmlns:a16="http://schemas.microsoft.com/office/drawing/2014/main" id="{FD5DBD05-1B22-4E53-B698-07B21259F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12" y="2838"/>
                  <a:ext cx="348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5" name="Line 18">
                  <a:extLst>
                    <a:ext uri="{FF2B5EF4-FFF2-40B4-BE49-F238E27FC236}">
                      <a16:creationId xmlns:a16="http://schemas.microsoft.com/office/drawing/2014/main" id="{F98DCE37-00B4-42B9-92B7-CE9CD2131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0" y="2549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6" name="Line 19">
                  <a:extLst>
                    <a:ext uri="{FF2B5EF4-FFF2-40B4-BE49-F238E27FC236}">
                      <a16:creationId xmlns:a16="http://schemas.microsoft.com/office/drawing/2014/main" id="{96875F58-930F-433D-9D6C-8A3C95F7B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4" y="2922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7" name="Rectangle 20">
                  <a:extLst>
                    <a:ext uri="{FF2B5EF4-FFF2-40B4-BE49-F238E27FC236}">
                      <a16:creationId xmlns:a16="http://schemas.microsoft.com/office/drawing/2014/main" id="{BFC7B0AD-EF5A-43BC-931B-B685CE9521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8" y="3840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id</a:t>
                  </a:r>
                </a:p>
              </p:txBody>
            </p:sp>
            <p:sp>
              <p:nvSpPr>
                <p:cNvPr id="17458" name="Rectangle 21">
                  <a:extLst>
                    <a:ext uri="{FF2B5EF4-FFF2-40B4-BE49-F238E27FC236}">
                      <a16:creationId xmlns:a16="http://schemas.microsoft.com/office/drawing/2014/main" id="{C18AA4A0-A917-4504-B208-3C7746FC9E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6" y="3469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id</a:t>
                  </a:r>
                </a:p>
              </p:txBody>
            </p:sp>
            <p:sp>
              <p:nvSpPr>
                <p:cNvPr id="17459" name="Rectangle 22">
                  <a:extLst>
                    <a:ext uri="{FF2B5EF4-FFF2-40B4-BE49-F238E27FC236}">
                      <a16:creationId xmlns:a16="http://schemas.microsoft.com/office/drawing/2014/main" id="{95D35AB0-3526-4415-84EA-2A2D3FB141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549"/>
                  <a:ext cx="452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  <p:sp>
              <p:nvSpPr>
                <p:cNvPr id="17460" name="Rectangle 23">
                  <a:extLst>
                    <a:ext uri="{FF2B5EF4-FFF2-40B4-BE49-F238E27FC236}">
                      <a16:creationId xmlns:a16="http://schemas.microsoft.com/office/drawing/2014/main" id="{025426A2-4B68-4B68-842B-23C8722A7F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0" y="3045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*</a:t>
                  </a:r>
                </a:p>
              </p:txBody>
            </p:sp>
            <p:sp>
              <p:nvSpPr>
                <p:cNvPr id="17461" name="Rectangle 24">
                  <a:extLst>
                    <a:ext uri="{FF2B5EF4-FFF2-40B4-BE49-F238E27FC236}">
                      <a16:creationId xmlns:a16="http://schemas.microsoft.com/office/drawing/2014/main" id="{CEF2016A-12EA-4F1D-A07A-C6C3122385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" y="2948"/>
                  <a:ext cx="455" cy="3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  <p:sp>
              <p:nvSpPr>
                <p:cNvPr id="17462" name="Rectangle 25">
                  <a:extLst>
                    <a:ext uri="{FF2B5EF4-FFF2-40B4-BE49-F238E27FC236}">
                      <a16:creationId xmlns:a16="http://schemas.microsoft.com/office/drawing/2014/main" id="{8E5F5AB9-5BF1-4BA6-81B9-B86B18D68C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" y="3388"/>
                  <a:ext cx="672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factor</a:t>
                  </a:r>
                </a:p>
              </p:txBody>
            </p:sp>
            <p:sp>
              <p:nvSpPr>
                <p:cNvPr id="17463" name="Rectangle 26">
                  <a:extLst>
                    <a:ext uri="{FF2B5EF4-FFF2-40B4-BE49-F238E27FC236}">
                      <a16:creationId xmlns:a16="http://schemas.microsoft.com/office/drawing/2014/main" id="{3B986159-BB3B-4D00-8271-99F64D604B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9" y="2959"/>
                  <a:ext cx="639" cy="3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factor</a:t>
                  </a:r>
                </a:p>
              </p:txBody>
            </p:sp>
            <p:sp>
              <p:nvSpPr>
                <p:cNvPr id="17464" name="Line 27">
                  <a:extLst>
                    <a:ext uri="{FF2B5EF4-FFF2-40B4-BE49-F238E27FC236}">
                      <a16:creationId xmlns:a16="http://schemas.microsoft.com/office/drawing/2014/main" id="{5745A84A-CD5A-41D7-B67D-86A0AFE37B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0" y="3320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65" name="Line 28">
                  <a:extLst>
                    <a:ext uri="{FF2B5EF4-FFF2-40B4-BE49-F238E27FC236}">
                      <a16:creationId xmlns:a16="http://schemas.microsoft.com/office/drawing/2014/main" id="{2D7E5690-642A-44A7-817C-C390C592BF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49" y="3335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66" name="Rectangle 29">
                  <a:extLst>
                    <a:ext uri="{FF2B5EF4-FFF2-40B4-BE49-F238E27FC236}">
                      <a16:creationId xmlns:a16="http://schemas.microsoft.com/office/drawing/2014/main" id="{F31F748F-C5B0-4628-B273-391266DD87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8" y="2674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*</a:t>
                  </a:r>
                </a:p>
              </p:txBody>
            </p:sp>
            <p:sp>
              <p:nvSpPr>
                <p:cNvPr id="17467" name="Line 30">
                  <a:extLst>
                    <a:ext uri="{FF2B5EF4-FFF2-40B4-BE49-F238E27FC236}">
                      <a16:creationId xmlns:a16="http://schemas.microsoft.com/office/drawing/2014/main" id="{409B5E52-42F8-4438-AD83-88A4F7B59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3696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17" name="Group 31">
                <a:extLst>
                  <a:ext uri="{FF2B5EF4-FFF2-40B4-BE49-F238E27FC236}">
                    <a16:creationId xmlns:a16="http://schemas.microsoft.com/office/drawing/2014/main" id="{7CCAC9EC-C2AE-41B5-9296-64DB846590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1776"/>
                <a:ext cx="2400" cy="2116"/>
                <a:chOff x="3120" y="1776"/>
                <a:chExt cx="2400" cy="2116"/>
              </a:xfrm>
            </p:grpSpPr>
            <p:sp>
              <p:nvSpPr>
                <p:cNvPr id="17418" name="Rectangle 32">
                  <a:extLst>
                    <a:ext uri="{FF2B5EF4-FFF2-40B4-BE49-F238E27FC236}">
                      <a16:creationId xmlns:a16="http://schemas.microsoft.com/office/drawing/2014/main" id="{E6F65693-AD4B-489A-ADE7-E28555394B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9" y="1776"/>
                  <a:ext cx="459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expr</a:t>
                  </a:r>
                </a:p>
              </p:txBody>
            </p:sp>
            <p:sp>
              <p:nvSpPr>
                <p:cNvPr id="17419" name="Line 33">
                  <a:extLst>
                    <a:ext uri="{FF2B5EF4-FFF2-40B4-BE49-F238E27FC236}">
                      <a16:creationId xmlns:a16="http://schemas.microsoft.com/office/drawing/2014/main" id="{A76A1F7E-D197-4F51-8DC9-CB98E73E75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35" y="2062"/>
                  <a:ext cx="348" cy="1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0" name="Line 34">
                  <a:extLst>
                    <a:ext uri="{FF2B5EF4-FFF2-40B4-BE49-F238E27FC236}">
                      <a16:creationId xmlns:a16="http://schemas.microsoft.com/office/drawing/2014/main" id="{0608BC71-A513-4021-8540-B010F3DA6D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34" y="2077"/>
                  <a:ext cx="348" cy="1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1" name="Line 35">
                  <a:extLst>
                    <a:ext uri="{FF2B5EF4-FFF2-40B4-BE49-F238E27FC236}">
                      <a16:creationId xmlns:a16="http://schemas.microsoft.com/office/drawing/2014/main" id="{2DD02E4D-19D8-4B72-A172-DEEC0BA45F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56" y="2123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2" name="Rectangle 36">
                  <a:extLst>
                    <a:ext uri="{FF2B5EF4-FFF2-40B4-BE49-F238E27FC236}">
                      <a16:creationId xmlns:a16="http://schemas.microsoft.com/office/drawing/2014/main" id="{F162C1CC-DEC9-41D8-8555-2CAB2E42E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2161"/>
                  <a:ext cx="459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expr</a:t>
                  </a:r>
                </a:p>
              </p:txBody>
            </p:sp>
            <p:sp>
              <p:nvSpPr>
                <p:cNvPr id="17423" name="Rectangle 37">
                  <a:extLst>
                    <a:ext uri="{FF2B5EF4-FFF2-40B4-BE49-F238E27FC236}">
                      <a16:creationId xmlns:a16="http://schemas.microsoft.com/office/drawing/2014/main" id="{8DAD3615-7F1F-4132-A909-746E99CB14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5" y="2218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17424" name="Line 38">
                  <a:extLst>
                    <a:ext uri="{FF2B5EF4-FFF2-40B4-BE49-F238E27FC236}">
                      <a16:creationId xmlns:a16="http://schemas.microsoft.com/office/drawing/2014/main" id="{FF98E2F5-3EB1-4FA6-8C45-1F08B16A99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5" y="2521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5" name="Line 39">
                  <a:extLst>
                    <a:ext uri="{FF2B5EF4-FFF2-40B4-BE49-F238E27FC236}">
                      <a16:creationId xmlns:a16="http://schemas.microsoft.com/office/drawing/2014/main" id="{13F2F00F-3C1F-4FE1-A719-04E1418C11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8" y="2976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6" name="Line 40">
                  <a:extLst>
                    <a:ext uri="{FF2B5EF4-FFF2-40B4-BE49-F238E27FC236}">
                      <a16:creationId xmlns:a16="http://schemas.microsoft.com/office/drawing/2014/main" id="{8861536A-B47D-4BBA-9E95-FEB14D4F65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25" y="3470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7" name="Rectangle 41">
                  <a:extLst>
                    <a:ext uri="{FF2B5EF4-FFF2-40B4-BE49-F238E27FC236}">
                      <a16:creationId xmlns:a16="http://schemas.microsoft.com/office/drawing/2014/main" id="{BAA7A9A2-531F-4EB7-93B1-405A53017C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5" y="3604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id</a:t>
                  </a:r>
                </a:p>
              </p:txBody>
            </p:sp>
            <p:sp>
              <p:nvSpPr>
                <p:cNvPr id="17428" name="Rectangle 42">
                  <a:extLst>
                    <a:ext uri="{FF2B5EF4-FFF2-40B4-BE49-F238E27FC236}">
                      <a16:creationId xmlns:a16="http://schemas.microsoft.com/office/drawing/2014/main" id="{52054EFF-A7C1-4C71-89DD-31195AA315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20" y="3120"/>
                  <a:ext cx="624" cy="3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factor</a:t>
                  </a:r>
                </a:p>
              </p:txBody>
            </p:sp>
            <p:sp>
              <p:nvSpPr>
                <p:cNvPr id="17429" name="Rectangle 43">
                  <a:extLst>
                    <a:ext uri="{FF2B5EF4-FFF2-40B4-BE49-F238E27FC236}">
                      <a16:creationId xmlns:a16="http://schemas.microsoft.com/office/drawing/2014/main" id="{4E3ACF11-D573-4E5E-BDE4-17CA430F29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2589"/>
                  <a:ext cx="495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  <p:sp>
              <p:nvSpPr>
                <p:cNvPr id="17430" name="Rectangle 44">
                  <a:extLst>
                    <a:ext uri="{FF2B5EF4-FFF2-40B4-BE49-F238E27FC236}">
                      <a16:creationId xmlns:a16="http://schemas.microsoft.com/office/drawing/2014/main" id="{1EABABE3-25D0-4226-B747-41BA763112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25" y="2272"/>
                  <a:ext cx="237" cy="1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000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31" name="Line 45">
                  <a:extLst>
                    <a:ext uri="{FF2B5EF4-FFF2-40B4-BE49-F238E27FC236}">
                      <a16:creationId xmlns:a16="http://schemas.microsoft.com/office/drawing/2014/main" id="{82D7967F-03C2-40C7-85EF-67D2589D91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86" y="2450"/>
                  <a:ext cx="348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2" name="Line 46">
                  <a:extLst>
                    <a:ext uri="{FF2B5EF4-FFF2-40B4-BE49-F238E27FC236}">
                      <a16:creationId xmlns:a16="http://schemas.microsoft.com/office/drawing/2014/main" id="{6DDCF14E-918B-4573-B50C-403E19F7C9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112" y="2450"/>
                  <a:ext cx="348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3" name="Line 47">
                  <a:extLst>
                    <a:ext uri="{FF2B5EF4-FFF2-40B4-BE49-F238E27FC236}">
                      <a16:creationId xmlns:a16="http://schemas.microsoft.com/office/drawing/2014/main" id="{0D85F580-0978-42D5-8561-751388B7F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3" y="2534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4" name="Rectangle 48">
                  <a:extLst>
                    <a:ext uri="{FF2B5EF4-FFF2-40B4-BE49-F238E27FC236}">
                      <a16:creationId xmlns:a16="http://schemas.microsoft.com/office/drawing/2014/main" id="{2F8AF5A9-55C4-413F-9B2E-E1F6A7648A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8" y="3452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id</a:t>
                  </a:r>
                </a:p>
              </p:txBody>
            </p:sp>
            <p:sp>
              <p:nvSpPr>
                <p:cNvPr id="17435" name="Rectangle 49">
                  <a:extLst>
                    <a:ext uri="{FF2B5EF4-FFF2-40B4-BE49-F238E27FC236}">
                      <a16:creationId xmlns:a16="http://schemas.microsoft.com/office/drawing/2014/main" id="{504345A2-4E1B-4BAB-8A7A-FA2F966B19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6" y="3081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id</a:t>
                  </a:r>
                </a:p>
              </p:txBody>
            </p:sp>
            <p:sp>
              <p:nvSpPr>
                <p:cNvPr id="17436" name="Rectangle 50">
                  <a:extLst>
                    <a:ext uri="{FF2B5EF4-FFF2-40B4-BE49-F238E27FC236}">
                      <a16:creationId xmlns:a16="http://schemas.microsoft.com/office/drawing/2014/main" id="{0A3E2075-9D78-4D56-900F-77ADCDCDF5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27" y="2161"/>
                  <a:ext cx="465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  <p:sp>
              <p:nvSpPr>
                <p:cNvPr id="17437" name="Rectangle 51">
                  <a:extLst>
                    <a:ext uri="{FF2B5EF4-FFF2-40B4-BE49-F238E27FC236}">
                      <a16:creationId xmlns:a16="http://schemas.microsoft.com/office/drawing/2014/main" id="{A9D79890-87F3-458A-9F67-B223D16ED5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0" y="2657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*</a:t>
                  </a:r>
                </a:p>
              </p:txBody>
            </p:sp>
            <p:sp>
              <p:nvSpPr>
                <p:cNvPr id="17438" name="Rectangle 52">
                  <a:extLst>
                    <a:ext uri="{FF2B5EF4-FFF2-40B4-BE49-F238E27FC236}">
                      <a16:creationId xmlns:a16="http://schemas.microsoft.com/office/drawing/2014/main" id="{78AC1A79-0EDC-49B1-8513-35EE04E70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560"/>
                  <a:ext cx="450" cy="3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  <p:sp>
              <p:nvSpPr>
                <p:cNvPr id="17439" name="Rectangle 53">
                  <a:extLst>
                    <a:ext uri="{FF2B5EF4-FFF2-40B4-BE49-F238E27FC236}">
                      <a16:creationId xmlns:a16="http://schemas.microsoft.com/office/drawing/2014/main" id="{FE5CC273-D2FF-41E7-80AC-0E0EAE8416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4" y="3000"/>
                  <a:ext cx="628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factor</a:t>
                  </a:r>
                </a:p>
              </p:txBody>
            </p:sp>
            <p:sp>
              <p:nvSpPr>
                <p:cNvPr id="17440" name="Rectangle 54">
                  <a:extLst>
                    <a:ext uri="{FF2B5EF4-FFF2-40B4-BE49-F238E27FC236}">
                      <a16:creationId xmlns:a16="http://schemas.microsoft.com/office/drawing/2014/main" id="{99C58D06-0DA3-446B-871E-27DC895382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6" y="2571"/>
                  <a:ext cx="624" cy="3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factor</a:t>
                  </a:r>
                </a:p>
              </p:txBody>
            </p:sp>
            <p:sp>
              <p:nvSpPr>
                <p:cNvPr id="17441" name="Line 55">
                  <a:extLst>
                    <a:ext uri="{FF2B5EF4-FFF2-40B4-BE49-F238E27FC236}">
                      <a16:creationId xmlns:a16="http://schemas.microsoft.com/office/drawing/2014/main" id="{2957E246-F471-4B32-9C3C-A7B4B35696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9" y="2932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2" name="Line 56">
                  <a:extLst>
                    <a:ext uri="{FF2B5EF4-FFF2-40B4-BE49-F238E27FC236}">
                      <a16:creationId xmlns:a16="http://schemas.microsoft.com/office/drawing/2014/main" id="{F449BB75-C202-47E9-A207-BC9272F9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49" y="2947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3" name="Line 57">
                  <a:extLst>
                    <a:ext uri="{FF2B5EF4-FFF2-40B4-BE49-F238E27FC236}">
                      <a16:creationId xmlns:a16="http://schemas.microsoft.com/office/drawing/2014/main" id="{48188A5A-76B5-4187-90CE-DAEF1BBBA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3264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7415" name="Rectangle 58" descr="Green marble">
              <a:extLst>
                <a:ext uri="{FF2B5EF4-FFF2-40B4-BE49-F238E27FC236}">
                  <a16:creationId xmlns:a16="http://schemas.microsoft.com/office/drawing/2014/main" id="{BAA8101C-EF43-4A9F-AA2C-5802DCDE7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744"/>
              <a:ext cx="384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id </a:t>
              </a:r>
              <a:r>
                <a:rPr lang="en-US" altLang="zh-CN" sz="2800"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id </a:t>
              </a:r>
              <a:r>
                <a:rPr lang="en-US" altLang="zh-CN" sz="2800"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id </a:t>
              </a:r>
              <a:r>
                <a:rPr lang="zh-CN" altLang="en-US" sz="2800" b="0">
                  <a:latin typeface="黑体" panose="02010609060101010101" pitchFamily="49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zh-CN" altLang="en-US" sz="28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id + id </a:t>
              </a:r>
              <a:r>
                <a:rPr lang="en-US" altLang="zh-CN" sz="2800"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id </a:t>
              </a:r>
              <a:r>
                <a:rPr lang="zh-CN" altLang="en-US" sz="2800" b="0">
                  <a:latin typeface="黑体" panose="02010609060101010101" pitchFamily="49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的分析树</a:t>
              </a:r>
              <a:r>
                <a:rPr lang="zh-CN" altLang="en-US" sz="2400" b="0" i="1"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7413" name="Rectangle 59">
            <a:extLst>
              <a:ext uri="{FF2B5EF4-FFF2-40B4-BE49-F238E27FC236}">
                <a16:creationId xmlns:a16="http://schemas.microsoft.com/office/drawing/2014/main" id="{1ADD891D-9E85-4ED3-AD66-DF4889F74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1474804"/>
            <a:ext cx="2540000" cy="9108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latin typeface="Times New Roman" panose="02020603050405020304" pitchFamily="18" charset="0"/>
              </a:rPr>
              <a:t>该文法无二义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51EBFB-E9D2-39BD-0D34-15C92B0A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4CA51-527E-48DA-8829-4949F315C69E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63B8C3-CF36-7590-138A-F0E669DA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683A86-5DD6-AE61-B22A-520105D4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4FC0DD6-253B-4848-9BD3-72F4FE60F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4D09377-FD5E-41D1-B4F8-EEEDC82686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term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factor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-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factor | </a:t>
            </a:r>
            <a:r>
              <a:rPr lang="en-US" altLang="zh-CN" sz="2800" b="1" dirty="0">
                <a:latin typeface="Times New Roman" panose="02020603050405020304" pitchFamily="18" charset="0"/>
              </a:rPr>
              <a:t>id |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593A422C-B1B6-4B6C-BC64-050237CFF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238" y="4375150"/>
            <a:ext cx="37623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10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6AE99A56-B966-4C63-BAEB-70A0E1FA3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4688" y="3759200"/>
            <a:ext cx="37623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zh-CN" sz="10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183A3823-5A9D-4C7E-AFA3-050A5BA9819C}"/>
              </a:ext>
            </a:extLst>
          </p:cNvPr>
          <p:cNvGrpSpPr>
            <a:grpSpLocks/>
          </p:cNvGrpSpPr>
          <p:nvPr/>
        </p:nvGrpSpPr>
        <p:grpSpPr bwMode="auto">
          <a:xfrm>
            <a:off x="473075" y="2557462"/>
            <a:ext cx="8382000" cy="4191000"/>
            <a:chOff x="336" y="1776"/>
            <a:chExt cx="5280" cy="2640"/>
          </a:xfrm>
        </p:grpSpPr>
        <p:grpSp>
          <p:nvGrpSpPr>
            <p:cNvPr id="18440" name="Group 7">
              <a:extLst>
                <a:ext uri="{FF2B5EF4-FFF2-40B4-BE49-F238E27FC236}">
                  <a16:creationId xmlns:a16="http://schemas.microsoft.com/office/drawing/2014/main" id="{CD57DF2A-1C06-4F0C-8420-264DE4B59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776"/>
              <a:ext cx="2631" cy="2311"/>
              <a:chOff x="432" y="1824"/>
              <a:chExt cx="2631" cy="2311"/>
            </a:xfrm>
          </p:grpSpPr>
          <p:sp>
            <p:nvSpPr>
              <p:cNvPr id="18472" name="Line 8">
                <a:extLst>
                  <a:ext uri="{FF2B5EF4-FFF2-40B4-BE49-F238E27FC236}">
                    <a16:creationId xmlns:a16="http://schemas.microsoft.com/office/drawing/2014/main" id="{F9089C17-0646-436E-878D-2E15E2EDB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112"/>
                <a:ext cx="0" cy="16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473" name="Group 9">
                <a:extLst>
                  <a:ext uri="{FF2B5EF4-FFF2-40B4-BE49-F238E27FC236}">
                    <a16:creationId xmlns:a16="http://schemas.microsoft.com/office/drawing/2014/main" id="{435E7BC5-3F96-4C95-90EE-0DFE12BA8A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824"/>
                <a:ext cx="2631" cy="2311"/>
                <a:chOff x="825" y="1913"/>
                <a:chExt cx="2631" cy="2311"/>
              </a:xfrm>
            </p:grpSpPr>
            <p:sp>
              <p:nvSpPr>
                <p:cNvPr id="18474" name="Rectangle 10">
                  <a:extLst>
                    <a:ext uri="{FF2B5EF4-FFF2-40B4-BE49-F238E27FC236}">
                      <a16:creationId xmlns:a16="http://schemas.microsoft.com/office/drawing/2014/main" id="{FACF2E48-18BF-46D6-B1A0-1CD8211A8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913"/>
                  <a:ext cx="480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expr</a:t>
                  </a:r>
                </a:p>
              </p:txBody>
            </p:sp>
            <p:sp>
              <p:nvSpPr>
                <p:cNvPr id="18475" name="Line 11">
                  <a:extLst>
                    <a:ext uri="{FF2B5EF4-FFF2-40B4-BE49-F238E27FC236}">
                      <a16:creationId xmlns:a16="http://schemas.microsoft.com/office/drawing/2014/main" id="{DFA82CF6-90D1-4B22-B8D9-106A47B71D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70" y="2559"/>
                  <a:ext cx="348" cy="1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76" name="Line 12">
                  <a:extLst>
                    <a:ext uri="{FF2B5EF4-FFF2-40B4-BE49-F238E27FC236}">
                      <a16:creationId xmlns:a16="http://schemas.microsoft.com/office/drawing/2014/main" id="{A232EA39-8247-4A5E-A7B1-CE846748C7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1" y="2557"/>
                  <a:ext cx="348" cy="19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77" name="Rectangle 13">
                  <a:extLst>
                    <a:ext uri="{FF2B5EF4-FFF2-40B4-BE49-F238E27FC236}">
                      <a16:creationId xmlns:a16="http://schemas.microsoft.com/office/drawing/2014/main" id="{85658454-5457-4002-A9AA-6AEABD4763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8" y="2300"/>
                  <a:ext cx="483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  <p:grpSp>
              <p:nvGrpSpPr>
                <p:cNvPr id="18478" name="Group 14">
                  <a:extLst>
                    <a:ext uri="{FF2B5EF4-FFF2-40B4-BE49-F238E27FC236}">
                      <a16:creationId xmlns:a16="http://schemas.microsoft.com/office/drawing/2014/main" id="{F7B4763A-A720-4A90-9200-9FA919C784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5" y="2656"/>
                  <a:ext cx="615" cy="755"/>
                  <a:chOff x="2217" y="2656"/>
                  <a:chExt cx="615" cy="755"/>
                </a:xfrm>
              </p:grpSpPr>
              <p:sp>
                <p:nvSpPr>
                  <p:cNvPr id="18497" name="Rectangle 15">
                    <a:extLst>
                      <a:ext uri="{FF2B5EF4-FFF2-40B4-BE49-F238E27FC236}">
                        <a16:creationId xmlns:a16="http://schemas.microsoft.com/office/drawing/2014/main" id="{42EA5E19-A0C9-4AC3-8438-346FD2309F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31" y="3123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id</a:t>
                    </a:r>
                  </a:p>
                </p:txBody>
              </p:sp>
              <p:sp>
                <p:nvSpPr>
                  <p:cNvPr id="18498" name="Line 16">
                    <a:extLst>
                      <a:ext uri="{FF2B5EF4-FFF2-40B4-BE49-F238E27FC236}">
                        <a16:creationId xmlns:a16="http://schemas.microsoft.com/office/drawing/2014/main" id="{A94D799F-DF37-4D41-8085-C8736DC303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09" y="3002"/>
                    <a:ext cx="0" cy="165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99" name="Rectangle 17">
                    <a:extLst>
                      <a:ext uri="{FF2B5EF4-FFF2-40B4-BE49-F238E27FC236}">
                        <a16:creationId xmlns:a16="http://schemas.microsoft.com/office/drawing/2014/main" id="{69D8ED8C-B366-4C37-8F09-8BCCA9A714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17" y="2656"/>
                    <a:ext cx="615" cy="31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factor</a:t>
                    </a:r>
                  </a:p>
                </p:txBody>
              </p:sp>
            </p:grpSp>
            <p:sp>
              <p:nvSpPr>
                <p:cNvPr id="18479" name="Line 18">
                  <a:extLst>
                    <a:ext uri="{FF2B5EF4-FFF2-40B4-BE49-F238E27FC236}">
                      <a16:creationId xmlns:a16="http://schemas.microsoft.com/office/drawing/2014/main" id="{A457AA1C-5C33-42E0-9C73-0B2357D317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645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80" name="Rectangle 19">
                  <a:extLst>
                    <a:ext uri="{FF2B5EF4-FFF2-40B4-BE49-F238E27FC236}">
                      <a16:creationId xmlns:a16="http://schemas.microsoft.com/office/drawing/2014/main" id="{1078C754-6DF6-46C9-B438-F7B5BBEFF4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0" y="2770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*</a:t>
                  </a:r>
                </a:p>
              </p:txBody>
            </p:sp>
            <p:grpSp>
              <p:nvGrpSpPr>
                <p:cNvPr id="18481" name="Group 20">
                  <a:extLst>
                    <a:ext uri="{FF2B5EF4-FFF2-40B4-BE49-F238E27FC236}">
                      <a16:creationId xmlns:a16="http://schemas.microsoft.com/office/drawing/2014/main" id="{E9856DA1-53E2-4265-9FD1-F71016437C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92" y="2645"/>
                  <a:ext cx="2064" cy="1579"/>
                  <a:chOff x="144" y="2645"/>
                  <a:chExt cx="2064" cy="1579"/>
                </a:xfrm>
              </p:grpSpPr>
              <p:sp>
                <p:nvSpPr>
                  <p:cNvPr id="18482" name="Line 21">
                    <a:extLst>
                      <a:ext uri="{FF2B5EF4-FFF2-40B4-BE49-F238E27FC236}">
                        <a16:creationId xmlns:a16="http://schemas.microsoft.com/office/drawing/2014/main" id="{25AE116F-F482-464F-8717-E294E85DF5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38" y="2934"/>
                    <a:ext cx="348" cy="19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3" name="Line 22">
                    <a:extLst>
                      <a:ext uri="{FF2B5EF4-FFF2-40B4-BE49-F238E27FC236}">
                        <a16:creationId xmlns:a16="http://schemas.microsoft.com/office/drawing/2014/main" id="{C9FD1805-1FB5-4A0F-9F5A-2BF97DEE19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64" y="2934"/>
                    <a:ext cx="348" cy="19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4" name="Line 23">
                    <a:extLst>
                      <a:ext uri="{FF2B5EF4-FFF2-40B4-BE49-F238E27FC236}">
                        <a16:creationId xmlns:a16="http://schemas.microsoft.com/office/drawing/2014/main" id="{EAE0A26F-503A-467A-A9B1-3F5432B325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6" y="3018"/>
                    <a:ext cx="0" cy="165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5" name="Rectangle 24">
                    <a:extLst>
                      <a:ext uri="{FF2B5EF4-FFF2-40B4-BE49-F238E27FC236}">
                        <a16:creationId xmlns:a16="http://schemas.microsoft.com/office/drawing/2014/main" id="{6F6B8651-1A26-4C00-83BF-EBE0D1F8D8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2" y="2645"/>
                    <a:ext cx="452" cy="31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term</a:t>
                    </a:r>
                  </a:p>
                </p:txBody>
              </p:sp>
              <p:sp>
                <p:nvSpPr>
                  <p:cNvPr id="18486" name="Rectangle 25">
                    <a:extLst>
                      <a:ext uri="{FF2B5EF4-FFF2-40B4-BE49-F238E27FC236}">
                        <a16:creationId xmlns:a16="http://schemas.microsoft.com/office/drawing/2014/main" id="{97A4EEC1-45F0-4E64-9765-C1787D6ACB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2" y="3141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*</a:t>
                    </a:r>
                  </a:p>
                </p:txBody>
              </p:sp>
              <p:grpSp>
                <p:nvGrpSpPr>
                  <p:cNvPr id="18487" name="Group 26">
                    <a:extLst>
                      <a:ext uri="{FF2B5EF4-FFF2-40B4-BE49-F238E27FC236}">
                        <a16:creationId xmlns:a16="http://schemas.microsoft.com/office/drawing/2014/main" id="{449A6E47-D42E-4D3B-9C47-4FA165BE9B2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4" y="3024"/>
                    <a:ext cx="639" cy="798"/>
                    <a:chOff x="1521" y="3055"/>
                    <a:chExt cx="639" cy="798"/>
                  </a:xfrm>
                </p:grpSpPr>
                <p:sp>
                  <p:nvSpPr>
                    <p:cNvPr id="18494" name="Rectangle 27">
                      <a:extLst>
                        <a:ext uri="{FF2B5EF4-FFF2-40B4-BE49-F238E27FC236}">
                          <a16:creationId xmlns:a16="http://schemas.microsoft.com/office/drawing/2014/main" id="{511A7A71-5305-4DA8-AB7B-FEA87AC719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08" y="3565"/>
                      <a:ext cx="237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18000" tIns="10800" rIns="18000" bIns="10800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</a:p>
                  </p:txBody>
                </p:sp>
                <p:sp>
                  <p:nvSpPr>
                    <p:cNvPr id="18495" name="Rectangle 28">
                      <a:extLst>
                        <a:ext uri="{FF2B5EF4-FFF2-40B4-BE49-F238E27FC236}">
                          <a16:creationId xmlns:a16="http://schemas.microsoft.com/office/drawing/2014/main" id="{2A4E4BEC-241C-445A-A7D5-FD64E17D92F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1" y="3055"/>
                      <a:ext cx="639" cy="31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18000" tIns="10800" rIns="18000" bIns="10800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800" i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factor</a:t>
                      </a:r>
                    </a:p>
                  </p:txBody>
                </p:sp>
                <p:sp>
                  <p:nvSpPr>
                    <p:cNvPr id="18496" name="Line 29">
                      <a:extLst>
                        <a:ext uri="{FF2B5EF4-FFF2-40B4-BE49-F238E27FC236}">
                          <a16:creationId xmlns:a16="http://schemas.microsoft.com/office/drawing/2014/main" id="{D1869960-678E-4A8D-BBB1-BAE40DEE7AC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01" y="3431"/>
                      <a:ext cx="0" cy="165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18488" name="Group 30">
                    <a:extLst>
                      <a:ext uri="{FF2B5EF4-FFF2-40B4-BE49-F238E27FC236}">
                        <a16:creationId xmlns:a16="http://schemas.microsoft.com/office/drawing/2014/main" id="{018C7514-60EF-4DD3-A53E-1D079927CA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36" y="3044"/>
                    <a:ext cx="672" cy="1180"/>
                    <a:chOff x="336" y="3044"/>
                    <a:chExt cx="672" cy="1180"/>
                  </a:xfrm>
                </p:grpSpPr>
                <p:sp>
                  <p:nvSpPr>
                    <p:cNvPr id="18489" name="Rectangle 31">
                      <a:extLst>
                        <a:ext uri="{FF2B5EF4-FFF2-40B4-BE49-F238E27FC236}">
                          <a16:creationId xmlns:a16="http://schemas.microsoft.com/office/drawing/2014/main" id="{B0A4A2B5-A251-4DD7-8237-58EF3D2176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0" y="3936"/>
                      <a:ext cx="237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18000" tIns="10800" rIns="18000" bIns="10800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</a:p>
                  </p:txBody>
                </p:sp>
                <p:sp>
                  <p:nvSpPr>
                    <p:cNvPr id="18490" name="Rectangle 32">
                      <a:extLst>
                        <a:ext uri="{FF2B5EF4-FFF2-40B4-BE49-F238E27FC236}">
                          <a16:creationId xmlns:a16="http://schemas.microsoft.com/office/drawing/2014/main" id="{E4627454-0D70-4094-BE52-F2C6234B44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" y="3044"/>
                      <a:ext cx="455" cy="31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18000" tIns="10800" rIns="18000" bIns="10800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800" i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term</a:t>
                      </a:r>
                    </a:p>
                  </p:txBody>
                </p:sp>
                <p:sp>
                  <p:nvSpPr>
                    <p:cNvPr id="18491" name="Rectangle 33">
                      <a:extLst>
                        <a:ext uri="{FF2B5EF4-FFF2-40B4-BE49-F238E27FC236}">
                          <a16:creationId xmlns:a16="http://schemas.microsoft.com/office/drawing/2014/main" id="{1BD32E74-3846-4478-AD42-A11FF662EC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" y="3484"/>
                      <a:ext cx="672" cy="31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18000" tIns="10800" rIns="18000" bIns="10800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just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800" i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factor</a:t>
                      </a:r>
                    </a:p>
                  </p:txBody>
                </p:sp>
                <p:sp>
                  <p:nvSpPr>
                    <p:cNvPr id="18492" name="Line 34">
                      <a:extLst>
                        <a:ext uri="{FF2B5EF4-FFF2-40B4-BE49-F238E27FC236}">
                          <a16:creationId xmlns:a16="http://schemas.microsoft.com/office/drawing/2014/main" id="{51EDD911-35F8-4110-BBD7-8D702F3A424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42" y="3416"/>
                      <a:ext cx="0" cy="16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93" name="Line 35">
                      <a:extLst>
                        <a:ext uri="{FF2B5EF4-FFF2-40B4-BE49-F238E27FC236}">
                          <a16:creationId xmlns:a16="http://schemas.microsoft.com/office/drawing/2014/main" id="{E92994D3-8E96-49A8-A9A8-66ECBEF73F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8" y="3792"/>
                      <a:ext cx="0" cy="16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  <p:grpSp>
          <p:nvGrpSpPr>
            <p:cNvPr id="18441" name="Group 36">
              <a:extLst>
                <a:ext uri="{FF2B5EF4-FFF2-40B4-BE49-F238E27FC236}">
                  <a16:creationId xmlns:a16="http://schemas.microsoft.com/office/drawing/2014/main" id="{1B07D1BD-2A71-49B0-B594-6DAD1FA28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776"/>
              <a:ext cx="2400" cy="2448"/>
              <a:chOff x="3216" y="1872"/>
              <a:chExt cx="2400" cy="2448"/>
            </a:xfrm>
          </p:grpSpPr>
          <p:sp>
            <p:nvSpPr>
              <p:cNvPr id="18443" name="Rectangle 37">
                <a:extLst>
                  <a:ext uri="{FF2B5EF4-FFF2-40B4-BE49-F238E27FC236}">
                    <a16:creationId xmlns:a16="http://schemas.microsoft.com/office/drawing/2014/main" id="{14EED01B-F419-4428-B4C8-E0BDBA720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9" y="1872"/>
                <a:ext cx="459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10800" rIns="18000" bIns="10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expr</a:t>
                </a:r>
              </a:p>
            </p:txBody>
          </p:sp>
          <p:sp>
            <p:nvSpPr>
              <p:cNvPr id="18444" name="Line 38">
                <a:extLst>
                  <a:ext uri="{FF2B5EF4-FFF2-40B4-BE49-F238E27FC236}">
                    <a16:creationId xmlns:a16="http://schemas.microsoft.com/office/drawing/2014/main" id="{A7B973E0-7247-4128-9279-6D5DBED9A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" y="2158"/>
                <a:ext cx="348" cy="1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45" name="Line 39">
                <a:extLst>
                  <a:ext uri="{FF2B5EF4-FFF2-40B4-BE49-F238E27FC236}">
                    <a16:creationId xmlns:a16="http://schemas.microsoft.com/office/drawing/2014/main" id="{4C917008-ACD5-404A-93AE-B2CE20642E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34" y="2173"/>
                <a:ext cx="348" cy="1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46" name="Line 40">
                <a:extLst>
                  <a:ext uri="{FF2B5EF4-FFF2-40B4-BE49-F238E27FC236}">
                    <a16:creationId xmlns:a16="http://schemas.microsoft.com/office/drawing/2014/main" id="{3F6DC38A-2A6E-4DC5-B35A-D1A861E2DE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6" y="2219"/>
                <a:ext cx="0" cy="16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47" name="Rectangle 41">
                <a:extLst>
                  <a:ext uri="{FF2B5EF4-FFF2-40B4-BE49-F238E27FC236}">
                    <a16:creationId xmlns:a16="http://schemas.microsoft.com/office/drawing/2014/main" id="{14ED9ACB-81E5-4C38-A675-44A7E00E4E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5" y="2314"/>
                <a:ext cx="23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10800" rIns="18000" bIns="10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18448" name="Rectangle 42">
                <a:extLst>
                  <a:ext uri="{FF2B5EF4-FFF2-40B4-BE49-F238E27FC236}">
                    <a16:creationId xmlns:a16="http://schemas.microsoft.com/office/drawing/2014/main" id="{BA24EA6B-1D19-419C-89D7-990A62567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257"/>
                <a:ext cx="459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10800" rIns="18000" bIns="10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expr</a:t>
                </a:r>
              </a:p>
            </p:txBody>
          </p:sp>
          <p:sp>
            <p:nvSpPr>
              <p:cNvPr id="18449" name="Line 43">
                <a:extLst>
                  <a:ext uri="{FF2B5EF4-FFF2-40B4-BE49-F238E27FC236}">
                    <a16:creationId xmlns:a16="http://schemas.microsoft.com/office/drawing/2014/main" id="{24902546-D869-45A3-89C8-2E2762468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3" y="2617"/>
                <a:ext cx="0" cy="16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450" name="Group 44">
                <a:extLst>
                  <a:ext uri="{FF2B5EF4-FFF2-40B4-BE49-F238E27FC236}">
                    <a16:creationId xmlns:a16="http://schemas.microsoft.com/office/drawing/2014/main" id="{97789BE4-BBEB-4A53-A5A8-BF53BC4739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2256"/>
                <a:ext cx="624" cy="1303"/>
                <a:chOff x="4368" y="2685"/>
                <a:chExt cx="624" cy="1303"/>
              </a:xfrm>
            </p:grpSpPr>
            <p:sp>
              <p:nvSpPr>
                <p:cNvPr id="18467" name="Line 45">
                  <a:extLst>
                    <a:ext uri="{FF2B5EF4-FFF2-40B4-BE49-F238E27FC236}">
                      <a16:creationId xmlns:a16="http://schemas.microsoft.com/office/drawing/2014/main" id="{77E16DB3-84F0-4987-A84A-024213D554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3072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68" name="Line 46">
                  <a:extLst>
                    <a:ext uri="{FF2B5EF4-FFF2-40B4-BE49-F238E27FC236}">
                      <a16:creationId xmlns:a16="http://schemas.microsoft.com/office/drawing/2014/main" id="{1848F381-6847-4005-A3CC-605FF783AE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3" y="3566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69" name="Rectangle 47">
                  <a:extLst>
                    <a:ext uri="{FF2B5EF4-FFF2-40B4-BE49-F238E27FC236}">
                      <a16:creationId xmlns:a16="http://schemas.microsoft.com/office/drawing/2014/main" id="{74C60A85-7D69-4F76-90EA-6AB3DBE0C1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3" y="3700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id</a:t>
                  </a:r>
                </a:p>
              </p:txBody>
            </p:sp>
            <p:sp>
              <p:nvSpPr>
                <p:cNvPr id="18470" name="Rectangle 48">
                  <a:extLst>
                    <a:ext uri="{FF2B5EF4-FFF2-40B4-BE49-F238E27FC236}">
                      <a16:creationId xmlns:a16="http://schemas.microsoft.com/office/drawing/2014/main" id="{3C889DC5-023A-48C0-9AE0-C32406B9BE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3216"/>
                  <a:ext cx="624" cy="3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factor</a:t>
                  </a:r>
                </a:p>
              </p:txBody>
            </p:sp>
            <p:sp>
              <p:nvSpPr>
                <p:cNvPr id="18471" name="Rectangle 49">
                  <a:extLst>
                    <a:ext uri="{FF2B5EF4-FFF2-40B4-BE49-F238E27FC236}">
                      <a16:creationId xmlns:a16="http://schemas.microsoft.com/office/drawing/2014/main" id="{BD5D0BBE-E676-4F2F-8A1D-EE4F35DC38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6" y="2685"/>
                  <a:ext cx="495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</p:grpSp>
          <p:grpSp>
            <p:nvGrpSpPr>
              <p:cNvPr id="18451" name="Group 50">
                <a:extLst>
                  <a:ext uri="{FF2B5EF4-FFF2-40B4-BE49-F238E27FC236}">
                    <a16:creationId xmlns:a16="http://schemas.microsoft.com/office/drawing/2014/main" id="{7263126A-4995-4650-8DC5-99AFF36740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2741"/>
                <a:ext cx="1728" cy="1579"/>
                <a:chOff x="3888" y="2257"/>
                <a:chExt cx="1728" cy="1579"/>
              </a:xfrm>
            </p:grpSpPr>
            <p:sp>
              <p:nvSpPr>
                <p:cNvPr id="18452" name="Line 51">
                  <a:extLst>
                    <a:ext uri="{FF2B5EF4-FFF2-40B4-BE49-F238E27FC236}">
                      <a16:creationId xmlns:a16="http://schemas.microsoft.com/office/drawing/2014/main" id="{76F51842-ED6B-45A2-8D88-5FB13C82F8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86" y="2546"/>
                  <a:ext cx="348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53" name="Line 52">
                  <a:extLst>
                    <a:ext uri="{FF2B5EF4-FFF2-40B4-BE49-F238E27FC236}">
                      <a16:creationId xmlns:a16="http://schemas.microsoft.com/office/drawing/2014/main" id="{BF9FC7C1-B01E-40E3-B33E-3B2C9575D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112" y="2546"/>
                  <a:ext cx="348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54" name="Line 53">
                  <a:extLst>
                    <a:ext uri="{FF2B5EF4-FFF2-40B4-BE49-F238E27FC236}">
                      <a16:creationId xmlns:a16="http://schemas.microsoft.com/office/drawing/2014/main" id="{58513313-503E-43A0-9515-9C2C61999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3" y="2630"/>
                  <a:ext cx="0" cy="16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55" name="Rectangle 54">
                  <a:extLst>
                    <a:ext uri="{FF2B5EF4-FFF2-40B4-BE49-F238E27FC236}">
                      <a16:creationId xmlns:a16="http://schemas.microsoft.com/office/drawing/2014/main" id="{DD21D232-468E-4C2A-A994-B1F2F0B3BC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27" y="2257"/>
                  <a:ext cx="465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term</a:t>
                  </a:r>
                </a:p>
              </p:txBody>
            </p:sp>
            <p:sp>
              <p:nvSpPr>
                <p:cNvPr id="18456" name="Rectangle 55">
                  <a:extLst>
                    <a:ext uri="{FF2B5EF4-FFF2-40B4-BE49-F238E27FC236}">
                      <a16:creationId xmlns:a16="http://schemas.microsoft.com/office/drawing/2014/main" id="{8A16A238-32CF-48AA-A126-E4C269C7A0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0" y="2753"/>
                  <a:ext cx="23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8000" tIns="10800" rIns="18000" bIns="10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*</a:t>
                  </a:r>
                </a:p>
              </p:txBody>
            </p:sp>
            <p:grpSp>
              <p:nvGrpSpPr>
                <p:cNvPr id="18457" name="Group 56">
                  <a:extLst>
                    <a:ext uri="{FF2B5EF4-FFF2-40B4-BE49-F238E27FC236}">
                      <a16:creationId xmlns:a16="http://schemas.microsoft.com/office/drawing/2014/main" id="{1C77074D-3DF1-4A3D-82A8-6FC62EEFCD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8" y="2667"/>
                  <a:ext cx="624" cy="798"/>
                  <a:chOff x="4896" y="2667"/>
                  <a:chExt cx="624" cy="798"/>
                </a:xfrm>
              </p:grpSpPr>
              <p:sp>
                <p:nvSpPr>
                  <p:cNvPr id="18464" name="Rectangle 57">
                    <a:extLst>
                      <a:ext uri="{FF2B5EF4-FFF2-40B4-BE49-F238E27FC236}">
                        <a16:creationId xmlns:a16="http://schemas.microsoft.com/office/drawing/2014/main" id="{72D7BCB2-FBCD-4624-822D-DA2CE0DCF9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56" y="3177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id</a:t>
                    </a:r>
                  </a:p>
                </p:txBody>
              </p:sp>
              <p:sp>
                <p:nvSpPr>
                  <p:cNvPr id="18465" name="Rectangle 58">
                    <a:extLst>
                      <a:ext uri="{FF2B5EF4-FFF2-40B4-BE49-F238E27FC236}">
                        <a16:creationId xmlns:a16="http://schemas.microsoft.com/office/drawing/2014/main" id="{71D25111-B246-4303-8B51-D6C9F220AF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96" y="2667"/>
                    <a:ext cx="624" cy="31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factor</a:t>
                    </a:r>
                  </a:p>
                </p:txBody>
              </p:sp>
              <p:sp>
                <p:nvSpPr>
                  <p:cNvPr id="18466" name="Line 59">
                    <a:extLst>
                      <a:ext uri="{FF2B5EF4-FFF2-40B4-BE49-F238E27FC236}">
                        <a16:creationId xmlns:a16="http://schemas.microsoft.com/office/drawing/2014/main" id="{F9DE6785-5167-40A9-B14A-0CD9D33223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49" y="3043"/>
                    <a:ext cx="0" cy="165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458" name="Group 60">
                  <a:extLst>
                    <a:ext uri="{FF2B5EF4-FFF2-40B4-BE49-F238E27FC236}">
                      <a16:creationId xmlns:a16="http://schemas.microsoft.com/office/drawing/2014/main" id="{0B76898A-1EDC-4192-B816-32C81613E7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88" y="2656"/>
                  <a:ext cx="628" cy="1180"/>
                  <a:chOff x="3884" y="2656"/>
                  <a:chExt cx="628" cy="1180"/>
                </a:xfrm>
              </p:grpSpPr>
              <p:sp>
                <p:nvSpPr>
                  <p:cNvPr id="18459" name="Rectangle 61">
                    <a:extLst>
                      <a:ext uri="{FF2B5EF4-FFF2-40B4-BE49-F238E27FC236}">
                        <a16:creationId xmlns:a16="http://schemas.microsoft.com/office/drawing/2014/main" id="{7DBB82A2-79F1-4136-853F-B1AE24DCD1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8" y="3548"/>
                    <a:ext cx="23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id</a:t>
                    </a:r>
                  </a:p>
                </p:txBody>
              </p:sp>
              <p:sp>
                <p:nvSpPr>
                  <p:cNvPr id="18460" name="Rectangle 62">
                    <a:extLst>
                      <a:ext uri="{FF2B5EF4-FFF2-40B4-BE49-F238E27FC236}">
                        <a16:creationId xmlns:a16="http://schemas.microsoft.com/office/drawing/2014/main" id="{65EF41E6-4DCD-4C54-A77F-D25C9D8D05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8" y="2656"/>
                    <a:ext cx="450" cy="31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term</a:t>
                    </a:r>
                  </a:p>
                </p:txBody>
              </p:sp>
              <p:sp>
                <p:nvSpPr>
                  <p:cNvPr id="18461" name="Rectangle 63">
                    <a:extLst>
                      <a:ext uri="{FF2B5EF4-FFF2-40B4-BE49-F238E27FC236}">
                        <a16:creationId xmlns:a16="http://schemas.microsoft.com/office/drawing/2014/main" id="{50019238-3E8B-4795-B5B1-9A7C9B64F3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4" y="3096"/>
                    <a:ext cx="628" cy="31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18000" tIns="10800" rIns="18000" bIns="10800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800" i="1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factor</a:t>
                    </a:r>
                  </a:p>
                </p:txBody>
              </p:sp>
              <p:sp>
                <p:nvSpPr>
                  <p:cNvPr id="18462" name="Line 64">
                    <a:extLst>
                      <a:ext uri="{FF2B5EF4-FFF2-40B4-BE49-F238E27FC236}">
                        <a16:creationId xmlns:a16="http://schemas.microsoft.com/office/drawing/2014/main" id="{E12A954B-8862-4AEC-B605-9C3257C529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89" y="3028"/>
                    <a:ext cx="0" cy="165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63" name="Line 65">
                    <a:extLst>
                      <a:ext uri="{FF2B5EF4-FFF2-40B4-BE49-F238E27FC236}">
                        <a16:creationId xmlns:a16="http://schemas.microsoft.com/office/drawing/2014/main" id="{FD8D5FB3-43ED-4867-9D2B-2F818BDAB3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80" y="3360"/>
                    <a:ext cx="0" cy="165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18442" name="Rectangle 66" descr="Green marble">
              <a:extLst>
                <a:ext uri="{FF2B5EF4-FFF2-40B4-BE49-F238E27FC236}">
                  <a16:creationId xmlns:a16="http://schemas.microsoft.com/office/drawing/2014/main" id="{998C1F33-F373-4268-B936-BE23BC3C4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4032"/>
              <a:ext cx="384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id </a:t>
              </a:r>
              <a:r>
                <a:rPr lang="en-US" altLang="zh-CN" sz="2800"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id </a:t>
              </a:r>
              <a:r>
                <a:rPr lang="en-US" altLang="zh-CN" sz="2800"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id </a:t>
              </a:r>
              <a:r>
                <a:rPr lang="zh-CN" altLang="en-US" sz="2800" b="0">
                  <a:latin typeface="黑体" panose="02010609060101010101" pitchFamily="49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zh-CN" altLang="en-US" sz="28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id + id </a:t>
              </a:r>
              <a:r>
                <a:rPr lang="en-US" altLang="zh-CN" sz="2800"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id </a:t>
              </a:r>
              <a:r>
                <a:rPr lang="zh-CN" altLang="en-US" sz="2800" b="0">
                  <a:latin typeface="黑体" panose="02010609060101010101" pitchFamily="49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的分析树</a:t>
              </a:r>
              <a:r>
                <a:rPr lang="zh-CN" altLang="en-US" sz="2400" b="0" i="1">
                  <a:latin typeface="Courier New" panose="020703090202050204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8439" name="Rectangle 67">
            <a:extLst>
              <a:ext uri="{FF2B5EF4-FFF2-40B4-BE49-F238E27FC236}">
                <a16:creationId xmlns:a16="http://schemas.microsoft.com/office/drawing/2014/main" id="{755930BB-9EB6-4680-86DC-95F8E7AC7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25" y="1278288"/>
            <a:ext cx="2314575" cy="1154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dirty="0">
                <a:latin typeface="黑体" panose="02010609060101010101" pitchFamily="49" charset="-122"/>
              </a:rPr>
              <a:t>若</a:t>
            </a:r>
            <a:r>
              <a:rPr lang="en-US" altLang="zh-CN" sz="2800" b="1" dirty="0">
                <a:latin typeface="黑体" panose="02010609060101010101" pitchFamily="49" charset="-122"/>
              </a:rPr>
              <a:t>[+]</a:t>
            </a:r>
            <a:r>
              <a:rPr lang="zh-CN" altLang="en-US" sz="2800" dirty="0">
                <a:latin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黑体" panose="02010609060101010101" pitchFamily="49" charset="-122"/>
              </a:rPr>
              <a:t>[</a:t>
            </a:r>
            <a:r>
              <a:rPr lang="zh-CN" altLang="en-US" sz="2800" b="1" dirty="0">
                <a:latin typeface="黑体" panose="02010609060101010101" pitchFamily="49" charset="-122"/>
              </a:rPr>
              <a:t>*</a:t>
            </a:r>
            <a:r>
              <a:rPr lang="en-US" altLang="zh-CN" sz="2800" b="1" dirty="0">
                <a:latin typeface="黑体" panose="02010609060101010101" pitchFamily="49" charset="-122"/>
              </a:rPr>
              <a:t>]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dirty="0">
                <a:latin typeface="黑体" panose="02010609060101010101" pitchFamily="49" charset="-122"/>
              </a:rPr>
              <a:t>为右结合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2B81A2-9199-1E68-9A75-831E9991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C9D8A-22B8-45EA-8B80-88976ED9A7A8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A96C1A-AE73-123C-1388-BE3303A9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3A9C2D-7D9C-B296-D7D0-B73E701F6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A012B60-102C-4578-A07F-319C02113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en-US" altLang="zh-CN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A29B052-B00D-4F4F-ABAD-E572FDFD6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例题：下面的二义文法描述命题演算公式的语法，为它写一个等价的非二义文法</a:t>
            </a:r>
            <a:r>
              <a:rPr lang="en-US" altLang="zh-CN" sz="3200" b="1" dirty="0">
                <a:latin typeface="Times New Roman" panose="02020603050405020304" pitchFamily="18" charset="0"/>
              </a:rPr>
              <a:t>(</a:t>
            </a:r>
            <a:r>
              <a:rPr lang="zh-CN" altLang="en-US" sz="3200" dirty="0">
                <a:latin typeface="Times New Roman" panose="02020603050405020304" pitchFamily="18" charset="0"/>
              </a:rPr>
              <a:t>第三版</a:t>
            </a:r>
            <a:r>
              <a:rPr lang="en-US" altLang="zh-CN" sz="3200" b="1" dirty="0">
                <a:latin typeface="Times New Roman" panose="02020603050405020304" pitchFamily="18" charset="0"/>
              </a:rPr>
              <a:t>P103/3.3)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	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and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or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| not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| true | false | (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	</a:t>
            </a:r>
            <a:r>
              <a:rPr lang="zh-CN" altLang="en-US" sz="3200" dirty="0">
                <a:latin typeface="Times New Roman" panose="02020603050405020304" pitchFamily="18" charset="0"/>
              </a:rPr>
              <a:t>非二义文法的产生式如下：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		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dirty="0">
                <a:latin typeface="Times New Roman" panose="02020603050405020304" pitchFamily="18" charset="0"/>
              </a:rPr>
              <a:t> or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3200" b="1" dirty="0">
                <a:latin typeface="Times New Roman" panose="02020603050405020304" pitchFamily="18" charset="0"/>
              </a:rPr>
              <a:t> 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		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3200" b="1" dirty="0">
                <a:latin typeface="Times New Roman" panose="02020603050405020304" pitchFamily="18" charset="0"/>
              </a:rPr>
              <a:t> and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="1" dirty="0">
                <a:latin typeface="Times New Roman" panose="02020603050405020304" pitchFamily="18" charset="0"/>
              </a:rPr>
              <a:t> 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		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not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="1" dirty="0">
                <a:latin typeface="Times New Roman" panose="02020603050405020304" pitchFamily="18" charset="0"/>
              </a:rPr>
              <a:t> | (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dirty="0">
                <a:latin typeface="Times New Roman" panose="02020603050405020304" pitchFamily="18" charset="0"/>
              </a:rPr>
              <a:t>) | true | false </a:t>
            </a:r>
            <a:endParaRPr lang="en-US" altLang="zh-CN" sz="3200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7D9B5-D5EB-C4C4-29B7-72DB30D5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0539F-376A-4B4E-BDF0-ACAECD02CDEF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F17AD9-7247-F32B-A531-DA613B1E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E4771C-2502-4932-35EA-91190E3D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  <p:pic>
        <p:nvPicPr>
          <p:cNvPr id="5" name="图片 4" descr="图标&#10;&#10;描述已自动生成">
            <a:extLst>
              <a:ext uri="{FF2B5EF4-FFF2-40B4-BE49-F238E27FC236}">
                <a16:creationId xmlns:a16="http://schemas.microsoft.com/office/drawing/2014/main" id="{CE659F38-664D-DAB5-716E-79A64C3A9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6733" y="321851"/>
            <a:ext cx="804397" cy="804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B170B9C-4A07-4D85-BA70-146569E3C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en-US" altLang="zh-CN" dirty="0">
              <a:latin typeface="黑体" panose="02010609060101010101" pitchFamily="49" charset="-122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C349962-8474-4E57-8498-5320E9E965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例题：考虑运算符有同样优先级的情况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+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-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 </a:t>
            </a:r>
            <a:r>
              <a:rPr lang="zh-CN" altLang="en-US" sz="3200" b="1" dirty="0">
                <a:latin typeface="Times New Roman" panose="02020603050405020304" pitchFamily="18" charset="0"/>
              </a:rPr>
              <a:t>*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i="1" dirty="0">
                <a:latin typeface="Times New Roman" panose="02020603050405020304" pitchFamily="18" charset="0"/>
              </a:rPr>
              <a:t>/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 | (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3200" b="1" dirty="0">
                <a:latin typeface="Times New Roman" panose="02020603050405020304" pitchFamily="18" charset="0"/>
              </a:rPr>
              <a:t>) | id </a:t>
            </a:r>
          </a:p>
          <a:p>
            <a:pPr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非二义文法的产生式如下：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		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 + 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 – </a:t>
            </a:r>
            <a:r>
              <a:rPr lang="en-US" altLang="zh-CN" b="1" i="1" dirty="0">
                <a:latin typeface="Times New Roman" panose="02020603050405020304" pitchFamily="18" charset="0"/>
              </a:rPr>
              <a:t>T |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</a:p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	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 /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</a:p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	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id </a:t>
            </a:r>
            <a:r>
              <a:rPr lang="en-US" altLang="zh-CN" b="1">
                <a:latin typeface="Times New Roman" panose="02020603050405020304" pitchFamily="18" charset="0"/>
              </a:rPr>
              <a:t>| (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endParaRPr lang="en-US" altLang="zh-CN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1138B3-23F4-676D-82F3-03869D15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7C494-737F-4BFD-80B1-284085CD2460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FF01C4-D917-6FBA-929D-03E15CAF4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C2C203-CF69-48EA-B32B-AD8D3029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60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6093C-B264-4844-8283-4222BF4E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练习：消除二义性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52A0E3-A944-40F3-B0F1-F3DF62669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3200" b="1" dirty="0">
                <a:latin typeface="Times New Roman" panose="02020603050405020304" pitchFamily="18" charset="0"/>
              </a:rPr>
              <a:t>+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E </a:t>
            </a:r>
            <a:r>
              <a:rPr lang="en-US" altLang="zh-CN" sz="3200" b="1" dirty="0">
                <a:latin typeface="Times New Roman" panose="02020603050405020304" pitchFamily="18" charset="0"/>
              </a:rPr>
              <a:t>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dirty="0">
                <a:latin typeface="Times New Roman" panose="02020603050405020304" pitchFamily="18" charset="0"/>
              </a:rPr>
              <a:t> | (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3200" b="1" dirty="0">
                <a:latin typeface="Times New Roman" panose="02020603050405020304" pitchFamily="18" charset="0"/>
              </a:rPr>
              <a:t> ) | id</a:t>
            </a:r>
          </a:p>
          <a:p>
            <a:r>
              <a:rPr lang="zh-CN" altLang="en-US" dirty="0"/>
              <a:t>要求</a:t>
            </a:r>
            <a:r>
              <a:rPr lang="en-US" altLang="zh-CN" dirty="0"/>
              <a:t>[+]</a:t>
            </a:r>
            <a:r>
              <a:rPr lang="zh-CN" altLang="en-US" dirty="0"/>
              <a:t>优先级比</a:t>
            </a:r>
            <a:r>
              <a:rPr lang="en-US" altLang="zh-CN" dirty="0"/>
              <a:t>[*]</a:t>
            </a:r>
            <a:r>
              <a:rPr lang="zh-CN" altLang="en-US" dirty="0"/>
              <a:t>高，</a:t>
            </a:r>
            <a:r>
              <a:rPr lang="en-US" altLang="zh-CN" dirty="0"/>
              <a:t>[+]</a:t>
            </a:r>
            <a:r>
              <a:rPr lang="zh-CN" altLang="en-US" dirty="0"/>
              <a:t>右结合，</a:t>
            </a:r>
            <a:r>
              <a:rPr lang="en-US" altLang="zh-CN" dirty="0"/>
              <a:t>[</a:t>
            </a:r>
            <a:r>
              <a:rPr lang="zh-CN" altLang="en-US" dirty="0"/>
              <a:t>*</a:t>
            </a:r>
            <a:r>
              <a:rPr lang="en-US" altLang="zh-CN" dirty="0"/>
              <a:t>]</a:t>
            </a:r>
            <a:r>
              <a:rPr lang="zh-CN" altLang="en-US" dirty="0"/>
              <a:t>左结合</a:t>
            </a:r>
            <a:endParaRPr lang="en-US" altLang="zh-CN" dirty="0"/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E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 </a:t>
            </a:r>
            <a:r>
              <a:rPr lang="zh-CN" altLang="en-US" sz="3200" b="1" dirty="0">
                <a:latin typeface="Times New Roman" panose="02020603050405020304" pitchFamily="18" charset="0"/>
              </a:rPr>
              <a:t>*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T </a:t>
            </a:r>
            <a:r>
              <a:rPr lang="en-US" altLang="zh-CN" sz="3200" b="1" dirty="0">
                <a:latin typeface="Times New Roman" panose="02020603050405020304" pitchFamily="18" charset="0"/>
              </a:rPr>
              <a:t>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CN" sz="3200" b="1" i="1" dirty="0">
                <a:latin typeface="Times New Roman" panose="02020603050405020304" pitchFamily="18" charset="0"/>
              </a:rPr>
              <a:t>	T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b="1" dirty="0">
                <a:latin typeface="Times New Roman" panose="02020603050405020304" pitchFamily="18" charset="0"/>
              </a:rPr>
              <a:t>+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T </a:t>
            </a:r>
            <a:r>
              <a:rPr lang="en-US" altLang="zh-CN" sz="3200" b="1" dirty="0">
                <a:latin typeface="Times New Roman" panose="02020603050405020304" pitchFamily="18" charset="0"/>
              </a:rPr>
              <a:t>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</a:p>
          <a:p>
            <a:pPr marL="0" indent="0"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	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sz="3200" b="1" dirty="0">
                <a:latin typeface="Times New Roman" panose="02020603050405020304" pitchFamily="18" charset="0"/>
              </a:rPr>
              <a:t>| </a:t>
            </a:r>
            <a:r>
              <a:rPr lang="en-US" altLang="zh-CN" b="1" dirty="0">
                <a:latin typeface="Times New Roman" panose="02020603050405020304" pitchFamily="18" charset="0"/>
              </a:rPr>
              <a:t>id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35ED38-8FE4-E4EA-0DF0-A9C0D7B4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66DB-06F8-488C-A9DD-B7E8EE151F3C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FC3F43-B948-6C5E-9415-E755472E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53EBE-862D-E0FC-1427-D468D08F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  <p:pic>
        <p:nvPicPr>
          <p:cNvPr id="7" name="图片 6" descr="图标&#10;&#10;描述已自动生成">
            <a:extLst>
              <a:ext uri="{FF2B5EF4-FFF2-40B4-BE49-F238E27FC236}">
                <a16:creationId xmlns:a16="http://schemas.microsoft.com/office/drawing/2014/main" id="{0055BAB0-91DB-2282-46DF-7AD7378D3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317" y="265831"/>
            <a:ext cx="768469" cy="10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1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85184C9-C757-4A64-8ABD-053CEB671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B7CD0D70-16FB-45B9-A89E-1FD5B7EFD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cs typeface="Times New Roman" panose="02020603050405020304" pitchFamily="18" charset="0"/>
              </a:rPr>
              <a:t>文法（</a:t>
            </a:r>
            <a:r>
              <a:rPr lang="en-US" altLang="zh-CN" sz="2800" dirty="0">
                <a:cs typeface="Times New Roman" panose="02020603050405020304" pitchFamily="18" charset="0"/>
              </a:rPr>
              <a:t>3.5</a:t>
            </a:r>
            <a:r>
              <a:rPr lang="zh-CN" altLang="en-US" sz="2800" dirty="0">
                <a:cs typeface="Times New Roman" panose="02020603050405020304" pitchFamily="18" charset="0"/>
              </a:rPr>
              <a:t>）：“悬空</a:t>
            </a:r>
            <a:r>
              <a:rPr lang="en-US" altLang="zh-CN" sz="2800" dirty="0">
                <a:cs typeface="Times New Roman" panose="02020603050405020304" pitchFamily="18" charset="0"/>
              </a:rPr>
              <a:t>else</a:t>
            </a:r>
            <a:r>
              <a:rPr lang="zh-CN" altLang="en-US" sz="2800" dirty="0">
                <a:cs typeface="Times New Roman" panose="02020603050405020304" pitchFamily="18" charset="0"/>
              </a:rPr>
              <a:t>”文法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 |  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 |   other 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/>
              <a:t>句型：</a:t>
            </a:r>
            <a:r>
              <a:rPr lang="en-US" altLang="zh-CN" sz="2800" b="1" dirty="0">
                <a:latin typeface="Times New Roman" panose="02020603050405020304" pitchFamily="18" charset="0"/>
              </a:rPr>
              <a:t>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baseline="-30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两个最左推导：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/>
              <a:t>	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stmt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		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else 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stmt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		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2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12C0E8-7C7A-D151-A676-5BD1EAB27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0C3F3-7EC9-416E-AD98-8E43565A9663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FB209D-3D33-DC73-DA2B-3AEBF6BE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61231F-1BE3-047C-190B-3A675A50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85184C9-C757-4A64-8ABD-053CEB671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B7CD0D70-16FB-45B9-A89E-1FD5B7EFD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cs typeface="Times New Roman" panose="02020603050405020304" pitchFamily="18" charset="0"/>
              </a:rPr>
              <a:t>文法（</a:t>
            </a:r>
            <a:r>
              <a:rPr lang="en-US" altLang="zh-CN" sz="2800" dirty="0">
                <a:cs typeface="Times New Roman" panose="02020603050405020304" pitchFamily="18" charset="0"/>
              </a:rPr>
              <a:t>3.5</a:t>
            </a:r>
            <a:r>
              <a:rPr lang="zh-CN" altLang="en-US" sz="2800" dirty="0">
                <a:cs typeface="Times New Roman" panose="02020603050405020304" pitchFamily="18" charset="0"/>
              </a:rPr>
              <a:t>）：“悬空</a:t>
            </a:r>
            <a:r>
              <a:rPr lang="en-US" altLang="zh-CN" sz="2800" dirty="0">
                <a:cs typeface="Times New Roman" panose="02020603050405020304" pitchFamily="18" charset="0"/>
              </a:rPr>
              <a:t>else</a:t>
            </a:r>
            <a:r>
              <a:rPr lang="zh-CN" altLang="en-US" sz="2800" dirty="0">
                <a:cs typeface="Times New Roman" panose="02020603050405020304" pitchFamily="18" charset="0"/>
              </a:rPr>
              <a:t>”文法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 |  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 |   other 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/>
              <a:t>句型：</a:t>
            </a:r>
            <a:r>
              <a:rPr lang="en-US" altLang="zh-CN" sz="2800" b="1" dirty="0">
                <a:latin typeface="Times New Roman" panose="02020603050405020304" pitchFamily="18" charset="0"/>
              </a:rPr>
              <a:t>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sz="2800" dirty="0"/>
              <a:t>悬空</a:t>
            </a:r>
            <a:r>
              <a:rPr lang="en-US" altLang="zh-CN" sz="2800" dirty="0"/>
              <a:t>else</a:t>
            </a:r>
            <a:r>
              <a:rPr lang="zh-CN" altLang="en-US" sz="2800" dirty="0"/>
              <a:t>问题出现的原因是</a:t>
            </a:r>
            <a:r>
              <a:rPr lang="en-US" altLang="zh-CN" sz="2800" dirty="0"/>
              <a:t>then</a:t>
            </a:r>
            <a:r>
              <a:rPr lang="zh-CN" altLang="en-US" sz="2800" dirty="0"/>
              <a:t>数量多于</a:t>
            </a:r>
            <a:r>
              <a:rPr lang="en-US" altLang="zh-CN" sz="2800" dirty="0"/>
              <a:t>else</a:t>
            </a:r>
            <a:r>
              <a:rPr lang="zh-CN" altLang="en-US" sz="2800" dirty="0"/>
              <a:t>，让</a:t>
            </a:r>
            <a:r>
              <a:rPr lang="en-US" altLang="zh-CN" sz="2800" dirty="0"/>
              <a:t>else</a:t>
            </a:r>
            <a:r>
              <a:rPr lang="zh-CN" altLang="en-US" sz="2800" dirty="0"/>
              <a:t>有多个可以结合的</a:t>
            </a:r>
            <a:r>
              <a:rPr lang="en-US" altLang="zh-CN" sz="2800" dirty="0"/>
              <a:t>then</a:t>
            </a:r>
            <a:r>
              <a:rPr lang="zh-CN" altLang="en-US" sz="2800" dirty="0"/>
              <a:t>。在二义文法中，由于选哪两个</a:t>
            </a:r>
            <a:r>
              <a:rPr lang="en-US" altLang="zh-CN" sz="2800" dirty="0"/>
              <a:t>then</a:t>
            </a:r>
            <a:r>
              <a:rPr lang="zh-CN" altLang="en-US" sz="2800" dirty="0"/>
              <a:t>、</a:t>
            </a:r>
            <a:r>
              <a:rPr lang="en-US" altLang="zh-CN" sz="2800" dirty="0"/>
              <a:t>else</a:t>
            </a:r>
            <a:r>
              <a:rPr lang="zh-CN" altLang="en-US" sz="2800" dirty="0"/>
              <a:t>配对都可以，故会引起出现二义的情况。</a:t>
            </a:r>
            <a:endParaRPr lang="en-US" altLang="zh-CN" sz="2800" dirty="0"/>
          </a:p>
          <a:p>
            <a:pPr>
              <a:spcBef>
                <a:spcPct val="0"/>
              </a:spcBef>
            </a:pPr>
            <a:r>
              <a:rPr lang="zh-CN" altLang="en-US" sz="2800" dirty="0"/>
              <a:t>规定</a:t>
            </a:r>
            <a:r>
              <a:rPr lang="en-US" altLang="zh-CN" sz="2800" dirty="0"/>
              <a:t>else</a:t>
            </a:r>
            <a:r>
              <a:rPr lang="zh-CN" altLang="en-US" sz="2800" dirty="0"/>
              <a:t>和左边最接近的还没有配对的</a:t>
            </a:r>
            <a:r>
              <a:rPr lang="en-US" altLang="zh-CN" sz="2800" dirty="0"/>
              <a:t>then</a:t>
            </a:r>
            <a:r>
              <a:rPr lang="zh-CN" altLang="en-US" sz="2800" dirty="0"/>
              <a:t>相配对</a:t>
            </a:r>
            <a:endParaRPr lang="en-US" altLang="zh-CN" sz="2000" b="1" i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732D77-B5EC-B5AB-35D8-82AD214A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B10C-7D1B-427C-88F3-6E625F440AAE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2C6D4D-B6C5-83FB-5A9C-9BA4C7CD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FCE9EB-D174-6923-C243-B8EECAC6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268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158ABD1-938B-47F0-BB35-CA8FAAAAA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476F027B-B889-4412-A43B-0A025AAE36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/>
              <a:t>思路：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/>
              <a:t>出现在配对的</a:t>
            </a:r>
            <a:r>
              <a:rPr lang="en-US" altLang="zh-CN" dirty="0"/>
              <a:t>then</a:t>
            </a:r>
            <a:r>
              <a:rPr lang="zh-CN" altLang="en-US" dirty="0"/>
              <a:t>和</a:t>
            </a:r>
            <a:r>
              <a:rPr lang="en-US" altLang="zh-CN" dirty="0"/>
              <a:t>else</a:t>
            </a:r>
            <a:r>
              <a:rPr lang="zh-CN" altLang="en-US" dirty="0"/>
              <a:t>之间的语句必须是</a:t>
            </a:r>
            <a:r>
              <a:rPr lang="zh-CN" altLang="en-US" dirty="0">
                <a:solidFill>
                  <a:schemeClr val="accent2"/>
                </a:solidFill>
              </a:rPr>
              <a:t>配对</a:t>
            </a:r>
            <a:r>
              <a:rPr lang="zh-CN" altLang="en-US" dirty="0"/>
              <a:t>的，这样生成出来的串才是</a:t>
            </a:r>
            <a:r>
              <a:rPr lang="en-US" altLang="zh-CN" dirty="0"/>
              <a:t>then</a:t>
            </a:r>
            <a:r>
              <a:rPr lang="zh-CN" altLang="en-US" dirty="0"/>
              <a:t>和</a:t>
            </a:r>
            <a:r>
              <a:rPr lang="en-US" altLang="zh-CN" dirty="0"/>
              <a:t>else</a:t>
            </a:r>
            <a:r>
              <a:rPr lang="zh-CN" altLang="en-US" dirty="0"/>
              <a:t>一一配对的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把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stmt</a:t>
            </a:r>
            <a:r>
              <a:rPr lang="zh-CN" altLang="en-US" dirty="0">
                <a:latin typeface="Times New Roman" panose="02020603050405020304" pitchFamily="18" charset="0"/>
              </a:rPr>
              <a:t>分成配对的（</a:t>
            </a:r>
            <a:r>
              <a:rPr lang="en-US" altLang="zh-CN" i="1" dirty="0"/>
              <a:t>MS</a:t>
            </a:r>
            <a:r>
              <a:rPr lang="zh-CN" altLang="en-US" dirty="0">
                <a:latin typeface="Times New Roman" panose="02020603050405020304" pitchFamily="18" charset="0"/>
              </a:rPr>
              <a:t>）和不配对的（</a:t>
            </a:r>
            <a:r>
              <a:rPr lang="en-US" altLang="zh-CN" i="1" dirty="0"/>
              <a:t>UMS</a:t>
            </a:r>
            <a:r>
              <a:rPr lang="zh-CN" altLang="en-US" dirty="0">
                <a:latin typeface="Times New Roman" panose="02020603050405020304" pitchFamily="18" charset="0"/>
              </a:rPr>
              <a:t>）两种条件语句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/>
              <a:t>MS</a:t>
            </a:r>
            <a:r>
              <a:rPr lang="zh-CN" altLang="en-US" dirty="0">
                <a:latin typeface="Times New Roman" panose="02020603050405020304" pitchFamily="18" charset="0"/>
              </a:rPr>
              <a:t>里，</a:t>
            </a:r>
            <a:r>
              <a:rPr lang="en-US" altLang="zh-CN" dirty="0">
                <a:latin typeface="Times New Roman" panose="02020603050405020304" pitchFamily="18" charset="0"/>
              </a:rPr>
              <a:t>then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else</a:t>
            </a:r>
            <a:r>
              <a:rPr lang="zh-CN" altLang="en-US" dirty="0">
                <a:latin typeface="Times New Roman" panose="02020603050405020304" pitchFamily="18" charset="0"/>
              </a:rPr>
              <a:t>个数相等且匹配（包括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个）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/>
              <a:t>UMS</a:t>
            </a:r>
            <a:r>
              <a:rPr lang="zh-CN" altLang="en-US" dirty="0">
                <a:latin typeface="Times New Roman" panose="02020603050405020304" pitchFamily="18" charset="0"/>
              </a:rPr>
              <a:t>里，</a:t>
            </a:r>
            <a:r>
              <a:rPr lang="en-US" altLang="zh-CN" dirty="0">
                <a:latin typeface="Times New Roman" panose="02020603050405020304" pitchFamily="18" charset="0"/>
              </a:rPr>
              <a:t>then</a:t>
            </a:r>
            <a:r>
              <a:rPr lang="zh-CN" altLang="en-US" dirty="0">
                <a:latin typeface="Times New Roman" panose="02020603050405020304" pitchFamily="18" charset="0"/>
              </a:rPr>
              <a:t>个数比</a:t>
            </a:r>
            <a:r>
              <a:rPr lang="en-US" altLang="zh-CN" dirty="0">
                <a:latin typeface="Times New Roman" panose="02020603050405020304" pitchFamily="18" charset="0"/>
              </a:rPr>
              <a:t>else</a:t>
            </a:r>
            <a:r>
              <a:rPr lang="zh-CN" altLang="en-US" dirty="0">
                <a:latin typeface="Times New Roman" panose="02020603050405020304" pitchFamily="18" charset="0"/>
              </a:rPr>
              <a:t>多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6D0655-87AF-FCAF-A5F7-08E4A913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2DC08-93D5-44B8-B14C-33A25F4C66D4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19F30F-5A76-ADC3-D78E-B20F015E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66477F-5CD0-0416-D9FC-9E870761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FA5E41C-C348-4A5B-9387-CB5ABE96FA68}"/>
              </a:ext>
            </a:extLst>
          </p:cNvPr>
          <p:cNvSpPr/>
          <p:nvPr/>
        </p:nvSpPr>
        <p:spPr>
          <a:xfrm>
            <a:off x="2325511" y="3451841"/>
            <a:ext cx="3386668" cy="530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2FCD23-7AD5-4E45-B21C-EB8A0F5787EC}"/>
              </a:ext>
            </a:extLst>
          </p:cNvPr>
          <p:cNvSpPr/>
          <p:nvPr/>
        </p:nvSpPr>
        <p:spPr>
          <a:xfrm>
            <a:off x="2037008" y="1840088"/>
            <a:ext cx="3485111" cy="530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0158ABD1-938B-47F0-BB35-CA8FAAAAA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476F027B-B889-4412-A43B-0A025AAE36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MS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i="1" dirty="0">
                <a:solidFill>
                  <a:schemeClr val="accent2"/>
                </a:solidFill>
              </a:rPr>
              <a:t>UMS</a:t>
            </a:r>
            <a:endParaRPr lang="en-US" altLang="zh-CN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ct val="0"/>
              </a:spcBef>
            </a:pPr>
            <a:r>
              <a:rPr lang="en-US" altLang="zh-CN" i="1" dirty="0"/>
              <a:t>MS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if </a:t>
            </a:r>
            <a:r>
              <a:rPr lang="en-US" altLang="zh-CN" b="1" i="1" dirty="0">
                <a:latin typeface="Times New Roman" panose="02020603050405020304" pitchFamily="18" charset="0"/>
              </a:rPr>
              <a:t>expr</a:t>
            </a:r>
            <a:r>
              <a:rPr lang="en-US" altLang="zh-CN" b="1" dirty="0">
                <a:latin typeface="Times New Roman" panose="02020603050405020304" pitchFamily="18" charset="0"/>
              </a:rPr>
              <a:t> then</a:t>
            </a: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MS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else </a:t>
            </a:r>
            <a:r>
              <a:rPr lang="en-US" altLang="zh-CN" i="1" dirty="0">
                <a:solidFill>
                  <a:schemeClr val="accent2"/>
                </a:solidFill>
              </a:rPr>
              <a:t>MS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            | other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</a:pPr>
            <a:r>
              <a:rPr lang="en-US" altLang="zh-CN" i="1" dirty="0"/>
              <a:t>UMS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if</a:t>
            </a:r>
            <a:r>
              <a:rPr lang="en-US" altLang="zh-CN" b="1" i="1" dirty="0">
                <a:latin typeface="Times New Roman" panose="02020603050405020304" pitchFamily="18" charset="0"/>
              </a:rPr>
              <a:t> expr</a:t>
            </a:r>
            <a:r>
              <a:rPr lang="en-US" altLang="zh-CN" b="1" dirty="0">
                <a:latin typeface="Times New Roman" panose="02020603050405020304" pitchFamily="18" charset="0"/>
              </a:rPr>
              <a:t> then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stmt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	     | if </a:t>
            </a:r>
            <a:r>
              <a:rPr lang="en-US" altLang="zh-CN" b="1" i="1" dirty="0">
                <a:latin typeface="Times New Roman" panose="02020603050405020304" pitchFamily="18" charset="0"/>
              </a:rPr>
              <a:t>expr</a:t>
            </a:r>
            <a:r>
              <a:rPr lang="en-US" altLang="zh-CN" b="1" dirty="0">
                <a:latin typeface="Times New Roman" panose="02020603050405020304" pitchFamily="18" charset="0"/>
              </a:rPr>
              <a:t> then </a:t>
            </a:r>
            <a:r>
              <a:rPr lang="en-US" altLang="zh-CN" i="1" dirty="0">
                <a:solidFill>
                  <a:schemeClr val="accent2"/>
                </a:solidFill>
              </a:rPr>
              <a:t>MS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else </a:t>
            </a:r>
            <a:r>
              <a:rPr lang="en-US" altLang="zh-CN" i="1" dirty="0">
                <a:solidFill>
                  <a:schemeClr val="accent2"/>
                </a:solidFill>
              </a:rPr>
              <a:t>UMS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Rectangle 59">
            <a:extLst>
              <a:ext uri="{FF2B5EF4-FFF2-40B4-BE49-F238E27FC236}">
                <a16:creationId xmlns:a16="http://schemas.microsoft.com/office/drawing/2014/main" id="{0435E669-6695-4CD9-98EB-CA8C8301F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4771160"/>
            <a:ext cx="8250237" cy="9108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+mn-lt"/>
                <a:ea typeface="+mn-ea"/>
              </a:rPr>
              <a:t>出现在配对的</a:t>
            </a:r>
            <a:r>
              <a:rPr lang="en-US" altLang="zh-CN" sz="2800" dirty="0">
                <a:latin typeface="+mn-lt"/>
                <a:ea typeface="+mn-ea"/>
              </a:rPr>
              <a:t>then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altLang="zh-CN" sz="2800" dirty="0">
                <a:latin typeface="+mn-lt"/>
                <a:ea typeface="+mn-ea"/>
              </a:rPr>
              <a:t>else</a:t>
            </a:r>
            <a:r>
              <a:rPr lang="zh-CN" altLang="en-US" sz="2800" dirty="0">
                <a:latin typeface="+mn-lt"/>
                <a:ea typeface="+mn-ea"/>
              </a:rPr>
              <a:t>之间的语句必须是</a:t>
            </a:r>
            <a:r>
              <a:rPr lang="zh-CN" altLang="en-US" sz="2800" dirty="0">
                <a:solidFill>
                  <a:schemeClr val="accent2"/>
                </a:solidFill>
                <a:latin typeface="+mn-lt"/>
                <a:ea typeface="+mn-ea"/>
              </a:rPr>
              <a:t>配对</a:t>
            </a:r>
            <a:r>
              <a:rPr lang="zh-CN" altLang="en-US" sz="2800" dirty="0">
                <a:latin typeface="+mn-lt"/>
                <a:ea typeface="+mn-ea"/>
              </a:rPr>
              <a:t>的</a:t>
            </a:r>
            <a:endParaRPr lang="zh-CN" altLang="en-US" sz="2800" b="0" dirty="0">
              <a:latin typeface="+mn-lt"/>
              <a:ea typeface="+mn-ea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CEE355-A0F5-F7AB-F6AD-F4738BC5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DCCC3-5293-4225-B6B7-AECB9D2A860F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76DCE6-6D33-20D5-83FD-F891A4BB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7CEFF1-4113-572D-312E-09799352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57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28E8BF5-D06B-4539-B9F5-28EB35484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4BDC293F-4589-49F1-8754-4C97886576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用无二义文法重写句型：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800" dirty="0">
                <a:solidFill>
                  <a:schemeClr val="folHlink"/>
                </a:solidFill>
              </a:rPr>
              <a:t>  </a:t>
            </a:r>
            <a:r>
              <a:rPr lang="zh-CN" altLang="en-US" sz="2800" dirty="0">
                <a:solidFill>
                  <a:schemeClr val="accent2"/>
                </a:solidFill>
              </a:rPr>
              <a:t>注意：此处默认两个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stmt</a:t>
            </a:r>
            <a:r>
              <a:rPr lang="zh-CN" altLang="en-US" sz="2800" dirty="0">
                <a:solidFill>
                  <a:schemeClr val="accent2"/>
                </a:solidFill>
              </a:rPr>
              <a:t>是不含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if then else</a:t>
            </a:r>
            <a:r>
              <a:rPr lang="zh-CN" altLang="en-US" sz="2800" dirty="0">
                <a:solidFill>
                  <a:schemeClr val="accent2"/>
                </a:solidFill>
              </a:rPr>
              <a:t>的，即他们属于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other</a:t>
            </a:r>
            <a:r>
              <a:rPr lang="zh-CN" altLang="en-US" sz="2800" dirty="0">
                <a:solidFill>
                  <a:schemeClr val="accent2"/>
                </a:solidFill>
              </a:rPr>
              <a:t>类，是</a:t>
            </a:r>
            <a:r>
              <a:rPr lang="en-US" altLang="zh-CN" sz="2800" i="1" dirty="0">
                <a:solidFill>
                  <a:schemeClr val="accent2"/>
                </a:solidFill>
              </a:rPr>
              <a:t>MS </a:t>
            </a:r>
            <a:r>
              <a:rPr lang="zh-CN" altLang="en-US" sz="2800" dirty="0">
                <a:solidFill>
                  <a:schemeClr val="accent2"/>
                </a:solidFill>
              </a:rPr>
              <a:t>。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b="1" i="1" dirty="0"/>
              <a:t> 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accent2"/>
                </a:solidFill>
              </a:rPr>
              <a:t>UMS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		</a:t>
            </a:r>
            <a:r>
              <a:rPr lang="en-US" altLang="zh-CN" sz="2800" b="1" dirty="0">
                <a:latin typeface="Times New Roman" panose="02020603050405020304" pitchFamily="18" charset="0"/>
              </a:rPr>
              <a:t> if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		 </a:t>
            </a:r>
            <a:r>
              <a:rPr lang="en-US" altLang="zh-CN" sz="2800" b="1" dirty="0">
                <a:latin typeface="Times New Roman" panose="02020603050405020304" pitchFamily="18" charset="0"/>
              </a:rPr>
              <a:t>if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i="1" dirty="0">
                <a:solidFill>
                  <a:schemeClr val="accent2"/>
                </a:solidFill>
              </a:rPr>
              <a:t>MS</a:t>
            </a:r>
            <a:r>
              <a:rPr lang="en-US" altLang="zh-CN" sz="2800" b="1" i="1" dirty="0"/>
              <a:t>   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b="1" i="1" dirty="0">
                <a:sym typeface="Symbol" panose="05050102010706020507" pitchFamily="18" charset="2"/>
              </a:rPr>
              <a:t>		</a:t>
            </a:r>
            <a:r>
              <a:rPr lang="zh-CN" altLang="en-US" sz="2800" b="1" dirty="0">
                <a:sym typeface="Symbol" panose="05050102010706020507" pitchFamily="18" charset="2"/>
              </a:rPr>
              <a:t> </a:t>
            </a:r>
            <a:r>
              <a:rPr lang="en-US" altLang="zh-CN" sz="2800" b="1" dirty="0">
                <a:latin typeface="Times New Roman" panose="02020603050405020304" pitchFamily="18" charset="0"/>
              </a:rPr>
              <a:t>if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i="1" dirty="0">
                <a:solidFill>
                  <a:schemeClr val="accent2"/>
                </a:solidFill>
              </a:rPr>
              <a:t>MS</a:t>
            </a:r>
            <a:r>
              <a:rPr lang="en-US" altLang="zh-CN" sz="2800" b="1" dirty="0">
                <a:latin typeface="Times New Roman" panose="02020603050405020304" pitchFamily="18" charset="0"/>
              </a:rPr>
              <a:t> else </a:t>
            </a:r>
            <a:r>
              <a:rPr lang="en-US" altLang="zh-CN" sz="2800" i="1" dirty="0">
                <a:solidFill>
                  <a:schemeClr val="accent2"/>
                </a:solidFill>
              </a:rPr>
              <a:t>MS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46DF60-4C65-A899-614D-F53C34B86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B18FD-D109-4B61-8769-D77CCD5A1731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291AF0-AA66-88A7-7896-5DAB78B8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AB69A2-A87E-A865-4853-5D8C7A90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6940300-665B-4288-BE30-F53E57F53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400" dirty="0"/>
              <a:t>3.2.4/5 </a:t>
            </a:r>
            <a:r>
              <a:rPr lang="zh-CN" altLang="en-US" sz="4400" dirty="0"/>
              <a:t>消除二义性</a:t>
            </a:r>
            <a:endParaRPr lang="zh-CN" altLang="en-US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5B80866-EE5F-4476-83F8-9E9EB3641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为什么大部分程序设计语言不用无二义文法？</a:t>
            </a:r>
          </a:p>
          <a:p>
            <a:pPr lvl="1" eaLnBrk="1" hangingPunct="1"/>
            <a:r>
              <a:rPr lang="zh-CN" altLang="en-US" dirty="0"/>
              <a:t>比无二义文法容易理解；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简洁，分析效率高（推导步骤少）；</a:t>
            </a:r>
          </a:p>
          <a:p>
            <a:pPr lvl="1" eaLnBrk="1" hangingPunct="1"/>
            <a:r>
              <a:rPr lang="zh-CN" altLang="en-US" dirty="0"/>
              <a:t>文法有二义并不可怕，只需有消除二义性的规则即可：比如规定二义文法中符号的优先级和结合性。</a:t>
            </a: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7236F8-3970-6C53-75FC-CEC3356F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49592-D49E-41DA-8381-6C983810F5F0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2F0C31-3BB9-836C-DAC4-82A2106A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66C2C1-90AF-E780-F129-18F01EE60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6A89151-CA7F-49B9-AD62-37B83DF2C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3.2.6 </a:t>
            </a:r>
            <a:r>
              <a:rPr lang="zh-CN" altLang="en-US"/>
              <a:t>消除左递归</a:t>
            </a:r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11ECC654-99F6-40B6-A35E-3E6500B4B1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文法</a:t>
            </a:r>
            <a:r>
              <a:rPr lang="zh-CN" altLang="en-US" dirty="0"/>
              <a:t>左递归		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dirty="0">
                <a:latin typeface="Symbol" panose="05050102010706020507" pitchFamily="18" charset="2"/>
              </a:rPr>
              <a:t>a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直接左递归		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dirty="0" err="1">
                <a:latin typeface="Symbol" panose="05050102010706020507" pitchFamily="18" charset="2"/>
              </a:rPr>
              <a:t>a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|</a:t>
            </a:r>
            <a:r>
              <a:rPr lang="en-US" altLang="zh-CN" b="1" i="1" dirty="0">
                <a:latin typeface="Symbol" panose="05050102010706020507" pitchFamily="18" charset="2"/>
              </a:rPr>
              <a:t>b</a:t>
            </a:r>
            <a:r>
              <a:rPr lang="en-US" altLang="zh-CN" b="1" dirty="0"/>
              <a:t> 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串的特点		 </a:t>
            </a:r>
            <a:r>
              <a:rPr lang="en-US" altLang="zh-CN" b="1" i="1" dirty="0" err="1">
                <a:latin typeface="Symbol" panose="05050102010706020507" pitchFamily="18" charset="2"/>
              </a:rPr>
              <a:t>ba</a:t>
            </a:r>
            <a:r>
              <a:rPr lang="en-US" altLang="zh-CN" b="1" i="1" dirty="0">
                <a:latin typeface="Symbol" panose="05050102010706020507" pitchFamily="18" charset="2"/>
              </a:rPr>
              <a:t> . . . </a:t>
            </a:r>
            <a:r>
              <a:rPr lang="en-US" altLang="zh-CN" b="1" i="1" dirty="0">
                <a:latin typeface="Symbol" panose="05050102010706020507" pitchFamily="18" charset="2"/>
                <a:sym typeface="Symbol" panose="05050102010706020507" pitchFamily="18" charset="2"/>
              </a:rPr>
              <a:t>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Symbol" panose="05050102010706020507" pitchFamily="18" charset="2"/>
              </a:rPr>
              <a:t>为什么要消除左递归？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accent2"/>
                </a:solidFill>
                <a:latin typeface="Symbol" panose="05050102010706020507" pitchFamily="18" charset="2"/>
              </a:rPr>
              <a:t>自上而下的分析不能用于左递归文法。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消除直接左递归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i="1" dirty="0"/>
              <a:t>		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Symbol" panose="05050102010706020507" pitchFamily="18" charset="2"/>
              </a:rPr>
              <a:t>b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		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Symbol" panose="05050102010706020507" pitchFamily="18" charset="2"/>
              </a:rPr>
              <a:t>a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EA75D3-63B3-4B4F-AA32-EC179D605FFF}"/>
              </a:ext>
            </a:extLst>
          </p:cNvPr>
          <p:cNvSpPr txBox="1"/>
          <p:nvPr/>
        </p:nvSpPr>
        <p:spPr>
          <a:xfrm>
            <a:off x="6500280" y="355600"/>
            <a:ext cx="2406651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2800" b="1" i="1" u="none" strike="noStrike" baseline="0" dirty="0">
                <a:latin typeface="TimesNewRomanPS-BoldItalicMT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0" i="0" u="none" strike="noStrike" baseline="0" dirty="0">
                <a:latin typeface="SymbolMT"/>
              </a:rPr>
              <a:t> </a:t>
            </a:r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l-GR" altLang="zh-CN" sz="2800" b="1" i="1" u="none" strike="noStrike" baseline="0" dirty="0">
                <a:latin typeface="TimesNewRomanPS-BoldItalicMT"/>
              </a:rPr>
              <a:t>α</a:t>
            </a: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</a:t>
            </a:r>
            <a:r>
              <a:rPr lang="en-US" altLang="zh-CN" sz="2800" b="0" i="0" u="none" strike="noStrike" baseline="0" dirty="0">
                <a:latin typeface="SymbolMT"/>
              </a:rPr>
              <a:t> </a:t>
            </a:r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l-GR" altLang="zh-CN" sz="2800" b="1" i="1" u="none" strike="noStrike" baseline="0" dirty="0">
                <a:latin typeface="TimesNewRomanPS-BoldItalicMT"/>
              </a:rPr>
              <a:t>αα</a:t>
            </a: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</a:t>
            </a:r>
            <a:r>
              <a:rPr lang="en-US" altLang="zh-CN" sz="2800" b="0" i="0" u="none" strike="noStrike" baseline="0" dirty="0">
                <a:latin typeface="SymbolMT"/>
              </a:rPr>
              <a:t> </a:t>
            </a:r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l-GR" altLang="zh-CN" sz="2800" b="1" i="1" u="none" strike="noStrike" baseline="0" dirty="0">
                <a:latin typeface="TimesNewRomanPS-BoldItalicMT"/>
              </a:rPr>
              <a:t>ααα</a:t>
            </a:r>
            <a:endParaRPr lang="en-US" altLang="zh-CN" sz="2800" b="1" i="1" u="none" strike="noStrike" baseline="0" dirty="0">
              <a:latin typeface="TimesNewRomanPS-BoldItalicMT"/>
            </a:endParaRPr>
          </a:p>
          <a:p>
            <a:pPr algn="l"/>
            <a:r>
              <a:rPr lang="en-US" altLang="zh-CN" sz="2800" dirty="0"/>
              <a:t>    …</a:t>
            </a:r>
            <a:endParaRPr lang="zh-CN" altLang="en-US" sz="2800" b="0" i="0" u="none" strike="noStrike" baseline="0" dirty="0">
              <a:latin typeface="SymbolMT"/>
            </a:endParaRP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 </a:t>
            </a:r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l-GR" altLang="zh-CN" sz="2800" b="1" i="1" u="none" strike="noStrike" baseline="0" dirty="0">
                <a:latin typeface="TimesNewRomanPS-BoldItalicMT"/>
              </a:rPr>
              <a:t>α …α</a:t>
            </a: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</a:t>
            </a:r>
            <a:r>
              <a:rPr lang="el-GR" altLang="zh-CN" sz="2800" b="0" i="0" u="none" strike="noStrike" baseline="0" dirty="0">
                <a:latin typeface="SymbolMT"/>
              </a:rPr>
              <a:t> </a:t>
            </a:r>
            <a:r>
              <a:rPr lang="el-GR" altLang="zh-CN" sz="2800" b="1" i="1" u="none" strike="noStrike" baseline="0" dirty="0">
                <a:latin typeface="TimesNewRomanPS-BoldItalicMT"/>
              </a:rPr>
              <a:t>β α…α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B1B071-18A3-456E-9058-98ACDB07E4A5}"/>
              </a:ext>
            </a:extLst>
          </p:cNvPr>
          <p:cNvSpPr txBox="1"/>
          <p:nvPr/>
        </p:nvSpPr>
        <p:spPr>
          <a:xfrm>
            <a:off x="6500281" y="3824744"/>
            <a:ext cx="2406651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n-US" altLang="zh-CN" sz="2800" b="1" i="0" u="none" strike="noStrike" baseline="0" dirty="0">
                <a:latin typeface="TimesNewRomanPS-BoldMT"/>
              </a:rPr>
              <a:t>′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l-GR" altLang="zh-CN" sz="2800" b="1" i="1" u="none" strike="noStrike" baseline="0" dirty="0">
                <a:latin typeface="TimesNewRomanPS-BoldItalicMT"/>
              </a:rPr>
              <a:t>α</a:t>
            </a:r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n-US" altLang="zh-CN" sz="2800" b="1" i="0" u="none" strike="noStrike" baseline="0" dirty="0">
                <a:latin typeface="TimesNewRomanPS-BoldMT"/>
              </a:rPr>
              <a:t>′</a:t>
            </a: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	</a:t>
            </a:r>
            <a:r>
              <a:rPr lang="el-GR" altLang="zh-CN" sz="2800" b="0" i="0" u="none" strike="noStrike" baseline="0" dirty="0">
                <a:latin typeface="SymbolMT"/>
              </a:rPr>
              <a:t> </a:t>
            </a:r>
            <a:r>
              <a:rPr lang="el-GR" altLang="zh-CN" sz="2800" b="1" i="1" u="none" strike="noStrike" baseline="0" dirty="0">
                <a:latin typeface="TimesNewRomanPS-BoldItalicMT"/>
              </a:rPr>
              <a:t>αα</a:t>
            </a:r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n-US" altLang="zh-CN" sz="2800" b="1" i="0" u="none" strike="noStrike" baseline="0" dirty="0">
                <a:latin typeface="TimesNewRomanPS-BoldMT"/>
              </a:rPr>
              <a:t>′</a:t>
            </a: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	</a:t>
            </a:r>
            <a:r>
              <a:rPr lang="el-GR" altLang="zh-CN" sz="2800" b="0" i="0" u="none" strike="noStrike" baseline="0" dirty="0">
                <a:latin typeface="SymbolMT"/>
              </a:rPr>
              <a:t> </a:t>
            </a:r>
            <a:r>
              <a:rPr lang="el-GR" altLang="zh-CN" sz="2800" b="1" i="1" u="none" strike="noStrike" baseline="0" dirty="0">
                <a:latin typeface="TimesNewRomanPS-BoldItalicMT"/>
              </a:rPr>
              <a:t>ααα</a:t>
            </a:r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n-US" altLang="zh-CN" sz="2800" b="1" i="0" u="none" strike="noStrike" baseline="0" dirty="0">
                <a:latin typeface="TimesNewRomanPS-BoldMT"/>
              </a:rPr>
              <a:t>′</a:t>
            </a:r>
          </a:p>
          <a:p>
            <a:pPr algn="l"/>
            <a:r>
              <a:rPr lang="en-US" altLang="zh-CN" sz="2800" b="1" i="1" u="none" strike="noStrike" baseline="0" dirty="0">
                <a:latin typeface="TimesNewRomanPS-BoldItalicMT"/>
              </a:rPr>
              <a:t>	…</a:t>
            </a:r>
            <a:endParaRPr lang="zh-CN" altLang="en-US" sz="2800" b="0" i="0" u="none" strike="noStrike" baseline="0" dirty="0">
              <a:latin typeface="SymbolMT"/>
            </a:endParaRP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	 </a:t>
            </a:r>
            <a:r>
              <a:rPr lang="el-GR" altLang="zh-CN" sz="2800" b="1" i="1" u="none" strike="noStrike" baseline="0" dirty="0">
                <a:latin typeface="TimesNewRomanPS-BoldItalicMT"/>
              </a:rPr>
              <a:t>α …α</a:t>
            </a:r>
            <a:r>
              <a:rPr lang="en-US" altLang="zh-CN" sz="2800" b="1" i="1" u="none" strike="noStrike" baseline="0" dirty="0">
                <a:latin typeface="TimesNewRomanPS-BoldItalicMT"/>
              </a:rPr>
              <a:t>A</a:t>
            </a:r>
            <a:r>
              <a:rPr lang="en-US" altLang="zh-CN" sz="2800" b="1" i="0" u="none" strike="noStrike" baseline="0" dirty="0">
                <a:latin typeface="TimesNewRomanPS-BoldMT"/>
              </a:rPr>
              <a:t>′</a:t>
            </a:r>
          </a:p>
          <a:p>
            <a:pPr algn="l"/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	</a:t>
            </a:r>
            <a:r>
              <a:rPr lang="el-GR" altLang="zh-CN" sz="2800" b="0" i="0" u="none" strike="noStrike" baseline="0" dirty="0">
                <a:latin typeface="SymbolMT"/>
              </a:rPr>
              <a:t> </a:t>
            </a:r>
            <a:r>
              <a:rPr lang="el-GR" altLang="zh-CN" sz="2800" b="1" i="1" u="none" strike="noStrike" baseline="0" dirty="0">
                <a:latin typeface="TimesNewRomanPS-BoldItalicMT"/>
              </a:rPr>
              <a:t>α …α</a:t>
            </a:r>
            <a:endParaRPr lang="zh-CN" altLang="en-US" sz="4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0291C1-B363-4AF4-A91E-0C2E2BEF1055}"/>
              </a:ext>
            </a:extLst>
          </p:cNvPr>
          <p:cNvSpPr txBox="1"/>
          <p:nvPr/>
        </p:nvSpPr>
        <p:spPr>
          <a:xfrm>
            <a:off x="925688" y="5297889"/>
            <a:ext cx="4605868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事实上，这种消除过程就是</a:t>
            </a:r>
          </a:p>
          <a:p>
            <a:pPr algn="l"/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把</a:t>
            </a:r>
            <a:r>
              <a:rPr lang="zh-CN" altLang="en-US" sz="2800" b="0" i="0" u="none" strike="noStrike" baseline="0" dirty="0">
                <a:solidFill>
                  <a:srgbClr val="2D85F5"/>
                </a:solidFill>
              </a:rPr>
              <a:t>左递归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转换成了</a:t>
            </a:r>
            <a:r>
              <a:rPr lang="zh-CN" altLang="en-US" sz="2800" b="0" i="0" u="none" strike="noStrike" baseline="0" dirty="0">
                <a:solidFill>
                  <a:srgbClr val="2D85F5"/>
                </a:solidFill>
              </a:rPr>
              <a:t>右递归</a:t>
            </a:r>
            <a:endParaRPr lang="zh-CN" altLang="en-US" sz="2800" dirty="0"/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3E04BA86-32C5-1745-8FC9-B0C98BF0FC16}"/>
              </a:ext>
            </a:extLst>
          </p:cNvPr>
          <p:cNvSpPr/>
          <p:nvPr/>
        </p:nvSpPr>
        <p:spPr>
          <a:xfrm>
            <a:off x="4453844" y="3824744"/>
            <a:ext cx="1823539" cy="1218481"/>
          </a:xfrm>
          <a:prstGeom prst="wedgeRectCallout">
            <a:avLst>
              <a:gd name="adj1" fmla="val -86139"/>
              <a:gd name="adj2" fmla="val 35271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C00000"/>
                </a:solidFill>
              </a:rPr>
              <a:t>注意！第三版书上</a:t>
            </a:r>
            <a:r>
              <a:rPr lang="en-US" altLang="zh-CN" b="1" dirty="0">
                <a:solidFill>
                  <a:srgbClr val="C00000"/>
                </a:solidFill>
              </a:rPr>
              <a:t>P49</a:t>
            </a:r>
            <a:r>
              <a:rPr lang="zh-CN" altLang="en-US" b="1" dirty="0">
                <a:solidFill>
                  <a:srgbClr val="C00000"/>
                </a:solidFill>
              </a:rPr>
              <a:t>倒数第八行有误，以</a:t>
            </a:r>
            <a:r>
              <a:rPr lang="en-US" altLang="zh-CN" b="1" dirty="0">
                <a:solidFill>
                  <a:srgbClr val="C00000"/>
                </a:solidFill>
              </a:rPr>
              <a:t>PPT</a:t>
            </a:r>
            <a:r>
              <a:rPr lang="zh-CN" altLang="en-US" b="1" dirty="0">
                <a:solidFill>
                  <a:srgbClr val="C00000"/>
                </a:solidFill>
              </a:rPr>
              <a:t>课件为准。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A26B5-7F72-CAA5-A0AF-57E0290C6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6DFD2-5BD2-420D-A8E2-10BE25165C01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7C77AA27-09D7-6F04-FFA7-DE6B1EB7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69EF74E-37F6-4795-6943-923049D3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FEED058-4C06-4D21-9158-405DC9334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3.2.6 </a:t>
            </a:r>
            <a:r>
              <a:rPr lang="zh-CN" altLang="en-US" dirty="0"/>
              <a:t>消除左递归</a:t>
            </a: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A56B3F69-3618-49EC-B5D2-E3B06CE557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latin typeface="黑体" panose="02010609060101010101" pitchFamily="49" charset="-122"/>
              </a:rPr>
              <a:t>例</a:t>
            </a:r>
            <a:r>
              <a:rPr lang="en-US" altLang="zh-CN" sz="2800" dirty="0"/>
              <a:t>3.6</a:t>
            </a:r>
            <a:r>
              <a:rPr lang="en-US" altLang="zh-CN" sz="2800" dirty="0">
                <a:latin typeface="黑体" panose="02010609060101010101" pitchFamily="49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</a:rPr>
              <a:t>算术表达文法</a:t>
            </a:r>
            <a:r>
              <a:rPr lang="zh-CN" altLang="en-US" sz="2800" b="1" i="1" dirty="0"/>
              <a:t>	</a:t>
            </a:r>
            <a:endParaRPr lang="zh-CN" altLang="en-US" sz="28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/>
              <a:t>	</a:t>
            </a:r>
            <a:endParaRPr lang="en-US" altLang="zh-CN" sz="2800" b="1" i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E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	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>
                <a:latin typeface="Times New Roman" panose="02020603050405020304" pitchFamily="18" charset="0"/>
              </a:rPr>
              <a:t>	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) | id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8F6B13-9F76-41C7-A2B1-6B443E11B7B8}"/>
              </a:ext>
            </a:extLst>
          </p:cNvPr>
          <p:cNvSpPr txBox="1"/>
          <p:nvPr/>
        </p:nvSpPr>
        <p:spPr>
          <a:xfrm>
            <a:off x="900991" y="4791968"/>
            <a:ext cx="498052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改写规则：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 err="1">
                <a:latin typeface="Symbol" panose="05050102010706020507" pitchFamily="18" charset="2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|</a:t>
            </a:r>
            <a:r>
              <a:rPr lang="en-US" altLang="zh-CN" sz="2800" b="1" i="1" dirty="0">
                <a:latin typeface="Symbol" panose="05050102010706020507" pitchFamily="18" charset="2"/>
              </a:rPr>
              <a:t>b</a:t>
            </a:r>
            <a:r>
              <a:rPr lang="en-US" altLang="zh-CN" sz="2800" b="1" dirty="0"/>
              <a:t> 		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Symbol" panose="05050102010706020507" pitchFamily="18" charset="2"/>
              </a:rPr>
              <a:t>b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					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Symbol" panose="05050102010706020507" pitchFamily="18" charset="2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29F8E7-CB99-4C84-885A-C47609C484DA}"/>
              </a:ext>
            </a:extLst>
          </p:cNvPr>
          <p:cNvSpPr txBox="1"/>
          <p:nvPr/>
        </p:nvSpPr>
        <p:spPr>
          <a:xfrm>
            <a:off x="3716510" y="2094827"/>
            <a:ext cx="3609977" cy="2246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800" i="1" dirty="0"/>
              <a:t> 	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	E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	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 	</a:t>
            </a:r>
          </a:p>
          <a:p>
            <a:pPr algn="just">
              <a:spcBef>
                <a:spcPct val="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	T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	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 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8092C1-3818-543B-0501-504641AC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C9A49-BF86-452E-95AB-503C884FB5B4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5DA93F-9DAA-B262-500A-6616F77B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C441C-31C8-2AB6-FF5C-5D658376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  <p:pic>
        <p:nvPicPr>
          <p:cNvPr id="5" name="图片 4" descr="图标&#10;&#10;描述已自动生成">
            <a:extLst>
              <a:ext uri="{FF2B5EF4-FFF2-40B4-BE49-F238E27FC236}">
                <a16:creationId xmlns:a16="http://schemas.microsoft.com/office/drawing/2014/main" id="{B9B635B6-56A1-1B76-D2CC-F6F5419DD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6733" y="321851"/>
            <a:ext cx="804397" cy="804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4529811-A467-4D3E-9C66-D90180FE5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3.2.6 </a:t>
            </a:r>
            <a:r>
              <a:rPr lang="zh-CN" altLang="en-US" dirty="0"/>
              <a:t>消除左递归</a:t>
            </a:r>
          </a:p>
        </p:txBody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DE6B961F-70A2-4CD3-8E9B-8F48D4D462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600" dirty="0"/>
              <a:t>消除直接左递归的一般形式：</a:t>
            </a:r>
          </a:p>
          <a:p>
            <a:pPr lvl="1" eaLnBrk="1" hangingPunct="1"/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i="1" dirty="0">
                <a:latin typeface="Symbol" panose="05050102010706020507" pitchFamily="18" charset="2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i="1" dirty="0">
                <a:latin typeface="Symbol" panose="05050102010706020507" pitchFamily="18" charset="2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|…| </a:t>
            </a:r>
            <a:r>
              <a:rPr lang="en-US" altLang="zh-CN" sz="3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3200" b="1" i="1" dirty="0" err="1">
                <a:latin typeface="Symbol" panose="05050102010706020507" pitchFamily="18" charset="2"/>
              </a:rPr>
              <a:t>a</a:t>
            </a:r>
            <a:r>
              <a:rPr lang="en-US" altLang="zh-CN" sz="3200" b="1" i="1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| </a:t>
            </a:r>
            <a:r>
              <a:rPr lang="en-US" altLang="zh-CN" sz="3200" b="1" i="1" dirty="0">
                <a:latin typeface="Symbol" panose="05050102010706020507" pitchFamily="18" charset="2"/>
              </a:rPr>
              <a:t>b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| </a:t>
            </a:r>
            <a:r>
              <a:rPr lang="en-US" altLang="zh-CN" sz="3200" b="1" i="1" dirty="0">
                <a:latin typeface="Symbol" panose="05050102010706020507" pitchFamily="18" charset="2"/>
              </a:rPr>
              <a:t>b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|...|</a:t>
            </a:r>
            <a:r>
              <a:rPr lang="en-US" altLang="zh-CN" sz="3200" b="1" dirty="0">
                <a:latin typeface="Symbol" panose="05050102010706020507" pitchFamily="18" charset="2"/>
              </a:rPr>
              <a:t> </a:t>
            </a:r>
            <a:r>
              <a:rPr lang="en-US" altLang="zh-CN" sz="3200" b="1" i="1" dirty="0">
                <a:latin typeface="Symbol" panose="05050102010706020507" pitchFamily="18" charset="2"/>
              </a:rPr>
              <a:t>b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buFont typeface="Symbol" panose="05050102010706020507" pitchFamily="18" charset="2"/>
              <a:buChar char=" "/>
            </a:pPr>
            <a:r>
              <a:rPr lang="zh-CN" altLang="en-US" sz="3200" dirty="0">
                <a:latin typeface="Symbol" panose="05050102010706020507" pitchFamily="18" charset="2"/>
              </a:rPr>
              <a:t>其中</a:t>
            </a:r>
            <a:r>
              <a:rPr lang="en-US" altLang="zh-CN" sz="3200" b="1" i="1" dirty="0">
                <a:latin typeface="Symbol" panose="05050102010706020507" pitchFamily="18" charset="2"/>
              </a:rPr>
              <a:t>b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3200" dirty="0">
                <a:latin typeface="Symbol" panose="05050102010706020507" pitchFamily="18" charset="2"/>
              </a:rPr>
              <a:t>都不以</a:t>
            </a:r>
            <a:r>
              <a:rPr lang="en-US" altLang="zh-CN" sz="3200" b="1" i="1" dirty="0">
                <a:latin typeface="Symbol" panose="05050102010706020507" pitchFamily="18" charset="2"/>
              </a:rPr>
              <a:t>A</a:t>
            </a:r>
            <a:r>
              <a:rPr lang="zh-CN" altLang="en-US" sz="3200" dirty="0">
                <a:latin typeface="Symbol" panose="05050102010706020507" pitchFamily="18" charset="2"/>
              </a:rPr>
              <a:t>开始，</a:t>
            </a:r>
            <a:r>
              <a:rPr lang="en-US" altLang="zh-CN" sz="3200" b="1" i="1" dirty="0">
                <a:latin typeface="Symbol" panose="05050102010706020507" pitchFamily="18" charset="2"/>
              </a:rPr>
              <a:t>a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3200" dirty="0">
                <a:latin typeface="Symbol" panose="05050102010706020507" pitchFamily="18" charset="2"/>
              </a:rPr>
              <a:t>都非空。</a:t>
            </a:r>
          </a:p>
          <a:p>
            <a:pPr lvl="1" eaLnBrk="1" hangingPunct="1">
              <a:buFont typeface="Symbol" panose="05050102010706020507" pitchFamily="18" charset="2"/>
              <a:buChar char=" "/>
            </a:pPr>
            <a:endParaRPr lang="en-US" altLang="zh-CN" sz="3200" dirty="0"/>
          </a:p>
          <a:p>
            <a:pPr lvl="1" eaLnBrk="1" hangingPunct="1">
              <a:buFont typeface="Symbol" panose="05050102010706020507" pitchFamily="18" charset="2"/>
              <a:buChar char=" "/>
            </a:pPr>
            <a:r>
              <a:rPr lang="zh-CN" altLang="en-US" sz="3200" dirty="0"/>
              <a:t>消除左递归：</a:t>
            </a:r>
          </a:p>
          <a:p>
            <a:pPr lvl="1" eaLnBrk="1" hangingPunct="1">
              <a:buFont typeface="Symbol" panose="05050102010706020507" pitchFamily="18" charset="2"/>
              <a:buChar char=" "/>
            </a:pP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i="1" dirty="0"/>
              <a:t> </a:t>
            </a:r>
            <a:r>
              <a:rPr lang="en-US" altLang="zh-CN" sz="3200" b="1" dirty="0">
                <a:sym typeface="Symbol" panose="05050102010706020507" pitchFamily="18" charset="2"/>
              </a:rPr>
              <a:t></a:t>
            </a:r>
            <a:r>
              <a:rPr lang="en-US" altLang="zh-CN" sz="3200" b="1" dirty="0"/>
              <a:t> </a:t>
            </a:r>
            <a:r>
              <a:rPr lang="en-US" altLang="zh-CN" sz="3200" b="1" i="1" dirty="0">
                <a:latin typeface="Symbol" panose="05050102010706020507" pitchFamily="18" charset="2"/>
              </a:rPr>
              <a:t>b</a:t>
            </a:r>
            <a:r>
              <a:rPr lang="en-US" altLang="zh-CN" sz="3200" b="1" baseline="-25000" dirty="0">
                <a:latin typeface="Symbol" panose="05050102010706020507" pitchFamily="18" charset="2"/>
              </a:rPr>
              <a:t>1</a:t>
            </a:r>
            <a:r>
              <a:rPr lang="en-US" altLang="zh-CN" sz="3200" b="1" i="1" dirty="0"/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3200" b="1" dirty="0"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3200" b="1" dirty="0">
                <a:sym typeface="Symbol" panose="05050102010706020507" pitchFamily="18" charset="2"/>
              </a:rPr>
              <a:t> </a:t>
            </a:r>
            <a:r>
              <a:rPr lang="en-US" altLang="zh-CN" sz="3200" b="1" i="1" dirty="0">
                <a:latin typeface="Symbol" panose="05050102010706020507" pitchFamily="18" charset="2"/>
              </a:rPr>
              <a:t>b</a:t>
            </a:r>
            <a:r>
              <a:rPr lang="en-US" altLang="zh-CN" sz="3200" b="1" baseline="-25000" dirty="0">
                <a:latin typeface="Symbol" panose="05050102010706020507" pitchFamily="18" charset="2"/>
              </a:rPr>
              <a:t>2</a:t>
            </a:r>
            <a:r>
              <a:rPr lang="en-US" altLang="zh-CN" sz="3200" b="1" i="1" dirty="0"/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3200" b="1" dirty="0"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…|</a:t>
            </a:r>
            <a:r>
              <a:rPr lang="en-US" altLang="zh-CN" sz="3200" b="1" dirty="0">
                <a:sym typeface="Symbol" panose="05050102010706020507" pitchFamily="18" charset="2"/>
              </a:rPr>
              <a:t> </a:t>
            </a:r>
            <a:r>
              <a:rPr lang="en-US" altLang="zh-CN" sz="3200" b="1" i="1" dirty="0">
                <a:latin typeface="Symbol" panose="05050102010706020507" pitchFamily="18" charset="2"/>
              </a:rPr>
              <a:t>b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b="1" i="1" dirty="0"/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3200" b="1" dirty="0">
                <a:sym typeface="Symbol" panose="05050102010706020507" pitchFamily="18" charset="2"/>
              </a:rPr>
              <a:t> </a:t>
            </a:r>
            <a:endParaRPr lang="en-US" altLang="zh-CN" sz="32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/>
              <a:t>	   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</a:t>
            </a:r>
            <a:r>
              <a:rPr lang="en-US" altLang="zh-CN" b="1" dirty="0"/>
              <a:t> </a:t>
            </a:r>
            <a:r>
              <a:rPr lang="en-US" altLang="zh-CN" b="1" i="1" dirty="0">
                <a:latin typeface="Symbol" panose="05050102010706020507" pitchFamily="18" charset="2"/>
              </a:rPr>
              <a:t>a</a:t>
            </a:r>
            <a:r>
              <a:rPr lang="en-US" altLang="zh-CN" b="1" baseline="-25000" dirty="0">
                <a:latin typeface="Symbol" panose="05050102010706020507" pitchFamily="18" charset="2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b="1" dirty="0">
                <a:latin typeface="Times New Roman" panose="02020603050405020304" pitchFamily="18" charset="0"/>
              </a:rPr>
              <a:t>|</a:t>
            </a:r>
            <a:r>
              <a:rPr lang="en-US" altLang="zh-CN" b="1" dirty="0"/>
              <a:t> </a:t>
            </a:r>
            <a:r>
              <a:rPr lang="en-US" altLang="zh-CN" b="1" i="1" dirty="0">
                <a:latin typeface="Symbol" panose="05050102010706020507" pitchFamily="18" charset="2"/>
              </a:rPr>
              <a:t>a</a:t>
            </a:r>
            <a:r>
              <a:rPr lang="en-US" altLang="zh-CN" b="1" baseline="-25000" dirty="0">
                <a:latin typeface="Symbol" panose="05050102010706020507" pitchFamily="18" charset="2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b="1" dirty="0">
                <a:latin typeface="Times New Roman" panose="02020603050405020304" pitchFamily="18" charset="0"/>
              </a:rPr>
              <a:t>|…|</a:t>
            </a:r>
            <a:r>
              <a:rPr lang="en-US" altLang="zh-CN" b="1" dirty="0"/>
              <a:t> </a:t>
            </a:r>
            <a:r>
              <a:rPr lang="en-US" altLang="zh-CN" b="1" i="1" dirty="0" err="1">
                <a:latin typeface="Symbol" panose="05050102010706020507" pitchFamily="18" charset="2"/>
              </a:rPr>
              <a:t>a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zh-CN" sz="3200" b="1" dirty="0">
              <a:latin typeface="Symbol" panose="05050102010706020507" pitchFamily="18" charset="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27C600-ED82-4DD7-87A5-F74545F255FC}"/>
              </a:ext>
            </a:extLst>
          </p:cNvPr>
          <p:cNvSpPr txBox="1"/>
          <p:nvPr/>
        </p:nvSpPr>
        <p:spPr>
          <a:xfrm>
            <a:off x="1640770" y="5379338"/>
            <a:ext cx="543348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消除左递归是要付出代价的</a:t>
            </a:r>
            <a:r>
              <a:rPr lang="en-US" altLang="zh-CN" sz="2800" dirty="0">
                <a:latin typeface="Times New Roman" panose="02020603050405020304" pitchFamily="18" charset="0"/>
              </a:rPr>
              <a:t>——</a:t>
            </a:r>
          </a:p>
          <a:p>
            <a:pPr algn="just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引进了一些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非终结符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ε_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产生式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08E4B2-2FBF-7B37-2254-2D1BBE44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43E98-F09B-4210-B3A0-FACCA87AF7CD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70B792F-C873-9D7E-5603-0D97133F1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C10FEB-3E04-4B3B-E712-F682F7D4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C2B6ED-8986-2709-0535-346972B2C52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F6143863-AF88-4113-A9D2-D4DB109FE869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F216B6-1717-D65E-B3AC-0394D6F048E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73169-FE9B-F0FF-9914-09C2B3F62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34C0E5-8BC9-8538-1289-7D6B99EF04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练习题：消除下列文法的左递归，选择正确的答案：</a:t>
            </a:r>
            <a:endParaRPr lang="en-US" altLang="zh-CN" sz="2800" dirty="0"/>
          </a:p>
          <a:p>
            <a:pPr lvl="1"/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Ac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bd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6BF9F9-9A39-D8E8-E370-66F0AF04B8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10869" y="2920711"/>
            <a:ext cx="300686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’</a:t>
            </a:r>
          </a:p>
          <a:p>
            <a:r>
              <a:rPr lang="en-US" altLang="zh-CN" sz="2800" b="1" i="1" dirty="0">
                <a:latin typeface="Times New Roman" panose="02020603050405020304" pitchFamily="18" charset="0"/>
              </a:rPr>
              <a:t>A'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bdA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</a:t>
            </a:r>
            <a:endParaRPr lang="zh-CN" altLang="en-US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CD5264-C3AD-E3CA-FFC6-018738205CA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89305" y="2920711"/>
            <a:ext cx="300686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bd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’</a:t>
            </a:r>
          </a:p>
          <a:p>
            <a:r>
              <a:rPr lang="en-US" altLang="zh-CN" sz="2800" b="1" i="1" dirty="0">
                <a:latin typeface="Times New Roman" panose="02020603050405020304" pitchFamily="18" charset="0"/>
              </a:rPr>
              <a:t>A'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adA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803551-58BA-7871-9609-4BA3AE7B79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72302" y="4078089"/>
            <a:ext cx="300686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’</a:t>
            </a:r>
          </a:p>
          <a:p>
            <a:r>
              <a:rPr lang="en-US" altLang="zh-CN" sz="2800" b="1" i="1" dirty="0">
                <a:latin typeface="Times New Roman" panose="02020603050405020304" pitchFamily="18" charset="0"/>
              </a:rPr>
              <a:t>A'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bdA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6CBD9C-C492-6D41-68D0-5FD033404EF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83169" y="4078089"/>
            <a:ext cx="300686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bd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’</a:t>
            </a:r>
          </a:p>
          <a:p>
            <a:r>
              <a:rPr lang="en-US" altLang="zh-CN" sz="2800" b="1" i="1" dirty="0">
                <a:latin typeface="Times New Roman" panose="02020603050405020304" pitchFamily="18" charset="0"/>
              </a:rPr>
              <a:t>A'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adA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' </a:t>
            </a:r>
            <a:r>
              <a:rPr lang="en-US" altLang="zh-CN" sz="2800" b="1" dirty="0">
                <a:latin typeface="Times New Roman" panose="02020603050405020304" pitchFamily="18" charset="0"/>
              </a:rPr>
              <a:t>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A1B65C8-CB12-82D4-1BF5-CF549D42165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96494" y="298500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157D7D5-A83A-432C-4891-C23B3BDE627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874930" y="298500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2D7A54E-BB02-A94A-8E75-BB5D3F70AA7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57927" y="414238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ADF2CC5-742F-0FBF-A912-87B03149F6C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868794" y="414238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0A32AB7-AFBF-35A9-D787-9044450728B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5" name="图片 24" descr="卡通人物&#10;&#10;描述已自动生成">
            <a:extLst>
              <a:ext uri="{FF2B5EF4-FFF2-40B4-BE49-F238E27FC236}">
                <a16:creationId xmlns:a16="http://schemas.microsoft.com/office/drawing/2014/main" id="{62510A7A-1BC1-9645-D48B-26234E8A015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802" y="239854"/>
            <a:ext cx="731598" cy="1017446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53DB1D86-0ECB-73A9-C9FE-05D2ED30F58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FC311E84-2935-8036-810E-C0239E2B1F5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ColorBlock">
              <a:extLst>
                <a:ext uri="{FF2B5EF4-FFF2-40B4-BE49-F238E27FC236}">
                  <a16:creationId xmlns:a16="http://schemas.microsoft.com/office/drawing/2014/main" id="{FDE92CC1-F66F-B6EB-0EAF-A07A9ABA687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TypeText">
              <a:extLst>
                <a:ext uri="{FF2B5EF4-FFF2-40B4-BE49-F238E27FC236}">
                  <a16:creationId xmlns:a16="http://schemas.microsoft.com/office/drawing/2014/main" id="{E2B48570-46AE-4C88-1DF6-375CE04BA8F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B01F75C2-5B1D-14A9-86BB-6F60F49E7E8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EDF7CA6D-48AC-1CAC-641B-81F1E54BA64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715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EB9928E-53F3-48E2-A4CB-C0B48F16B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3.2.6 </a:t>
            </a:r>
            <a:r>
              <a:rPr lang="zh-CN" altLang="en-US" dirty="0"/>
              <a:t>消除左递归</a:t>
            </a:r>
          </a:p>
        </p:txBody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id="{3B59DA3E-7E3A-4D4C-9915-DE22A64494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非直接左递归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i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Aa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	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Sd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先变换成直接左递归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i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Aa | b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	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Aad</a:t>
            </a:r>
            <a:r>
              <a:rPr lang="en-US" altLang="zh-CN" b="1" i="1" dirty="0">
                <a:latin typeface="Times New Roman" panose="02020603050405020304" pitchFamily="18" charset="0"/>
              </a:rPr>
              <a:t> | bd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再消除左递归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 Aa | b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	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 bd 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| 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	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adA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EDF6E2-0182-0F24-8CDC-EEAECC07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77C1-EAF7-44C6-AF57-13CAEA6E7B93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B4DA3B-C2F7-C9E2-AA0E-10CE1DEB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3A76C2-57A5-B2F8-61D7-83033E37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0E9089C5-C592-2DB3-764C-34721AEF91A6}"/>
              </a:ext>
            </a:extLst>
          </p:cNvPr>
          <p:cNvSpPr/>
          <p:nvPr/>
        </p:nvSpPr>
        <p:spPr>
          <a:xfrm>
            <a:off x="4044678" y="3479702"/>
            <a:ext cx="5009565" cy="3149162"/>
          </a:xfrm>
          <a:prstGeom prst="cloudCallout">
            <a:avLst>
              <a:gd name="adj1" fmla="val -53295"/>
              <a:gd name="adj2" fmla="val -56444"/>
            </a:avLst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要解决非直接左递归，先从直接左递归入手，采用代换的方式对非终结符逐个击破，循环往复，直至找到解决方案。在实际工程问题中也要学会这样的思维方式。</a:t>
            </a:r>
            <a:endParaRPr lang="zh-CN" altLang="en-US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C2ACB86-8800-4977-8782-7CE29F640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3.2.6 </a:t>
            </a:r>
            <a:r>
              <a:rPr lang="zh-CN" altLang="en-US" dirty="0"/>
              <a:t>消除左递归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4938C8B-436F-4AB9-A089-452F7A03BF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消除非直接左递归的一般算法：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首先给文法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N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中的符号一个排序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: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 …,A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n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for (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；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&lt;=n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；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++) 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for ( j=1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；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j&lt;=i-1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；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j++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){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把形如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→A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γ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的规则改成       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→δ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γ|δ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γ|…|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δ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k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γ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其中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		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j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→δ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|δ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|…|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δ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k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是关于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的所有规则；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}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消除关于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规则的直接左递归；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化简所得的文法（去掉无用产生式）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AFFD09-E17E-7BAD-91A7-C73C4416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B1B8-6E95-4768-9D94-96199A0655E4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208603-64CF-7CFF-6883-703A78B21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2891DF-5723-3587-565D-1AA805D2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07CBFEF-A1ED-4845-BE59-DF95E180D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3.2.6 </a:t>
            </a:r>
            <a:r>
              <a:rPr lang="zh-CN" altLang="en-US" dirty="0"/>
              <a:t>消除左递归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357AC81-2657-4007-833F-1787EB46E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上述一般算法消除非直接左递归时要求</a:t>
            </a:r>
            <a:r>
              <a:rPr lang="zh-CN" altLang="en-US" b="1" dirty="0">
                <a:solidFill>
                  <a:srgbClr val="C00000"/>
                </a:solidFill>
              </a:rPr>
              <a:t>原文法</a:t>
            </a:r>
            <a:r>
              <a:rPr lang="en-US" altLang="zh-CN" b="1" dirty="0">
                <a:solidFill>
                  <a:srgbClr val="C00000"/>
                </a:solidFill>
              </a:rPr>
              <a:t>G</a:t>
            </a:r>
            <a:r>
              <a:rPr lang="zh-CN" altLang="en-US" dirty="0"/>
              <a:t>不含回路，即不存在</a:t>
            </a:r>
            <a:r>
              <a:rPr lang="en-US" altLang="zh-CN" b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也不能有</a:t>
            </a:r>
            <a:r>
              <a:rPr lang="en-US" altLang="zh-CN" sz="3200" dirty="0">
                <a:latin typeface="Times New Roman" panose="02020603050405020304" pitchFamily="18" charset="0"/>
              </a:rPr>
              <a:t>ε_</a:t>
            </a:r>
            <a:r>
              <a:rPr lang="zh-CN" altLang="en-US" sz="3200" dirty="0">
                <a:latin typeface="Times New Roman" panose="02020603050405020304" pitchFamily="18" charset="0"/>
              </a:rPr>
              <a:t>产生式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变换过程中若存在无用产生式则需要消除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DFBB16-A0D6-BFF7-3980-CBDD3015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633D5-7ECC-4048-BCE2-FD9F9D9B6183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384A31-B4DA-63DC-D492-7877436AB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6B369-A5FE-0747-0347-015F0C97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F1CF1D5-7B99-4225-A77F-B87C0FE06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3.2.6 </a:t>
            </a:r>
            <a:r>
              <a:rPr lang="zh-CN" altLang="en-US" dirty="0"/>
              <a:t>消除左递归</a:t>
            </a: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95EB9C8F-CA71-41DD-8E44-69CACD874B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例：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S</a:t>
            </a:r>
            <a:r>
              <a:rPr kumimoji="1"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Qc|c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Q</a:t>
            </a:r>
            <a:r>
              <a:rPr kumimoji="1"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Rb|b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R</a:t>
            </a:r>
            <a:r>
              <a:rPr kumimoji="1"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Sa|a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排序：</a:t>
            </a:r>
            <a:r>
              <a:rPr lang="en-US" altLang="zh-CN" b="1" dirty="0">
                <a:latin typeface="Times New Roman" panose="02020603050405020304" pitchFamily="18" charset="0"/>
              </a:rPr>
              <a:t>R, Q, S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代换排在前面的非终结符：</a:t>
            </a:r>
          </a:p>
          <a:p>
            <a:pPr lvl="2" eaLnBrk="1" hangingPunct="1"/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R 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Sa | a</a:t>
            </a:r>
          </a:p>
          <a:p>
            <a:pPr lvl="2" eaLnBrk="1" hangingPunct="1"/>
            <a:r>
              <a:rPr kumimoji="1" lang="en-US" altLang="zh-CN" b="1" dirty="0">
                <a:latin typeface="Times New Roman" panose="02020603050405020304" pitchFamily="18" charset="0"/>
              </a:rPr>
              <a:t>Q 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Rb | b 	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	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Q 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Sab | ab | b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</a:p>
          <a:p>
            <a:pPr lvl="2" eaLnBrk="1" hangingPunct="1"/>
            <a:r>
              <a:rPr kumimoji="1" lang="en-US" altLang="zh-CN" b="1" dirty="0">
                <a:latin typeface="Times New Roman" panose="02020603050405020304" pitchFamily="18" charset="0"/>
              </a:rPr>
              <a:t>S 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Qc | c	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	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  </a:t>
            </a:r>
            <a:r>
              <a:rPr kumimoji="1" lang="en-US" altLang="zh-CN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Sabc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| </a:t>
            </a:r>
            <a:r>
              <a:rPr kumimoji="1" lang="en-US" altLang="zh-CN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abc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| </a:t>
            </a:r>
            <a:r>
              <a:rPr kumimoji="1" lang="en-US" altLang="zh-CN" b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bc</a:t>
            </a:r>
            <a:r>
              <a:rPr kumimoji="1" lang="en-US" altLang="zh-CN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| c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1" eaLnBrk="1" hangingPunct="1"/>
            <a:endParaRPr kumimoji="1"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D0445F-A578-0618-6801-18207D73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491-08DA-4C0A-8730-F80939C26431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69760B-E5D9-3B5B-EC47-DD2ECEB0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DD9E34-1DFA-9A24-1845-E661BDA6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196BCD6-3046-4724-98F0-209F898EA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3.2.6 </a:t>
            </a:r>
            <a:r>
              <a:rPr lang="zh-CN" altLang="en-US" dirty="0"/>
              <a:t>消除左递归</a:t>
            </a: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id="{91AB2C96-9233-42CA-83D9-7E3A94CA58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例：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S</a:t>
            </a:r>
            <a:r>
              <a:rPr kumimoji="1"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Qc|c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Q</a:t>
            </a:r>
            <a:r>
              <a:rPr kumimoji="1"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Rb|b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  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R</a:t>
            </a:r>
            <a:r>
              <a:rPr kumimoji="1"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Sa|a</a:t>
            </a:r>
            <a:endParaRPr kumimoji="1" lang="zh-CN" altLang="en-US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消除直接左递归：</a:t>
            </a:r>
          </a:p>
          <a:p>
            <a:pPr lvl="2" eaLnBrk="1" hangingPunct="1"/>
            <a:r>
              <a:rPr kumimoji="1" lang="en-US" altLang="zh-CN" b="1" dirty="0">
                <a:latin typeface="Times New Roman" panose="02020603050405020304" pitchFamily="18" charset="0"/>
              </a:rPr>
              <a:t>R 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Sa | a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2" eaLnBrk="1" hangingPunct="1"/>
            <a:r>
              <a:rPr kumimoji="1" lang="en-US" altLang="zh-CN" b="1" dirty="0">
                <a:latin typeface="Times New Roman" panose="02020603050405020304" pitchFamily="18" charset="0"/>
              </a:rPr>
              <a:t>Q 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Sab | ab | b </a:t>
            </a:r>
          </a:p>
          <a:p>
            <a:pPr lvl="2" eaLnBrk="1" hangingPunct="1"/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S 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abcS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|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bcS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|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cS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</a:p>
          <a:p>
            <a:pPr lvl="2" eaLnBrk="1" hangingPunct="1"/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S 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abcS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| 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消除无用符号和产生式：</a:t>
            </a:r>
          </a:p>
          <a:p>
            <a:pPr lvl="2" eaLnBrk="1" hangingPunct="1"/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S 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abcS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|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bcS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|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cS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</a:p>
          <a:p>
            <a:pPr lvl="2" eaLnBrk="1" hangingPunct="1"/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S 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abcS</a:t>
            </a:r>
            <a:r>
              <a:rPr kumimoji="1"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| 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84249F-6E40-F827-3D6F-5CB04A47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3AF2-F462-46EC-AFC2-D1CA4A9B0B75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517D60-7B93-FCA9-9C5C-E18DFCAA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A56AFB-7A6E-3426-6B12-22F54C4A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D34816F-5B11-41AA-8A0C-2C81390F8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删除无用符号和无用产生式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A4E1331-5706-4F06-82FC-B314333AE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如果一个文法符号从开始符号无法推导出任何句子，则称为</a:t>
            </a:r>
            <a:r>
              <a:rPr lang="zh-CN" altLang="en-US" dirty="0">
                <a:solidFill>
                  <a:schemeClr val="accent2"/>
                </a:solidFill>
              </a:rPr>
              <a:t>无用符号</a:t>
            </a:r>
            <a:endParaRPr lang="en-US" altLang="zh-CN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dirty="0"/>
              <a:t>如果一个产生式左部或右部含有无用符号，则此产生式称为</a:t>
            </a:r>
            <a:r>
              <a:rPr lang="zh-CN" altLang="en-US" dirty="0">
                <a:solidFill>
                  <a:schemeClr val="accent2"/>
                </a:solidFill>
              </a:rPr>
              <a:t>无用产生式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C9CDDA-3224-4F8F-C7B5-BB8C92C1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E154-4908-4DF5-8846-1540C840F248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F9C9FB-7FCF-788C-61AC-BCE58B4D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AFF51-CC92-2020-C9AC-3FBFE1FD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404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1932E-DF41-45B4-AACD-DFC0A631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删除无用符号和无用产生式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04C768-A423-4AB9-8E35-1105B5060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altLang="zh-CN"/>
              <a:t>S -&gt; abS | abA | abB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/>
              <a:t>A -&gt; cd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/>
              <a:t>B -&gt; aB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/>
              <a:t>C -&gt; dc 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pt-BR" altLang="zh-CN"/>
              <a:t>C </a:t>
            </a:r>
            <a:r>
              <a:rPr lang="zh-CN" altLang="en-US"/>
              <a:t>是无用符号，从</a:t>
            </a:r>
            <a:r>
              <a:rPr lang="en-US" altLang="zh-CN"/>
              <a:t>S</a:t>
            </a:r>
            <a:r>
              <a:rPr lang="zh-CN" altLang="en-US"/>
              <a:t>出发的推导不会出现</a:t>
            </a:r>
            <a:r>
              <a:rPr lang="en-US" altLang="zh-CN"/>
              <a:t>C</a:t>
            </a:r>
          </a:p>
          <a:p>
            <a:pPr>
              <a:lnSpc>
                <a:spcPct val="110000"/>
              </a:lnSpc>
            </a:pPr>
            <a:r>
              <a:rPr lang="en-US" altLang="zh-CN"/>
              <a:t>B</a:t>
            </a:r>
            <a:r>
              <a:rPr lang="zh-CN" altLang="en-US"/>
              <a:t>也是无用符号，因为它不可能终止，所以不可能出现在任何句子的推导中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717BB37D-A88D-4AD0-903C-E4947F4FB872}"/>
              </a:ext>
            </a:extLst>
          </p:cNvPr>
          <p:cNvSpPr/>
          <p:nvPr/>
        </p:nvSpPr>
        <p:spPr>
          <a:xfrm>
            <a:off x="3928533" y="2280355"/>
            <a:ext cx="1286933" cy="88053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2214F4-3AC9-44B3-927E-0B5B3BFF528A}"/>
              </a:ext>
            </a:extLst>
          </p:cNvPr>
          <p:cNvSpPr txBox="1"/>
          <p:nvPr/>
        </p:nvSpPr>
        <p:spPr>
          <a:xfrm>
            <a:off x="5636682" y="2153768"/>
            <a:ext cx="2878667" cy="113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altLang="zh-CN" sz="3200" dirty="0"/>
              <a:t>S -&gt; abS | abA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3200" dirty="0"/>
              <a:t>A -&gt; cd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581FD1-2DBD-7B2F-B87F-AE48C4EC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E5CEB-CDE4-4098-AB3C-2CBC7B67B00B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722653-B297-213C-C447-656BEEE2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1DEBB8D-B9AF-B304-3F7D-1D341DE2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53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A3614E7-7544-409A-AA29-1924D894B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3.2.7 </a:t>
            </a:r>
            <a:r>
              <a:rPr lang="zh-CN" altLang="en-US"/>
              <a:t>提左因子</a:t>
            </a: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5DA57DC5-04F0-4F98-86C5-E2C00A955A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有左因子的文法：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/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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/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|</a:t>
            </a:r>
            <a:r>
              <a:rPr lang="en-US" altLang="zh-CN" b="1" i="1" dirty="0"/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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2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为什么要提左因子？</a:t>
            </a:r>
          </a:p>
          <a:p>
            <a:pPr lvl="1">
              <a:spcBef>
                <a:spcPct val="0"/>
              </a:spcBef>
            </a:pP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自上而下分析的需要：当不清楚应该用非终结符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的哪个候选式来替换它时，可以通过重写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产生式来“推迟”这种决定。</a:t>
            </a:r>
            <a:endParaRPr lang="en-US" altLang="zh-CN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等读入了足够多的输入，获得足够信息后再做出正确的选择。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提左因子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i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/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</a:t>
            </a:r>
            <a:r>
              <a:rPr lang="en-US" altLang="zh-CN" b="1" i="1" dirty="0"/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/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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/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|</a:t>
            </a:r>
            <a:r>
              <a:rPr lang="en-US" altLang="zh-CN" b="1" i="1" dirty="0"/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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baseline="-300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62B990-8E90-08C1-A670-69AC3556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001D5-56DC-4998-BD17-B1104C9D507E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BD3D1D-1DB2-09BB-B4E4-ADF3863A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443C18-0503-6C2A-5D47-03F7DF36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B8ADC99-691E-416B-B972-6B1058852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3.2.7 </a:t>
            </a:r>
            <a:r>
              <a:rPr lang="zh-CN" altLang="en-US" dirty="0"/>
              <a:t>提左因子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B041BB5-575D-4F0A-85B9-77310EB1A0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例 悬空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else</a:t>
            </a:r>
            <a:r>
              <a:rPr lang="zh-CN" altLang="en-US" sz="2800" dirty="0">
                <a:latin typeface="宋体" panose="02010600030101010101" pitchFamily="2" charset="-122"/>
              </a:rPr>
              <a:t>的文法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/>
              <a:t>		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	  |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	  | other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</a:t>
            </a:r>
            <a:r>
              <a:rPr lang="zh-CN" altLang="en-US" sz="2800" dirty="0">
                <a:latin typeface="宋体" panose="02010600030101010101" pitchFamily="2" charset="-122"/>
              </a:rPr>
              <a:t>提左因子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/>
              <a:t>		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if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expr</a:t>
            </a:r>
            <a:r>
              <a:rPr lang="en-US" altLang="zh-CN" sz="2800" b="1" dirty="0">
                <a:latin typeface="Times New Roman" panose="02020603050405020304" pitchFamily="18" charset="0"/>
              </a:rPr>
              <a:t> then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optional</a:t>
            </a:r>
            <a:r>
              <a:rPr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_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else_part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	  | other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		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optional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_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else_part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else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stmt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		 		     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  <a:p>
            <a:pPr eaLnBrk="1" hangingPunct="1"/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CE4535-55BF-866A-E714-8D1851EA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7C39-2904-4B54-BFDC-DB9E78110D35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C2EBA1-47B0-455E-E09E-687CC9AE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160749-75CE-E1ED-8A8A-480CE9E8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F1CF1D5-7B99-4225-A77F-B87C0FE06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小节练习</a:t>
            </a: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95EB9C8F-CA71-41DD-8E44-69CACD874B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对文法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|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| 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提取左公因子并消除左递归。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提取左公因子：</a:t>
            </a:r>
            <a:endParaRPr kumimoji="1"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2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SSA | a</a:t>
            </a:r>
          </a:p>
          <a:p>
            <a:pPr lvl="2"/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+ | *</a:t>
            </a:r>
          </a:p>
          <a:p>
            <a:pPr lvl="1"/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消除左递归：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2"/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排序：</a:t>
            </a:r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S, A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2"/>
            <a:r>
              <a:rPr kumimoji="1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kumimoji="1"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此时</a:t>
            </a:r>
            <a:r>
              <a:rPr kumimoji="1" lang="en-US" altLang="zh-CN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kumimoji="1"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kumimoji="1"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循环</a:t>
            </a:r>
            <a:r>
              <a:rPr kumimoji="1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0~i-1</a:t>
            </a:r>
            <a:r>
              <a:rPr kumimoji="1"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，并消除左递归：</a:t>
            </a:r>
            <a:endParaRPr kumimoji="1"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914400" lvl="2" indent="0">
              <a:buNone/>
            </a:pPr>
            <a:r>
              <a:rPr kumimoji="1"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</a:p>
          <a:p>
            <a:pPr marL="914400" lvl="2" indent="0">
              <a:buNone/>
            </a:pPr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+ | *</a:t>
            </a:r>
            <a:endParaRPr lang="en-US" altLang="zh-CN" b="1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914400" lvl="2" indent="0">
              <a:buNone/>
            </a:pPr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A’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SAA’ 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D0445F-A578-0618-6801-18207D73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491-08DA-4C0A-8730-F80939C26431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69760B-E5D9-3B5B-EC47-DD2ECEB0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DD9E34-1DFA-9A24-1845-E661BDA6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38</a:t>
            </a:fld>
            <a:endParaRPr lang="zh-CN" altLang="en-US"/>
          </a:p>
        </p:txBody>
      </p:sp>
      <p:pic>
        <p:nvPicPr>
          <p:cNvPr id="7" name="图片 6" descr="图标&#10;&#10;描述已自动生成">
            <a:extLst>
              <a:ext uri="{FF2B5EF4-FFF2-40B4-BE49-F238E27FC236}">
                <a16:creationId xmlns:a16="http://schemas.microsoft.com/office/drawing/2014/main" id="{ED4BE788-5976-35B4-A462-83EDB4368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317" y="265831"/>
            <a:ext cx="768469" cy="10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7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0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0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0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0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0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0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0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0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F1CF1D5-7B99-4225-A77F-B87C0FE06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小节练习</a:t>
            </a: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95EB9C8F-CA71-41DD-8E44-69CACD874B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423991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kumimoji="1" lang="zh-CN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此时</a:t>
            </a:r>
            <a:r>
              <a:rPr kumimoji="1" lang="en-US" altLang="zh-CN" sz="2400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kumimoji="1" lang="zh-CN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kumimoji="1" lang="zh-CN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循环</a:t>
            </a:r>
            <a:r>
              <a:rPr kumimoji="1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0~i-1</a:t>
            </a:r>
            <a:r>
              <a:rPr kumimoji="1" lang="zh-CN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，并消除左递归：</a:t>
            </a:r>
            <a:endParaRPr kumimoji="1" lang="en-US" altLang="zh-CN" sz="24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+ | *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A’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SAA’ 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=2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，第二个产生式无代换，不变；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=3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循环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0~i-1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zh-CN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并消除左递归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+ | *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A’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aA’AA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 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(4)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没有无用符号和无用产生式，结束。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中为最终结果。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D0445F-A578-0618-6801-18207D73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F491-08DA-4C0A-8730-F80939C26431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69760B-E5D9-3B5B-EC47-DD2ECEB0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DD9E34-1DFA-9A24-1845-E661BDA6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8874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BA1040-60AA-52C2-0CD3-50DF81BC0B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719"/>
          <a:stretch/>
        </p:blipFill>
        <p:spPr>
          <a:xfrm>
            <a:off x="3498" y="451692"/>
            <a:ext cx="9103852" cy="5987667"/>
          </a:xfrm>
          <a:prstGeom prst="rect">
            <a:avLst/>
          </a:prstGeom>
        </p:spPr>
      </p:pic>
      <p:sp>
        <p:nvSpPr>
          <p:cNvPr id="14338" name="Rectangle 2">
            <a:extLst>
              <a:ext uri="{FF2B5EF4-FFF2-40B4-BE49-F238E27FC236}">
                <a16:creationId xmlns:a16="http://schemas.microsoft.com/office/drawing/2014/main" id="{7F0DE04D-C995-4C85-969C-21A2CF4FF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本节小结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2409CE-2DD9-6D90-F3AE-9CFB923E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7273-CDFD-4F04-8B9C-562530A131C6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F7AF46-0713-8FA4-B4A3-9AA81707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AF25FF-B4D3-CC64-28A7-60DA82D6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40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A77858-5FC6-E6AE-B3C3-907ECE905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929" y="4127563"/>
            <a:ext cx="1648302" cy="89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717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F3B5E405-FD01-4C51-8B61-1774971FC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作业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72D9FFB-7632-416C-AFEF-8054FEB31B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教材（第三版）：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P103/3.2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P103/3.4 (b)(c)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P103/3.6 (a) (b)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P104/3.8(a)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752D40-53D1-8E98-CC55-F3604663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FD4D-B3EE-4768-9C05-7532EC002B82}" type="datetime2">
              <a:rPr lang="zh-CN" altLang="en-US" smtClean="0"/>
              <a:t>2026年3月26日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29AD8D-DE5B-7E5A-6864-57C74983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D52710-3E4D-77E8-58BC-C7A69A90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2424</TotalTime>
  <Words>3878</Words>
  <Application>Microsoft Office PowerPoint</Application>
  <PresentationFormat>全屏显示(4:3)</PresentationFormat>
  <Paragraphs>589</Paragraphs>
  <Slides>41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4" baseType="lpstr">
      <vt:lpstr>SymbolMT</vt:lpstr>
      <vt:lpstr>TimesNewRomanPS-BoldItalicMT</vt:lpstr>
      <vt:lpstr>TimesNewRomanPS-BoldMT</vt:lpstr>
      <vt:lpstr>等线</vt:lpstr>
      <vt:lpstr>黑体</vt:lpstr>
      <vt:lpstr>宋体</vt:lpstr>
      <vt:lpstr>Microsoft Yahei</vt:lpstr>
      <vt:lpstr>Arial</vt:lpstr>
      <vt:lpstr>Courier New</vt:lpstr>
      <vt:lpstr>Symbol</vt:lpstr>
      <vt:lpstr>Times New Roman</vt:lpstr>
      <vt:lpstr>Wingdings</vt:lpstr>
      <vt:lpstr>主题1</vt:lpstr>
      <vt:lpstr>第三章 语法分析(2)</vt:lpstr>
      <vt:lpstr>上次课回顾</vt:lpstr>
      <vt:lpstr>上次课回顾</vt:lpstr>
      <vt:lpstr>上次课回顾</vt:lpstr>
      <vt:lpstr>上次课回顾</vt:lpstr>
      <vt:lpstr>上次课回顾</vt:lpstr>
      <vt:lpstr>上次课回顾</vt:lpstr>
      <vt:lpstr>本次课内容</vt:lpstr>
      <vt:lpstr>本次课内容</vt:lpstr>
      <vt:lpstr>3.2.4/5 消除二义性</vt:lpstr>
      <vt:lpstr>3.2.4/5 消除二义性</vt:lpstr>
      <vt:lpstr>3.2.4/5 消除二义性</vt:lpstr>
      <vt:lpstr>3.2.4/5 消除二义性</vt:lpstr>
      <vt:lpstr>3.2.4/5 消除二义性</vt:lpstr>
      <vt:lpstr>3.2.4/5 消除二义性</vt:lpstr>
      <vt:lpstr>3.2.4/5 消除二义性</vt:lpstr>
      <vt:lpstr>3.2.4/5 消除二义性</vt:lpstr>
      <vt:lpstr>练习：消除二义性</vt:lpstr>
      <vt:lpstr>3.2.4/5 消除二义性</vt:lpstr>
      <vt:lpstr>3.2.4/5 消除二义性</vt:lpstr>
      <vt:lpstr>3.2.4/5 消除二义性</vt:lpstr>
      <vt:lpstr>3.2.4/5 消除二义性</vt:lpstr>
      <vt:lpstr>3.2.4/5 消除二义性</vt:lpstr>
      <vt:lpstr>3.2.4/5 消除二义性</vt:lpstr>
      <vt:lpstr>3.2.6 消除左递归</vt:lpstr>
      <vt:lpstr>3.2.6 消除左递归</vt:lpstr>
      <vt:lpstr>3.2.6 消除左递归</vt:lpstr>
      <vt:lpstr>PowerPoint 演示文稿</vt:lpstr>
      <vt:lpstr>3.2.6 消除左递归</vt:lpstr>
      <vt:lpstr>3.2.6 消除左递归</vt:lpstr>
      <vt:lpstr>3.2.6 消除左递归</vt:lpstr>
      <vt:lpstr>3.2.6 消除左递归</vt:lpstr>
      <vt:lpstr>3.2.6 消除左递归</vt:lpstr>
      <vt:lpstr>删除无用符号和无用产生式</vt:lpstr>
      <vt:lpstr>删除无用符号和无用产生式</vt:lpstr>
      <vt:lpstr>3.2.7 提左因子</vt:lpstr>
      <vt:lpstr>3.2.7 提左因子</vt:lpstr>
      <vt:lpstr>小节练习</vt:lpstr>
      <vt:lpstr>小节练习</vt:lpstr>
      <vt:lpstr>本节小结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欣捷</dc:creator>
  <cp:lastModifiedBy>欣捷 王</cp:lastModifiedBy>
  <cp:revision>41</cp:revision>
  <dcterms:created xsi:type="dcterms:W3CDTF">2021-02-17T04:10:24Z</dcterms:created>
  <dcterms:modified xsi:type="dcterms:W3CDTF">2026-03-26T01:36:16Z</dcterms:modified>
</cp:coreProperties>
</file>